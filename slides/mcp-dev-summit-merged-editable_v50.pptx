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Scotia" panose="020B0503020203020204" charset="0"/>
      <p:regular r:id="rIdH2pFont1"/>
      <p:bold r:id="rIdH2pFont2"/>
      <p:italic r:id="rIdH2pFont3"/>
      <p:boldItalic r:id="rIdH2pFont4"/>
    </p:embeddedFont>
    <p:embeddedFont>
      <p:font typeface="Scotia Headline" panose="020B0703020203020204" charset="0"/>
      <p:regular r:id="rIdH2pFont5"/>
    </p:embeddedFont>
    <p:embeddedFont>
      <p:font typeface="Scotia Serif" panose="02040503050505020204" charset="0"/>
      <p:regular r:id="rIdH2pFont6"/>
      <p:bold r:id="rIdH2pFont7"/>
      <p:italic r:id="rIdH2pFont8"/>
      <p:boldItalic r:id="rIdH2pFont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H2pFont1" Type="http://schemas.openxmlformats.org/officeDocument/2006/relationships/font" Target="fonts/font1.fntdata"/><Relationship Id="rIdH2pFont2" Type="http://schemas.openxmlformats.org/officeDocument/2006/relationships/font" Target="fonts/font2.fntdata"/><Relationship Id="rIdH2pFont3" Type="http://schemas.openxmlformats.org/officeDocument/2006/relationships/font" Target="fonts/font3.fntdata"/><Relationship Id="rIdH2pFont4" Type="http://schemas.openxmlformats.org/officeDocument/2006/relationships/font" Target="fonts/font4.fntdata"/><Relationship Id="rIdH2pFont5" Type="http://schemas.openxmlformats.org/officeDocument/2006/relationships/font" Target="fonts/font5.fntdata"/><Relationship Id="rIdH2pFont6" Type="http://schemas.openxmlformats.org/officeDocument/2006/relationships/font" Target="fonts/font6.fntdata"/><Relationship Id="rIdH2pFont7" Type="http://schemas.openxmlformats.org/officeDocument/2006/relationships/font" Target="fonts/font7.fntdata"/><Relationship Id="rIdH2pFont8" Type="http://schemas.openxmlformats.org/officeDocument/2006/relationships/font" Target="fonts/font8.fntdata"/><Relationship Id="rIdH2pFont9" Type="http://schemas.openxmlformats.org/officeDocument/2006/relationships/font" Target="fonts/font9.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 little context: the model guesses. Missing facts get filled in with confident guesses. Too much: it gets lost. Key details get buried and instructions get ignored. Just enough: it nails it. The model sees what the task needs, and little else. That is the sweet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July 2025, Chroma published Context Rot: How Increasing Input Tokens Impacts LLM Performance, and the name stuck. They tested 18 models from Anthropic, OpenAI, Google and Alibaba, including Claude Opus 4, o3, GPT-4.1, Gemini 2.5 Pro and Qwen3-235B. Even on simple retrieval, accuracy falls as the input grows. These panels show the two best models with windows over 500K tokens. Left: when the needle does not share the question's wording, accuracy falls off past 100K tokens. Right: put look-alike distractors next to the needle; with four, even these models fall to about a third near a million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used to be the limiting factor. That is changing. Back in February 2024, Jeff Dean, then Google's Chief Scientist, reported that Gemini 1.5 Pro had 100 percent recall up to 530K tokens, 99.7 percent up to a million, and 99.2 percent at 10 million. And when GPT-6 Astra launched in September, Nick Dobos called its long-context gains a huge deal: they unlock million-token windows to actually work, and GPT no longer randomly forgets 9 to 30 percent of your context. So if the window holds, the limiting factor moves: to cost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been iterating on our own eval set to experiment with these agentic patterns and context strategies. Models are not the primary focus of these evals; the patterns are. We run each pattern on each model with a set of tasks that have traps and false positives, so we can trigger the benefits these patterns give: organized decision making and less context bloat. Our initial experiments saturated for Sol and Astra: they had a 100 percent success rate on needle-in-a-haystack questions. We had to make the tasks dramatically harder to get these results. On the harder set, Luna misses even at 32K and gets only 20 percent right at 768K. Sol is perfect through 128K; from 256K it starts missing, almost always on counting: finding both earlier approvals for one customer among hundreds of look-alike cases. Astra got every decision right up to 768K, including the exact counting task Sol failed. The best predictor of a right answer was whether the model chose to reason: Sol was 34 for 34 when it reasoned. These are small samples, three tasks per question type, so read them as failure modes, not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2026 that changed. On OpenAI's 8-needle MRCR test, GPT-6 Astra scores 96.3 percent between 512K and a million tokens, up from 73.8 for GPT-5.6 Sol, and 100 percent from 256K to 512K, up from 91.5. So for frontier models, finding what is in the window is no longer the hard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manage context. Two are context strategies that keep a single agent. Compress it: shrink the history so it fits the window. The risk is that a summary drops the detail you needed later. Fetch it: pull in only what the step needs; the risk is that retrieval misses an exception. The third is the agentic patterns from the first half: split the work across agents, each with its own slice. Handoffs can drop context, and it costs two to five times the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task comes in. Agent 1 takes the input and works on it with its own model, knowledge and tools. It has its own MCP connections. Each agent's output becomes the next agent's input, all the way down to Agent n. Each brings its own MCP connections. The last agent's output is the result. The order is fixed up front, so routing is deterministic. A common state carries shared context across every agent in the pipeline. Best for clear linear dependencies and step-by-step refinement. Watch out: early errors flow downstream, and there is no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checkout fails with HTTP 500 errors and Sentry raises an alert. The triage agent reads the alert and the stack trace through Sentry MCP: the cart total is null in applyDiscount(). The diagnose agent takes that root cause and finds the code and the commit through GitHub MCP: a regression in src/cart/discount.ts. The fix agent writes the patch and a regression test. It needs no outside data, so it has no MCP server. The report agent opens the PR and files the ticket through GitHub and Jira MCP. The result: PR #482 with a passing regression test, linked to Jira ticket ENG-1043. Sequential fits because each step needs the previous step's output. Only agents that need outside data connect to MCP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task comes in: for example, a pull request to review. Broadcast: the initiator sends the same input to every agent. Each agent works independently, with its own model, knowledge, tools and context window. They finish at different times. MCP layer: every agent calls MCP tools at once, on the same servers. Watch rate limits and write conflicts; prefer read-only tools. Aggregate: a collector gathers every result and combines them, by voting, a weighted merge or an LLM synthesis. One final output. Total time is the slowest agent, not the sum of them. Best for independent perspectives and time-sensitive work. Watch out for conflicting results, cost multiplied by N, and shared-state 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pull request comes in: PR #482, with its diff and description. All four reviewers start at once on the same diff. Security scans it for vulnerabilities, with Semgrep MCP. Performance looks for hot paths and N+1 queries. Test coverage finds changed lines with no tests, with GitHub MCP. Docs and style checks the API docs and naming. A collector agent merges the four reviews into one, ranked by severity, and posts it through GitHub MCP. The result: one review comment on PR #482, with the findings ranked by severity. Concurrent fits because the four reviews are independent, so total time is the slowest one. Only reviewers that need outside data connect; the others read the diff.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group chat manager runs the conversation: it chooses who speaks next and judges when to stop. It seeds a shared chat thread with the input. It invokes the next agent. The participants are specialist agents, and optionally a human. Agents call MCP tools on their turn; every agent sees the tool results in the thread, so results are trimmed before posting. Each agent reads the whole thread and adds its turn, so the context grows with every turn. A human can observe and steer. After each turn the manager checks: done? If not, it repeats from step 2. When consensus or a quality gate is met, the thread produces the result. Best for consensus building, brainstorming and maker-checker review. Watch out for endless loops, growing context, and control past three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chat manager runs the review. It only orchestrates: it picks who speaks next, and stops once the reviewer approves the plan. Everyone works in one shared thread, reviewing migration 0042_add_status.sql. Every agent reads the whole thread, then adds its turn. Turn 1: the author agent proposes a status column with a NOT NULL constraint, and an index. Turn 2: the schema reviewer checks Postgres through MCP. Adding NOT NULL scans the whole table under a lock that blocks queries. Turn 3: the author revises: a nullable column, a batched backfill, then the constraint. Turn 4: the performance agent runs EXPLAIN through Postgres MCP and confirms the status query uses the new index. Turn 5: the reviewer approves the revised plan, so the chat manager stops: consensus reached. The result is an approved migration plan. Group chat fits because a maker and checkers need to challenge each other until they agree. Only the database reviewers connect to a Postgres MCP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task comes in. Agent 1, a triage generalist, receives and analyses the task. MCP layer: only the active agent's tools are in use. If it can handle the task, it returns the result: one final answer from whichever agent resolves it. Or it hands off: full control moves to a specialist, along with the context and identity, and the specialist's own MCP tools. The next agent repeats the same check: resolve it, or hand it off again. Any agent may escalate to human support, with the full context passed along. Best when the right specialist only becomes clear during processing. Watch out for infinite handoff loops and unpredictable routing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developer reports that orders-service pods are stuck in ImagePullBackOff. The triage agent classifies the request: app bug or platform issue? It is the platform. At any point, an agent can escalate to the human on-call, with the full context passed along. Triage hands off, with the context, to the Kubernetes specialist. It reads pod status and events through Kubernetes MCP: the pods are healthy, but the image is missing. It hands off again, to the CI and registry specialist, which inspects the builds and the image registry through GitHub MCP and finds the root cause. It resolves the issue: one answer, with the pipeline re-run and the image published. Handoff fits because the right specialist only becomes clear as the problem is investigated. Only the active agent's tools are in use; the triage agent needs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open-ended problem comes in, and the manager agent receives it. The manager writes a task ledger: the goal, the approach, and the tasks it knows about so far. It edits the ledger as it goes. It delegates tasks to specialist agents, which call MCP tools as assigned. The manager reads each server's tool list to plan, and risky tool calls wait for human approval. A human can review the plan or take over. After each round it checks: is the goal met, or has progress stalled? If it stalls, the manager re-plans: it discovers new tasks, removes others, and reorders the ledger. Once it is on track, it executes the plan and returns the result, with the plan documented. Best for open-ended problems with no predetermined solution path. Watch out for slow convergence, stalls on vague goals, and high token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manager agent takes the problem: p99 latency doubled after release 2.14.2, and nobody knows why. It writes a task ledger with the goal and its first tasks: chart p99 latency per endpoint, list the changes shipped in 2.14.2, and check the CDN cache hit rate. It delegates: the metrics agent reads latency by endpoint through Grafana MCP, and the code agent reads the release diffs and commits through GitHub MCP. Each finished task gets checked off. The findings change the plan: the manager drops the CDN check, adds a task to inspect slow queries on /checkout, and brings in a database agent with Postgres MCP. The database agent finds it: a new ORM query on /checkout does a full table scan. The last task proposes the fix: add an index. Magentic fits because the steps are unknown upfront: each finding changes the plan. Each specialist connects to the MCP server for its own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systems going into 2027 have the capability: the frontier model brings it, as long as each call gets the essential data. The agentic pattern is the fulcrum. It is how you balance speed, cost and data management: how your data is organized and governed, and who can access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choose, start from context with two questions: does everything fit in the context window, and does each step depend on the last one? If it overflows and the subtasks are independent, split the work: concurrent workers each get a clean window, or a lead agent hands subtasks to subagents, each in a fresh window, and gets back only a short summary, so its own context stays small. If it overflows and each step needs the last, keep the state compact: one agent with summaries or notes, a knowledge graph to fetch only the facts each step needs, Magentic, where a manager keeps a compact task ledger and re-plans as it goes; or a sequential pipeline where each stage passes on a compact result. If it fits, one agent is the default. Go concurrent only to cut wait time or to vote. And if each step depends on the last, splitting adds handoff loss, not accuracy: use handoff only when steps need different tools or permissions, and a group chat only if you want a debate, since we expect it to do no better than voting. This is a working guide built from our expected results; the runs will confirm or move these lines. And data governance cuts across all of this: any pattern that splits the work can also scope each agent's data and access. The badges show what each choice buys: splitting the work buys speed; keeping the state compact and staying with one agent keep the cost down; and when it fits, go parallel only when you need the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 Come find us after the session. The team: Erik Koning and Alex Bajenaru, and Gautham Pallapa, Principal Director of AI and Innovation at Scotiabank and co-author of Invaluable and Mastering Enterprise Platform Engineering. Scan the code for the five patterns, the context strategies and the full eval set: github.com/Erik-Koning/agentic-patterns-eval.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each of the five patterns: when to use it, what it does to context, what to watch out for, and what our experiment says. Sequential suits fixed stages; each agent sees only the previous output, so details get lost, and it's the slowest. Concurrent suits independent subtasks when speed matters; each worker starts clean, at two to three times the tokens; we expect about 20 points over one agent on the 32-supplier task, and voting to match debate at equal cost. Group chat suits debate and review; its shared thread grows every turn, at about five times the cost, and we expect it to do no better than voting. Handoff suits steps that need different skills, tools or permissions; we expect specialist roles to add nothing to accuracy beyond isolation, so the case for it is permissions and ownership. Magentic suits open-ended work where the plan emerges; it isn't tested here. The takeaway: specialise for permissions, ownership and maintainability, not for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jpeg"/><Relationship Id="rId3" Type="http://schemas.openxmlformats.org/officeDocument/2006/relationships/image" Target="../media/image-23-3.jpeg"/><Relationship Id="rId4" Type="http://schemas.openxmlformats.org/officeDocument/2006/relationships/image" Target="../media/image-23-4.jpeg"/><Relationship Id="rId5" Type="http://schemas.openxmlformats.org/officeDocument/2006/relationships/image" Target="../media/image-23-5.jpe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823"/>
        </a:solidFill>
      </p:bgPr>
    </p:bg>
    <p:spTree>
      <p:nvGrpSpPr>
        <p:cNvPr id="1" name=""/>
        <p:cNvGrpSpPr/>
        <p:nvPr/>
      </p:nvGrpSpPr>
      <p:grpSpPr>
        <a:xfrm>
          <a:off x="0" y="0"/>
          <a:ext cx="0" cy="0"/>
          <a:chOff x="0" y="0"/>
          <a:chExt cx="0" cy="0"/>
        </a:xfrm>
      </p:grpSpPr>
      <p:sp>
        <p:nvSpPr>
          <p:cNvPr id="2" name="art path"/>
          <p:cNvSpPr/>
          <p:nvPr/>
        </p:nvSpPr>
        <p:spPr>
          <a:xfrm>
            <a:off x="4680585" y="0"/>
            <a:ext cx="8219123" cy="6858000"/>
          </a:xfrm>
          <a:custGeom>
            <a:avLst/>
            <a:gdLst/>
            <a:ahLst/>
            <a:cxnLst/>
            <a:rect l="l" t="t" r="r" b="b"/>
            <a:pathLst>
              <a:path w="8219123" h="6858000">
                <a:moveTo>
                  <a:pt x="6165533" y="0"/>
                </a:moveTo>
                <a:lnTo>
                  <a:pt x="7164705" y="0"/>
                </a:lnTo>
                <a:lnTo>
                  <a:pt x="6518910" y="762000"/>
                </a:lnTo>
                <a:lnTo>
                  <a:pt x="5519738" y="762000"/>
                </a:lnTo>
                <a:close/>
                <a:moveTo>
                  <a:pt x="6514147" y="762000"/>
                </a:moveTo>
                <a:lnTo>
                  <a:pt x="7513320" y="762000"/>
                </a:lnTo>
                <a:lnTo>
                  <a:pt x="6867525" y="1524000"/>
                </a:lnTo>
                <a:lnTo>
                  <a:pt x="5868352" y="1524000"/>
                </a:lnTo>
                <a:close/>
                <a:moveTo>
                  <a:pt x="5225415" y="2286000"/>
                </a:moveTo>
                <a:lnTo>
                  <a:pt x="6224588" y="2286000"/>
                </a:lnTo>
                <a:lnTo>
                  <a:pt x="5578793" y="3048000"/>
                </a:lnTo>
                <a:lnTo>
                  <a:pt x="4579620" y="3048000"/>
                </a:lnTo>
                <a:close/>
                <a:moveTo>
                  <a:pt x="7219950" y="2286000"/>
                </a:moveTo>
                <a:lnTo>
                  <a:pt x="8219123" y="2286000"/>
                </a:lnTo>
                <a:lnTo>
                  <a:pt x="7573328" y="3048000"/>
                </a:lnTo>
                <a:lnTo>
                  <a:pt x="6574155" y="3048000"/>
                </a:lnTo>
                <a:close/>
                <a:moveTo>
                  <a:pt x="3580447" y="3048000"/>
                </a:moveTo>
                <a:lnTo>
                  <a:pt x="4579620" y="3048000"/>
                </a:lnTo>
                <a:lnTo>
                  <a:pt x="3933825" y="3810000"/>
                </a:lnTo>
                <a:lnTo>
                  <a:pt x="2934652" y="3810000"/>
                </a:lnTo>
                <a:close/>
                <a:moveTo>
                  <a:pt x="5580697" y="3048000"/>
                </a:moveTo>
                <a:lnTo>
                  <a:pt x="6579870" y="3048000"/>
                </a:lnTo>
                <a:lnTo>
                  <a:pt x="5934075" y="3810000"/>
                </a:lnTo>
                <a:lnTo>
                  <a:pt x="4934903" y="3810000"/>
                </a:lnTo>
                <a:close/>
                <a:moveTo>
                  <a:pt x="3935730" y="3810000"/>
                </a:moveTo>
                <a:lnTo>
                  <a:pt x="4934902" y="3810000"/>
                </a:lnTo>
                <a:lnTo>
                  <a:pt x="4289108" y="4572000"/>
                </a:lnTo>
                <a:lnTo>
                  <a:pt x="3289935" y="4572000"/>
                </a:lnTo>
                <a:close/>
                <a:moveTo>
                  <a:pt x="5930265" y="3810000"/>
                </a:moveTo>
                <a:lnTo>
                  <a:pt x="6929438" y="3810000"/>
                </a:lnTo>
                <a:lnTo>
                  <a:pt x="6283643" y="4572000"/>
                </a:lnTo>
                <a:lnTo>
                  <a:pt x="5284470" y="4572000"/>
                </a:lnTo>
                <a:close/>
                <a:moveTo>
                  <a:pt x="4285297" y="4572000"/>
                </a:moveTo>
                <a:lnTo>
                  <a:pt x="5284470" y="4572000"/>
                </a:lnTo>
                <a:lnTo>
                  <a:pt x="4638675" y="5334000"/>
                </a:lnTo>
                <a:lnTo>
                  <a:pt x="3639503" y="5334000"/>
                </a:lnTo>
                <a:close/>
                <a:moveTo>
                  <a:pt x="645795" y="5334000"/>
                </a:moveTo>
                <a:lnTo>
                  <a:pt x="1644967" y="5334000"/>
                </a:lnTo>
                <a:lnTo>
                  <a:pt x="999172" y="6096000"/>
                </a:lnTo>
                <a:lnTo>
                  <a:pt x="0" y="6096000"/>
                </a:lnTo>
                <a:close/>
                <a:moveTo>
                  <a:pt x="2640330" y="5334000"/>
                </a:moveTo>
                <a:lnTo>
                  <a:pt x="3639502" y="5334000"/>
                </a:lnTo>
                <a:lnTo>
                  <a:pt x="2993707" y="6096000"/>
                </a:lnTo>
                <a:lnTo>
                  <a:pt x="1994535" y="6096000"/>
                </a:lnTo>
                <a:close/>
                <a:moveTo>
                  <a:pt x="4640580" y="5334000"/>
                </a:moveTo>
                <a:lnTo>
                  <a:pt x="5639752" y="5334000"/>
                </a:lnTo>
                <a:lnTo>
                  <a:pt x="4993958" y="6096000"/>
                </a:lnTo>
                <a:lnTo>
                  <a:pt x="3994785" y="6096000"/>
                </a:lnTo>
                <a:close/>
                <a:moveTo>
                  <a:pt x="6635115" y="5334000"/>
                </a:moveTo>
                <a:lnTo>
                  <a:pt x="7634288" y="5334000"/>
                </a:lnTo>
                <a:lnTo>
                  <a:pt x="6988493" y="6096000"/>
                </a:lnTo>
                <a:lnTo>
                  <a:pt x="5989320" y="6096000"/>
                </a:lnTo>
                <a:close/>
                <a:moveTo>
                  <a:pt x="1001077" y="6096000"/>
                </a:moveTo>
                <a:lnTo>
                  <a:pt x="2000250" y="6096000"/>
                </a:lnTo>
                <a:lnTo>
                  <a:pt x="1354455" y="6858000"/>
                </a:lnTo>
                <a:lnTo>
                  <a:pt x="355282" y="6858000"/>
                </a:lnTo>
                <a:close/>
                <a:moveTo>
                  <a:pt x="4990147" y="6096000"/>
                </a:moveTo>
                <a:lnTo>
                  <a:pt x="5989320" y="6096000"/>
                </a:lnTo>
                <a:lnTo>
                  <a:pt x="5343525" y="6858000"/>
                </a:lnTo>
                <a:lnTo>
                  <a:pt x="4344353" y="6858000"/>
                </a:lnTo>
                <a:close/>
                <a:moveTo>
                  <a:pt x="6991350" y="6096000"/>
                </a:moveTo>
                <a:lnTo>
                  <a:pt x="7990523" y="6096000"/>
                </a:lnTo>
                <a:lnTo>
                  <a:pt x="7344728" y="6858000"/>
                </a:lnTo>
                <a:lnTo>
                  <a:pt x="6345555" y="6858000"/>
                </a:lnTo>
                <a:close/>
              </a:path>
            </a:pathLst>
          </a:custGeom>
          <a:solidFill>
            <a:srgbClr val="6551FF"/>
          </a:solidFill>
          <a:ln>
            <a:noFill/>
          </a:ln>
        </p:spPr>
      </p:sp>
      <p:sp>
        <p:nvSpPr>
          <p:cNvPr id="3" name="Text MCP Dev Summit Toronto 2026"/>
          <p:cNvSpPr txBox="1"/>
          <p:nvPr/>
        </p:nvSpPr>
        <p:spPr>
          <a:xfrm>
            <a:off x="406598" y="1629918"/>
            <a:ext cx="4509939" cy="369189"/>
          </a:xfrm>
          <a:prstGeom prst="rect">
            <a:avLst/>
          </a:prstGeom>
          <a:noFill/>
          <a:ln/>
        </p:spPr>
        <p:txBody>
          <a:bodyPr wrap="none" lIns="0" tIns="0" rIns="0" bIns="0" rtlCol="0" anchor="ctr"/>
          <a:lstStyle/>
          <a:p>
            <a:pPr algn="l" indent="0" marL="0">
              <a:buNone/>
            </a:pPr>
            <a:r>
              <a:rPr lang="en-US" sz="2267" spc="67" kern="0" dirty="0">
                <a:solidFill>
                  <a:srgbClr val="FFFFFF"/>
                </a:solidFill>
                <a:latin typeface="Scotia Serif" pitchFamily="34" charset="0"/>
                <a:ea typeface="Scotia Serif" pitchFamily="34" charset="-122"/>
                <a:cs typeface="Scotia Serif" pitchFamily="34" charset="-120"/>
              </a:rPr>
              <a:t>MCP Dev Summit Toronto 2026</a:t>
            </a:r>
            <a:endParaRPr lang="en-US" sz="2267" dirty="0"/>
          </a:p>
        </p:txBody>
      </p:sp>
      <p:sp>
        <p:nvSpPr>
          <p:cNvPr id="4" name="Text Multi-Agent Systems in Practic"/>
          <p:cNvSpPr txBox="1"/>
          <p:nvPr/>
        </p:nvSpPr>
        <p:spPr>
          <a:xfrm>
            <a:off x="406598" y="2200126"/>
            <a:ext cx="8346728" cy="609600"/>
          </a:xfrm>
          <a:prstGeom prst="rect">
            <a:avLst/>
          </a:prstGeom>
          <a:noFill/>
          <a:ln/>
        </p:spPr>
        <p:txBody>
          <a:bodyPr wrap="none" lIns="0" tIns="0" rIns="0" bIns="0" rtlCol="0" anchor="ctr"/>
          <a:lstStyle/>
          <a:p>
            <a:pPr algn="l" indent="0" marL="0">
              <a:buNone/>
            </a:pPr>
            <a:r>
              <a:rPr lang="en-US" sz="4350" dirty="0">
                <a:solidFill>
                  <a:srgbClr val="FFFFFF"/>
                </a:solidFill>
                <a:latin typeface="Scotia Headline" pitchFamily="34" charset="0"/>
                <a:ea typeface="Scotia Headline" pitchFamily="34" charset="-122"/>
                <a:cs typeface="Scotia Headline" pitchFamily="34" charset="-120"/>
              </a:rPr>
              <a:t>Multi-Agent Systems in Practice:</a:t>
            </a:r>
            <a:endParaRPr lang="en-US" sz="4350" dirty="0"/>
          </a:p>
        </p:txBody>
      </p:sp>
      <p:sp>
        <p:nvSpPr>
          <p:cNvPr id="5" name="Text What Our ExperimentsTaught Us"/>
          <p:cNvSpPr txBox="1"/>
          <p:nvPr/>
        </p:nvSpPr>
        <p:spPr>
          <a:xfrm>
            <a:off x="406598" y="3047554"/>
            <a:ext cx="7239000" cy="1143000"/>
          </a:xfrm>
          <a:prstGeom prst="rect">
            <a:avLst/>
          </a:prstGeom>
          <a:noFill/>
          <a:ln/>
        </p:spPr>
        <p:txBody>
          <a:bodyPr wrap="square" lIns="0" tIns="0" rIns="0" bIns="0" rtlCol="0" anchor="t"/>
          <a:lstStyle/>
          <a:p>
            <a:pPr algn="l" indent="0" marL="0">
              <a:lnSpc>
                <a:spcPts val="4500"/>
              </a:lnSpc>
              <a:buNone/>
            </a:pPr>
            <a:r>
              <a:rPr lang="en-US" sz="3900" dirty="0">
                <a:solidFill>
                  <a:srgbClr val="B0AAFF"/>
                </a:solidFill>
                <a:latin typeface="Scotia Headline" pitchFamily="34" charset="0"/>
                <a:ea typeface="Scotia Headline" pitchFamily="34" charset="-122"/>
                <a:cs typeface="Scotia Headline" pitchFamily="34" charset="-120"/>
              </a:rPr>
              <a:t>What Our Experiments</a:t>
            </a:r>
            <a:endParaRPr lang="en-US" sz="3900" dirty="0"/>
          </a:p>
          <a:p>
            <a:pPr algn="l" indent="0" marL="0">
              <a:lnSpc>
                <a:spcPts val="4500"/>
              </a:lnSpc>
              <a:buNone/>
            </a:pPr>
            <a:r>
              <a:rPr lang="en-US" sz="3900" dirty="0">
                <a:solidFill>
                  <a:srgbClr val="B0AAFF"/>
                </a:solidFill>
                <a:latin typeface="Scotia Headline" pitchFamily="34" charset="0"/>
                <a:ea typeface="Scotia Headline" pitchFamily="34" charset="-122"/>
                <a:cs typeface="Scotia Headline" pitchFamily="34" charset="-120"/>
              </a:rPr>
              <a:t>Taught Us</a:t>
            </a:r>
            <a:endParaRPr lang="en-US" sz="3900" dirty="0"/>
          </a:p>
        </p:txBody>
      </p:sp>
      <p:sp>
        <p:nvSpPr>
          <p:cNvPr id="6" name="Text OCTOBER 6 2026"/>
          <p:cNvSpPr txBox="1"/>
          <p:nvPr/>
        </p:nvSpPr>
        <p:spPr>
          <a:xfrm>
            <a:off x="406598" y="6279713"/>
            <a:ext cx="1013371" cy="138589"/>
          </a:xfrm>
          <a:prstGeom prst="rect">
            <a:avLst/>
          </a:prstGeom>
          <a:noFill/>
          <a:ln/>
        </p:spPr>
        <p:txBody>
          <a:bodyPr wrap="none" lIns="0" tIns="0" rIns="0" bIns="0" rtlCol="0" anchor="ctr"/>
          <a:lstStyle/>
          <a:p>
            <a:pPr algn="l" indent="0" marL="0">
              <a:buNone/>
            </a:pPr>
            <a:r>
              <a:rPr lang="en-US" sz="853" spc="43" kern="0" dirty="0">
                <a:solidFill>
                  <a:srgbClr val="FFFFFF"/>
                </a:solidFill>
                <a:latin typeface="Scotia" pitchFamily="34" charset="0"/>
                <a:ea typeface="Scotia" pitchFamily="34" charset="-122"/>
                <a:cs typeface="Scotia" pitchFamily="34" charset="-120"/>
              </a:rPr>
              <a:t>OCTOBER 6, 2026</a:t>
            </a:r>
            <a:endParaRPr lang="en-US" sz="85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400050" y="2495550"/>
            <a:ext cx="6096000" cy="857250"/>
          </a:xfrm>
          <a:prstGeom prst="roundRect">
            <a:avLst>
              <a:gd name="adj" fmla="val 22222"/>
            </a:avLst>
          </a:prstGeom>
          <a:gradFill rotWithShape="1">
            <a:gsLst>
              <a:gs pos="0">
                <a:srgbClr val="1A1550"/>
              </a:gs>
              <a:gs pos="100000">
                <a:srgbClr val="120E36"/>
              </a:gs>
            </a:gsLst>
            <a:lin ang="5400000" scaled="1"/>
          </a:gradFill>
          <a:ln w="13335" cap="flat">
            <a:solidFill>
              <a:srgbClr val="3B3392"/>
            </a:solidFill>
            <a:miter lim="800000"/>
          </a:ln>
        </p:spPr>
      </p:sp>
      <p:sp>
        <p:nvSpPr>
          <p:cNvPr id="3" name="dg circle"/>
          <p:cNvSpPr/>
          <p:nvPr/>
        </p:nvSpPr>
        <p:spPr>
          <a:xfrm>
            <a:off x="590550" y="2657475"/>
            <a:ext cx="533400" cy="533400"/>
          </a:xfrm>
          <a:prstGeom prst="ellipse">
            <a:avLst/>
          </a:prstGeom>
          <a:solidFill>
            <a:srgbClr val="FFFFFF">
              <a:alpha val="11000"/>
            </a:srgbClr>
          </a:solidFill>
          <a:ln>
            <a:noFill/>
          </a:ln>
        </p:spPr>
      </p:sp>
      <p:sp>
        <p:nvSpPr>
          <p:cNvPr id="4" name="dg i-coins"/>
          <p:cNvSpPr/>
          <p:nvPr/>
        </p:nvSpPr>
        <p:spPr>
          <a:xfrm>
            <a:off x="746125" y="2813050"/>
            <a:ext cx="225497" cy="225116"/>
          </a:xfrm>
          <a:custGeom>
            <a:avLst/>
            <a:gdLst/>
            <a:ahLst/>
            <a:cxnLst/>
            <a:rect l="l" t="t" r="r" b="b"/>
            <a:pathLst>
              <a:path w="225497" h="225116">
                <a:moveTo>
                  <a:pt x="133350" y="66675"/>
                </a:moveTo>
                <a:cubicBezTo>
                  <a:pt x="133350" y="103499"/>
                  <a:pt x="103499" y="133350"/>
                  <a:pt x="66675" y="133350"/>
                </a:cubicBezTo>
                <a:cubicBezTo>
                  <a:pt x="29851" y="133350"/>
                  <a:pt x="0" y="103499"/>
                  <a:pt x="0" y="66675"/>
                </a:cubicBezTo>
                <a:cubicBezTo>
                  <a:pt x="0" y="29851"/>
                  <a:pt x="29851" y="0"/>
                  <a:pt x="66675" y="0"/>
                </a:cubicBezTo>
                <a:cubicBezTo>
                  <a:pt x="103499" y="0"/>
                  <a:pt x="133350" y="29851"/>
                  <a:pt x="133350" y="66675"/>
                </a:cubicBezTo>
                <a:close/>
                <a:moveTo>
                  <a:pt x="178800" y="93012"/>
                </a:moveTo>
                <a:cubicBezTo>
                  <a:pt x="207754" y="103806"/>
                  <a:pt x="225497" y="133080"/>
                  <a:pt x="221670" y="163743"/>
                </a:cubicBezTo>
                <a:cubicBezTo>
                  <a:pt x="217844" y="194405"/>
                  <a:pt x="193450" y="218421"/>
                  <a:pt x="162732" y="221769"/>
                </a:cubicBezTo>
                <a:cubicBezTo>
                  <a:pt x="132013" y="225116"/>
                  <a:pt x="103020" y="206919"/>
                  <a:pt x="92678" y="177800"/>
                </a:cubicBezTo>
                <a:moveTo>
                  <a:pt x="55562" y="44450"/>
                </a:moveTo>
                <a:lnTo>
                  <a:pt x="66675" y="44450"/>
                </a:lnTo>
                <a:lnTo>
                  <a:pt x="66675" y="88900"/>
                </a:lnTo>
                <a:moveTo>
                  <a:pt x="163465" y="132016"/>
                </a:moveTo>
                <a:lnTo>
                  <a:pt x="171244" y="139906"/>
                </a:lnTo>
                <a:lnTo>
                  <a:pt x="139906" y="171244"/>
                </a:lnTo>
              </a:path>
            </a:pathLst>
          </a:custGeom>
          <a:noFill/>
          <a:ln w="20002" cap="rnd">
            <a:solidFill>
              <a:srgbClr val="FFFFFF"/>
            </a:solidFill>
            <a:round/>
          </a:ln>
        </p:spPr>
      </p:sp>
      <p:sp>
        <p:nvSpPr>
          <p:cNvPr id="5" name="Text Cost"/>
          <p:cNvSpPr txBox="1"/>
          <p:nvPr/>
        </p:nvSpPr>
        <p:spPr>
          <a:xfrm>
            <a:off x="1314450" y="2705100"/>
            <a:ext cx="552450" cy="285750"/>
          </a:xfrm>
          <a:prstGeom prst="rect">
            <a:avLst/>
          </a:prstGeom>
          <a:noFill/>
          <a:ln/>
        </p:spPr>
        <p:txBody>
          <a:bodyPr wrap="none" lIns="0" tIns="0" rIns="0" bIns="0" rtlCol="0" anchor="ctr"/>
          <a:lstStyle/>
          <a:p>
            <a:pPr algn="l" indent="0" marL="0">
              <a:buNone/>
            </a:pPr>
            <a:r>
              <a:rPr lang="en-US" sz="1875" b="1" dirty="0">
                <a:solidFill>
                  <a:srgbClr val="FFFFFF"/>
                </a:solidFill>
                <a:latin typeface="Scotia" pitchFamily="34" charset="0"/>
                <a:ea typeface="Scotia" pitchFamily="34" charset="-122"/>
                <a:cs typeface="Scotia" pitchFamily="34" charset="-120"/>
              </a:rPr>
              <a:t>Cost</a:t>
            </a:r>
            <a:endParaRPr lang="en-US" sz="1875" dirty="0"/>
          </a:p>
        </p:txBody>
      </p:sp>
      <p:sp>
        <p:nvSpPr>
          <p:cNvPr id="6" name="Text Use fewer tokens and lighter-w"/>
          <p:cNvSpPr txBox="1"/>
          <p:nvPr/>
        </p:nvSpPr>
        <p:spPr>
          <a:xfrm>
            <a:off x="1314450" y="2990850"/>
            <a:ext cx="3048595" cy="180975"/>
          </a:xfrm>
          <a:prstGeom prst="rect">
            <a:avLst/>
          </a:prstGeom>
          <a:noFill/>
          <a:ln/>
        </p:spPr>
        <p:txBody>
          <a:bodyPr wrap="none" lIns="0" tIns="0" rIns="0" bIns="0" rtlCol="0" anchor="ctr"/>
          <a:lstStyle/>
          <a:p>
            <a:pPr algn="l" indent="0" marL="0">
              <a:buNone/>
            </a:pPr>
            <a:r>
              <a:rPr lang="en-US" sz="1163" dirty="0">
                <a:solidFill>
                  <a:srgbClr val="D6D4EA"/>
                </a:solidFill>
                <a:latin typeface="Scotia Serif" pitchFamily="34" charset="0"/>
                <a:ea typeface="Scotia Serif" pitchFamily="34" charset="-122"/>
                <a:cs typeface="Scotia Serif" pitchFamily="34" charset="-120"/>
              </a:rPr>
              <a:t>Use fewer tokens and lighter-weight models.</a:t>
            </a:r>
            <a:endParaRPr lang="en-US" sz="1163" dirty="0"/>
          </a:p>
        </p:txBody>
      </p:sp>
      <p:sp>
        <p:nvSpPr>
          <p:cNvPr id="7" name="dg rect"/>
          <p:cNvSpPr/>
          <p:nvPr/>
        </p:nvSpPr>
        <p:spPr>
          <a:xfrm>
            <a:off x="400050" y="3562350"/>
            <a:ext cx="6096000" cy="857250"/>
          </a:xfrm>
          <a:prstGeom prst="roundRect">
            <a:avLst>
              <a:gd name="adj" fmla="val 22222"/>
            </a:avLst>
          </a:prstGeom>
          <a:gradFill rotWithShape="1">
            <a:gsLst>
              <a:gs pos="0">
                <a:srgbClr val="1A1550"/>
              </a:gs>
              <a:gs pos="100000">
                <a:srgbClr val="120E36"/>
              </a:gs>
            </a:gsLst>
            <a:lin ang="5400000" scaled="1"/>
          </a:gradFill>
          <a:ln w="13335" cap="flat">
            <a:solidFill>
              <a:srgbClr val="3B3392"/>
            </a:solidFill>
            <a:miter lim="800000"/>
          </a:ln>
        </p:spPr>
      </p:sp>
      <p:sp>
        <p:nvSpPr>
          <p:cNvPr id="8" name="dg circle"/>
          <p:cNvSpPr/>
          <p:nvPr/>
        </p:nvSpPr>
        <p:spPr>
          <a:xfrm>
            <a:off x="590550" y="3724275"/>
            <a:ext cx="533400" cy="533400"/>
          </a:xfrm>
          <a:prstGeom prst="ellipse">
            <a:avLst/>
          </a:prstGeom>
          <a:solidFill>
            <a:srgbClr val="FFFFFF">
              <a:alpha val="11000"/>
            </a:srgbClr>
          </a:solidFill>
          <a:ln>
            <a:noFill/>
          </a:ln>
        </p:spPr>
      </p:sp>
      <p:sp>
        <p:nvSpPr>
          <p:cNvPr id="9" name="dg i-zap"/>
          <p:cNvSpPr/>
          <p:nvPr/>
        </p:nvSpPr>
        <p:spPr>
          <a:xfrm>
            <a:off x="756435" y="3879254"/>
            <a:ext cx="201629" cy="223443"/>
          </a:xfrm>
          <a:custGeom>
            <a:avLst/>
            <a:gdLst/>
            <a:ahLst/>
            <a:cxnLst/>
            <a:rect l="l" t="t" r="r" b="b"/>
            <a:pathLst>
              <a:path w="201629" h="223443">
                <a:moveTo>
                  <a:pt x="11915" y="133946"/>
                </a:moveTo>
                <a:cubicBezTo>
                  <a:pt x="7622" y="133961"/>
                  <a:pt x="3705" y="131502"/>
                  <a:pt x="1853" y="127631"/>
                </a:cubicBezTo>
                <a:cubicBezTo>
                  <a:pt x="0" y="123759"/>
                  <a:pt x="543" y="119166"/>
                  <a:pt x="3247" y="115833"/>
                </a:cubicBezTo>
                <a:lnTo>
                  <a:pt x="113261" y="2486"/>
                </a:lnTo>
                <a:cubicBezTo>
                  <a:pt x="114960" y="524"/>
                  <a:pt x="117792" y="0"/>
                  <a:pt x="120081" y="1224"/>
                </a:cubicBezTo>
                <a:cubicBezTo>
                  <a:pt x="122370" y="2449"/>
                  <a:pt x="123506" y="5094"/>
                  <a:pt x="122817" y="7597"/>
                </a:cubicBezTo>
                <a:lnTo>
                  <a:pt x="101481" y="74495"/>
                </a:lnTo>
                <a:cubicBezTo>
                  <a:pt x="100204" y="77912"/>
                  <a:pt x="100686" y="81740"/>
                  <a:pt x="102771" y="84734"/>
                </a:cubicBezTo>
                <a:cubicBezTo>
                  <a:pt x="104856" y="87728"/>
                  <a:pt x="108278" y="89508"/>
                  <a:pt x="111927" y="89496"/>
                </a:cubicBezTo>
                <a:lnTo>
                  <a:pt x="189715" y="89496"/>
                </a:lnTo>
                <a:cubicBezTo>
                  <a:pt x="194007" y="89482"/>
                  <a:pt x="197924" y="91940"/>
                  <a:pt x="199776" y="95812"/>
                </a:cubicBezTo>
                <a:cubicBezTo>
                  <a:pt x="201629" y="99684"/>
                  <a:pt x="201086" y="104276"/>
                  <a:pt x="198382" y="107610"/>
                </a:cubicBezTo>
                <a:lnTo>
                  <a:pt x="88369" y="220957"/>
                </a:lnTo>
                <a:cubicBezTo>
                  <a:pt x="86669" y="222919"/>
                  <a:pt x="83837" y="223443"/>
                  <a:pt x="81548" y="222218"/>
                </a:cubicBezTo>
                <a:cubicBezTo>
                  <a:pt x="79260" y="220994"/>
                  <a:pt x="78123" y="218348"/>
                  <a:pt x="78812" y="215845"/>
                </a:cubicBezTo>
                <a:lnTo>
                  <a:pt x="100148" y="148948"/>
                </a:lnTo>
                <a:cubicBezTo>
                  <a:pt x="101425" y="145530"/>
                  <a:pt x="100943" y="141703"/>
                  <a:pt x="98858" y="138709"/>
                </a:cubicBezTo>
                <a:cubicBezTo>
                  <a:pt x="96773" y="135715"/>
                  <a:pt x="93351" y="133935"/>
                  <a:pt x="89702" y="133946"/>
                </a:cubicBezTo>
                <a:close/>
              </a:path>
            </a:pathLst>
          </a:custGeom>
          <a:noFill/>
          <a:ln w="20002" cap="rnd">
            <a:solidFill>
              <a:srgbClr val="FFFFFF"/>
            </a:solidFill>
            <a:round/>
          </a:ln>
        </p:spPr>
      </p:sp>
      <p:sp>
        <p:nvSpPr>
          <p:cNvPr id="10" name="Text Speed"/>
          <p:cNvSpPr txBox="1"/>
          <p:nvPr/>
        </p:nvSpPr>
        <p:spPr>
          <a:xfrm>
            <a:off x="1314450" y="3771900"/>
            <a:ext cx="744141" cy="285750"/>
          </a:xfrm>
          <a:prstGeom prst="rect">
            <a:avLst/>
          </a:prstGeom>
          <a:noFill/>
          <a:ln/>
        </p:spPr>
        <p:txBody>
          <a:bodyPr wrap="none" lIns="0" tIns="0" rIns="0" bIns="0" rtlCol="0" anchor="ctr"/>
          <a:lstStyle/>
          <a:p>
            <a:pPr algn="l" indent="0" marL="0">
              <a:buNone/>
            </a:pPr>
            <a:r>
              <a:rPr lang="en-US" sz="1875" b="1" dirty="0">
                <a:solidFill>
                  <a:srgbClr val="FFFFFF"/>
                </a:solidFill>
                <a:latin typeface="Scotia" pitchFamily="34" charset="0"/>
                <a:ea typeface="Scotia" pitchFamily="34" charset="-122"/>
                <a:cs typeface="Scotia" pitchFamily="34" charset="-120"/>
              </a:rPr>
              <a:t>Speed</a:t>
            </a:r>
            <a:endParaRPr lang="en-US" sz="1875" dirty="0"/>
          </a:p>
        </p:txBody>
      </p:sp>
      <p:sp>
        <p:nvSpPr>
          <p:cNvPr id="11" name="Text Run work in parallel and cach"/>
          <p:cNvSpPr txBox="1"/>
          <p:nvPr/>
        </p:nvSpPr>
        <p:spPr>
          <a:xfrm>
            <a:off x="1314450" y="4057650"/>
            <a:ext cx="3124051" cy="180975"/>
          </a:xfrm>
          <a:prstGeom prst="rect">
            <a:avLst/>
          </a:prstGeom>
          <a:noFill/>
          <a:ln/>
        </p:spPr>
        <p:txBody>
          <a:bodyPr wrap="none" lIns="0" tIns="0" rIns="0" bIns="0" rtlCol="0" anchor="ctr"/>
          <a:lstStyle/>
          <a:p>
            <a:pPr algn="l" indent="0" marL="0">
              <a:buNone/>
            </a:pPr>
            <a:r>
              <a:rPr lang="en-US" sz="1163" dirty="0">
                <a:solidFill>
                  <a:srgbClr val="D6D4EA"/>
                </a:solidFill>
                <a:latin typeface="Scotia Serif" pitchFamily="34" charset="0"/>
                <a:ea typeface="Scotia Serif" pitchFamily="34" charset="-122"/>
                <a:cs typeface="Scotia Serif" pitchFamily="34" charset="-120"/>
              </a:rPr>
              <a:t>Run work in parallel, and cache what repeats.</a:t>
            </a:r>
            <a:endParaRPr lang="en-US" sz="1163" dirty="0"/>
          </a:p>
        </p:txBody>
      </p:sp>
      <p:sp>
        <p:nvSpPr>
          <p:cNvPr id="12" name="dg rect"/>
          <p:cNvSpPr/>
          <p:nvPr/>
        </p:nvSpPr>
        <p:spPr>
          <a:xfrm>
            <a:off x="400050" y="4629150"/>
            <a:ext cx="6096000" cy="857250"/>
          </a:xfrm>
          <a:prstGeom prst="roundRect">
            <a:avLst>
              <a:gd name="adj" fmla="val 22222"/>
            </a:avLst>
          </a:prstGeom>
          <a:gradFill rotWithShape="1">
            <a:gsLst>
              <a:gs pos="0">
                <a:srgbClr val="1A1550"/>
              </a:gs>
              <a:gs pos="100000">
                <a:srgbClr val="120E36"/>
              </a:gs>
            </a:gsLst>
            <a:lin ang="5400000" scaled="1"/>
          </a:gradFill>
          <a:ln w="13335" cap="flat">
            <a:solidFill>
              <a:srgbClr val="3B3392"/>
            </a:solidFill>
            <a:miter lim="800000"/>
          </a:ln>
        </p:spPr>
      </p:sp>
      <p:sp>
        <p:nvSpPr>
          <p:cNvPr id="13" name="dg circle"/>
          <p:cNvSpPr/>
          <p:nvPr/>
        </p:nvSpPr>
        <p:spPr>
          <a:xfrm>
            <a:off x="590550" y="4791075"/>
            <a:ext cx="533400" cy="533400"/>
          </a:xfrm>
          <a:prstGeom prst="ellipse">
            <a:avLst/>
          </a:prstGeom>
          <a:solidFill>
            <a:srgbClr val="FFFFFF">
              <a:alpha val="11000"/>
            </a:srgbClr>
          </a:solidFill>
          <a:ln>
            <a:noFill/>
          </a:ln>
        </p:spPr>
      </p:sp>
      <p:sp>
        <p:nvSpPr>
          <p:cNvPr id="14" name="dg i-brain"/>
          <p:cNvSpPr/>
          <p:nvPr/>
        </p:nvSpPr>
        <p:spPr>
          <a:xfrm>
            <a:off x="745037" y="4944891"/>
            <a:ext cx="224426" cy="226584"/>
          </a:xfrm>
          <a:custGeom>
            <a:avLst/>
            <a:gdLst/>
            <a:ahLst/>
            <a:cxnLst/>
            <a:rect l="l" t="t" r="r" b="b"/>
            <a:pathLst>
              <a:path w="224426" h="226584">
                <a:moveTo>
                  <a:pt x="112213" y="35096"/>
                </a:moveTo>
                <a:cubicBezTo>
                  <a:pt x="112249" y="22997"/>
                  <a:pt x="105726" y="11828"/>
                  <a:pt x="95170" y="5914"/>
                </a:cubicBezTo>
                <a:cubicBezTo>
                  <a:pt x="84615" y="0"/>
                  <a:pt x="71683" y="270"/>
                  <a:pt x="61383" y="6618"/>
                </a:cubicBezTo>
                <a:cubicBezTo>
                  <a:pt x="51083" y="12967"/>
                  <a:pt x="45032" y="24398"/>
                  <a:pt x="45571" y="36485"/>
                </a:cubicBezTo>
                <a:cubicBezTo>
                  <a:pt x="32336" y="39888"/>
                  <a:pt x="21402" y="49190"/>
                  <a:pt x="15921" y="61709"/>
                </a:cubicBezTo>
                <a:cubicBezTo>
                  <a:pt x="10441" y="74227"/>
                  <a:pt x="11024" y="88571"/>
                  <a:pt x="17501" y="100604"/>
                </a:cubicBezTo>
                <a:cubicBezTo>
                  <a:pt x="6089" y="109876"/>
                  <a:pt x="0" y="124191"/>
                  <a:pt x="1237" y="138842"/>
                </a:cubicBezTo>
                <a:cubicBezTo>
                  <a:pt x="2473" y="153494"/>
                  <a:pt x="10875" y="166586"/>
                  <a:pt x="23680" y="173813"/>
                </a:cubicBezTo>
                <a:cubicBezTo>
                  <a:pt x="21557" y="190234"/>
                  <a:pt x="28738" y="206473"/>
                  <a:pt x="42312" y="215954"/>
                </a:cubicBezTo>
                <a:cubicBezTo>
                  <a:pt x="55886" y="225434"/>
                  <a:pt x="73605" y="226584"/>
                  <a:pt x="88291" y="218937"/>
                </a:cubicBezTo>
                <a:cubicBezTo>
                  <a:pt x="102977" y="211291"/>
                  <a:pt x="112195" y="196116"/>
                  <a:pt x="112213" y="179559"/>
                </a:cubicBezTo>
                <a:close/>
                <a:moveTo>
                  <a:pt x="112213" y="35096"/>
                </a:moveTo>
                <a:cubicBezTo>
                  <a:pt x="112177" y="22997"/>
                  <a:pt x="118700" y="11828"/>
                  <a:pt x="129256" y="5914"/>
                </a:cubicBezTo>
                <a:cubicBezTo>
                  <a:pt x="139811" y="0"/>
                  <a:pt x="152743" y="270"/>
                  <a:pt x="163043" y="6618"/>
                </a:cubicBezTo>
                <a:cubicBezTo>
                  <a:pt x="173343" y="12967"/>
                  <a:pt x="179394" y="24398"/>
                  <a:pt x="178855" y="36485"/>
                </a:cubicBezTo>
                <a:cubicBezTo>
                  <a:pt x="192090" y="39888"/>
                  <a:pt x="203024" y="49190"/>
                  <a:pt x="208505" y="61709"/>
                </a:cubicBezTo>
                <a:cubicBezTo>
                  <a:pt x="213985" y="74227"/>
                  <a:pt x="213402" y="88571"/>
                  <a:pt x="206925" y="100604"/>
                </a:cubicBezTo>
                <a:cubicBezTo>
                  <a:pt x="218337" y="109876"/>
                  <a:pt x="224426" y="124191"/>
                  <a:pt x="223190" y="138842"/>
                </a:cubicBezTo>
                <a:cubicBezTo>
                  <a:pt x="221953" y="153494"/>
                  <a:pt x="213551" y="166586"/>
                  <a:pt x="200746" y="173813"/>
                </a:cubicBezTo>
                <a:cubicBezTo>
                  <a:pt x="202869" y="190234"/>
                  <a:pt x="195688" y="206473"/>
                  <a:pt x="182114" y="215954"/>
                </a:cubicBezTo>
                <a:cubicBezTo>
                  <a:pt x="168540" y="225434"/>
                  <a:pt x="150821" y="226584"/>
                  <a:pt x="136135" y="218937"/>
                </a:cubicBezTo>
                <a:cubicBezTo>
                  <a:pt x="121449" y="211291"/>
                  <a:pt x="112231" y="196116"/>
                  <a:pt x="112213" y="179559"/>
                </a:cubicBezTo>
                <a:close/>
                <a:moveTo>
                  <a:pt x="145551" y="123996"/>
                </a:moveTo>
                <a:cubicBezTo>
                  <a:pt x="126472" y="117284"/>
                  <a:pt x="113314" y="99741"/>
                  <a:pt x="112213" y="79546"/>
                </a:cubicBezTo>
                <a:cubicBezTo>
                  <a:pt x="111112" y="99741"/>
                  <a:pt x="97954" y="117284"/>
                  <a:pt x="78876" y="123996"/>
                </a:cubicBezTo>
                <a:moveTo>
                  <a:pt x="174432" y="51765"/>
                </a:moveTo>
                <a:cubicBezTo>
                  <a:pt x="177121" y="47104"/>
                  <a:pt x="178643" y="41862"/>
                  <a:pt x="178866" y="36485"/>
                </a:cubicBezTo>
                <a:moveTo>
                  <a:pt x="45571" y="36485"/>
                </a:moveTo>
                <a:cubicBezTo>
                  <a:pt x="45791" y="41861"/>
                  <a:pt x="47309" y="47103"/>
                  <a:pt x="49994" y="51765"/>
                </a:cubicBezTo>
                <a:moveTo>
                  <a:pt x="17501" y="100615"/>
                </a:moveTo>
                <a:cubicBezTo>
                  <a:pt x="19534" y="98960"/>
                  <a:pt x="21710" y="97487"/>
                  <a:pt x="24002" y="96215"/>
                </a:cubicBezTo>
                <a:moveTo>
                  <a:pt x="200424" y="96215"/>
                </a:moveTo>
                <a:cubicBezTo>
                  <a:pt x="202717" y="97487"/>
                  <a:pt x="204892" y="98960"/>
                  <a:pt x="206925" y="100615"/>
                </a:cubicBezTo>
                <a:moveTo>
                  <a:pt x="45538" y="179559"/>
                </a:moveTo>
                <a:cubicBezTo>
                  <a:pt x="37880" y="179562"/>
                  <a:pt x="30350" y="177587"/>
                  <a:pt x="23680" y="173825"/>
                </a:cubicBezTo>
                <a:moveTo>
                  <a:pt x="200746" y="173825"/>
                </a:moveTo>
                <a:cubicBezTo>
                  <a:pt x="194076" y="177587"/>
                  <a:pt x="186546" y="179562"/>
                  <a:pt x="178888" y="179559"/>
                </a:cubicBezTo>
              </a:path>
            </a:pathLst>
          </a:custGeom>
          <a:noFill/>
          <a:ln w="20002" cap="rnd">
            <a:solidFill>
              <a:srgbClr val="FFFFFF"/>
            </a:solidFill>
            <a:round/>
          </a:ln>
        </p:spPr>
      </p:sp>
      <p:sp>
        <p:nvSpPr>
          <p:cNvPr id="15" name="Text Capability"/>
          <p:cNvSpPr txBox="1"/>
          <p:nvPr/>
        </p:nvSpPr>
        <p:spPr>
          <a:xfrm>
            <a:off x="1314450" y="4743450"/>
            <a:ext cx="1179314" cy="285750"/>
          </a:xfrm>
          <a:prstGeom prst="rect">
            <a:avLst/>
          </a:prstGeom>
          <a:noFill/>
          <a:ln/>
        </p:spPr>
        <p:txBody>
          <a:bodyPr wrap="none" lIns="0" tIns="0" rIns="0" bIns="0" rtlCol="0" anchor="ctr"/>
          <a:lstStyle/>
          <a:p>
            <a:pPr algn="l" indent="0" marL="0">
              <a:buNone/>
            </a:pPr>
            <a:r>
              <a:rPr lang="en-US" sz="1875" b="1" dirty="0">
                <a:solidFill>
                  <a:srgbClr val="FFFFFF"/>
                </a:solidFill>
                <a:latin typeface="Scotia" pitchFamily="34" charset="0"/>
                <a:ea typeface="Scotia" pitchFamily="34" charset="-122"/>
                <a:cs typeface="Scotia" pitchFamily="34" charset="-120"/>
              </a:rPr>
              <a:t>Capability</a:t>
            </a:r>
            <a:endParaRPr lang="en-US" sz="1875" dirty="0"/>
          </a:p>
        </p:txBody>
      </p:sp>
      <p:sp>
        <p:nvSpPr>
          <p:cNvPr id="16" name="Text A stronger model or more reaso"/>
          <p:cNvSpPr txBox="1"/>
          <p:nvPr/>
        </p:nvSpPr>
        <p:spPr>
          <a:xfrm>
            <a:off x="1314450" y="5029200"/>
            <a:ext cx="2935932" cy="180975"/>
          </a:xfrm>
          <a:prstGeom prst="rect">
            <a:avLst/>
          </a:prstGeom>
          <a:noFill/>
          <a:ln/>
        </p:spPr>
        <p:txBody>
          <a:bodyPr wrap="none" lIns="0" tIns="0" rIns="0" bIns="0" rtlCol="0" anchor="ctr"/>
          <a:lstStyle/>
          <a:p>
            <a:pPr algn="l" indent="0" marL="0">
              <a:buNone/>
            </a:pPr>
            <a:r>
              <a:rPr lang="en-US" sz="1163" dirty="0">
                <a:solidFill>
                  <a:srgbClr val="D6D4EA"/>
                </a:solidFill>
                <a:latin typeface="Scotia Serif" pitchFamily="34" charset="0"/>
                <a:ea typeface="Scotia Serif" pitchFamily="34" charset="-122"/>
                <a:cs typeface="Scotia Serif" pitchFamily="34" charset="-120"/>
              </a:rPr>
              <a:t>A stronger model or more reasoning helps,</a:t>
            </a:r>
            <a:endParaRPr lang="en-US" sz="1163" dirty="0"/>
          </a:p>
        </p:txBody>
      </p:sp>
      <p:sp>
        <p:nvSpPr>
          <p:cNvPr id="17" name="Text but mostly: give each call the"/>
          <p:cNvSpPr txBox="1"/>
          <p:nvPr/>
        </p:nvSpPr>
        <p:spPr>
          <a:xfrm>
            <a:off x="1314450" y="5219700"/>
            <a:ext cx="2966889" cy="180975"/>
          </a:xfrm>
          <a:prstGeom prst="rect">
            <a:avLst/>
          </a:prstGeom>
          <a:noFill/>
          <a:ln/>
        </p:spPr>
        <p:txBody>
          <a:bodyPr wrap="none" lIns="0" tIns="0" rIns="0" bIns="0" rtlCol="0" anchor="ctr"/>
          <a:lstStyle/>
          <a:p>
            <a:pPr algn="l" indent="0" marL="0">
              <a:buNone/>
            </a:pPr>
            <a:r>
              <a:rPr lang="en-US" sz="1163" dirty="0">
                <a:solidFill>
                  <a:srgbClr val="D6D4EA"/>
                </a:solidFill>
                <a:latin typeface="Scotia Serif" pitchFamily="34" charset="0"/>
                <a:ea typeface="Scotia Serif" pitchFamily="34" charset="-122"/>
                <a:cs typeface="Scotia Serif" pitchFamily="34" charset="-120"/>
              </a:rPr>
              <a:t>but mostly: give each call the right context.</a:t>
            </a:r>
            <a:endParaRPr lang="en-US" sz="1163" dirty="0"/>
          </a:p>
        </p:txBody>
      </p:sp>
      <p:sp>
        <p:nvSpPr>
          <p:cNvPr id="18" name="dg polygon"/>
          <p:cNvSpPr/>
          <p:nvPr/>
        </p:nvSpPr>
        <p:spPr>
          <a:xfrm>
            <a:off x="7505700" y="2419350"/>
            <a:ext cx="3848100" cy="3067050"/>
          </a:xfrm>
          <a:custGeom>
            <a:avLst/>
            <a:gdLst/>
            <a:ahLst/>
            <a:cxnLst/>
            <a:rect l="l" t="t" r="r" b="b"/>
            <a:pathLst>
              <a:path w="3848100" h="3067050">
                <a:moveTo>
                  <a:pt x="1924050" y="0"/>
                </a:moveTo>
                <a:lnTo>
                  <a:pt x="0" y="3067050"/>
                </a:lnTo>
                <a:lnTo>
                  <a:pt x="3848100" y="3067050"/>
                </a:lnTo>
                <a:close/>
              </a:path>
            </a:pathLst>
          </a:custGeom>
          <a:gradFill rotWithShape="1">
            <a:gsLst>
              <a:gs pos="0">
                <a:srgbClr val="6551FF">
                  <a:alpha val="34000"/>
                </a:srgbClr>
              </a:gs>
              <a:gs pos="100000">
                <a:srgbClr val="6551FF">
                  <a:alpha val="6000"/>
                </a:srgbClr>
              </a:gs>
            </a:gsLst>
            <a:lin ang="5400000" scaled="1"/>
          </a:gradFill>
          <a:ln w="22860" cap="flat">
            <a:gradFill rotWithShape="1">
              <a:gsLst>
                <a:gs pos="0">
                  <a:srgbClr val="B0AAFF"/>
                </a:gs>
                <a:gs pos="100000">
                  <a:srgbClr val="5A4AE0"/>
                </a:gs>
              </a:gsLst>
              <a:lin ang="2700000" scaled="1"/>
            </a:gradFill>
            <a:round/>
          </a:ln>
        </p:spPr>
      </p:sp>
      <p:sp>
        <p:nvSpPr>
          <p:cNvPr id="19" name="dg polygon"/>
          <p:cNvSpPr/>
          <p:nvPr/>
        </p:nvSpPr>
        <p:spPr>
          <a:xfrm>
            <a:off x="8160068" y="3114675"/>
            <a:ext cx="2539365" cy="2024062"/>
          </a:xfrm>
          <a:custGeom>
            <a:avLst/>
            <a:gdLst/>
            <a:ahLst/>
            <a:cxnLst/>
            <a:rect l="l" t="t" r="r" b="b"/>
            <a:pathLst>
              <a:path w="2539365" h="2024062">
                <a:moveTo>
                  <a:pt x="1269682" y="0"/>
                </a:moveTo>
                <a:lnTo>
                  <a:pt x="0" y="2024062"/>
                </a:lnTo>
                <a:lnTo>
                  <a:pt x="2539365" y="2024062"/>
                </a:lnTo>
                <a:close/>
              </a:path>
            </a:pathLst>
          </a:custGeom>
          <a:noFill/>
          <a:ln w="11430" cap="flat">
            <a:solidFill>
              <a:srgbClr val="B0AAFF">
                <a:alpha val="18000"/>
              </a:srgbClr>
            </a:solidFill>
            <a:custDash>
              <a:ds d="250000" sp="500000"/>
            </a:custDash>
            <a:round/>
          </a:ln>
        </p:spPr>
      </p:sp>
      <p:sp>
        <p:nvSpPr>
          <p:cNvPr id="20" name="dg polygon"/>
          <p:cNvSpPr/>
          <p:nvPr/>
        </p:nvSpPr>
        <p:spPr>
          <a:xfrm>
            <a:off x="8794432" y="3789045"/>
            <a:ext cx="1270635" cy="1012508"/>
          </a:xfrm>
          <a:custGeom>
            <a:avLst/>
            <a:gdLst/>
            <a:ahLst/>
            <a:cxnLst/>
            <a:rect l="l" t="t" r="r" b="b"/>
            <a:pathLst>
              <a:path w="1270635" h="1012508">
                <a:moveTo>
                  <a:pt x="635318" y="0"/>
                </a:moveTo>
                <a:lnTo>
                  <a:pt x="0" y="1012508"/>
                </a:lnTo>
                <a:lnTo>
                  <a:pt x="1270635" y="1012508"/>
                </a:lnTo>
                <a:close/>
              </a:path>
            </a:pathLst>
          </a:custGeom>
          <a:noFill/>
          <a:ln w="11430" cap="flat">
            <a:solidFill>
              <a:srgbClr val="B0AAFF">
                <a:alpha val="18000"/>
              </a:srgbClr>
            </a:solidFill>
            <a:custDash>
              <a:ds d="250000" sp="500000"/>
            </a:custDash>
            <a:round/>
          </a:ln>
        </p:spPr>
      </p:sp>
      <p:sp>
        <p:nvSpPr>
          <p:cNvPr id="21" name="dg line"/>
          <p:cNvSpPr/>
          <p:nvPr/>
        </p:nvSpPr>
        <p:spPr>
          <a:xfrm flipV="1">
            <a:off x="9163050" y="2419350"/>
            <a:ext cx="266700" cy="2038350"/>
          </a:xfrm>
          <a:prstGeom prst="line">
            <a:avLst/>
          </a:prstGeom>
          <a:noFill/>
          <a:ln w="14288" cap="flat">
            <a:solidFill>
              <a:srgbClr val="B0AAFF">
                <a:alpha val="40000"/>
              </a:srgbClr>
            </a:solidFill>
            <a:custDash>
              <a:ds d="266667" sp="333333"/>
            </a:custDash>
            <a:miter lim="800000"/>
          </a:ln>
        </p:spPr>
      </p:sp>
      <p:sp>
        <p:nvSpPr>
          <p:cNvPr id="22" name="dg line"/>
          <p:cNvSpPr/>
          <p:nvPr/>
        </p:nvSpPr>
        <p:spPr>
          <a:xfrm flipH="1">
            <a:off x="7505700" y="4457700"/>
            <a:ext cx="1657350" cy="1028700"/>
          </a:xfrm>
          <a:prstGeom prst="line">
            <a:avLst/>
          </a:prstGeom>
          <a:noFill/>
          <a:ln w="14288" cap="flat">
            <a:solidFill>
              <a:srgbClr val="B0AAFF">
                <a:alpha val="40000"/>
              </a:srgbClr>
            </a:solidFill>
            <a:custDash>
              <a:ds d="266667" sp="333333"/>
            </a:custDash>
            <a:miter lim="800000"/>
          </a:ln>
        </p:spPr>
      </p:sp>
      <p:sp>
        <p:nvSpPr>
          <p:cNvPr id="23" name="dg line"/>
          <p:cNvSpPr/>
          <p:nvPr/>
        </p:nvSpPr>
        <p:spPr>
          <a:xfrm>
            <a:off x="9163050" y="4457700"/>
            <a:ext cx="2190750" cy="1028700"/>
          </a:xfrm>
          <a:prstGeom prst="line">
            <a:avLst/>
          </a:prstGeom>
          <a:noFill/>
          <a:ln w="14288" cap="flat">
            <a:solidFill>
              <a:srgbClr val="B0AAFF">
                <a:alpha val="40000"/>
              </a:srgbClr>
            </a:solidFill>
            <a:custDash>
              <a:ds d="266667" sp="333333"/>
            </a:custDash>
            <a:miter lim="800000"/>
          </a:ln>
        </p:spPr>
      </p:sp>
      <p:sp>
        <p:nvSpPr>
          <p:cNvPr id="24" name="dg circle"/>
          <p:cNvSpPr/>
          <p:nvPr/>
        </p:nvSpPr>
        <p:spPr>
          <a:xfrm>
            <a:off x="9067800" y="2057400"/>
            <a:ext cx="723900" cy="7239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25" name="dg circle"/>
          <p:cNvSpPr/>
          <p:nvPr/>
        </p:nvSpPr>
        <p:spPr>
          <a:xfrm>
            <a:off x="9201150" y="2190750"/>
            <a:ext cx="457200" cy="457200"/>
          </a:xfrm>
          <a:prstGeom prst="ellipse">
            <a:avLst/>
          </a:prstGeom>
          <a:solidFill>
            <a:srgbClr val="6551FF"/>
          </a:solidFill>
          <a:ln>
            <a:noFill/>
          </a:ln>
        </p:spPr>
      </p:sp>
      <p:sp>
        <p:nvSpPr>
          <p:cNvPr id="26" name="dg i-brain"/>
          <p:cNvSpPr/>
          <p:nvPr/>
        </p:nvSpPr>
        <p:spPr>
          <a:xfrm>
            <a:off x="9333567" y="2322593"/>
            <a:ext cx="192365" cy="194214"/>
          </a:xfrm>
          <a:custGeom>
            <a:avLst/>
            <a:gdLst/>
            <a:ahLst/>
            <a:cxnLst/>
            <a:rect l="l" t="t" r="r" b="b"/>
            <a:pathLst>
              <a:path w="192365" h="194214">
                <a:moveTo>
                  <a:pt x="96183" y="30082"/>
                </a:moveTo>
                <a:cubicBezTo>
                  <a:pt x="96213" y="19711"/>
                  <a:pt x="90622" y="10138"/>
                  <a:pt x="81575" y="5069"/>
                </a:cubicBezTo>
                <a:cubicBezTo>
                  <a:pt x="72527" y="0"/>
                  <a:pt x="61443" y="231"/>
                  <a:pt x="52614" y="5673"/>
                </a:cubicBezTo>
                <a:cubicBezTo>
                  <a:pt x="43786" y="11114"/>
                  <a:pt x="38598" y="20912"/>
                  <a:pt x="39061" y="31273"/>
                </a:cubicBezTo>
                <a:cubicBezTo>
                  <a:pt x="27717" y="34190"/>
                  <a:pt x="18344" y="42163"/>
                  <a:pt x="13647" y="52893"/>
                </a:cubicBezTo>
                <a:cubicBezTo>
                  <a:pt x="8949" y="63624"/>
                  <a:pt x="9449" y="75918"/>
                  <a:pt x="15001" y="86232"/>
                </a:cubicBezTo>
                <a:cubicBezTo>
                  <a:pt x="5219" y="94179"/>
                  <a:pt x="0" y="106449"/>
                  <a:pt x="1060" y="119008"/>
                </a:cubicBezTo>
                <a:cubicBezTo>
                  <a:pt x="2120" y="131566"/>
                  <a:pt x="9321" y="142788"/>
                  <a:pt x="20297" y="148983"/>
                </a:cubicBezTo>
                <a:cubicBezTo>
                  <a:pt x="18478" y="163058"/>
                  <a:pt x="24632" y="176977"/>
                  <a:pt x="36267" y="185103"/>
                </a:cubicBezTo>
                <a:cubicBezTo>
                  <a:pt x="47903" y="193229"/>
                  <a:pt x="63090" y="194214"/>
                  <a:pt x="75678" y="187660"/>
                </a:cubicBezTo>
                <a:cubicBezTo>
                  <a:pt x="88266" y="181106"/>
                  <a:pt x="96167" y="168099"/>
                  <a:pt x="96183" y="153907"/>
                </a:cubicBezTo>
                <a:close/>
                <a:moveTo>
                  <a:pt x="96183" y="30082"/>
                </a:moveTo>
                <a:cubicBezTo>
                  <a:pt x="96152" y="19711"/>
                  <a:pt x="101743" y="10138"/>
                  <a:pt x="110791" y="5069"/>
                </a:cubicBezTo>
                <a:cubicBezTo>
                  <a:pt x="119838" y="0"/>
                  <a:pt x="130922" y="231"/>
                  <a:pt x="139751" y="5673"/>
                </a:cubicBezTo>
                <a:cubicBezTo>
                  <a:pt x="148580" y="11114"/>
                  <a:pt x="153767" y="20912"/>
                  <a:pt x="153304" y="31273"/>
                </a:cubicBezTo>
                <a:cubicBezTo>
                  <a:pt x="164648" y="34190"/>
                  <a:pt x="174021" y="42163"/>
                  <a:pt x="178718" y="52893"/>
                </a:cubicBezTo>
                <a:cubicBezTo>
                  <a:pt x="183416" y="63624"/>
                  <a:pt x="182916" y="75918"/>
                  <a:pt x="177364" y="86232"/>
                </a:cubicBezTo>
                <a:cubicBezTo>
                  <a:pt x="187146" y="94179"/>
                  <a:pt x="192365" y="106449"/>
                  <a:pt x="191305" y="119008"/>
                </a:cubicBezTo>
                <a:cubicBezTo>
                  <a:pt x="190245" y="131566"/>
                  <a:pt x="183044" y="142788"/>
                  <a:pt x="172068" y="148983"/>
                </a:cubicBezTo>
                <a:cubicBezTo>
                  <a:pt x="173887" y="163058"/>
                  <a:pt x="167733" y="176977"/>
                  <a:pt x="156098" y="185103"/>
                </a:cubicBezTo>
                <a:cubicBezTo>
                  <a:pt x="144463" y="193229"/>
                  <a:pt x="129275" y="194214"/>
                  <a:pt x="116687" y="187660"/>
                </a:cubicBezTo>
                <a:cubicBezTo>
                  <a:pt x="104100" y="181106"/>
                  <a:pt x="96198" y="168099"/>
                  <a:pt x="96183" y="153907"/>
                </a:cubicBezTo>
                <a:close/>
                <a:moveTo>
                  <a:pt x="124758" y="106282"/>
                </a:moveTo>
                <a:cubicBezTo>
                  <a:pt x="108404" y="100529"/>
                  <a:pt x="97126" y="85492"/>
                  <a:pt x="96183" y="68182"/>
                </a:cubicBezTo>
                <a:cubicBezTo>
                  <a:pt x="95239" y="85492"/>
                  <a:pt x="83961" y="100529"/>
                  <a:pt x="67608" y="106282"/>
                </a:cubicBezTo>
                <a:moveTo>
                  <a:pt x="149513" y="44370"/>
                </a:moveTo>
                <a:cubicBezTo>
                  <a:pt x="151818" y="40375"/>
                  <a:pt x="153122" y="35881"/>
                  <a:pt x="153314" y="31273"/>
                </a:cubicBezTo>
                <a:moveTo>
                  <a:pt x="39061" y="31273"/>
                </a:moveTo>
                <a:cubicBezTo>
                  <a:pt x="39250" y="35881"/>
                  <a:pt x="40550" y="40374"/>
                  <a:pt x="42852" y="44370"/>
                </a:cubicBezTo>
                <a:moveTo>
                  <a:pt x="15001" y="86242"/>
                </a:moveTo>
                <a:cubicBezTo>
                  <a:pt x="16744" y="84823"/>
                  <a:pt x="18608" y="83560"/>
                  <a:pt x="20573" y="82470"/>
                </a:cubicBezTo>
                <a:moveTo>
                  <a:pt x="171792" y="82470"/>
                </a:moveTo>
                <a:cubicBezTo>
                  <a:pt x="173757" y="83560"/>
                  <a:pt x="175622" y="84823"/>
                  <a:pt x="177364" y="86242"/>
                </a:cubicBezTo>
                <a:moveTo>
                  <a:pt x="39033" y="153907"/>
                </a:moveTo>
                <a:cubicBezTo>
                  <a:pt x="32468" y="153910"/>
                  <a:pt x="26014" y="152217"/>
                  <a:pt x="20297" y="148992"/>
                </a:cubicBezTo>
                <a:moveTo>
                  <a:pt x="172068" y="148992"/>
                </a:moveTo>
                <a:cubicBezTo>
                  <a:pt x="166351" y="152217"/>
                  <a:pt x="159897" y="153910"/>
                  <a:pt x="153333" y="153907"/>
                </a:cubicBezTo>
              </a:path>
            </a:pathLst>
          </a:custGeom>
          <a:noFill/>
          <a:ln w="17145" cap="rnd">
            <a:solidFill>
              <a:srgbClr val="FFFFFF"/>
            </a:solidFill>
            <a:round/>
          </a:ln>
        </p:spPr>
      </p:sp>
      <p:sp>
        <p:nvSpPr>
          <p:cNvPr id="27" name="dg circle"/>
          <p:cNvSpPr/>
          <p:nvPr/>
        </p:nvSpPr>
        <p:spPr>
          <a:xfrm>
            <a:off x="9163050" y="2152650"/>
            <a:ext cx="533400" cy="533400"/>
          </a:xfrm>
          <a:prstGeom prst="ellipse">
            <a:avLst/>
          </a:prstGeom>
          <a:noFill/>
          <a:ln w="13335" cap="flat">
            <a:solidFill>
              <a:srgbClr val="B0AAFF">
                <a:alpha val="55000"/>
              </a:srgbClr>
            </a:solidFill>
            <a:miter lim="800000"/>
          </a:ln>
        </p:spPr>
      </p:sp>
      <p:sp>
        <p:nvSpPr>
          <p:cNvPr id="28" name="Text Capability"/>
          <p:cNvSpPr txBox="1"/>
          <p:nvPr/>
        </p:nvSpPr>
        <p:spPr>
          <a:xfrm>
            <a:off x="9019654" y="1866900"/>
            <a:ext cx="820192"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Capability</a:t>
            </a:r>
            <a:endParaRPr lang="en-US" sz="1275" dirty="0"/>
          </a:p>
        </p:txBody>
      </p:sp>
      <p:sp>
        <p:nvSpPr>
          <p:cNvPr id="29" name="dg circle"/>
          <p:cNvSpPr/>
          <p:nvPr/>
        </p:nvSpPr>
        <p:spPr>
          <a:xfrm>
            <a:off x="7143750" y="5124450"/>
            <a:ext cx="723900" cy="7239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30" name="dg circle"/>
          <p:cNvSpPr/>
          <p:nvPr/>
        </p:nvSpPr>
        <p:spPr>
          <a:xfrm>
            <a:off x="7277100" y="5257800"/>
            <a:ext cx="457200" cy="457200"/>
          </a:xfrm>
          <a:prstGeom prst="ellipse">
            <a:avLst/>
          </a:prstGeom>
          <a:solidFill>
            <a:srgbClr val="6551FF"/>
          </a:solidFill>
          <a:ln>
            <a:noFill/>
          </a:ln>
        </p:spPr>
      </p:sp>
      <p:sp>
        <p:nvSpPr>
          <p:cNvPr id="31" name="dg i-coins"/>
          <p:cNvSpPr/>
          <p:nvPr/>
        </p:nvSpPr>
        <p:spPr>
          <a:xfrm>
            <a:off x="7410450" y="5391150"/>
            <a:ext cx="193283" cy="192957"/>
          </a:xfrm>
          <a:custGeom>
            <a:avLst/>
            <a:gdLst/>
            <a:ahLst/>
            <a:cxnLst/>
            <a:rect l="l" t="t" r="r" b="b"/>
            <a:pathLst>
              <a:path w="193283" h="192957">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moveTo>
                  <a:pt x="153257" y="79724"/>
                </a:moveTo>
                <a:cubicBezTo>
                  <a:pt x="178075" y="88977"/>
                  <a:pt x="193283" y="114069"/>
                  <a:pt x="190003" y="140351"/>
                </a:cubicBezTo>
                <a:cubicBezTo>
                  <a:pt x="186723" y="166633"/>
                  <a:pt x="165815" y="187218"/>
                  <a:pt x="139484" y="190087"/>
                </a:cubicBezTo>
                <a:cubicBezTo>
                  <a:pt x="113154" y="192957"/>
                  <a:pt x="88303" y="177359"/>
                  <a:pt x="79439" y="152400"/>
                </a:cubicBezTo>
                <a:moveTo>
                  <a:pt x="47625" y="38100"/>
                </a:moveTo>
                <a:lnTo>
                  <a:pt x="57150" y="38100"/>
                </a:lnTo>
                <a:lnTo>
                  <a:pt x="57150" y="76200"/>
                </a:lnTo>
                <a:moveTo>
                  <a:pt x="140113" y="113157"/>
                </a:moveTo>
                <a:lnTo>
                  <a:pt x="146780" y="119920"/>
                </a:lnTo>
                <a:lnTo>
                  <a:pt x="119920" y="146780"/>
                </a:lnTo>
              </a:path>
            </a:pathLst>
          </a:custGeom>
          <a:noFill/>
          <a:ln w="17145" cap="rnd">
            <a:solidFill>
              <a:srgbClr val="FFFFFF"/>
            </a:solidFill>
            <a:round/>
          </a:ln>
        </p:spPr>
      </p:sp>
      <p:sp>
        <p:nvSpPr>
          <p:cNvPr id="32" name="dg circle"/>
          <p:cNvSpPr/>
          <p:nvPr/>
        </p:nvSpPr>
        <p:spPr>
          <a:xfrm>
            <a:off x="7239000" y="5219700"/>
            <a:ext cx="533400" cy="533400"/>
          </a:xfrm>
          <a:prstGeom prst="ellipse">
            <a:avLst/>
          </a:prstGeom>
          <a:noFill/>
          <a:ln w="13335" cap="flat">
            <a:solidFill>
              <a:srgbClr val="B0AAFF">
                <a:alpha val="55000"/>
              </a:srgbClr>
            </a:solidFill>
            <a:miter lim="800000"/>
          </a:ln>
        </p:spPr>
      </p:sp>
      <p:sp>
        <p:nvSpPr>
          <p:cNvPr id="33" name="Text Cost"/>
          <p:cNvSpPr txBox="1"/>
          <p:nvPr/>
        </p:nvSpPr>
        <p:spPr>
          <a:xfrm>
            <a:off x="7308652" y="5905500"/>
            <a:ext cx="394097"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Cost</a:t>
            </a:r>
            <a:endParaRPr lang="en-US" sz="1275" dirty="0"/>
          </a:p>
        </p:txBody>
      </p:sp>
      <p:sp>
        <p:nvSpPr>
          <p:cNvPr id="34" name="dg circle"/>
          <p:cNvSpPr/>
          <p:nvPr/>
        </p:nvSpPr>
        <p:spPr>
          <a:xfrm>
            <a:off x="10991850" y="5124450"/>
            <a:ext cx="723900" cy="7239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35" name="dg circle"/>
          <p:cNvSpPr/>
          <p:nvPr/>
        </p:nvSpPr>
        <p:spPr>
          <a:xfrm>
            <a:off x="11125200" y="5257800"/>
            <a:ext cx="457200" cy="457200"/>
          </a:xfrm>
          <a:prstGeom prst="ellipse">
            <a:avLst/>
          </a:prstGeom>
          <a:solidFill>
            <a:srgbClr val="6551FF"/>
          </a:solidFill>
          <a:ln>
            <a:noFill/>
          </a:ln>
        </p:spPr>
      </p:sp>
      <p:sp>
        <p:nvSpPr>
          <p:cNvPr id="36" name="dg i-zap"/>
          <p:cNvSpPr/>
          <p:nvPr/>
        </p:nvSpPr>
        <p:spPr>
          <a:xfrm>
            <a:off x="11267388" y="5390639"/>
            <a:ext cx="172825" cy="191522"/>
          </a:xfrm>
          <a:custGeom>
            <a:avLst/>
            <a:gdLst/>
            <a:ahLst/>
            <a:cxnLst/>
            <a:rect l="l" t="t" r="r" b="b"/>
            <a:pathLst>
              <a:path w="172825" h="191522">
                <a:moveTo>
                  <a:pt x="10212" y="114811"/>
                </a:moveTo>
                <a:cubicBezTo>
                  <a:pt x="6533" y="114824"/>
                  <a:pt x="3176" y="112716"/>
                  <a:pt x="1588" y="109398"/>
                </a:cubicBezTo>
                <a:cubicBezTo>
                  <a:pt x="0" y="106079"/>
                  <a:pt x="465" y="102143"/>
                  <a:pt x="2783" y="99285"/>
                </a:cubicBezTo>
                <a:lnTo>
                  <a:pt x="97080" y="2130"/>
                </a:lnTo>
                <a:cubicBezTo>
                  <a:pt x="98537" y="449"/>
                  <a:pt x="100964" y="0"/>
                  <a:pt x="102926" y="1049"/>
                </a:cubicBezTo>
                <a:cubicBezTo>
                  <a:pt x="104888" y="2099"/>
                  <a:pt x="105862" y="4367"/>
                  <a:pt x="105272" y="6512"/>
                </a:cubicBezTo>
                <a:lnTo>
                  <a:pt x="86984" y="63852"/>
                </a:lnTo>
                <a:cubicBezTo>
                  <a:pt x="85889" y="66782"/>
                  <a:pt x="86303" y="70062"/>
                  <a:pt x="88090" y="72629"/>
                </a:cubicBezTo>
                <a:cubicBezTo>
                  <a:pt x="89877" y="75196"/>
                  <a:pt x="92810" y="76721"/>
                  <a:pt x="95937" y="76711"/>
                </a:cubicBezTo>
                <a:lnTo>
                  <a:pt x="162612" y="76711"/>
                </a:lnTo>
                <a:cubicBezTo>
                  <a:pt x="166292" y="76699"/>
                  <a:pt x="169649" y="78806"/>
                  <a:pt x="171237" y="82125"/>
                </a:cubicBezTo>
                <a:cubicBezTo>
                  <a:pt x="172825" y="85443"/>
                  <a:pt x="172360" y="89380"/>
                  <a:pt x="170042" y="92237"/>
                </a:cubicBezTo>
                <a:lnTo>
                  <a:pt x="75744" y="189392"/>
                </a:lnTo>
                <a:cubicBezTo>
                  <a:pt x="74288" y="191074"/>
                  <a:pt x="71861" y="191522"/>
                  <a:pt x="69899" y="190473"/>
                </a:cubicBezTo>
                <a:cubicBezTo>
                  <a:pt x="67937" y="189424"/>
                  <a:pt x="66963" y="187156"/>
                  <a:pt x="67553" y="185010"/>
                </a:cubicBezTo>
                <a:lnTo>
                  <a:pt x="85841" y="127670"/>
                </a:lnTo>
                <a:cubicBezTo>
                  <a:pt x="86936" y="124740"/>
                  <a:pt x="86522" y="121460"/>
                  <a:pt x="84735" y="118893"/>
                </a:cubicBezTo>
                <a:cubicBezTo>
                  <a:pt x="82948" y="116327"/>
                  <a:pt x="80015" y="114801"/>
                  <a:pt x="76887" y="114811"/>
                </a:cubicBezTo>
                <a:close/>
              </a:path>
            </a:pathLst>
          </a:custGeom>
          <a:noFill/>
          <a:ln w="17145" cap="rnd">
            <a:solidFill>
              <a:srgbClr val="FFFFFF"/>
            </a:solidFill>
            <a:round/>
          </a:ln>
        </p:spPr>
      </p:sp>
      <p:sp>
        <p:nvSpPr>
          <p:cNvPr id="37" name="dg circle"/>
          <p:cNvSpPr/>
          <p:nvPr/>
        </p:nvSpPr>
        <p:spPr>
          <a:xfrm>
            <a:off x="11087100" y="5219700"/>
            <a:ext cx="533400" cy="533400"/>
          </a:xfrm>
          <a:prstGeom prst="ellipse">
            <a:avLst/>
          </a:prstGeom>
          <a:noFill/>
          <a:ln w="13335" cap="flat">
            <a:solidFill>
              <a:srgbClr val="B0AAFF">
                <a:alpha val="55000"/>
              </a:srgbClr>
            </a:solidFill>
            <a:miter lim="800000"/>
          </a:ln>
        </p:spPr>
      </p:sp>
      <p:sp>
        <p:nvSpPr>
          <p:cNvPr id="38" name="Text Speed"/>
          <p:cNvSpPr txBox="1"/>
          <p:nvPr/>
        </p:nvSpPr>
        <p:spPr>
          <a:xfrm>
            <a:off x="11091639" y="5905500"/>
            <a:ext cx="524321"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Speed</a:t>
            </a:r>
            <a:endParaRPr lang="en-US" sz="1275" dirty="0"/>
          </a:p>
        </p:txBody>
      </p:sp>
      <p:sp>
        <p:nvSpPr>
          <p:cNvPr id="39" name="dg circle"/>
          <p:cNvSpPr/>
          <p:nvPr/>
        </p:nvSpPr>
        <p:spPr>
          <a:xfrm>
            <a:off x="8877300" y="4171950"/>
            <a:ext cx="571500" cy="5715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40" name="dg circle"/>
          <p:cNvSpPr/>
          <p:nvPr/>
        </p:nvSpPr>
        <p:spPr>
          <a:xfrm>
            <a:off x="9067800" y="4362450"/>
            <a:ext cx="190500" cy="190500"/>
          </a:xfrm>
          <a:prstGeom prst="ellipse">
            <a:avLst/>
          </a:prstGeom>
          <a:solidFill>
            <a:srgbClr val="FFFFFF"/>
          </a:solidFill>
          <a:ln>
            <a:noFill/>
          </a:ln>
        </p:spPr>
      </p:sp>
      <p:sp>
        <p:nvSpPr>
          <p:cNvPr id="41" name="dg circle"/>
          <p:cNvSpPr/>
          <p:nvPr/>
        </p:nvSpPr>
        <p:spPr>
          <a:xfrm>
            <a:off x="8963025" y="4257675"/>
            <a:ext cx="400050" cy="400050"/>
          </a:xfrm>
          <a:prstGeom prst="ellipse">
            <a:avLst/>
          </a:prstGeom>
          <a:noFill/>
          <a:ln w="15240" cap="flat">
            <a:solidFill>
              <a:srgbClr val="FFFFFF">
                <a:alpha val="40000"/>
              </a:srgbClr>
            </a:solidFill>
            <a:miter lim="800000"/>
          </a:ln>
        </p:spPr>
      </p:sp>
      <p:sp>
        <p:nvSpPr>
          <p:cNvPr id="42" name="dg rect"/>
          <p:cNvSpPr/>
          <p:nvPr/>
        </p:nvSpPr>
        <p:spPr>
          <a:xfrm>
            <a:off x="8692325" y="4772025"/>
            <a:ext cx="941451" cy="247650"/>
          </a:xfrm>
          <a:prstGeom prst="roundRect">
            <a:avLst>
              <a:gd name="adj" fmla="val 50000"/>
            </a:avLst>
          </a:prstGeom>
          <a:solidFill>
            <a:srgbClr val="0B0823"/>
          </a:solidFill>
          <a:ln w="12383" cap="flat">
            <a:solidFill>
              <a:srgbClr val="B0AAFF"/>
            </a:solidFill>
            <a:miter lim="800000"/>
          </a:ln>
        </p:spPr>
      </p:sp>
      <p:sp>
        <p:nvSpPr>
          <p:cNvPr id="43" name="Text YOUR SYSTEM"/>
          <p:cNvSpPr txBox="1"/>
          <p:nvPr/>
        </p:nvSpPr>
        <p:spPr>
          <a:xfrm>
            <a:off x="8671917" y="4849559"/>
            <a:ext cx="982266" cy="123825"/>
          </a:xfrm>
          <a:prstGeom prst="rect">
            <a:avLst/>
          </a:prstGeom>
          <a:noFill/>
          <a:ln/>
        </p:spPr>
        <p:txBody>
          <a:bodyPr wrap="none" lIns="0" tIns="0" rIns="0" bIns="0" rtlCol="0" anchor="ctr"/>
          <a:lstStyle/>
          <a:p>
            <a:pPr algn="ctr" indent="0" marL="0">
              <a:buNone/>
            </a:pPr>
            <a:r>
              <a:rPr lang="en-US" sz="863" b="1" spc="135" kern="0" dirty="0">
                <a:solidFill>
                  <a:srgbClr val="FFFFFF"/>
                </a:solidFill>
                <a:latin typeface="Scotia" pitchFamily="34" charset="0"/>
                <a:ea typeface="Scotia" pitchFamily="34" charset="-122"/>
                <a:cs typeface="Scotia" pitchFamily="34" charset="-120"/>
              </a:rPr>
              <a:t>YOUR SYSTEM</a:t>
            </a:r>
            <a:endParaRPr lang="en-US" sz="863" dirty="0"/>
          </a:p>
        </p:txBody>
      </p:sp>
      <p:sp>
        <p:nvSpPr>
          <p:cNvPr id="44" name="Text AI Engineering Is BalancingCos"/>
          <p:cNvSpPr txBox="1"/>
          <p:nvPr/>
        </p:nvSpPr>
        <p:spPr>
          <a:xfrm>
            <a:off x="400050" y="451438"/>
            <a:ext cx="11391900" cy="1105262"/>
          </a:xfrm>
          <a:prstGeom prst="rect">
            <a:avLst/>
          </a:prstGeom>
          <a:noFill/>
          <a:ln/>
        </p:spPr>
        <p:txBody>
          <a:bodyPr wrap="square" lIns="0" tIns="0" rIns="0" bIns="0" rtlCol="0" anchor="t"/>
          <a:lstStyle/>
          <a:p>
            <a:pPr algn="l" indent="0" marL="0">
              <a:lnSpc>
                <a:spcPts val="4352"/>
              </a:lnSpc>
              <a:buNone/>
            </a:pPr>
            <a:r>
              <a:rPr lang="en-US" sz="4533" dirty="0">
                <a:solidFill>
                  <a:srgbClr val="FFFFFF"/>
                </a:solidFill>
                <a:latin typeface="Scotia Headline" pitchFamily="34" charset="0"/>
                <a:ea typeface="Scotia Headline" pitchFamily="34" charset="-122"/>
                <a:cs typeface="Scotia Headline" pitchFamily="34" charset="-120"/>
              </a:rPr>
              <a:t>AI Engineering Is Balancing</a:t>
            </a:r>
            <a:endParaRPr lang="en-US" sz="4533" dirty="0"/>
          </a:p>
          <a:p>
            <a:pPr algn="l" indent="0" marL="0">
              <a:lnSpc>
                <a:spcPts val="4352"/>
              </a:lnSpc>
              <a:buNone/>
            </a:pPr>
            <a:r>
              <a:rPr lang="en-US" sz="4533" dirty="0">
                <a:solidFill>
                  <a:srgbClr val="FFFFFF"/>
                </a:solidFill>
                <a:latin typeface="Scotia Headline" pitchFamily="34" charset="0"/>
                <a:ea typeface="Scotia Headline" pitchFamily="34" charset="-122"/>
                <a:cs typeface="Scotia Headline" pitchFamily="34" charset="-120"/>
              </a:rPr>
              <a:t>Cost, Speed and Capability</a:t>
            </a:r>
            <a:endParaRPr lang="en-US" sz="4533" dirty="0"/>
          </a:p>
        </p:txBody>
      </p:sp>
      <p:sp>
        <p:nvSpPr>
          <p:cNvPr id="45"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46" name="Text 2"/>
          <p:cNvSpPr txBox="1"/>
          <p:nvPr/>
        </p:nvSpPr>
        <p:spPr>
          <a:xfrm>
            <a:off x="11670209" y="6306483"/>
            <a:ext cx="112216"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823"/>
        </a:solidFill>
      </p:bgPr>
    </p:bg>
    <p:spTree>
      <p:nvGrpSpPr>
        <p:cNvPr id="1" name=""/>
        <p:cNvGrpSpPr/>
        <p:nvPr/>
      </p:nvGrpSpPr>
      <p:grpSpPr>
        <a:xfrm>
          <a:off x="0" y="0"/>
          <a:ext cx="0" cy="0"/>
          <a:chOff x="0" y="0"/>
          <a:chExt cx="0" cy="0"/>
        </a:xfrm>
      </p:grpSpPr>
      <p:sp>
        <p:nvSpPr>
          <p:cNvPr id="2" name="dg path"/>
          <p:cNvSpPr/>
          <p:nvPr/>
        </p:nvSpPr>
        <p:spPr>
          <a:xfrm>
            <a:off x="400050" y="1866900"/>
            <a:ext cx="11391900" cy="2228850"/>
          </a:xfrm>
          <a:custGeom>
            <a:avLst/>
            <a:gdLst/>
            <a:ahLst/>
            <a:cxnLst/>
            <a:rect l="l" t="t" r="r" b="b"/>
            <a:pathLst>
              <a:path w="11391900" h="2228850">
                <a:moveTo>
                  <a:pt x="0" y="2148840"/>
                </a:moveTo>
                <a:lnTo>
                  <a:pt x="57150" y="2143125"/>
                </a:lnTo>
                <a:lnTo>
                  <a:pt x="114300" y="2137410"/>
                </a:lnTo>
                <a:lnTo>
                  <a:pt x="171450" y="2130743"/>
                </a:lnTo>
                <a:lnTo>
                  <a:pt x="228600" y="2124075"/>
                </a:lnTo>
                <a:lnTo>
                  <a:pt x="285750" y="2117408"/>
                </a:lnTo>
                <a:lnTo>
                  <a:pt x="342900" y="2110740"/>
                </a:lnTo>
                <a:lnTo>
                  <a:pt x="400050" y="2103120"/>
                </a:lnTo>
                <a:lnTo>
                  <a:pt x="457200" y="2094548"/>
                </a:lnTo>
                <a:lnTo>
                  <a:pt x="514350" y="2085975"/>
                </a:lnTo>
                <a:lnTo>
                  <a:pt x="571500" y="2077403"/>
                </a:lnTo>
                <a:lnTo>
                  <a:pt x="628650" y="2067878"/>
                </a:lnTo>
                <a:lnTo>
                  <a:pt x="685800" y="2058353"/>
                </a:lnTo>
                <a:lnTo>
                  <a:pt x="742950" y="2047875"/>
                </a:lnTo>
                <a:lnTo>
                  <a:pt x="800100" y="2037398"/>
                </a:lnTo>
                <a:lnTo>
                  <a:pt x="857250" y="2025967"/>
                </a:lnTo>
                <a:lnTo>
                  <a:pt x="914400" y="2014538"/>
                </a:lnTo>
                <a:lnTo>
                  <a:pt x="971550" y="2002155"/>
                </a:lnTo>
                <a:lnTo>
                  <a:pt x="1028700" y="1988820"/>
                </a:lnTo>
                <a:lnTo>
                  <a:pt x="1085850" y="1975485"/>
                </a:lnTo>
                <a:lnTo>
                  <a:pt x="1143000" y="1962150"/>
                </a:lnTo>
                <a:lnTo>
                  <a:pt x="1200150" y="1947863"/>
                </a:lnTo>
                <a:lnTo>
                  <a:pt x="1257300" y="1932622"/>
                </a:lnTo>
                <a:lnTo>
                  <a:pt x="1314450" y="1916430"/>
                </a:lnTo>
                <a:lnTo>
                  <a:pt x="1371600" y="1900238"/>
                </a:lnTo>
                <a:lnTo>
                  <a:pt x="1428750" y="1883092"/>
                </a:lnTo>
                <a:lnTo>
                  <a:pt x="1485900" y="1865948"/>
                </a:lnTo>
                <a:lnTo>
                  <a:pt x="1543050" y="1847850"/>
                </a:lnTo>
                <a:lnTo>
                  <a:pt x="1600200" y="1828800"/>
                </a:lnTo>
                <a:lnTo>
                  <a:pt x="1657350" y="1809750"/>
                </a:lnTo>
                <a:lnTo>
                  <a:pt x="1714500" y="1788795"/>
                </a:lnTo>
                <a:lnTo>
                  <a:pt x="1771650" y="1767840"/>
                </a:lnTo>
                <a:lnTo>
                  <a:pt x="1828800" y="1746885"/>
                </a:lnTo>
                <a:lnTo>
                  <a:pt x="1885950" y="1724978"/>
                </a:lnTo>
                <a:lnTo>
                  <a:pt x="1943100" y="1702118"/>
                </a:lnTo>
                <a:lnTo>
                  <a:pt x="2000250" y="1678305"/>
                </a:lnTo>
                <a:lnTo>
                  <a:pt x="2057400" y="1654493"/>
                </a:lnTo>
                <a:lnTo>
                  <a:pt x="2114550" y="1629728"/>
                </a:lnTo>
                <a:lnTo>
                  <a:pt x="2171700" y="1604010"/>
                </a:lnTo>
                <a:lnTo>
                  <a:pt x="2228850" y="1578292"/>
                </a:lnTo>
                <a:lnTo>
                  <a:pt x="2286000" y="1551622"/>
                </a:lnTo>
                <a:lnTo>
                  <a:pt x="2343150" y="1524000"/>
                </a:lnTo>
                <a:lnTo>
                  <a:pt x="2400300" y="1495425"/>
                </a:lnTo>
                <a:lnTo>
                  <a:pt x="2457450" y="1466850"/>
                </a:lnTo>
                <a:lnTo>
                  <a:pt x="2514600" y="1438275"/>
                </a:lnTo>
                <a:lnTo>
                  <a:pt x="2571750" y="1408747"/>
                </a:lnTo>
                <a:lnTo>
                  <a:pt x="2628900" y="1378267"/>
                </a:lnTo>
                <a:lnTo>
                  <a:pt x="2686050" y="1347788"/>
                </a:lnTo>
                <a:lnTo>
                  <a:pt x="2743200" y="1316355"/>
                </a:lnTo>
                <a:lnTo>
                  <a:pt x="2800350" y="1283970"/>
                </a:lnTo>
                <a:lnTo>
                  <a:pt x="2857500" y="1251585"/>
                </a:lnTo>
                <a:lnTo>
                  <a:pt x="2914650" y="1219200"/>
                </a:lnTo>
                <a:lnTo>
                  <a:pt x="2971800" y="1185863"/>
                </a:lnTo>
                <a:lnTo>
                  <a:pt x="3028950" y="1152525"/>
                </a:lnTo>
                <a:lnTo>
                  <a:pt x="3086100" y="1119188"/>
                </a:lnTo>
                <a:lnTo>
                  <a:pt x="3143250" y="1084897"/>
                </a:lnTo>
                <a:lnTo>
                  <a:pt x="3200400" y="1050608"/>
                </a:lnTo>
                <a:lnTo>
                  <a:pt x="3257550" y="1016317"/>
                </a:lnTo>
                <a:lnTo>
                  <a:pt x="3314700" y="982028"/>
                </a:lnTo>
                <a:lnTo>
                  <a:pt x="3371850" y="946785"/>
                </a:lnTo>
                <a:lnTo>
                  <a:pt x="3429000" y="911542"/>
                </a:lnTo>
                <a:lnTo>
                  <a:pt x="3486150" y="877253"/>
                </a:lnTo>
                <a:lnTo>
                  <a:pt x="3543300" y="842010"/>
                </a:lnTo>
                <a:lnTo>
                  <a:pt x="3600450" y="806767"/>
                </a:lnTo>
                <a:lnTo>
                  <a:pt x="3657600" y="772478"/>
                </a:lnTo>
                <a:lnTo>
                  <a:pt x="3714750" y="737235"/>
                </a:lnTo>
                <a:lnTo>
                  <a:pt x="3771900" y="702945"/>
                </a:lnTo>
                <a:lnTo>
                  <a:pt x="3829050" y="668655"/>
                </a:lnTo>
                <a:lnTo>
                  <a:pt x="3886200" y="635317"/>
                </a:lnTo>
                <a:lnTo>
                  <a:pt x="3943350" y="601028"/>
                </a:lnTo>
                <a:lnTo>
                  <a:pt x="4000500" y="568642"/>
                </a:lnTo>
                <a:lnTo>
                  <a:pt x="4057650" y="535305"/>
                </a:lnTo>
                <a:lnTo>
                  <a:pt x="4114800" y="502920"/>
                </a:lnTo>
                <a:lnTo>
                  <a:pt x="4171950" y="471488"/>
                </a:lnTo>
                <a:lnTo>
                  <a:pt x="4229100" y="441008"/>
                </a:lnTo>
                <a:lnTo>
                  <a:pt x="4286250" y="410527"/>
                </a:lnTo>
                <a:lnTo>
                  <a:pt x="4343400" y="381000"/>
                </a:lnTo>
                <a:lnTo>
                  <a:pt x="4400550" y="351473"/>
                </a:lnTo>
                <a:lnTo>
                  <a:pt x="4457700" y="323850"/>
                </a:lnTo>
                <a:lnTo>
                  <a:pt x="4514850" y="296227"/>
                </a:lnTo>
                <a:lnTo>
                  <a:pt x="4572000" y="270510"/>
                </a:lnTo>
                <a:lnTo>
                  <a:pt x="4629150" y="244792"/>
                </a:lnTo>
                <a:lnTo>
                  <a:pt x="4686300" y="220980"/>
                </a:lnTo>
                <a:lnTo>
                  <a:pt x="4743450" y="198120"/>
                </a:lnTo>
                <a:lnTo>
                  <a:pt x="4800600" y="175260"/>
                </a:lnTo>
                <a:lnTo>
                  <a:pt x="4857750" y="154305"/>
                </a:lnTo>
                <a:lnTo>
                  <a:pt x="4914900" y="135255"/>
                </a:lnTo>
                <a:lnTo>
                  <a:pt x="4972050" y="116205"/>
                </a:lnTo>
                <a:lnTo>
                  <a:pt x="5029200" y="99060"/>
                </a:lnTo>
                <a:lnTo>
                  <a:pt x="5086350" y="82867"/>
                </a:lnTo>
                <a:lnTo>
                  <a:pt x="5143500" y="68580"/>
                </a:lnTo>
                <a:lnTo>
                  <a:pt x="5200650" y="55245"/>
                </a:lnTo>
                <a:lnTo>
                  <a:pt x="5257800" y="43815"/>
                </a:lnTo>
                <a:lnTo>
                  <a:pt x="5314950" y="33338"/>
                </a:lnTo>
                <a:lnTo>
                  <a:pt x="5372100" y="23813"/>
                </a:lnTo>
                <a:lnTo>
                  <a:pt x="5429250" y="16192"/>
                </a:lnTo>
                <a:lnTo>
                  <a:pt x="5486400" y="9525"/>
                </a:lnTo>
                <a:lnTo>
                  <a:pt x="5543550" y="5715"/>
                </a:lnTo>
                <a:lnTo>
                  <a:pt x="5600700" y="1905"/>
                </a:lnTo>
                <a:lnTo>
                  <a:pt x="5657850" y="0"/>
                </a:lnTo>
                <a:lnTo>
                  <a:pt x="5715000" y="0"/>
                </a:lnTo>
                <a:lnTo>
                  <a:pt x="5772150" y="952"/>
                </a:lnTo>
                <a:lnTo>
                  <a:pt x="5829300" y="3810"/>
                </a:lnTo>
                <a:lnTo>
                  <a:pt x="5886450" y="8573"/>
                </a:lnTo>
                <a:lnTo>
                  <a:pt x="5943600" y="14288"/>
                </a:lnTo>
                <a:lnTo>
                  <a:pt x="6000750" y="20955"/>
                </a:lnTo>
                <a:lnTo>
                  <a:pt x="6057900" y="29527"/>
                </a:lnTo>
                <a:lnTo>
                  <a:pt x="6115050" y="40005"/>
                </a:lnTo>
                <a:lnTo>
                  <a:pt x="6172200" y="51435"/>
                </a:lnTo>
                <a:lnTo>
                  <a:pt x="6229350" y="63817"/>
                </a:lnTo>
                <a:lnTo>
                  <a:pt x="6286500" y="78105"/>
                </a:lnTo>
                <a:lnTo>
                  <a:pt x="6343650" y="93345"/>
                </a:lnTo>
                <a:lnTo>
                  <a:pt x="6400800" y="110490"/>
                </a:lnTo>
                <a:lnTo>
                  <a:pt x="6457950" y="128588"/>
                </a:lnTo>
                <a:lnTo>
                  <a:pt x="6515100" y="147638"/>
                </a:lnTo>
                <a:lnTo>
                  <a:pt x="6572250" y="168592"/>
                </a:lnTo>
                <a:lnTo>
                  <a:pt x="6629400" y="190500"/>
                </a:lnTo>
                <a:lnTo>
                  <a:pt x="6686550" y="213360"/>
                </a:lnTo>
                <a:lnTo>
                  <a:pt x="6743700" y="237173"/>
                </a:lnTo>
                <a:lnTo>
                  <a:pt x="6800850" y="261937"/>
                </a:lnTo>
                <a:lnTo>
                  <a:pt x="6858000" y="287655"/>
                </a:lnTo>
                <a:lnTo>
                  <a:pt x="6915150" y="314325"/>
                </a:lnTo>
                <a:lnTo>
                  <a:pt x="6972300" y="342900"/>
                </a:lnTo>
                <a:lnTo>
                  <a:pt x="7029450" y="371475"/>
                </a:lnTo>
                <a:lnTo>
                  <a:pt x="7086600" y="400050"/>
                </a:lnTo>
                <a:lnTo>
                  <a:pt x="7143750" y="430530"/>
                </a:lnTo>
                <a:lnTo>
                  <a:pt x="7200900" y="461010"/>
                </a:lnTo>
                <a:lnTo>
                  <a:pt x="7258050" y="492442"/>
                </a:lnTo>
                <a:lnTo>
                  <a:pt x="7315200" y="524827"/>
                </a:lnTo>
                <a:lnTo>
                  <a:pt x="7372350" y="557213"/>
                </a:lnTo>
                <a:lnTo>
                  <a:pt x="7429500" y="590550"/>
                </a:lnTo>
                <a:lnTo>
                  <a:pt x="7486650" y="623888"/>
                </a:lnTo>
                <a:lnTo>
                  <a:pt x="7543800" y="657225"/>
                </a:lnTo>
                <a:lnTo>
                  <a:pt x="7600950" y="691515"/>
                </a:lnTo>
                <a:lnTo>
                  <a:pt x="7658100" y="725805"/>
                </a:lnTo>
                <a:lnTo>
                  <a:pt x="7715250" y="761047"/>
                </a:lnTo>
                <a:lnTo>
                  <a:pt x="7772400" y="795338"/>
                </a:lnTo>
                <a:lnTo>
                  <a:pt x="7829550" y="830580"/>
                </a:lnTo>
                <a:lnTo>
                  <a:pt x="7886700" y="864870"/>
                </a:lnTo>
                <a:lnTo>
                  <a:pt x="7943850" y="900113"/>
                </a:lnTo>
                <a:lnTo>
                  <a:pt x="8001000" y="935355"/>
                </a:lnTo>
                <a:lnTo>
                  <a:pt x="8058150" y="969645"/>
                </a:lnTo>
                <a:lnTo>
                  <a:pt x="8115300" y="1004887"/>
                </a:lnTo>
                <a:lnTo>
                  <a:pt x="8172450" y="1039178"/>
                </a:lnTo>
                <a:lnTo>
                  <a:pt x="8229600" y="1073468"/>
                </a:lnTo>
                <a:lnTo>
                  <a:pt x="8286750" y="1107758"/>
                </a:lnTo>
                <a:lnTo>
                  <a:pt x="8343900" y="1142047"/>
                </a:lnTo>
                <a:lnTo>
                  <a:pt x="8401050" y="1175385"/>
                </a:lnTo>
                <a:lnTo>
                  <a:pt x="8458200" y="1208722"/>
                </a:lnTo>
                <a:lnTo>
                  <a:pt x="8515350" y="1241108"/>
                </a:lnTo>
                <a:lnTo>
                  <a:pt x="8572500" y="1273493"/>
                </a:lnTo>
                <a:lnTo>
                  <a:pt x="8629650" y="1305878"/>
                </a:lnTo>
                <a:lnTo>
                  <a:pt x="8686800" y="1337310"/>
                </a:lnTo>
                <a:lnTo>
                  <a:pt x="8743950" y="1367790"/>
                </a:lnTo>
                <a:lnTo>
                  <a:pt x="8801100" y="1398270"/>
                </a:lnTo>
                <a:lnTo>
                  <a:pt x="8858250" y="1428750"/>
                </a:lnTo>
                <a:lnTo>
                  <a:pt x="8915400" y="1457325"/>
                </a:lnTo>
                <a:lnTo>
                  <a:pt x="8972550" y="1486853"/>
                </a:lnTo>
                <a:lnTo>
                  <a:pt x="9029700" y="1514475"/>
                </a:lnTo>
                <a:lnTo>
                  <a:pt x="9086850" y="1542097"/>
                </a:lnTo>
                <a:lnTo>
                  <a:pt x="9144000" y="1568768"/>
                </a:lnTo>
                <a:lnTo>
                  <a:pt x="9201150" y="1595438"/>
                </a:lnTo>
                <a:lnTo>
                  <a:pt x="9258300" y="1621155"/>
                </a:lnTo>
                <a:lnTo>
                  <a:pt x="9315450" y="1645920"/>
                </a:lnTo>
                <a:lnTo>
                  <a:pt x="9372600" y="1670685"/>
                </a:lnTo>
                <a:lnTo>
                  <a:pt x="9429750" y="1694497"/>
                </a:lnTo>
                <a:lnTo>
                  <a:pt x="9486900" y="1717358"/>
                </a:lnTo>
                <a:lnTo>
                  <a:pt x="9544050" y="1739265"/>
                </a:lnTo>
                <a:lnTo>
                  <a:pt x="9601200" y="1761172"/>
                </a:lnTo>
                <a:lnTo>
                  <a:pt x="9658350" y="1782128"/>
                </a:lnTo>
                <a:lnTo>
                  <a:pt x="9715500" y="1803083"/>
                </a:lnTo>
                <a:lnTo>
                  <a:pt x="9772650" y="1822133"/>
                </a:lnTo>
                <a:lnTo>
                  <a:pt x="9829800" y="1841183"/>
                </a:lnTo>
                <a:lnTo>
                  <a:pt x="9886950" y="1860233"/>
                </a:lnTo>
                <a:lnTo>
                  <a:pt x="9944100" y="1877378"/>
                </a:lnTo>
                <a:lnTo>
                  <a:pt x="10001250" y="1894523"/>
                </a:lnTo>
                <a:lnTo>
                  <a:pt x="10058400" y="1911667"/>
                </a:lnTo>
                <a:lnTo>
                  <a:pt x="10115550" y="1926908"/>
                </a:lnTo>
                <a:lnTo>
                  <a:pt x="10172700" y="1942147"/>
                </a:lnTo>
                <a:lnTo>
                  <a:pt x="10229850" y="1957388"/>
                </a:lnTo>
                <a:lnTo>
                  <a:pt x="10287000" y="1971675"/>
                </a:lnTo>
                <a:lnTo>
                  <a:pt x="10344150" y="1985010"/>
                </a:lnTo>
                <a:lnTo>
                  <a:pt x="10401300" y="1998345"/>
                </a:lnTo>
                <a:lnTo>
                  <a:pt x="10458450" y="2010728"/>
                </a:lnTo>
                <a:lnTo>
                  <a:pt x="10515600" y="2022158"/>
                </a:lnTo>
                <a:lnTo>
                  <a:pt x="10572750" y="2033588"/>
                </a:lnTo>
                <a:lnTo>
                  <a:pt x="10629900" y="2044065"/>
                </a:lnTo>
                <a:lnTo>
                  <a:pt x="10687050" y="2054542"/>
                </a:lnTo>
                <a:lnTo>
                  <a:pt x="10744200" y="2065020"/>
                </a:lnTo>
                <a:lnTo>
                  <a:pt x="10801350" y="2074545"/>
                </a:lnTo>
                <a:lnTo>
                  <a:pt x="10858500" y="2083117"/>
                </a:lnTo>
                <a:lnTo>
                  <a:pt x="10915650" y="2091690"/>
                </a:lnTo>
                <a:lnTo>
                  <a:pt x="10972800" y="2100263"/>
                </a:lnTo>
                <a:lnTo>
                  <a:pt x="11029950" y="2107883"/>
                </a:lnTo>
                <a:lnTo>
                  <a:pt x="11087100" y="2115503"/>
                </a:lnTo>
                <a:lnTo>
                  <a:pt x="11144250" y="2122170"/>
                </a:lnTo>
                <a:lnTo>
                  <a:pt x="11201400" y="2128838"/>
                </a:lnTo>
                <a:lnTo>
                  <a:pt x="11258550" y="2135505"/>
                </a:lnTo>
                <a:lnTo>
                  <a:pt x="11315700" y="2141220"/>
                </a:lnTo>
                <a:lnTo>
                  <a:pt x="11372850" y="2146935"/>
                </a:lnTo>
                <a:lnTo>
                  <a:pt x="11391900" y="2148840"/>
                </a:lnTo>
                <a:lnTo>
                  <a:pt x="11391900" y="2228850"/>
                </a:lnTo>
                <a:lnTo>
                  <a:pt x="0" y="2228850"/>
                </a:lnTo>
                <a:close/>
              </a:path>
            </a:pathLst>
          </a:custGeom>
          <a:gradFill rotWithShape="1">
            <a:gsLst>
              <a:gs pos="0">
                <a:srgbClr val="E5485D">
                  <a:alpha val="16000"/>
                </a:srgbClr>
              </a:gs>
              <a:gs pos="30000">
                <a:srgbClr val="E5485D">
                  <a:alpha val="6000"/>
                </a:srgbClr>
              </a:gs>
              <a:gs pos="50000">
                <a:srgbClr val="6551FF">
                  <a:alpha val="34000"/>
                </a:srgbClr>
              </a:gs>
              <a:gs pos="70000">
                <a:srgbClr val="E5485D">
                  <a:alpha val="6000"/>
                </a:srgbClr>
              </a:gs>
              <a:gs pos="100000">
                <a:srgbClr val="E5485D">
                  <a:alpha val="16000"/>
                </a:srgbClr>
              </a:gs>
            </a:gsLst>
            <a:lin ang="0" scaled="1"/>
          </a:gradFill>
          <a:ln>
            <a:noFill/>
          </a:ln>
        </p:spPr>
      </p:sp>
      <p:sp>
        <p:nvSpPr>
          <p:cNvPr id="3" name="dg line"/>
          <p:cNvSpPr/>
          <p:nvPr/>
        </p:nvSpPr>
        <p:spPr>
          <a:xfrm>
            <a:off x="400050" y="4095750"/>
            <a:ext cx="11391900" cy="0"/>
          </a:xfrm>
          <a:prstGeom prst="line">
            <a:avLst/>
          </a:prstGeom>
          <a:noFill/>
          <a:ln w="9525" cap="flat">
            <a:solidFill>
              <a:srgbClr val="BDC2EF">
                <a:alpha val="28000"/>
              </a:srgbClr>
            </a:solidFill>
            <a:miter lim="800000"/>
          </a:ln>
        </p:spPr>
      </p:sp>
      <p:sp>
        <p:nvSpPr>
          <p:cNvPr id="4" name="dg path"/>
          <p:cNvSpPr/>
          <p:nvPr/>
        </p:nvSpPr>
        <p:spPr>
          <a:xfrm>
            <a:off x="400050" y="1866900"/>
            <a:ext cx="11391900" cy="2148840"/>
          </a:xfrm>
          <a:custGeom>
            <a:avLst/>
            <a:gdLst/>
            <a:ahLst/>
            <a:cxnLst/>
            <a:rect l="l" t="t" r="r" b="b"/>
            <a:pathLst>
              <a:path w="11391900" h="2148840">
                <a:moveTo>
                  <a:pt x="0" y="2148840"/>
                </a:moveTo>
                <a:lnTo>
                  <a:pt x="57150" y="2143125"/>
                </a:lnTo>
                <a:lnTo>
                  <a:pt x="114300" y="2137410"/>
                </a:lnTo>
                <a:lnTo>
                  <a:pt x="171450" y="2130743"/>
                </a:lnTo>
                <a:lnTo>
                  <a:pt x="228600" y="2124075"/>
                </a:lnTo>
                <a:lnTo>
                  <a:pt x="285750" y="2117408"/>
                </a:lnTo>
                <a:lnTo>
                  <a:pt x="342900" y="2110740"/>
                </a:lnTo>
                <a:lnTo>
                  <a:pt x="400050" y="2103120"/>
                </a:lnTo>
                <a:lnTo>
                  <a:pt x="457200" y="2094548"/>
                </a:lnTo>
                <a:lnTo>
                  <a:pt x="514350" y="2085975"/>
                </a:lnTo>
                <a:lnTo>
                  <a:pt x="571500" y="2077403"/>
                </a:lnTo>
                <a:lnTo>
                  <a:pt x="628650" y="2067878"/>
                </a:lnTo>
                <a:lnTo>
                  <a:pt x="685800" y="2058353"/>
                </a:lnTo>
                <a:lnTo>
                  <a:pt x="742950" y="2047875"/>
                </a:lnTo>
                <a:lnTo>
                  <a:pt x="800100" y="2037398"/>
                </a:lnTo>
                <a:lnTo>
                  <a:pt x="857250" y="2025967"/>
                </a:lnTo>
                <a:lnTo>
                  <a:pt x="914400" y="2014538"/>
                </a:lnTo>
                <a:lnTo>
                  <a:pt x="971550" y="2002155"/>
                </a:lnTo>
                <a:lnTo>
                  <a:pt x="1028700" y="1988820"/>
                </a:lnTo>
                <a:lnTo>
                  <a:pt x="1085850" y="1975485"/>
                </a:lnTo>
                <a:lnTo>
                  <a:pt x="1143000" y="1962150"/>
                </a:lnTo>
                <a:lnTo>
                  <a:pt x="1200150" y="1947863"/>
                </a:lnTo>
                <a:lnTo>
                  <a:pt x="1257300" y="1932622"/>
                </a:lnTo>
                <a:lnTo>
                  <a:pt x="1314450" y="1916430"/>
                </a:lnTo>
                <a:lnTo>
                  <a:pt x="1371600" y="1900238"/>
                </a:lnTo>
                <a:lnTo>
                  <a:pt x="1428750" y="1883092"/>
                </a:lnTo>
                <a:lnTo>
                  <a:pt x="1485900" y="1865948"/>
                </a:lnTo>
                <a:lnTo>
                  <a:pt x="1543050" y="1847850"/>
                </a:lnTo>
                <a:lnTo>
                  <a:pt x="1600200" y="1828800"/>
                </a:lnTo>
                <a:lnTo>
                  <a:pt x="1657350" y="1809750"/>
                </a:lnTo>
                <a:lnTo>
                  <a:pt x="1714500" y="1788795"/>
                </a:lnTo>
                <a:lnTo>
                  <a:pt x="1771650" y="1767840"/>
                </a:lnTo>
                <a:lnTo>
                  <a:pt x="1828800" y="1746885"/>
                </a:lnTo>
                <a:lnTo>
                  <a:pt x="1885950" y="1724978"/>
                </a:lnTo>
                <a:lnTo>
                  <a:pt x="1943100" y="1702118"/>
                </a:lnTo>
                <a:lnTo>
                  <a:pt x="2000250" y="1678305"/>
                </a:lnTo>
                <a:lnTo>
                  <a:pt x="2057400" y="1654493"/>
                </a:lnTo>
                <a:lnTo>
                  <a:pt x="2114550" y="1629728"/>
                </a:lnTo>
                <a:lnTo>
                  <a:pt x="2171700" y="1604010"/>
                </a:lnTo>
                <a:lnTo>
                  <a:pt x="2228850" y="1578292"/>
                </a:lnTo>
                <a:lnTo>
                  <a:pt x="2286000" y="1551622"/>
                </a:lnTo>
                <a:lnTo>
                  <a:pt x="2343150" y="1524000"/>
                </a:lnTo>
                <a:lnTo>
                  <a:pt x="2400300" y="1495425"/>
                </a:lnTo>
                <a:lnTo>
                  <a:pt x="2457450" y="1466850"/>
                </a:lnTo>
                <a:lnTo>
                  <a:pt x="2514600" y="1438275"/>
                </a:lnTo>
                <a:lnTo>
                  <a:pt x="2571750" y="1408747"/>
                </a:lnTo>
                <a:lnTo>
                  <a:pt x="2628900" y="1378267"/>
                </a:lnTo>
                <a:lnTo>
                  <a:pt x="2686050" y="1347788"/>
                </a:lnTo>
                <a:lnTo>
                  <a:pt x="2743200" y="1316355"/>
                </a:lnTo>
                <a:lnTo>
                  <a:pt x="2800350" y="1283970"/>
                </a:lnTo>
                <a:lnTo>
                  <a:pt x="2857500" y="1251585"/>
                </a:lnTo>
                <a:lnTo>
                  <a:pt x="2914650" y="1219200"/>
                </a:lnTo>
                <a:lnTo>
                  <a:pt x="2971800" y="1185863"/>
                </a:lnTo>
                <a:lnTo>
                  <a:pt x="3028950" y="1152525"/>
                </a:lnTo>
                <a:lnTo>
                  <a:pt x="3086100" y="1119188"/>
                </a:lnTo>
                <a:lnTo>
                  <a:pt x="3143250" y="1084897"/>
                </a:lnTo>
                <a:lnTo>
                  <a:pt x="3200400" y="1050608"/>
                </a:lnTo>
                <a:lnTo>
                  <a:pt x="3257550" y="1016317"/>
                </a:lnTo>
                <a:lnTo>
                  <a:pt x="3314700" y="982028"/>
                </a:lnTo>
                <a:lnTo>
                  <a:pt x="3371850" y="946785"/>
                </a:lnTo>
                <a:lnTo>
                  <a:pt x="3429000" y="911542"/>
                </a:lnTo>
                <a:lnTo>
                  <a:pt x="3486150" y="877253"/>
                </a:lnTo>
                <a:lnTo>
                  <a:pt x="3543300" y="842010"/>
                </a:lnTo>
                <a:lnTo>
                  <a:pt x="3600450" y="806767"/>
                </a:lnTo>
                <a:lnTo>
                  <a:pt x="3657600" y="772478"/>
                </a:lnTo>
                <a:lnTo>
                  <a:pt x="3714750" y="737235"/>
                </a:lnTo>
                <a:lnTo>
                  <a:pt x="3771900" y="702945"/>
                </a:lnTo>
                <a:lnTo>
                  <a:pt x="3829050" y="668655"/>
                </a:lnTo>
                <a:lnTo>
                  <a:pt x="3886200" y="635317"/>
                </a:lnTo>
                <a:lnTo>
                  <a:pt x="3943350" y="601028"/>
                </a:lnTo>
                <a:lnTo>
                  <a:pt x="4000500" y="568642"/>
                </a:lnTo>
                <a:lnTo>
                  <a:pt x="4057650" y="535305"/>
                </a:lnTo>
                <a:lnTo>
                  <a:pt x="4114800" y="502920"/>
                </a:lnTo>
                <a:lnTo>
                  <a:pt x="4171950" y="471488"/>
                </a:lnTo>
                <a:lnTo>
                  <a:pt x="4229100" y="441008"/>
                </a:lnTo>
                <a:lnTo>
                  <a:pt x="4286250" y="410527"/>
                </a:lnTo>
                <a:lnTo>
                  <a:pt x="4343400" y="381000"/>
                </a:lnTo>
                <a:lnTo>
                  <a:pt x="4400550" y="351473"/>
                </a:lnTo>
                <a:lnTo>
                  <a:pt x="4457700" y="323850"/>
                </a:lnTo>
                <a:lnTo>
                  <a:pt x="4514850" y="296227"/>
                </a:lnTo>
                <a:lnTo>
                  <a:pt x="4572000" y="270510"/>
                </a:lnTo>
                <a:lnTo>
                  <a:pt x="4629150" y="244792"/>
                </a:lnTo>
                <a:lnTo>
                  <a:pt x="4686300" y="220980"/>
                </a:lnTo>
                <a:lnTo>
                  <a:pt x="4743450" y="198120"/>
                </a:lnTo>
                <a:lnTo>
                  <a:pt x="4800600" y="175260"/>
                </a:lnTo>
                <a:lnTo>
                  <a:pt x="4857750" y="154305"/>
                </a:lnTo>
                <a:lnTo>
                  <a:pt x="4914900" y="135255"/>
                </a:lnTo>
                <a:lnTo>
                  <a:pt x="4972050" y="116205"/>
                </a:lnTo>
                <a:lnTo>
                  <a:pt x="5029200" y="99060"/>
                </a:lnTo>
                <a:lnTo>
                  <a:pt x="5086350" y="82867"/>
                </a:lnTo>
                <a:lnTo>
                  <a:pt x="5143500" y="68580"/>
                </a:lnTo>
                <a:lnTo>
                  <a:pt x="5200650" y="55245"/>
                </a:lnTo>
                <a:lnTo>
                  <a:pt x="5257800" y="43815"/>
                </a:lnTo>
                <a:lnTo>
                  <a:pt x="5314950" y="33338"/>
                </a:lnTo>
                <a:lnTo>
                  <a:pt x="5372100" y="23813"/>
                </a:lnTo>
                <a:lnTo>
                  <a:pt x="5429250" y="16192"/>
                </a:lnTo>
                <a:lnTo>
                  <a:pt x="5486400" y="9525"/>
                </a:lnTo>
                <a:lnTo>
                  <a:pt x="5543550" y="5715"/>
                </a:lnTo>
                <a:lnTo>
                  <a:pt x="5600700" y="1905"/>
                </a:lnTo>
                <a:lnTo>
                  <a:pt x="5657850" y="0"/>
                </a:lnTo>
                <a:lnTo>
                  <a:pt x="5715000" y="0"/>
                </a:lnTo>
                <a:lnTo>
                  <a:pt x="5772150" y="952"/>
                </a:lnTo>
                <a:lnTo>
                  <a:pt x="5829300" y="3810"/>
                </a:lnTo>
                <a:lnTo>
                  <a:pt x="5886450" y="8573"/>
                </a:lnTo>
                <a:lnTo>
                  <a:pt x="5943600" y="14288"/>
                </a:lnTo>
                <a:lnTo>
                  <a:pt x="6000750" y="20955"/>
                </a:lnTo>
                <a:lnTo>
                  <a:pt x="6057900" y="29527"/>
                </a:lnTo>
                <a:lnTo>
                  <a:pt x="6115050" y="40005"/>
                </a:lnTo>
                <a:lnTo>
                  <a:pt x="6172200" y="51435"/>
                </a:lnTo>
                <a:lnTo>
                  <a:pt x="6229350" y="63817"/>
                </a:lnTo>
                <a:lnTo>
                  <a:pt x="6286500" y="78105"/>
                </a:lnTo>
                <a:lnTo>
                  <a:pt x="6343650" y="93345"/>
                </a:lnTo>
                <a:lnTo>
                  <a:pt x="6400800" y="110490"/>
                </a:lnTo>
                <a:lnTo>
                  <a:pt x="6457950" y="128588"/>
                </a:lnTo>
                <a:lnTo>
                  <a:pt x="6515100" y="147638"/>
                </a:lnTo>
                <a:lnTo>
                  <a:pt x="6572250" y="168592"/>
                </a:lnTo>
                <a:lnTo>
                  <a:pt x="6629400" y="190500"/>
                </a:lnTo>
                <a:lnTo>
                  <a:pt x="6686550" y="213360"/>
                </a:lnTo>
                <a:lnTo>
                  <a:pt x="6743700" y="237173"/>
                </a:lnTo>
                <a:lnTo>
                  <a:pt x="6800850" y="261937"/>
                </a:lnTo>
                <a:lnTo>
                  <a:pt x="6858000" y="287655"/>
                </a:lnTo>
                <a:lnTo>
                  <a:pt x="6915150" y="314325"/>
                </a:lnTo>
                <a:lnTo>
                  <a:pt x="6972300" y="342900"/>
                </a:lnTo>
                <a:lnTo>
                  <a:pt x="7029450" y="371475"/>
                </a:lnTo>
                <a:lnTo>
                  <a:pt x="7086600" y="400050"/>
                </a:lnTo>
                <a:lnTo>
                  <a:pt x="7143750" y="430530"/>
                </a:lnTo>
                <a:lnTo>
                  <a:pt x="7200900" y="461010"/>
                </a:lnTo>
                <a:lnTo>
                  <a:pt x="7258050" y="492442"/>
                </a:lnTo>
                <a:lnTo>
                  <a:pt x="7315200" y="524827"/>
                </a:lnTo>
                <a:lnTo>
                  <a:pt x="7372350" y="557213"/>
                </a:lnTo>
                <a:lnTo>
                  <a:pt x="7429500" y="590550"/>
                </a:lnTo>
                <a:lnTo>
                  <a:pt x="7486650" y="623888"/>
                </a:lnTo>
                <a:lnTo>
                  <a:pt x="7543800" y="657225"/>
                </a:lnTo>
                <a:lnTo>
                  <a:pt x="7600950" y="691515"/>
                </a:lnTo>
                <a:lnTo>
                  <a:pt x="7658100" y="725805"/>
                </a:lnTo>
                <a:lnTo>
                  <a:pt x="7715250" y="761047"/>
                </a:lnTo>
                <a:lnTo>
                  <a:pt x="7772400" y="795338"/>
                </a:lnTo>
                <a:lnTo>
                  <a:pt x="7829550" y="830580"/>
                </a:lnTo>
                <a:lnTo>
                  <a:pt x="7886700" y="864870"/>
                </a:lnTo>
                <a:lnTo>
                  <a:pt x="7943850" y="900113"/>
                </a:lnTo>
                <a:lnTo>
                  <a:pt x="8001000" y="935355"/>
                </a:lnTo>
                <a:lnTo>
                  <a:pt x="8058150" y="969645"/>
                </a:lnTo>
                <a:lnTo>
                  <a:pt x="8115300" y="1004887"/>
                </a:lnTo>
                <a:lnTo>
                  <a:pt x="8172450" y="1039178"/>
                </a:lnTo>
                <a:lnTo>
                  <a:pt x="8229600" y="1073468"/>
                </a:lnTo>
                <a:lnTo>
                  <a:pt x="8286750" y="1107758"/>
                </a:lnTo>
                <a:lnTo>
                  <a:pt x="8343900" y="1142047"/>
                </a:lnTo>
                <a:lnTo>
                  <a:pt x="8401050" y="1175385"/>
                </a:lnTo>
                <a:lnTo>
                  <a:pt x="8458200" y="1208722"/>
                </a:lnTo>
                <a:lnTo>
                  <a:pt x="8515350" y="1241108"/>
                </a:lnTo>
                <a:lnTo>
                  <a:pt x="8572500" y="1273493"/>
                </a:lnTo>
                <a:lnTo>
                  <a:pt x="8629650" y="1305878"/>
                </a:lnTo>
                <a:lnTo>
                  <a:pt x="8686800" y="1337310"/>
                </a:lnTo>
                <a:lnTo>
                  <a:pt x="8743950" y="1367790"/>
                </a:lnTo>
                <a:lnTo>
                  <a:pt x="8801100" y="1398270"/>
                </a:lnTo>
                <a:lnTo>
                  <a:pt x="8858250" y="1428750"/>
                </a:lnTo>
                <a:lnTo>
                  <a:pt x="8915400" y="1457325"/>
                </a:lnTo>
                <a:lnTo>
                  <a:pt x="8972550" y="1486853"/>
                </a:lnTo>
                <a:lnTo>
                  <a:pt x="9029700" y="1514475"/>
                </a:lnTo>
                <a:lnTo>
                  <a:pt x="9086850" y="1542097"/>
                </a:lnTo>
                <a:lnTo>
                  <a:pt x="9144000" y="1568768"/>
                </a:lnTo>
                <a:lnTo>
                  <a:pt x="9201150" y="1595438"/>
                </a:lnTo>
                <a:lnTo>
                  <a:pt x="9258300" y="1621155"/>
                </a:lnTo>
                <a:lnTo>
                  <a:pt x="9315450" y="1645920"/>
                </a:lnTo>
                <a:lnTo>
                  <a:pt x="9372600" y="1670685"/>
                </a:lnTo>
                <a:lnTo>
                  <a:pt x="9429750" y="1694497"/>
                </a:lnTo>
                <a:lnTo>
                  <a:pt x="9486900" y="1717358"/>
                </a:lnTo>
                <a:lnTo>
                  <a:pt x="9544050" y="1739265"/>
                </a:lnTo>
                <a:lnTo>
                  <a:pt x="9601200" y="1761172"/>
                </a:lnTo>
                <a:lnTo>
                  <a:pt x="9658350" y="1782128"/>
                </a:lnTo>
                <a:lnTo>
                  <a:pt x="9715500" y="1803083"/>
                </a:lnTo>
                <a:lnTo>
                  <a:pt x="9772650" y="1822133"/>
                </a:lnTo>
                <a:lnTo>
                  <a:pt x="9829800" y="1841183"/>
                </a:lnTo>
                <a:lnTo>
                  <a:pt x="9886950" y="1860233"/>
                </a:lnTo>
                <a:lnTo>
                  <a:pt x="9944100" y="1877378"/>
                </a:lnTo>
                <a:lnTo>
                  <a:pt x="10001250" y="1894523"/>
                </a:lnTo>
                <a:lnTo>
                  <a:pt x="10058400" y="1911667"/>
                </a:lnTo>
                <a:lnTo>
                  <a:pt x="10115550" y="1926908"/>
                </a:lnTo>
                <a:lnTo>
                  <a:pt x="10172700" y="1942147"/>
                </a:lnTo>
                <a:lnTo>
                  <a:pt x="10229850" y="1957388"/>
                </a:lnTo>
                <a:lnTo>
                  <a:pt x="10287000" y="1971675"/>
                </a:lnTo>
                <a:lnTo>
                  <a:pt x="10344150" y="1985010"/>
                </a:lnTo>
                <a:lnTo>
                  <a:pt x="10401300" y="1998345"/>
                </a:lnTo>
                <a:lnTo>
                  <a:pt x="10458450" y="2010728"/>
                </a:lnTo>
                <a:lnTo>
                  <a:pt x="10515600" y="2022158"/>
                </a:lnTo>
                <a:lnTo>
                  <a:pt x="10572750" y="2033588"/>
                </a:lnTo>
                <a:lnTo>
                  <a:pt x="10629900" y="2044065"/>
                </a:lnTo>
                <a:lnTo>
                  <a:pt x="10687050" y="2054542"/>
                </a:lnTo>
                <a:lnTo>
                  <a:pt x="10744200" y="2065020"/>
                </a:lnTo>
                <a:lnTo>
                  <a:pt x="10801350" y="2074545"/>
                </a:lnTo>
                <a:lnTo>
                  <a:pt x="10858500" y="2083117"/>
                </a:lnTo>
                <a:lnTo>
                  <a:pt x="10915650" y="2091690"/>
                </a:lnTo>
                <a:lnTo>
                  <a:pt x="10972800" y="2100263"/>
                </a:lnTo>
                <a:lnTo>
                  <a:pt x="11029950" y="2107883"/>
                </a:lnTo>
                <a:lnTo>
                  <a:pt x="11087100" y="2115503"/>
                </a:lnTo>
                <a:lnTo>
                  <a:pt x="11144250" y="2122170"/>
                </a:lnTo>
                <a:lnTo>
                  <a:pt x="11201400" y="2128838"/>
                </a:lnTo>
                <a:lnTo>
                  <a:pt x="11258550" y="2135505"/>
                </a:lnTo>
                <a:lnTo>
                  <a:pt x="11315700" y="2141220"/>
                </a:lnTo>
                <a:lnTo>
                  <a:pt x="11372850" y="2146935"/>
                </a:lnTo>
                <a:lnTo>
                  <a:pt x="11391900" y="2148840"/>
                </a:lnTo>
              </a:path>
            </a:pathLst>
          </a:custGeom>
          <a:noFill/>
          <a:ln w="42863" cap="rnd">
            <a:gradFill rotWithShape="1">
              <a:gsLst>
                <a:gs pos="0">
                  <a:srgbClr val="E5485D"/>
                </a:gs>
                <a:gs pos="22000">
                  <a:srgbClr val="E5485D">
                    <a:alpha val="75000"/>
                  </a:srgbClr>
                </a:gs>
                <a:gs pos="42000">
                  <a:srgbClr val="8E7DFF"/>
                </a:gs>
                <a:gs pos="50000">
                  <a:srgbClr val="B0AAFF"/>
                </a:gs>
                <a:gs pos="58000">
                  <a:srgbClr val="8E7DFF"/>
                </a:gs>
                <a:gs pos="78000">
                  <a:srgbClr val="E5485D">
                    <a:alpha val="75000"/>
                  </a:srgbClr>
                </a:gs>
                <a:gs pos="100000">
                  <a:srgbClr val="E5485D"/>
                </a:gs>
              </a:gsLst>
              <a:lin ang="0" scaled="1"/>
            </a:gradFill>
            <a:round/>
          </a:ln>
        </p:spPr>
      </p:sp>
      <p:sp>
        <p:nvSpPr>
          <p:cNvPr id="5" name="Text LESS CONTEXT"/>
          <p:cNvSpPr txBox="1"/>
          <p:nvPr/>
        </p:nvSpPr>
        <p:spPr>
          <a:xfrm>
            <a:off x="400050" y="4219575"/>
            <a:ext cx="1076176" cy="123825"/>
          </a:xfrm>
          <a:prstGeom prst="rect">
            <a:avLst/>
          </a:prstGeom>
          <a:noFill/>
          <a:ln/>
        </p:spPr>
        <p:txBody>
          <a:bodyPr wrap="none" lIns="0" tIns="0" rIns="0" bIns="0" rtlCol="0" anchor="ctr"/>
          <a:lstStyle/>
          <a:p>
            <a:pPr algn="l" indent="0" marL="0">
              <a:buNone/>
            </a:pPr>
            <a:r>
              <a:rPr lang="en-US" sz="863" b="1" spc="165" kern="0" dirty="0">
                <a:solidFill>
                  <a:srgbClr val="BDC2EF">
                    <a:alpha val="80000"/>
                  </a:srgbClr>
                </a:solidFill>
                <a:latin typeface="Scotia" pitchFamily="34" charset="0"/>
                <a:ea typeface="Scotia" pitchFamily="34" charset="-122"/>
                <a:cs typeface="Scotia" pitchFamily="34" charset="-120"/>
              </a:rPr>
              <a:t>LESS CONTEXT</a:t>
            </a:r>
            <a:endParaRPr lang="en-US" sz="863" dirty="0"/>
          </a:p>
        </p:txBody>
      </p:sp>
      <p:sp>
        <p:nvSpPr>
          <p:cNvPr id="6" name="Text MORE CONTEXT"/>
          <p:cNvSpPr txBox="1"/>
          <p:nvPr/>
        </p:nvSpPr>
        <p:spPr>
          <a:xfrm>
            <a:off x="10654457" y="4219575"/>
            <a:ext cx="1137493" cy="123825"/>
          </a:xfrm>
          <a:prstGeom prst="rect">
            <a:avLst/>
          </a:prstGeom>
          <a:noFill/>
          <a:ln/>
        </p:spPr>
        <p:txBody>
          <a:bodyPr wrap="none" lIns="0" tIns="0" rIns="0" bIns="0" rtlCol="0" anchor="ctr"/>
          <a:lstStyle/>
          <a:p>
            <a:pPr algn="r" indent="0" marL="0">
              <a:buNone/>
            </a:pPr>
            <a:r>
              <a:rPr lang="en-US" sz="863" b="1" spc="165" kern="0" dirty="0">
                <a:solidFill>
                  <a:srgbClr val="BDC2EF">
                    <a:alpha val="80000"/>
                  </a:srgbClr>
                </a:solidFill>
                <a:latin typeface="Scotia" pitchFamily="34" charset="0"/>
                <a:ea typeface="Scotia" pitchFamily="34" charset="-122"/>
                <a:cs typeface="Scotia" pitchFamily="34" charset="-120"/>
              </a:rPr>
              <a:t>MORE CONTEXT</a:t>
            </a:r>
            <a:endParaRPr lang="en-US" sz="863" dirty="0"/>
          </a:p>
        </p:txBody>
      </p:sp>
      <p:sp>
        <p:nvSpPr>
          <p:cNvPr id="7" name="Text ANSWER QUALITY"/>
          <p:cNvSpPr txBox="1"/>
          <p:nvPr/>
        </p:nvSpPr>
        <p:spPr>
          <a:xfrm>
            <a:off x="400050" y="1590675"/>
            <a:ext cx="1290935" cy="123825"/>
          </a:xfrm>
          <a:prstGeom prst="rect">
            <a:avLst/>
          </a:prstGeom>
          <a:noFill/>
          <a:ln/>
        </p:spPr>
        <p:txBody>
          <a:bodyPr wrap="none" lIns="0" tIns="0" rIns="0" bIns="0" rtlCol="0" anchor="ctr"/>
          <a:lstStyle/>
          <a:p>
            <a:pPr algn="l" indent="0" marL="0">
              <a:buNone/>
            </a:pPr>
            <a:r>
              <a:rPr lang="en-US" sz="863" b="1" spc="165" kern="0" dirty="0">
                <a:solidFill>
                  <a:srgbClr val="BDC2EF">
                    <a:alpha val="80000"/>
                  </a:srgbClr>
                </a:solidFill>
                <a:latin typeface="Scotia" pitchFamily="34" charset="0"/>
                <a:ea typeface="Scotia" pitchFamily="34" charset="-122"/>
                <a:cs typeface="Scotia" pitchFamily="34" charset="-120"/>
              </a:rPr>
              <a:t>ANSWER QUALITY</a:t>
            </a:r>
            <a:endParaRPr lang="en-US" sz="863" dirty="0"/>
          </a:p>
        </p:txBody>
      </p:sp>
      <p:sp>
        <p:nvSpPr>
          <p:cNvPr id="8" name="dg line"/>
          <p:cNvSpPr/>
          <p:nvPr/>
        </p:nvSpPr>
        <p:spPr>
          <a:xfrm>
            <a:off x="2228850" y="3613785"/>
            <a:ext cx="0" cy="882015"/>
          </a:xfrm>
          <a:prstGeom prst="line">
            <a:avLst/>
          </a:prstGeom>
          <a:noFill/>
          <a:ln w="15240" cap="flat">
            <a:solidFill>
              <a:srgbClr val="E5485D">
                <a:alpha val="55000"/>
              </a:srgbClr>
            </a:solidFill>
            <a:custDash>
              <a:ds d="250000" sp="312500"/>
            </a:custDash>
            <a:miter lim="800000"/>
          </a:ln>
        </p:spPr>
      </p:sp>
      <p:sp>
        <p:nvSpPr>
          <p:cNvPr id="9" name="dg circle"/>
          <p:cNvSpPr/>
          <p:nvPr/>
        </p:nvSpPr>
        <p:spPr>
          <a:xfrm>
            <a:off x="2095500" y="3480435"/>
            <a:ext cx="266700" cy="266700"/>
          </a:xfrm>
          <a:prstGeom prst="ellipse">
            <a:avLst/>
          </a:prstGeom>
          <a:solidFill>
            <a:srgbClr val="0B0823"/>
          </a:solidFill>
          <a:ln>
            <a:noFill/>
          </a:ln>
        </p:spPr>
      </p:sp>
      <p:sp>
        <p:nvSpPr>
          <p:cNvPr id="10" name="dg circle"/>
          <p:cNvSpPr/>
          <p:nvPr/>
        </p:nvSpPr>
        <p:spPr>
          <a:xfrm>
            <a:off x="2152650" y="3537585"/>
            <a:ext cx="152400" cy="152400"/>
          </a:xfrm>
          <a:prstGeom prst="ellipse">
            <a:avLst/>
          </a:prstGeom>
          <a:solidFill>
            <a:srgbClr val="E5485D"/>
          </a:solidFill>
          <a:ln w="22860" cap="flat">
            <a:solidFill>
              <a:srgbClr val="FFFFFF"/>
            </a:solidFill>
            <a:miter lim="800000"/>
          </a:ln>
        </p:spPr>
      </p:sp>
      <p:sp>
        <p:nvSpPr>
          <p:cNvPr id="11" name="dg rect"/>
          <p:cNvSpPr/>
          <p:nvPr/>
        </p:nvSpPr>
        <p:spPr>
          <a:xfrm>
            <a:off x="400050" y="4495800"/>
            <a:ext cx="3657600" cy="1352550"/>
          </a:xfrm>
          <a:prstGeom prst="roundRect">
            <a:avLst>
              <a:gd name="adj" fmla="val 14085"/>
            </a:avLst>
          </a:prstGeom>
          <a:gradFill rotWithShape="1">
            <a:gsLst>
              <a:gs pos="0">
                <a:srgbClr val="1A1550"/>
              </a:gs>
              <a:gs pos="100000">
                <a:srgbClr val="120E36"/>
              </a:gs>
            </a:gsLst>
            <a:lin ang="5400000" scaled="1"/>
          </a:gradFill>
          <a:ln w="13335" cap="flat">
            <a:solidFill>
              <a:srgbClr val="7A3550"/>
            </a:solidFill>
            <a:miter lim="800000"/>
          </a:ln>
        </p:spPr>
      </p:sp>
      <p:sp>
        <p:nvSpPr>
          <p:cNvPr id="12" name="Text TOO LITTLE"/>
          <p:cNvSpPr txBox="1"/>
          <p:nvPr/>
        </p:nvSpPr>
        <p:spPr>
          <a:xfrm>
            <a:off x="628650" y="4714875"/>
            <a:ext cx="863947"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TOO LITTLE</a:t>
            </a:r>
            <a:endParaRPr lang="en-US" sz="863" dirty="0"/>
          </a:p>
        </p:txBody>
      </p:sp>
      <p:sp>
        <p:nvSpPr>
          <p:cNvPr id="13" name="Text It guesses."/>
          <p:cNvSpPr txBox="1"/>
          <p:nvPr/>
        </p:nvSpPr>
        <p:spPr>
          <a:xfrm>
            <a:off x="628650" y="4953000"/>
            <a:ext cx="1403747" cy="342900"/>
          </a:xfrm>
          <a:prstGeom prst="rect">
            <a:avLst/>
          </a:prstGeom>
          <a:noFill/>
          <a:ln/>
        </p:spPr>
        <p:txBody>
          <a:bodyPr wrap="none" lIns="0" tIns="0" rIns="0" bIns="0" rtlCol="0" anchor="ctr"/>
          <a:lstStyle/>
          <a:p>
            <a:pPr algn="l" indent="0" marL="0">
              <a:buNone/>
            </a:pPr>
            <a:r>
              <a:rPr lang="en-US" sz="2250" b="1" dirty="0">
                <a:solidFill>
                  <a:srgbClr val="FFFFFF"/>
                </a:solidFill>
                <a:latin typeface="Scotia" pitchFamily="34" charset="0"/>
                <a:ea typeface="Scotia" pitchFamily="34" charset="-122"/>
                <a:cs typeface="Scotia" pitchFamily="34" charset="-120"/>
              </a:rPr>
              <a:t>It guesses.</a:t>
            </a:r>
            <a:endParaRPr lang="en-US" sz="2250" dirty="0"/>
          </a:p>
        </p:txBody>
      </p:sp>
      <p:sp>
        <p:nvSpPr>
          <p:cNvPr id="14" name="Text Missing facts get filled in"/>
          <p:cNvSpPr txBox="1"/>
          <p:nvPr/>
        </p:nvSpPr>
        <p:spPr>
          <a:xfrm>
            <a:off x="628650" y="5324475"/>
            <a:ext cx="1740396"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Missing facts get filled in</a:t>
            </a:r>
            <a:endParaRPr lang="en-US" sz="1163" dirty="0"/>
          </a:p>
        </p:txBody>
      </p:sp>
      <p:sp>
        <p:nvSpPr>
          <p:cNvPr id="15" name="Text with confident guesses."/>
          <p:cNvSpPr txBox="1"/>
          <p:nvPr/>
        </p:nvSpPr>
        <p:spPr>
          <a:xfrm>
            <a:off x="628650" y="5524500"/>
            <a:ext cx="1631900"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with confident guesses.</a:t>
            </a:r>
            <a:endParaRPr lang="en-US" sz="1163" dirty="0"/>
          </a:p>
        </p:txBody>
      </p:sp>
      <p:sp>
        <p:nvSpPr>
          <p:cNvPr id="16" name="dg line"/>
          <p:cNvSpPr/>
          <p:nvPr/>
        </p:nvSpPr>
        <p:spPr>
          <a:xfrm>
            <a:off x="9963150" y="3613785"/>
            <a:ext cx="0" cy="882015"/>
          </a:xfrm>
          <a:prstGeom prst="line">
            <a:avLst/>
          </a:prstGeom>
          <a:noFill/>
          <a:ln w="15240" cap="flat">
            <a:solidFill>
              <a:srgbClr val="E5485D">
                <a:alpha val="55000"/>
              </a:srgbClr>
            </a:solidFill>
            <a:custDash>
              <a:ds d="250000" sp="312500"/>
            </a:custDash>
            <a:miter lim="800000"/>
          </a:ln>
        </p:spPr>
      </p:sp>
      <p:sp>
        <p:nvSpPr>
          <p:cNvPr id="17" name="dg circle"/>
          <p:cNvSpPr/>
          <p:nvPr/>
        </p:nvSpPr>
        <p:spPr>
          <a:xfrm>
            <a:off x="9829800" y="3480435"/>
            <a:ext cx="266700" cy="266700"/>
          </a:xfrm>
          <a:prstGeom prst="ellipse">
            <a:avLst/>
          </a:prstGeom>
          <a:solidFill>
            <a:srgbClr val="0B0823"/>
          </a:solidFill>
          <a:ln>
            <a:noFill/>
          </a:ln>
        </p:spPr>
      </p:sp>
      <p:sp>
        <p:nvSpPr>
          <p:cNvPr id="18" name="dg circle"/>
          <p:cNvSpPr/>
          <p:nvPr/>
        </p:nvSpPr>
        <p:spPr>
          <a:xfrm>
            <a:off x="9886950" y="3537585"/>
            <a:ext cx="152400" cy="152400"/>
          </a:xfrm>
          <a:prstGeom prst="ellipse">
            <a:avLst/>
          </a:prstGeom>
          <a:solidFill>
            <a:srgbClr val="E5485D"/>
          </a:solidFill>
          <a:ln w="22860" cap="flat">
            <a:solidFill>
              <a:srgbClr val="FFFFFF"/>
            </a:solidFill>
            <a:miter lim="800000"/>
          </a:ln>
        </p:spPr>
      </p:sp>
      <p:sp>
        <p:nvSpPr>
          <p:cNvPr id="19" name="dg rect"/>
          <p:cNvSpPr/>
          <p:nvPr/>
        </p:nvSpPr>
        <p:spPr>
          <a:xfrm>
            <a:off x="8134350" y="4495800"/>
            <a:ext cx="3657600" cy="1352550"/>
          </a:xfrm>
          <a:prstGeom prst="roundRect">
            <a:avLst>
              <a:gd name="adj" fmla="val 14085"/>
            </a:avLst>
          </a:prstGeom>
          <a:gradFill rotWithShape="1">
            <a:gsLst>
              <a:gs pos="0">
                <a:srgbClr val="1A1550"/>
              </a:gs>
              <a:gs pos="100000">
                <a:srgbClr val="120E36"/>
              </a:gs>
            </a:gsLst>
            <a:lin ang="5400000" scaled="1"/>
          </a:gradFill>
          <a:ln w="13335" cap="flat">
            <a:solidFill>
              <a:srgbClr val="7A3550"/>
            </a:solidFill>
            <a:miter lim="800000"/>
          </a:ln>
        </p:spPr>
      </p:sp>
      <p:sp>
        <p:nvSpPr>
          <p:cNvPr id="20" name="Text TOO MUCH"/>
          <p:cNvSpPr txBox="1"/>
          <p:nvPr/>
        </p:nvSpPr>
        <p:spPr>
          <a:xfrm>
            <a:off x="8362950" y="4714875"/>
            <a:ext cx="800398"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TOO MUCH</a:t>
            </a:r>
            <a:endParaRPr lang="en-US" sz="863" dirty="0"/>
          </a:p>
        </p:txBody>
      </p:sp>
      <p:sp>
        <p:nvSpPr>
          <p:cNvPr id="21" name="Text It gets lost."/>
          <p:cNvSpPr txBox="1"/>
          <p:nvPr/>
        </p:nvSpPr>
        <p:spPr>
          <a:xfrm>
            <a:off x="8362950" y="4953000"/>
            <a:ext cx="1474589" cy="342900"/>
          </a:xfrm>
          <a:prstGeom prst="rect">
            <a:avLst/>
          </a:prstGeom>
          <a:noFill/>
          <a:ln/>
        </p:spPr>
        <p:txBody>
          <a:bodyPr wrap="none" lIns="0" tIns="0" rIns="0" bIns="0" rtlCol="0" anchor="ctr"/>
          <a:lstStyle/>
          <a:p>
            <a:pPr algn="l" indent="0" marL="0">
              <a:buNone/>
            </a:pPr>
            <a:r>
              <a:rPr lang="en-US" sz="2250" b="1" dirty="0">
                <a:solidFill>
                  <a:srgbClr val="FFFFFF"/>
                </a:solidFill>
                <a:latin typeface="Scotia" pitchFamily="34" charset="0"/>
                <a:ea typeface="Scotia" pitchFamily="34" charset="-122"/>
                <a:cs typeface="Scotia" pitchFamily="34" charset="-120"/>
              </a:rPr>
              <a:t>It gets lost.</a:t>
            </a:r>
            <a:endParaRPr lang="en-US" sz="2250" dirty="0"/>
          </a:p>
        </p:txBody>
      </p:sp>
      <p:sp>
        <p:nvSpPr>
          <p:cNvPr id="22" name="Text Key details get buried and"/>
          <p:cNvSpPr txBox="1"/>
          <p:nvPr/>
        </p:nvSpPr>
        <p:spPr>
          <a:xfrm>
            <a:off x="8362950" y="5324475"/>
            <a:ext cx="1809155"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Key details get buried and</a:t>
            </a:r>
            <a:endParaRPr lang="en-US" sz="1163" dirty="0"/>
          </a:p>
        </p:txBody>
      </p:sp>
      <p:sp>
        <p:nvSpPr>
          <p:cNvPr id="23" name="Text instructions get ignored."/>
          <p:cNvSpPr txBox="1"/>
          <p:nvPr/>
        </p:nvSpPr>
        <p:spPr>
          <a:xfrm>
            <a:off x="8362950" y="5524500"/>
            <a:ext cx="1715839"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instructions get ignored.</a:t>
            </a:r>
            <a:endParaRPr lang="en-US" sz="1163" dirty="0"/>
          </a:p>
        </p:txBody>
      </p:sp>
      <p:sp>
        <p:nvSpPr>
          <p:cNvPr id="24" name="dg circle"/>
          <p:cNvSpPr/>
          <p:nvPr/>
        </p:nvSpPr>
        <p:spPr>
          <a:xfrm>
            <a:off x="5657850" y="1428750"/>
            <a:ext cx="876300" cy="876300"/>
          </a:xfrm>
          <a:prstGeom prst="ellipse">
            <a:avLst/>
          </a:prstGeom>
          <a:gradFill rotWithShape="1">
            <a:gsLst>
              <a:gs pos="0">
                <a:srgbClr val="6551FF">
                  <a:alpha val="55000"/>
                </a:srgbClr>
              </a:gs>
              <a:gs pos="70711">
                <a:srgbClr val="6551FF">
                  <a:alpha val="0"/>
                </a:srgbClr>
              </a:gs>
              <a:gs pos="100000">
                <a:srgbClr val="6551FF">
                  <a:alpha val="0"/>
                </a:srgbClr>
              </a:gs>
            </a:gsLst>
            <a:path path="circle">
              <a:fillToRect l="50000" t="50000" r="50000" b="50000"/>
            </a:path>
          </a:gradFill>
          <a:ln>
            <a:noFill/>
          </a:ln>
        </p:spPr>
      </p:sp>
      <p:sp>
        <p:nvSpPr>
          <p:cNvPr id="25" name="dg line"/>
          <p:cNvSpPr/>
          <p:nvPr/>
        </p:nvSpPr>
        <p:spPr>
          <a:xfrm>
            <a:off x="6096000" y="1866900"/>
            <a:ext cx="0" cy="2628900"/>
          </a:xfrm>
          <a:prstGeom prst="line">
            <a:avLst/>
          </a:prstGeom>
          <a:noFill/>
          <a:ln w="15240" cap="flat">
            <a:solidFill>
              <a:srgbClr val="B0AAFF">
                <a:alpha val="55000"/>
              </a:srgbClr>
            </a:solidFill>
            <a:custDash>
              <a:ds d="250000" sp="312500"/>
            </a:custDash>
            <a:miter lim="800000"/>
          </a:ln>
        </p:spPr>
      </p:sp>
      <p:sp>
        <p:nvSpPr>
          <p:cNvPr id="26" name="dg circle"/>
          <p:cNvSpPr/>
          <p:nvPr/>
        </p:nvSpPr>
        <p:spPr>
          <a:xfrm>
            <a:off x="5934075" y="1704975"/>
            <a:ext cx="323850" cy="323850"/>
          </a:xfrm>
          <a:prstGeom prst="ellipse">
            <a:avLst/>
          </a:prstGeom>
          <a:solidFill>
            <a:srgbClr val="0B0823"/>
          </a:solidFill>
          <a:ln>
            <a:noFill/>
          </a:ln>
        </p:spPr>
      </p:sp>
      <p:sp>
        <p:nvSpPr>
          <p:cNvPr id="27" name="dg circle"/>
          <p:cNvSpPr/>
          <p:nvPr/>
        </p:nvSpPr>
        <p:spPr>
          <a:xfrm>
            <a:off x="5991225" y="1762125"/>
            <a:ext cx="209550" cy="209550"/>
          </a:xfrm>
          <a:prstGeom prst="ellipse">
            <a:avLst/>
          </a:prstGeom>
          <a:solidFill>
            <a:srgbClr val="6551FF"/>
          </a:solidFill>
          <a:ln w="22860" cap="flat">
            <a:solidFill>
              <a:srgbClr val="FFFFFF"/>
            </a:solidFill>
            <a:miter lim="800000"/>
          </a:ln>
        </p:spPr>
      </p:sp>
      <p:sp>
        <p:nvSpPr>
          <p:cNvPr id="28" name="dg rect"/>
          <p:cNvSpPr/>
          <p:nvPr/>
        </p:nvSpPr>
        <p:spPr>
          <a:xfrm>
            <a:off x="5623560" y="1419225"/>
            <a:ext cx="944880" cy="247650"/>
          </a:xfrm>
          <a:prstGeom prst="roundRect">
            <a:avLst>
              <a:gd name="adj" fmla="val 50000"/>
            </a:avLst>
          </a:prstGeom>
          <a:solidFill>
            <a:srgbClr val="6551FF"/>
          </a:solidFill>
          <a:ln>
            <a:noFill/>
          </a:ln>
        </p:spPr>
      </p:sp>
      <p:sp>
        <p:nvSpPr>
          <p:cNvPr id="29" name="Text SWEET SPOT"/>
          <p:cNvSpPr txBox="1"/>
          <p:nvPr/>
        </p:nvSpPr>
        <p:spPr>
          <a:xfrm>
            <a:off x="5629126" y="1488949"/>
            <a:ext cx="933748" cy="142875"/>
          </a:xfrm>
          <a:prstGeom prst="rect">
            <a:avLst/>
          </a:prstGeom>
          <a:noFill/>
          <a:ln/>
        </p:spPr>
        <p:txBody>
          <a:bodyPr wrap="none" lIns="0" tIns="0" rIns="0" bIns="0" rtlCol="0" anchor="ctr"/>
          <a:lstStyle/>
          <a:p>
            <a:pPr algn="ctr" indent="0" marL="0">
              <a:buNone/>
            </a:pPr>
            <a:r>
              <a:rPr lang="en-US" sz="900" b="1" spc="150" kern="0" dirty="0">
                <a:solidFill>
                  <a:srgbClr val="FFFFFF"/>
                </a:solidFill>
                <a:latin typeface="Scotia" pitchFamily="34" charset="0"/>
                <a:ea typeface="Scotia" pitchFamily="34" charset="-122"/>
                <a:cs typeface="Scotia" pitchFamily="34" charset="-120"/>
              </a:rPr>
              <a:t>SWEET SPOT</a:t>
            </a:r>
            <a:endParaRPr lang="en-US" sz="900" dirty="0"/>
          </a:p>
        </p:txBody>
      </p:sp>
      <p:sp>
        <p:nvSpPr>
          <p:cNvPr id="30" name="dg rect"/>
          <p:cNvSpPr/>
          <p:nvPr/>
        </p:nvSpPr>
        <p:spPr>
          <a:xfrm>
            <a:off x="4210050" y="4438650"/>
            <a:ext cx="3771900" cy="1466850"/>
          </a:xfrm>
          <a:prstGeom prst="roundRect">
            <a:avLst>
              <a:gd name="adj" fmla="val 16883"/>
            </a:avLst>
          </a:prstGeom>
          <a:solidFill>
            <a:srgbClr val="6551FF">
              <a:alpha val="16000"/>
            </a:srgbClr>
          </a:solidFill>
          <a:ln>
            <a:noFill/>
          </a:ln>
        </p:spPr>
      </p:sp>
      <p:sp>
        <p:nvSpPr>
          <p:cNvPr id="31" name="dg rect"/>
          <p:cNvSpPr/>
          <p:nvPr/>
        </p:nvSpPr>
        <p:spPr>
          <a:xfrm>
            <a:off x="4267200" y="4495800"/>
            <a:ext cx="3657600" cy="1352550"/>
          </a:xfrm>
          <a:prstGeom prst="roundRect">
            <a:avLst>
              <a:gd name="adj" fmla="val 14085"/>
            </a:avLst>
          </a:prstGeom>
          <a:gradFill rotWithShape="1">
            <a:gsLst>
              <a:gs pos="0">
                <a:srgbClr val="1A1550"/>
              </a:gs>
              <a:gs pos="100000">
                <a:srgbClr val="120E36"/>
              </a:gs>
            </a:gsLst>
            <a:lin ang="5400000" scaled="1"/>
          </a:gradFill>
          <a:ln w="19050" cap="flat">
            <a:solidFill>
              <a:srgbClr val="6551FF"/>
            </a:solidFill>
            <a:miter lim="800000"/>
          </a:ln>
        </p:spPr>
      </p:sp>
      <p:sp>
        <p:nvSpPr>
          <p:cNvPr id="32" name="Text JUST ENOUGH"/>
          <p:cNvSpPr txBox="1"/>
          <p:nvPr/>
        </p:nvSpPr>
        <p:spPr>
          <a:xfrm>
            <a:off x="4495800" y="4714875"/>
            <a:ext cx="1037779"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JUST ENOUGH</a:t>
            </a:r>
            <a:endParaRPr lang="en-US" sz="863" dirty="0"/>
          </a:p>
        </p:txBody>
      </p:sp>
      <p:sp>
        <p:nvSpPr>
          <p:cNvPr id="33" name="Text It nails it."/>
          <p:cNvSpPr txBox="1"/>
          <p:nvPr/>
        </p:nvSpPr>
        <p:spPr>
          <a:xfrm>
            <a:off x="4495800" y="4953000"/>
            <a:ext cx="1236762" cy="342900"/>
          </a:xfrm>
          <a:prstGeom prst="rect">
            <a:avLst/>
          </a:prstGeom>
          <a:noFill/>
          <a:ln/>
        </p:spPr>
        <p:txBody>
          <a:bodyPr wrap="none" lIns="0" tIns="0" rIns="0" bIns="0" rtlCol="0" anchor="ctr"/>
          <a:lstStyle/>
          <a:p>
            <a:pPr algn="l" indent="0" marL="0">
              <a:buNone/>
            </a:pPr>
            <a:r>
              <a:rPr lang="en-US" sz="2250" b="1" dirty="0">
                <a:solidFill>
                  <a:srgbClr val="FFFFFF"/>
                </a:solidFill>
                <a:latin typeface="Scotia" pitchFamily="34" charset="0"/>
                <a:ea typeface="Scotia" pitchFamily="34" charset="-122"/>
                <a:cs typeface="Scotia" pitchFamily="34" charset="-120"/>
              </a:rPr>
              <a:t>It nails it.</a:t>
            </a:r>
            <a:endParaRPr lang="en-US" sz="2250" dirty="0"/>
          </a:p>
        </p:txBody>
      </p:sp>
      <p:sp>
        <p:nvSpPr>
          <p:cNvPr id="34" name="Text The model sees what the task n"/>
          <p:cNvSpPr txBox="1"/>
          <p:nvPr/>
        </p:nvSpPr>
        <p:spPr>
          <a:xfrm>
            <a:off x="4495800" y="5324475"/>
            <a:ext cx="2500610"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The model sees what the task needs,</a:t>
            </a:r>
            <a:endParaRPr lang="en-US" sz="1163" dirty="0"/>
          </a:p>
        </p:txBody>
      </p:sp>
      <p:sp>
        <p:nvSpPr>
          <p:cNvPr id="35" name="Text and little else."/>
          <p:cNvSpPr txBox="1"/>
          <p:nvPr/>
        </p:nvSpPr>
        <p:spPr>
          <a:xfrm>
            <a:off x="4495800" y="5524500"/>
            <a:ext cx="989112"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and little else.</a:t>
            </a:r>
            <a:endParaRPr lang="en-US" sz="1163" dirty="0"/>
          </a:p>
        </p:txBody>
      </p:sp>
      <p:sp>
        <p:nvSpPr>
          <p:cNvPr id="36" name="Text Investigating: Capability Is a"/>
          <p:cNvSpPr txBox="1"/>
          <p:nvPr/>
        </p:nvSpPr>
        <p:spPr>
          <a:xfrm>
            <a:off x="400050" y="475926"/>
            <a:ext cx="8421588"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Investigating: Capability Is a Context Problem</a:t>
            </a:r>
            <a:endParaRPr lang="en-US" sz="3067" dirty="0"/>
          </a:p>
        </p:txBody>
      </p:sp>
      <p:sp>
        <p:nvSpPr>
          <p:cNvPr id="37" name="Text What goes in shapes what comes"/>
          <p:cNvSpPr txBox="1"/>
          <p:nvPr/>
        </p:nvSpPr>
        <p:spPr>
          <a:xfrm>
            <a:off x="400050" y="1025625"/>
            <a:ext cx="3242667"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What goes in shapes what comes out.</a:t>
            </a:r>
            <a:endParaRPr lang="en-US" sz="1467" dirty="0"/>
          </a:p>
        </p:txBody>
      </p:sp>
      <p:sp>
        <p:nvSpPr>
          <p:cNvPr id="38"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39" name="Text 3"/>
          <p:cNvSpPr txBox="1"/>
          <p:nvPr/>
        </p:nvSpPr>
        <p:spPr>
          <a:xfrm>
            <a:off x="11670357" y="6306483"/>
            <a:ext cx="112068"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823"/>
        </a:solidFill>
      </p:bgPr>
    </p:bg>
    <p:spTree>
      <p:nvGrpSpPr>
        <p:cNvPr id="1" name=""/>
        <p:cNvGrpSpPr/>
        <p:nvPr/>
      </p:nvGrpSpPr>
      <p:grpSpPr>
        <a:xfrm>
          <a:off x="0" y="0"/>
          <a:ext cx="0" cy="0"/>
          <a:chOff x="0" y="0"/>
          <a:chExt cx="0" cy="0"/>
        </a:xfrm>
      </p:grpSpPr>
      <p:sp>
        <p:nvSpPr>
          <p:cNvPr id="2" name="Text Agentic Patterns For:"/>
          <p:cNvSpPr txBox="1"/>
          <p:nvPr/>
        </p:nvSpPr>
        <p:spPr>
          <a:xfrm>
            <a:off x="400050" y="475926"/>
            <a:ext cx="3861643"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Agentic Patterns For:</a:t>
            </a:r>
            <a:endParaRPr lang="en-US" sz="3067" dirty="0"/>
          </a:p>
        </p:txBody>
      </p:sp>
      <p:sp>
        <p:nvSpPr>
          <p:cNvPr id="3" name="dg path"/>
          <p:cNvSpPr/>
          <p:nvPr/>
        </p:nvSpPr>
        <p:spPr>
          <a:xfrm>
            <a:off x="5153025" y="1812131"/>
            <a:ext cx="171450" cy="428625"/>
          </a:xfrm>
          <a:custGeom>
            <a:avLst/>
            <a:gdLst/>
            <a:ahLst/>
            <a:cxnLst/>
            <a:rect l="l" t="t" r="r" b="b"/>
            <a:pathLst>
              <a:path w="171450" h="428625">
                <a:moveTo>
                  <a:pt x="85725" y="428625"/>
                </a:moveTo>
                <a:cubicBezTo>
                  <a:pt x="0" y="378619"/>
                  <a:pt x="171450" y="335756"/>
                  <a:pt x="85725" y="285750"/>
                </a:cubicBezTo>
                <a:cubicBezTo>
                  <a:pt x="0" y="235744"/>
                  <a:pt x="171450" y="192881"/>
                  <a:pt x="85725" y="142875"/>
                </a:cubicBezTo>
                <a:cubicBezTo>
                  <a:pt x="0" y="92869"/>
                  <a:pt x="171450" y="50006"/>
                  <a:pt x="85725" y="0"/>
                </a:cubicBezTo>
              </a:path>
            </a:pathLst>
          </a:custGeom>
          <a:noFill/>
          <a:ln w="21431" cap="rnd">
            <a:solidFill>
              <a:srgbClr val="7FE0AA">
                <a:alpha val="55000"/>
              </a:srgbClr>
            </a:solidFill>
            <a:miter lim="800000"/>
          </a:ln>
        </p:spPr>
      </p:sp>
      <p:sp>
        <p:nvSpPr>
          <p:cNvPr id="4" name="dg path"/>
          <p:cNvSpPr/>
          <p:nvPr/>
        </p:nvSpPr>
        <p:spPr>
          <a:xfrm>
            <a:off x="6010275" y="1554956"/>
            <a:ext cx="171450" cy="471488"/>
          </a:xfrm>
          <a:custGeom>
            <a:avLst/>
            <a:gdLst/>
            <a:ahLst/>
            <a:cxnLst/>
            <a:rect l="l" t="t" r="r" b="b"/>
            <a:pathLst>
              <a:path w="171450" h="471488">
                <a:moveTo>
                  <a:pt x="85725" y="471488"/>
                </a:moveTo>
                <a:cubicBezTo>
                  <a:pt x="171450" y="421481"/>
                  <a:pt x="0" y="364331"/>
                  <a:pt x="85725" y="314325"/>
                </a:cubicBezTo>
                <a:cubicBezTo>
                  <a:pt x="171450" y="264319"/>
                  <a:pt x="0" y="207169"/>
                  <a:pt x="85725" y="157163"/>
                </a:cubicBezTo>
                <a:cubicBezTo>
                  <a:pt x="171450" y="107156"/>
                  <a:pt x="0" y="50006"/>
                  <a:pt x="85725" y="0"/>
                </a:cubicBezTo>
              </a:path>
            </a:pathLst>
          </a:custGeom>
          <a:noFill/>
          <a:ln w="21431" cap="rnd">
            <a:solidFill>
              <a:srgbClr val="7FE0AA">
                <a:alpha val="55000"/>
              </a:srgbClr>
            </a:solidFill>
            <a:miter lim="800000"/>
          </a:ln>
        </p:spPr>
      </p:sp>
      <p:sp>
        <p:nvSpPr>
          <p:cNvPr id="5" name="dg path"/>
          <p:cNvSpPr/>
          <p:nvPr/>
        </p:nvSpPr>
        <p:spPr>
          <a:xfrm>
            <a:off x="6867525" y="1583531"/>
            <a:ext cx="171450" cy="414338"/>
          </a:xfrm>
          <a:custGeom>
            <a:avLst/>
            <a:gdLst/>
            <a:ahLst/>
            <a:cxnLst/>
            <a:rect l="l" t="t" r="r" b="b"/>
            <a:pathLst>
              <a:path w="171450" h="414338">
                <a:moveTo>
                  <a:pt x="85725" y="414338"/>
                </a:moveTo>
                <a:cubicBezTo>
                  <a:pt x="0" y="371475"/>
                  <a:pt x="171450" y="321469"/>
                  <a:pt x="85725" y="278606"/>
                </a:cubicBezTo>
                <a:cubicBezTo>
                  <a:pt x="0" y="228600"/>
                  <a:pt x="171450" y="185738"/>
                  <a:pt x="85725" y="135731"/>
                </a:cubicBezTo>
                <a:cubicBezTo>
                  <a:pt x="0" y="92869"/>
                  <a:pt x="171450" y="42863"/>
                  <a:pt x="85725" y="0"/>
                </a:cubicBezTo>
              </a:path>
            </a:pathLst>
          </a:custGeom>
          <a:noFill/>
          <a:ln w="21431" cap="rnd">
            <a:solidFill>
              <a:srgbClr val="7FE0AA">
                <a:alpha val="55000"/>
              </a:srgbClr>
            </a:solidFill>
            <a:miter lim="800000"/>
          </a:ln>
        </p:spPr>
      </p:sp>
      <p:sp>
        <p:nvSpPr>
          <p:cNvPr id="6" name="dg rect"/>
          <p:cNvSpPr/>
          <p:nvPr/>
        </p:nvSpPr>
        <p:spPr>
          <a:xfrm>
            <a:off x="4881563" y="2440781"/>
            <a:ext cx="2428875" cy="1357313"/>
          </a:xfrm>
          <a:prstGeom prst="roundRect">
            <a:avLst>
              <a:gd name="adj" fmla="val 7368"/>
            </a:avLst>
          </a:prstGeom>
          <a:gradFill rotWithShape="1">
            <a:gsLst>
              <a:gs pos="0">
                <a:srgbClr val="2A2280"/>
              </a:gs>
              <a:gs pos="100000">
                <a:srgbClr val="1D1757"/>
              </a:gs>
            </a:gsLst>
            <a:lin ang="5400000" scaled="1"/>
          </a:gradFill>
          <a:ln w="14288" cap="flat">
            <a:solidFill>
              <a:srgbClr val="B0AAFF"/>
            </a:solidFill>
            <a:miter lim="800000"/>
          </a:ln>
        </p:spPr>
      </p:sp>
      <p:sp>
        <p:nvSpPr>
          <p:cNvPr id="7" name="dg polygon"/>
          <p:cNvSpPr/>
          <p:nvPr/>
        </p:nvSpPr>
        <p:spPr>
          <a:xfrm>
            <a:off x="7081838" y="2440781"/>
            <a:ext cx="228600" cy="228600"/>
          </a:xfrm>
          <a:custGeom>
            <a:avLst/>
            <a:gdLst/>
            <a:ahLst/>
            <a:cxnLst/>
            <a:rect l="l" t="t" r="r" b="b"/>
            <a:pathLst>
              <a:path w="228600" h="228600">
                <a:moveTo>
                  <a:pt x="0" y="0"/>
                </a:moveTo>
                <a:lnTo>
                  <a:pt x="228600" y="0"/>
                </a:lnTo>
                <a:lnTo>
                  <a:pt x="228600" y="228600"/>
                </a:lnTo>
                <a:close/>
              </a:path>
            </a:pathLst>
          </a:custGeom>
          <a:solidFill>
            <a:srgbClr val="3B3392"/>
          </a:solidFill>
          <a:ln>
            <a:noFill/>
          </a:ln>
        </p:spPr>
      </p:sp>
      <p:sp>
        <p:nvSpPr>
          <p:cNvPr id="8" name="dg path"/>
          <p:cNvSpPr/>
          <p:nvPr/>
        </p:nvSpPr>
        <p:spPr>
          <a:xfrm>
            <a:off x="5238750" y="2455069"/>
            <a:ext cx="200025" cy="985838"/>
          </a:xfrm>
          <a:custGeom>
            <a:avLst/>
            <a:gdLst/>
            <a:ahLst/>
            <a:cxnLst/>
            <a:rect l="l" t="t" r="r" b="b"/>
            <a:pathLst>
              <a:path w="200025" h="985838">
                <a:moveTo>
                  <a:pt x="0" y="0"/>
                </a:moveTo>
                <a:lnTo>
                  <a:pt x="200025" y="414338"/>
                </a:lnTo>
                <a:lnTo>
                  <a:pt x="71438" y="985838"/>
                </a:lnTo>
              </a:path>
            </a:pathLst>
          </a:custGeom>
          <a:noFill/>
          <a:ln w="10716" cap="flat">
            <a:solidFill>
              <a:srgbClr val="B0AAFF">
                <a:alpha val="22000"/>
              </a:srgbClr>
            </a:solidFill>
            <a:miter lim="800000"/>
          </a:ln>
        </p:spPr>
      </p:sp>
      <p:sp>
        <p:nvSpPr>
          <p:cNvPr id="9" name="dg path"/>
          <p:cNvSpPr/>
          <p:nvPr/>
        </p:nvSpPr>
        <p:spPr>
          <a:xfrm>
            <a:off x="6824663" y="2455069"/>
            <a:ext cx="200025" cy="957263"/>
          </a:xfrm>
          <a:custGeom>
            <a:avLst/>
            <a:gdLst/>
            <a:ahLst/>
            <a:cxnLst/>
            <a:rect l="l" t="t" r="r" b="b"/>
            <a:pathLst>
              <a:path w="200025" h="957263">
                <a:moveTo>
                  <a:pt x="142875" y="0"/>
                </a:moveTo>
                <a:lnTo>
                  <a:pt x="0" y="314325"/>
                </a:lnTo>
                <a:lnTo>
                  <a:pt x="200025" y="957263"/>
                </a:lnTo>
              </a:path>
            </a:pathLst>
          </a:custGeom>
          <a:noFill/>
          <a:ln w="10716" cap="flat">
            <a:solidFill>
              <a:srgbClr val="B0AAFF">
                <a:alpha val="22000"/>
              </a:srgbClr>
            </a:solidFill>
            <a:miter lim="800000"/>
          </a:ln>
        </p:spPr>
      </p:sp>
      <p:sp>
        <p:nvSpPr>
          <p:cNvPr id="10" name="Text Context rot"/>
          <p:cNvSpPr txBox="1"/>
          <p:nvPr/>
        </p:nvSpPr>
        <p:spPr>
          <a:xfrm>
            <a:off x="5022093" y="2855119"/>
            <a:ext cx="2147813" cy="485775"/>
          </a:xfrm>
          <a:prstGeom prst="rect">
            <a:avLst/>
          </a:prstGeom>
          <a:noFill/>
          <a:ln/>
        </p:spPr>
        <p:txBody>
          <a:bodyPr wrap="none" lIns="0" tIns="0" rIns="0" bIns="0" rtlCol="0" anchor="ctr"/>
          <a:lstStyle/>
          <a:p>
            <a:pPr algn="ctr" indent="0" marL="0">
              <a:buNone/>
            </a:pPr>
            <a:r>
              <a:rPr lang="en-US" sz="3150" dirty="0">
                <a:solidFill>
                  <a:srgbClr val="FFFFFF"/>
                </a:solidFill>
                <a:latin typeface="Scotia Headline" pitchFamily="34" charset="0"/>
                <a:ea typeface="Scotia Headline" pitchFamily="34" charset="-122"/>
                <a:cs typeface="Scotia Headline" pitchFamily="34" charset="-120"/>
              </a:rPr>
              <a:t>Context rot</a:t>
            </a:r>
            <a:endParaRPr lang="en-US" sz="3150" dirty="0"/>
          </a:p>
        </p:txBody>
      </p:sp>
      <p:sp>
        <p:nvSpPr>
          <p:cNvPr id="11" name="dg rect"/>
          <p:cNvSpPr/>
          <p:nvPr/>
        </p:nvSpPr>
        <p:spPr>
          <a:xfrm>
            <a:off x="4565772" y="2044605"/>
            <a:ext cx="3060455" cy="535177"/>
          </a:xfrm>
          <a:custGeom>
            <a:avLst/>
            <a:gdLst/>
            <a:ahLst/>
            <a:cxnLst/>
            <a:rect l="l" t="t" r="r" b="b"/>
            <a:pathLst>
              <a:path w="3060455" h="535177">
                <a:moveTo>
                  <a:pt x="80409" y="359235"/>
                </a:moveTo>
                <a:lnTo>
                  <a:pt x="2959152" y="5770"/>
                </a:lnTo>
                <a:cubicBezTo>
                  <a:pt x="3006144" y="0"/>
                  <a:pt x="3048916" y="33417"/>
                  <a:pt x="3054686" y="80409"/>
                </a:cubicBezTo>
                <a:lnTo>
                  <a:pt x="3054686" y="80409"/>
                </a:lnTo>
                <a:cubicBezTo>
                  <a:pt x="3060455" y="127400"/>
                  <a:pt x="3027038" y="170172"/>
                  <a:pt x="2980047" y="175942"/>
                </a:cubicBezTo>
                <a:lnTo>
                  <a:pt x="101303" y="529407"/>
                </a:lnTo>
                <a:cubicBezTo>
                  <a:pt x="54311" y="535177"/>
                  <a:pt x="11540" y="501760"/>
                  <a:pt x="5770" y="454768"/>
                </a:cubicBezTo>
                <a:lnTo>
                  <a:pt x="5770" y="454768"/>
                </a:lnTo>
                <a:cubicBezTo>
                  <a:pt x="0" y="407777"/>
                  <a:pt x="33417" y="365005"/>
                  <a:pt x="80409" y="359235"/>
                </a:cubicBezTo>
                <a:close/>
              </a:path>
            </a:pathLst>
          </a:custGeom>
          <a:solidFill>
            <a:srgbClr val="241C6E"/>
          </a:solidFill>
          <a:ln w="14288" cap="flat">
            <a:solidFill>
              <a:srgbClr val="8070FF"/>
            </a:solidFill>
            <a:miter lim="800000"/>
          </a:ln>
        </p:spPr>
      </p:sp>
      <p:sp>
        <p:nvSpPr>
          <p:cNvPr id="12" name="dg rect"/>
          <p:cNvSpPr/>
          <p:nvPr/>
        </p:nvSpPr>
        <p:spPr>
          <a:xfrm>
            <a:off x="5832313" y="2073386"/>
            <a:ext cx="490809" cy="179814"/>
          </a:xfrm>
          <a:custGeom>
            <a:avLst/>
            <a:gdLst/>
            <a:ahLst/>
            <a:cxnLst/>
            <a:rect l="l" t="t" r="r" b="b"/>
            <a:pathLst>
              <a:path w="490809" h="179814">
                <a:moveTo>
                  <a:pt x="60306" y="47858"/>
                </a:moveTo>
                <a:lnTo>
                  <a:pt x="414832" y="4327"/>
                </a:lnTo>
                <a:cubicBezTo>
                  <a:pt x="450075" y="0"/>
                  <a:pt x="482154" y="25063"/>
                  <a:pt x="486481" y="60306"/>
                </a:cubicBezTo>
                <a:lnTo>
                  <a:pt x="486481" y="60306"/>
                </a:lnTo>
                <a:cubicBezTo>
                  <a:pt x="490809" y="95550"/>
                  <a:pt x="465746" y="127629"/>
                  <a:pt x="430502" y="131956"/>
                </a:cubicBezTo>
                <a:lnTo>
                  <a:pt x="75977" y="175487"/>
                </a:lnTo>
                <a:cubicBezTo>
                  <a:pt x="40734" y="179814"/>
                  <a:pt x="8655" y="154751"/>
                  <a:pt x="4327" y="119508"/>
                </a:cubicBezTo>
                <a:lnTo>
                  <a:pt x="4327" y="119508"/>
                </a:lnTo>
                <a:cubicBezTo>
                  <a:pt x="0" y="84264"/>
                  <a:pt x="25063" y="52185"/>
                  <a:pt x="60306" y="47858"/>
                </a:cubicBezTo>
                <a:close/>
              </a:path>
            </a:pathLst>
          </a:custGeom>
          <a:noFill/>
          <a:ln w="14288" cap="flat">
            <a:solidFill>
              <a:srgbClr val="8070FF"/>
            </a:solidFill>
            <a:miter lim="800000"/>
          </a:ln>
        </p:spPr>
      </p:sp>
      <p:sp>
        <p:nvSpPr>
          <p:cNvPr id="13" name="dg rect"/>
          <p:cNvSpPr/>
          <p:nvPr/>
        </p:nvSpPr>
        <p:spPr>
          <a:xfrm>
            <a:off x="4560094" y="3440906"/>
            <a:ext cx="3071813" cy="185738"/>
          </a:xfrm>
          <a:prstGeom prst="roundRect">
            <a:avLst>
              <a:gd name="adj" fmla="val 46154"/>
            </a:avLst>
          </a:prstGeom>
          <a:solidFill>
            <a:srgbClr val="241C6E"/>
          </a:solidFill>
          <a:ln w="14288" cap="flat">
            <a:solidFill>
              <a:srgbClr val="8070FF"/>
            </a:solidFill>
            <a:miter lim="800000"/>
          </a:ln>
        </p:spPr>
      </p:sp>
      <p:sp>
        <p:nvSpPr>
          <p:cNvPr id="14" name="dg path"/>
          <p:cNvSpPr/>
          <p:nvPr/>
        </p:nvSpPr>
        <p:spPr>
          <a:xfrm>
            <a:off x="4702969" y="3640931"/>
            <a:ext cx="2786063" cy="2043113"/>
          </a:xfrm>
          <a:custGeom>
            <a:avLst/>
            <a:gdLst/>
            <a:ahLst/>
            <a:cxnLst/>
            <a:rect l="l" t="t" r="r" b="b"/>
            <a:pathLst>
              <a:path w="2786063" h="2043113">
                <a:moveTo>
                  <a:pt x="0" y="0"/>
                </a:moveTo>
                <a:lnTo>
                  <a:pt x="2786063" y="0"/>
                </a:lnTo>
                <a:lnTo>
                  <a:pt x="2593181" y="1928813"/>
                </a:lnTo>
                <a:cubicBezTo>
                  <a:pt x="2583656" y="2005013"/>
                  <a:pt x="2540794" y="2043113"/>
                  <a:pt x="2464594" y="2043113"/>
                </a:cubicBezTo>
                <a:lnTo>
                  <a:pt x="321469" y="2043113"/>
                </a:lnTo>
                <a:cubicBezTo>
                  <a:pt x="245269" y="2043113"/>
                  <a:pt x="202406" y="2005013"/>
                  <a:pt x="192881" y="1928813"/>
                </a:cubicBezTo>
                <a:close/>
              </a:path>
            </a:pathLst>
          </a:custGeom>
          <a:gradFill rotWithShape="1">
            <a:gsLst>
              <a:gs pos="0">
                <a:srgbClr val="221A66"/>
              </a:gs>
              <a:gs pos="100000">
                <a:srgbClr val="120E36"/>
              </a:gs>
            </a:gsLst>
            <a:lin ang="5400000" scaled="1"/>
          </a:gradFill>
          <a:ln w="17145" cap="flat">
            <a:solidFill>
              <a:srgbClr val="6551FF"/>
            </a:solidFill>
            <a:miter lim="800000"/>
          </a:ln>
        </p:spPr>
      </p:sp>
      <p:sp>
        <p:nvSpPr>
          <p:cNvPr id="15" name="dg path"/>
          <p:cNvSpPr/>
          <p:nvPr/>
        </p:nvSpPr>
        <p:spPr>
          <a:xfrm>
            <a:off x="5524500" y="3855244"/>
            <a:ext cx="85725" cy="1614488"/>
          </a:xfrm>
          <a:prstGeom prst="line">
            <a:avLst/>
          </a:prstGeom>
          <a:solidFill>
            <a:srgbClr val="000000"/>
          </a:solidFill>
          <a:ln w="57150" cap="rnd">
            <a:solidFill>
              <a:srgbClr val="B0AAFF">
                <a:alpha val="22000"/>
              </a:srgbClr>
            </a:solidFill>
            <a:miter lim="800000"/>
          </a:ln>
        </p:spPr>
      </p:sp>
      <p:sp>
        <p:nvSpPr>
          <p:cNvPr id="16" name="dg path"/>
          <p:cNvSpPr/>
          <p:nvPr/>
        </p:nvSpPr>
        <p:spPr>
          <a:xfrm>
            <a:off x="6096000" y="3855244"/>
            <a:ext cx="0" cy="1614488"/>
          </a:xfrm>
          <a:prstGeom prst="line">
            <a:avLst/>
          </a:prstGeom>
          <a:solidFill>
            <a:srgbClr val="000000"/>
          </a:solidFill>
          <a:ln w="57150" cap="rnd">
            <a:solidFill>
              <a:srgbClr val="B0AAFF">
                <a:alpha val="22000"/>
              </a:srgbClr>
            </a:solidFill>
            <a:miter lim="800000"/>
          </a:ln>
        </p:spPr>
      </p:sp>
      <p:sp>
        <p:nvSpPr>
          <p:cNvPr id="17" name="dg path"/>
          <p:cNvSpPr/>
          <p:nvPr/>
        </p:nvSpPr>
        <p:spPr>
          <a:xfrm flipH="1">
            <a:off x="6581775" y="3855244"/>
            <a:ext cx="85725" cy="1614488"/>
          </a:xfrm>
          <a:prstGeom prst="line">
            <a:avLst/>
          </a:prstGeom>
          <a:solidFill>
            <a:srgbClr val="000000"/>
          </a:solidFill>
          <a:ln w="57150" cap="rnd">
            <a:solidFill>
              <a:srgbClr val="B0AAFF">
                <a:alpha val="22000"/>
              </a:srgbClr>
            </a:solidFill>
            <a:miter lim="800000"/>
          </a:ln>
        </p:spPr>
      </p:sp>
      <p:sp>
        <p:nvSpPr>
          <p:cNvPr id="18" name="svg circle"/>
          <p:cNvSpPr/>
          <p:nvPr/>
        </p:nvSpPr>
        <p:spPr>
          <a:xfrm>
            <a:off x="8140700" y="3802380"/>
            <a:ext cx="1049655" cy="1049655"/>
          </a:xfrm>
          <a:prstGeom prst="ellipse">
            <a:avLst/>
          </a:prstGeom>
          <a:solidFill>
            <a:srgbClr val="05030F">
              <a:alpha val="35000"/>
            </a:srgbClr>
          </a:solidFill>
          <a:ln>
            <a:noFill/>
          </a:ln>
        </p:spPr>
      </p:sp>
      <p:sp>
        <p:nvSpPr>
          <p:cNvPr id="19" name="svg rect"/>
          <p:cNvSpPr/>
          <p:nvPr/>
        </p:nvSpPr>
        <p:spPr>
          <a:xfrm>
            <a:off x="8109090" y="4527004"/>
            <a:ext cx="296751" cy="371071"/>
          </a:xfrm>
          <a:prstGeom prst="roundRect">
            <a:avLst>
              <a:gd name="adj" fmla="val 48300"/>
            </a:avLst>
          </a:prstGeom>
          <a:solidFill>
            <a:srgbClr val="05030F">
              <a:alpha val="35000"/>
            </a:srgbClr>
          </a:solidFill>
          <a:ln>
            <a:noFill/>
          </a:ln>
        </p:spPr>
      </p:sp>
      <p:sp>
        <p:nvSpPr>
          <p:cNvPr id="20" name="svg path"/>
          <p:cNvSpPr/>
          <p:nvPr/>
        </p:nvSpPr>
        <p:spPr>
          <a:xfrm flipV="1">
            <a:off x="8236496" y="4378363"/>
            <a:ext cx="31852" cy="286664"/>
          </a:xfrm>
          <a:prstGeom prst="line">
            <a:avLst/>
          </a:prstGeom>
          <a:noFill/>
          <a:ln w="190579" cap="rnd">
            <a:solidFill>
              <a:srgbClr val="05030F">
                <a:alpha val="35000"/>
              </a:srgbClr>
            </a:solidFill>
            <a:miter lim="800000"/>
          </a:ln>
        </p:spPr>
      </p:sp>
      <p:sp>
        <p:nvSpPr>
          <p:cNvPr id="21" name="svg rect"/>
          <p:cNvSpPr/>
          <p:nvPr/>
        </p:nvSpPr>
        <p:spPr>
          <a:xfrm>
            <a:off x="8225879" y="4580090"/>
            <a:ext cx="328602" cy="158727"/>
          </a:xfrm>
          <a:prstGeom prst="roundRect">
            <a:avLst>
              <a:gd name="adj" fmla="val 50000"/>
            </a:avLst>
          </a:prstGeom>
          <a:solidFill>
            <a:srgbClr val="05030F">
              <a:alpha val="35000"/>
            </a:srgbClr>
          </a:solidFill>
          <a:ln>
            <a:noFill/>
          </a:ln>
        </p:spPr>
      </p:sp>
      <p:sp>
        <p:nvSpPr>
          <p:cNvPr id="22" name="svg rect"/>
          <p:cNvSpPr/>
          <p:nvPr/>
        </p:nvSpPr>
        <p:spPr>
          <a:xfrm>
            <a:off x="8225879" y="4654410"/>
            <a:ext cx="307368" cy="158727"/>
          </a:xfrm>
          <a:prstGeom prst="roundRect">
            <a:avLst>
              <a:gd name="adj" fmla="val 50000"/>
            </a:avLst>
          </a:prstGeom>
          <a:solidFill>
            <a:srgbClr val="05030F">
              <a:alpha val="35000"/>
            </a:srgbClr>
          </a:solidFill>
          <a:ln>
            <a:noFill/>
          </a:ln>
        </p:spPr>
      </p:sp>
      <p:sp>
        <p:nvSpPr>
          <p:cNvPr id="23" name="svg rect"/>
          <p:cNvSpPr/>
          <p:nvPr/>
        </p:nvSpPr>
        <p:spPr>
          <a:xfrm>
            <a:off x="8236496" y="4728731"/>
            <a:ext cx="275516" cy="158727"/>
          </a:xfrm>
          <a:prstGeom prst="roundRect">
            <a:avLst>
              <a:gd name="adj" fmla="val 50000"/>
            </a:avLst>
          </a:prstGeom>
          <a:solidFill>
            <a:srgbClr val="05030F">
              <a:alpha val="35000"/>
            </a:srgbClr>
          </a:solidFill>
          <a:ln>
            <a:noFill/>
          </a:ln>
        </p:spPr>
      </p:sp>
      <p:sp>
        <p:nvSpPr>
          <p:cNvPr id="24" name="svg path"/>
          <p:cNvSpPr/>
          <p:nvPr/>
        </p:nvSpPr>
        <p:spPr>
          <a:xfrm>
            <a:off x="8200883" y="4436758"/>
            <a:ext cx="493716" cy="214731"/>
          </a:xfrm>
          <a:custGeom>
            <a:avLst/>
            <a:gdLst/>
            <a:ahLst/>
            <a:cxnLst/>
            <a:rect l="l" t="t" r="r" b="b"/>
            <a:pathLst>
              <a:path w="493716" h="214731">
                <a:moveTo>
                  <a:pt x="78082" y="30259"/>
                </a:moveTo>
                <a:cubicBezTo>
                  <a:pt x="191686" y="2123"/>
                  <a:pt x="308475" y="0"/>
                  <a:pt x="409338" y="11148"/>
                </a:cubicBezTo>
                <a:cubicBezTo>
                  <a:pt x="449264" y="7933"/>
                  <a:pt x="484556" y="36938"/>
                  <a:pt x="489136" y="76730"/>
                </a:cubicBezTo>
                <a:cubicBezTo>
                  <a:pt x="493716" y="116522"/>
                  <a:pt x="465938" y="152786"/>
                  <a:pt x="426326" y="158727"/>
                </a:cubicBezTo>
                <a:cubicBezTo>
                  <a:pt x="327055" y="164567"/>
                  <a:pt x="212389" y="182085"/>
                  <a:pt x="99316" y="213937"/>
                </a:cubicBezTo>
                <a:cubicBezTo>
                  <a:pt x="51553" y="214731"/>
                  <a:pt x="10972" y="179172"/>
                  <a:pt x="5486" y="131718"/>
                </a:cubicBezTo>
                <a:cubicBezTo>
                  <a:pt x="0" y="84264"/>
                  <a:pt x="31397" y="40384"/>
                  <a:pt x="78082" y="30259"/>
                </a:cubicBezTo>
                <a:close/>
              </a:path>
            </a:pathLst>
          </a:custGeom>
          <a:solidFill>
            <a:srgbClr val="05030F">
              <a:alpha val="35000"/>
            </a:srgbClr>
          </a:solidFill>
          <a:ln>
            <a:noFill/>
          </a:ln>
        </p:spPr>
      </p:sp>
      <p:sp>
        <p:nvSpPr>
          <p:cNvPr id="25" name="svg circle"/>
          <p:cNvSpPr/>
          <p:nvPr/>
        </p:nvSpPr>
        <p:spPr>
          <a:xfrm>
            <a:off x="8116570" y="3760152"/>
            <a:ext cx="1049655" cy="1049655"/>
          </a:xfrm>
          <a:prstGeom prst="ellipse">
            <a:avLst/>
          </a:prstGeom>
          <a:solidFill>
            <a:srgbClr val="E0DCFF"/>
          </a:solidFill>
          <a:ln>
            <a:noFill/>
          </a:ln>
        </p:spPr>
      </p:sp>
      <p:sp>
        <p:nvSpPr>
          <p:cNvPr id="26" name="svg rect"/>
          <p:cNvSpPr/>
          <p:nvPr/>
        </p:nvSpPr>
        <p:spPr>
          <a:xfrm>
            <a:off x="8084960" y="4484776"/>
            <a:ext cx="296751" cy="371071"/>
          </a:xfrm>
          <a:prstGeom prst="roundRect">
            <a:avLst>
              <a:gd name="adj" fmla="val 48300"/>
            </a:avLst>
          </a:prstGeom>
          <a:solidFill>
            <a:srgbClr val="E0DCFF"/>
          </a:solidFill>
          <a:ln>
            <a:noFill/>
          </a:ln>
        </p:spPr>
      </p:sp>
      <p:sp>
        <p:nvSpPr>
          <p:cNvPr id="27" name="svg path"/>
          <p:cNvSpPr/>
          <p:nvPr/>
        </p:nvSpPr>
        <p:spPr>
          <a:xfrm flipV="1">
            <a:off x="8212366" y="4336136"/>
            <a:ext cx="31852" cy="286664"/>
          </a:xfrm>
          <a:prstGeom prst="line">
            <a:avLst/>
          </a:prstGeom>
          <a:noFill/>
          <a:ln w="190579" cap="rnd">
            <a:solidFill>
              <a:srgbClr val="E0DCFF"/>
            </a:solidFill>
            <a:miter lim="800000"/>
          </a:ln>
        </p:spPr>
      </p:sp>
      <p:sp>
        <p:nvSpPr>
          <p:cNvPr id="28" name="svg rect"/>
          <p:cNvSpPr/>
          <p:nvPr/>
        </p:nvSpPr>
        <p:spPr>
          <a:xfrm>
            <a:off x="8201749" y="4537862"/>
            <a:ext cx="328602" cy="158727"/>
          </a:xfrm>
          <a:prstGeom prst="roundRect">
            <a:avLst>
              <a:gd name="adj" fmla="val 50000"/>
            </a:avLst>
          </a:prstGeom>
          <a:solidFill>
            <a:srgbClr val="E0DCFF"/>
          </a:solidFill>
          <a:ln>
            <a:noFill/>
          </a:ln>
        </p:spPr>
      </p:sp>
      <p:sp>
        <p:nvSpPr>
          <p:cNvPr id="29" name="svg rect"/>
          <p:cNvSpPr/>
          <p:nvPr/>
        </p:nvSpPr>
        <p:spPr>
          <a:xfrm>
            <a:off x="8201749" y="4612183"/>
            <a:ext cx="307368" cy="158727"/>
          </a:xfrm>
          <a:prstGeom prst="roundRect">
            <a:avLst>
              <a:gd name="adj" fmla="val 50000"/>
            </a:avLst>
          </a:prstGeom>
          <a:solidFill>
            <a:srgbClr val="E0DCFF"/>
          </a:solidFill>
          <a:ln>
            <a:noFill/>
          </a:ln>
        </p:spPr>
      </p:sp>
      <p:sp>
        <p:nvSpPr>
          <p:cNvPr id="30" name="svg rect"/>
          <p:cNvSpPr/>
          <p:nvPr/>
        </p:nvSpPr>
        <p:spPr>
          <a:xfrm>
            <a:off x="8212366" y="4686503"/>
            <a:ext cx="275516" cy="158727"/>
          </a:xfrm>
          <a:prstGeom prst="roundRect">
            <a:avLst>
              <a:gd name="adj" fmla="val 50000"/>
            </a:avLst>
          </a:prstGeom>
          <a:solidFill>
            <a:srgbClr val="E0DCFF"/>
          </a:solidFill>
          <a:ln>
            <a:noFill/>
          </a:ln>
        </p:spPr>
      </p:sp>
      <p:sp>
        <p:nvSpPr>
          <p:cNvPr id="31" name="svg path"/>
          <p:cNvSpPr/>
          <p:nvPr/>
        </p:nvSpPr>
        <p:spPr>
          <a:xfrm>
            <a:off x="8176753" y="4394530"/>
            <a:ext cx="493716" cy="214731"/>
          </a:xfrm>
          <a:custGeom>
            <a:avLst/>
            <a:gdLst/>
            <a:ahLst/>
            <a:cxnLst/>
            <a:rect l="l" t="t" r="r" b="b"/>
            <a:pathLst>
              <a:path w="493716" h="214731">
                <a:moveTo>
                  <a:pt x="78082" y="30259"/>
                </a:moveTo>
                <a:cubicBezTo>
                  <a:pt x="191686" y="2123"/>
                  <a:pt x="308475" y="0"/>
                  <a:pt x="409338" y="11148"/>
                </a:cubicBezTo>
                <a:cubicBezTo>
                  <a:pt x="449264" y="7933"/>
                  <a:pt x="484556" y="36938"/>
                  <a:pt x="489136" y="76730"/>
                </a:cubicBezTo>
                <a:cubicBezTo>
                  <a:pt x="493716" y="116522"/>
                  <a:pt x="465938" y="152786"/>
                  <a:pt x="426326" y="158727"/>
                </a:cubicBezTo>
                <a:cubicBezTo>
                  <a:pt x="327055" y="164567"/>
                  <a:pt x="212389" y="182085"/>
                  <a:pt x="99316" y="213937"/>
                </a:cubicBezTo>
                <a:cubicBezTo>
                  <a:pt x="51553" y="214731"/>
                  <a:pt x="10972" y="179172"/>
                  <a:pt x="5486" y="131718"/>
                </a:cubicBezTo>
                <a:cubicBezTo>
                  <a:pt x="0" y="84264"/>
                  <a:pt x="31397" y="40384"/>
                  <a:pt x="78082" y="30259"/>
                </a:cubicBezTo>
                <a:close/>
              </a:path>
            </a:pathLst>
          </a:custGeom>
          <a:solidFill>
            <a:srgbClr val="E0DCFF"/>
          </a:solidFill>
          <a:ln>
            <a:noFill/>
          </a:ln>
        </p:spPr>
      </p:sp>
      <p:sp>
        <p:nvSpPr>
          <p:cNvPr id="32" name="svg circle"/>
          <p:cNvSpPr/>
          <p:nvPr/>
        </p:nvSpPr>
        <p:spPr>
          <a:xfrm>
            <a:off x="8158798" y="3802380"/>
            <a:ext cx="965200" cy="965200"/>
          </a:xfrm>
          <a:prstGeom prst="ellipse">
            <a:avLst/>
          </a:prstGeom>
          <a:solidFill>
            <a:srgbClr val="4B4F86"/>
          </a:solidFill>
          <a:ln>
            <a:noFill/>
          </a:ln>
        </p:spPr>
      </p:sp>
      <p:sp>
        <p:nvSpPr>
          <p:cNvPr id="33" name="svg path"/>
          <p:cNvSpPr/>
          <p:nvPr/>
        </p:nvSpPr>
        <p:spPr>
          <a:xfrm>
            <a:off x="8158797" y="4284980"/>
            <a:ext cx="965200" cy="482600"/>
          </a:xfrm>
          <a:custGeom>
            <a:avLst/>
            <a:gdLst/>
            <a:ahLst/>
            <a:cxnLst/>
            <a:rect l="l" t="t" r="r" b="b"/>
            <a:pathLst>
              <a:path w="965200" h="482600">
                <a:moveTo>
                  <a:pt x="0" y="0"/>
                </a:moveTo>
                <a:cubicBezTo>
                  <a:pt x="0" y="266533"/>
                  <a:pt x="216067" y="482600"/>
                  <a:pt x="482600" y="482600"/>
                </a:cubicBezTo>
                <a:cubicBezTo>
                  <a:pt x="749133" y="482600"/>
                  <a:pt x="965200" y="266533"/>
                  <a:pt x="965200" y="0"/>
                </a:cubicBezTo>
                <a:cubicBezTo>
                  <a:pt x="965200" y="206563"/>
                  <a:pt x="749133" y="374015"/>
                  <a:pt x="482600" y="374015"/>
                </a:cubicBezTo>
                <a:cubicBezTo>
                  <a:pt x="216067" y="374015"/>
                  <a:pt x="0" y="206563"/>
                  <a:pt x="0" y="0"/>
                </a:cubicBezTo>
                <a:close/>
              </a:path>
            </a:pathLst>
          </a:custGeom>
          <a:solidFill>
            <a:srgbClr val="41457A"/>
          </a:solidFill>
          <a:ln>
            <a:noFill/>
          </a:ln>
        </p:spPr>
      </p:sp>
      <p:sp>
        <p:nvSpPr>
          <p:cNvPr id="34" name="svg path"/>
          <p:cNvSpPr/>
          <p:nvPr/>
        </p:nvSpPr>
        <p:spPr>
          <a:xfrm>
            <a:off x="8412163" y="3846618"/>
            <a:ext cx="205105" cy="88477"/>
          </a:xfrm>
          <a:custGeom>
            <a:avLst/>
            <a:gdLst/>
            <a:ahLst/>
            <a:cxnLst/>
            <a:rect l="l" t="t" r="r" b="b"/>
            <a:pathLst>
              <a:path w="205105" h="88477">
                <a:moveTo>
                  <a:pt x="0" y="88477"/>
                </a:moveTo>
                <a:cubicBezTo>
                  <a:pt x="56303" y="24130"/>
                  <a:pt x="124672" y="0"/>
                  <a:pt x="205105" y="16087"/>
                </a:cubicBezTo>
              </a:path>
            </a:pathLst>
          </a:custGeom>
          <a:noFill/>
          <a:ln w="45244" cap="rnd">
            <a:solidFill>
              <a:srgbClr val="15113D"/>
            </a:solidFill>
            <a:miter lim="800000"/>
          </a:ln>
        </p:spPr>
      </p:sp>
      <p:sp>
        <p:nvSpPr>
          <p:cNvPr id="35" name="svg path"/>
          <p:cNvSpPr/>
          <p:nvPr/>
        </p:nvSpPr>
        <p:spPr>
          <a:xfrm>
            <a:off x="8725852" y="3945149"/>
            <a:ext cx="187008" cy="44238"/>
          </a:xfrm>
          <a:custGeom>
            <a:avLst/>
            <a:gdLst/>
            <a:ahLst/>
            <a:cxnLst/>
            <a:rect l="l" t="t" r="r" b="b"/>
            <a:pathLst>
              <a:path w="187008" h="44238">
                <a:moveTo>
                  <a:pt x="0" y="20108"/>
                </a:moveTo>
                <a:cubicBezTo>
                  <a:pt x="60325" y="0"/>
                  <a:pt x="122661" y="8043"/>
                  <a:pt x="187008" y="44238"/>
                </a:cubicBezTo>
              </a:path>
            </a:pathLst>
          </a:custGeom>
          <a:noFill/>
          <a:ln w="45244" cap="rnd">
            <a:solidFill>
              <a:srgbClr val="15113D"/>
            </a:solidFill>
            <a:miter lim="800000"/>
          </a:ln>
        </p:spPr>
      </p:sp>
      <p:sp>
        <p:nvSpPr>
          <p:cNvPr id="36" name="svg ellipse"/>
          <p:cNvSpPr/>
          <p:nvPr/>
        </p:nvSpPr>
        <p:spPr>
          <a:xfrm>
            <a:off x="8451374" y="3977323"/>
            <a:ext cx="114618" cy="156845"/>
          </a:xfrm>
          <a:prstGeom prst="ellipse">
            <a:avLst/>
          </a:prstGeom>
          <a:solidFill>
            <a:srgbClr val="15113D"/>
          </a:solidFill>
          <a:ln>
            <a:noFill/>
          </a:ln>
        </p:spPr>
      </p:sp>
      <p:sp>
        <p:nvSpPr>
          <p:cNvPr id="37" name="svg ellipse"/>
          <p:cNvSpPr/>
          <p:nvPr/>
        </p:nvSpPr>
        <p:spPr>
          <a:xfrm>
            <a:off x="8746966" y="4037647"/>
            <a:ext cx="114618" cy="156845"/>
          </a:xfrm>
          <a:prstGeom prst="ellipse">
            <a:avLst/>
          </a:prstGeom>
          <a:solidFill>
            <a:srgbClr val="15113D"/>
          </a:solidFill>
          <a:ln>
            <a:noFill/>
          </a:ln>
        </p:spPr>
      </p:sp>
      <p:sp>
        <p:nvSpPr>
          <p:cNvPr id="38" name="svg circle"/>
          <p:cNvSpPr/>
          <p:nvPr/>
        </p:nvSpPr>
        <p:spPr>
          <a:xfrm>
            <a:off x="8510492" y="4009295"/>
            <a:ext cx="32576" cy="32576"/>
          </a:xfrm>
          <a:prstGeom prst="ellipse">
            <a:avLst/>
          </a:prstGeom>
          <a:solidFill>
            <a:srgbClr val="E0DCFF"/>
          </a:solidFill>
          <a:ln>
            <a:noFill/>
          </a:ln>
        </p:spPr>
      </p:sp>
      <p:sp>
        <p:nvSpPr>
          <p:cNvPr id="39" name="svg circle"/>
          <p:cNvSpPr/>
          <p:nvPr/>
        </p:nvSpPr>
        <p:spPr>
          <a:xfrm>
            <a:off x="8806085" y="4069620"/>
            <a:ext cx="32576" cy="32576"/>
          </a:xfrm>
          <a:prstGeom prst="ellipse">
            <a:avLst/>
          </a:prstGeom>
          <a:solidFill>
            <a:srgbClr val="E0DCFF"/>
          </a:solidFill>
          <a:ln>
            <a:noFill/>
          </a:ln>
        </p:spPr>
      </p:sp>
      <p:sp>
        <p:nvSpPr>
          <p:cNvPr id="40" name="svg path"/>
          <p:cNvSpPr/>
          <p:nvPr/>
        </p:nvSpPr>
        <p:spPr>
          <a:xfrm>
            <a:off x="8496618" y="4262861"/>
            <a:ext cx="283527" cy="88477"/>
          </a:xfrm>
          <a:custGeom>
            <a:avLst/>
            <a:gdLst/>
            <a:ahLst/>
            <a:cxnLst/>
            <a:rect l="l" t="t" r="r" b="b"/>
            <a:pathLst>
              <a:path w="283527" h="88477">
                <a:moveTo>
                  <a:pt x="0" y="64347"/>
                </a:moveTo>
                <a:cubicBezTo>
                  <a:pt x="80433" y="0"/>
                  <a:pt x="174943" y="8043"/>
                  <a:pt x="283527" y="88477"/>
                </a:cubicBezTo>
              </a:path>
            </a:pathLst>
          </a:custGeom>
          <a:noFill/>
          <a:ln w="45244" cap="rnd">
            <a:solidFill>
              <a:srgbClr val="15113D"/>
            </a:solidFill>
            <a:miter lim="800000"/>
          </a:ln>
        </p:spPr>
      </p:sp>
      <p:sp>
        <p:nvSpPr>
          <p:cNvPr id="41" name="svg rect"/>
          <p:cNvSpPr/>
          <p:nvPr/>
        </p:nvSpPr>
        <p:spPr>
          <a:xfrm>
            <a:off x="8127429" y="4527245"/>
            <a:ext cx="212344" cy="286664"/>
          </a:xfrm>
          <a:prstGeom prst="roundRect">
            <a:avLst>
              <a:gd name="adj" fmla="val 47500"/>
            </a:avLst>
          </a:prstGeom>
          <a:solidFill>
            <a:srgbClr val="676BA0"/>
          </a:solidFill>
          <a:ln>
            <a:noFill/>
          </a:ln>
        </p:spPr>
      </p:sp>
      <p:sp>
        <p:nvSpPr>
          <p:cNvPr id="42" name="svg path"/>
          <p:cNvSpPr/>
          <p:nvPr/>
        </p:nvSpPr>
        <p:spPr>
          <a:xfrm flipV="1">
            <a:off x="8212366" y="4336136"/>
            <a:ext cx="31852" cy="286664"/>
          </a:xfrm>
          <a:prstGeom prst="line">
            <a:avLst/>
          </a:prstGeom>
          <a:noFill/>
          <a:ln w="106172" cap="rnd">
            <a:solidFill>
              <a:srgbClr val="7A7EB2"/>
            </a:solidFill>
            <a:miter lim="800000"/>
          </a:ln>
        </p:spPr>
      </p:sp>
      <p:sp>
        <p:nvSpPr>
          <p:cNvPr id="43" name="svg ellipse"/>
          <p:cNvSpPr/>
          <p:nvPr/>
        </p:nvSpPr>
        <p:spPr>
          <a:xfrm>
            <a:off x="8222381" y="4321129"/>
            <a:ext cx="48982" cy="61864"/>
          </a:xfrm>
          <a:custGeom>
            <a:avLst/>
            <a:gdLst/>
            <a:ahLst/>
            <a:cxnLst/>
            <a:rect l="l" t="t" r="r" b="b"/>
            <a:pathLst>
              <a:path w="48982" h="61864">
                <a:moveTo>
                  <a:pt x="27753" y="1383"/>
                </a:moveTo>
                <a:cubicBezTo>
                  <a:pt x="40284" y="2767"/>
                  <a:pt x="48982" y="17118"/>
                  <a:pt x="47180" y="33437"/>
                </a:cubicBezTo>
                <a:cubicBezTo>
                  <a:pt x="45378" y="49756"/>
                  <a:pt x="33759" y="61864"/>
                  <a:pt x="21229" y="60481"/>
                </a:cubicBezTo>
                <a:cubicBezTo>
                  <a:pt x="8698" y="59097"/>
                  <a:pt x="0" y="44746"/>
                  <a:pt x="1802" y="28427"/>
                </a:cubicBezTo>
                <a:cubicBezTo>
                  <a:pt x="3603" y="12108"/>
                  <a:pt x="15222" y="0"/>
                  <a:pt x="27753" y="1383"/>
                </a:cubicBezTo>
                <a:close/>
              </a:path>
            </a:pathLst>
          </a:custGeom>
          <a:solidFill>
            <a:srgbClr val="9DA1CF"/>
          </a:solidFill>
          <a:ln>
            <a:noFill/>
          </a:ln>
        </p:spPr>
      </p:sp>
      <p:sp>
        <p:nvSpPr>
          <p:cNvPr id="44" name="svg rect"/>
          <p:cNvSpPr/>
          <p:nvPr/>
        </p:nvSpPr>
        <p:spPr>
          <a:xfrm>
            <a:off x="8244218" y="4580331"/>
            <a:ext cx="244196" cy="74320"/>
          </a:xfrm>
          <a:prstGeom prst="roundRect">
            <a:avLst>
              <a:gd name="adj" fmla="val 50000"/>
            </a:avLst>
          </a:prstGeom>
          <a:solidFill>
            <a:srgbClr val="7A7EB2"/>
          </a:solidFill>
          <a:ln w="12741" cap="flat">
            <a:solidFill>
              <a:srgbClr val="555A92"/>
            </a:solidFill>
            <a:miter lim="800000"/>
          </a:ln>
        </p:spPr>
      </p:sp>
      <p:sp>
        <p:nvSpPr>
          <p:cNvPr id="45" name="svg rect"/>
          <p:cNvSpPr/>
          <p:nvPr/>
        </p:nvSpPr>
        <p:spPr>
          <a:xfrm>
            <a:off x="8244218" y="4654652"/>
            <a:ext cx="222961" cy="74320"/>
          </a:xfrm>
          <a:prstGeom prst="roundRect">
            <a:avLst>
              <a:gd name="adj" fmla="val 50000"/>
            </a:avLst>
          </a:prstGeom>
          <a:solidFill>
            <a:srgbClr val="7A7EB2"/>
          </a:solidFill>
          <a:ln w="12741" cap="flat">
            <a:solidFill>
              <a:srgbClr val="555A92"/>
            </a:solidFill>
            <a:miter lim="800000"/>
          </a:ln>
        </p:spPr>
      </p:sp>
      <p:sp>
        <p:nvSpPr>
          <p:cNvPr id="46" name="svg rect"/>
          <p:cNvSpPr/>
          <p:nvPr/>
        </p:nvSpPr>
        <p:spPr>
          <a:xfrm>
            <a:off x="8254835" y="4728972"/>
            <a:ext cx="191110" cy="74320"/>
          </a:xfrm>
          <a:prstGeom prst="roundRect">
            <a:avLst>
              <a:gd name="adj" fmla="val 50000"/>
            </a:avLst>
          </a:prstGeom>
          <a:solidFill>
            <a:srgbClr val="7A7EB2"/>
          </a:solidFill>
          <a:ln w="12741" cap="flat">
            <a:solidFill>
              <a:srgbClr val="555A92"/>
            </a:solidFill>
            <a:miter lim="800000"/>
          </a:ln>
        </p:spPr>
      </p:sp>
      <p:sp>
        <p:nvSpPr>
          <p:cNvPr id="47" name="svg path"/>
          <p:cNvSpPr/>
          <p:nvPr/>
        </p:nvSpPr>
        <p:spPr>
          <a:xfrm>
            <a:off x="8203376" y="4423727"/>
            <a:ext cx="433097" cy="156882"/>
          </a:xfrm>
          <a:custGeom>
            <a:avLst/>
            <a:gdLst/>
            <a:ahLst/>
            <a:cxnLst/>
            <a:rect l="l" t="t" r="r" b="b"/>
            <a:pathLst>
              <a:path w="433097" h="156882">
                <a:moveTo>
                  <a:pt x="55175" y="30259"/>
                </a:moveTo>
                <a:cubicBezTo>
                  <a:pt x="168779" y="2654"/>
                  <a:pt x="285037" y="0"/>
                  <a:pt x="386431" y="11679"/>
                </a:cubicBezTo>
                <a:cubicBezTo>
                  <a:pt x="409154" y="11738"/>
                  <a:pt x="428197" y="28874"/>
                  <a:pt x="430647" y="51464"/>
                </a:cubicBezTo>
                <a:cubicBezTo>
                  <a:pt x="433097" y="74054"/>
                  <a:pt x="418168" y="94873"/>
                  <a:pt x="395987" y="99802"/>
                </a:cubicBezTo>
                <a:cubicBezTo>
                  <a:pt x="296716" y="106172"/>
                  <a:pt x="182050" y="123690"/>
                  <a:pt x="68977" y="155542"/>
                </a:cubicBezTo>
                <a:cubicBezTo>
                  <a:pt x="35814" y="156882"/>
                  <a:pt x="7269" y="132330"/>
                  <a:pt x="3635" y="99339"/>
                </a:cubicBezTo>
                <a:cubicBezTo>
                  <a:pt x="0" y="66348"/>
                  <a:pt x="22515" y="36171"/>
                  <a:pt x="55175" y="30259"/>
                </a:cubicBezTo>
                <a:close/>
              </a:path>
            </a:pathLst>
          </a:custGeom>
          <a:solidFill>
            <a:srgbClr val="555A92"/>
          </a:solidFill>
          <a:ln>
            <a:noFill/>
          </a:ln>
        </p:spPr>
      </p:sp>
      <p:sp>
        <p:nvSpPr>
          <p:cNvPr id="48" name="svg path"/>
          <p:cNvSpPr/>
          <p:nvPr/>
        </p:nvSpPr>
        <p:spPr>
          <a:xfrm>
            <a:off x="8216670" y="4436468"/>
            <a:ext cx="411819" cy="130834"/>
          </a:xfrm>
          <a:custGeom>
            <a:avLst/>
            <a:gdLst/>
            <a:ahLst/>
            <a:cxnLst/>
            <a:rect l="l" t="t" r="r" b="b"/>
            <a:pathLst>
              <a:path w="411819" h="130834">
                <a:moveTo>
                  <a:pt x="42943" y="30259"/>
                </a:moveTo>
                <a:cubicBezTo>
                  <a:pt x="156547" y="2654"/>
                  <a:pt x="273336" y="0"/>
                  <a:pt x="374199" y="11148"/>
                </a:cubicBezTo>
                <a:cubicBezTo>
                  <a:pt x="391790" y="9096"/>
                  <a:pt x="407715" y="21692"/>
                  <a:pt x="409767" y="39284"/>
                </a:cubicBezTo>
                <a:cubicBezTo>
                  <a:pt x="411819" y="56875"/>
                  <a:pt x="399222" y="72799"/>
                  <a:pt x="381631" y="74851"/>
                </a:cubicBezTo>
                <a:cubicBezTo>
                  <a:pt x="282360" y="80691"/>
                  <a:pt x="167695" y="98209"/>
                  <a:pt x="54622" y="130061"/>
                </a:cubicBezTo>
                <a:cubicBezTo>
                  <a:pt x="28477" y="130834"/>
                  <a:pt x="6080" y="111491"/>
                  <a:pt x="3040" y="85513"/>
                </a:cubicBezTo>
                <a:cubicBezTo>
                  <a:pt x="0" y="59534"/>
                  <a:pt x="17326" y="35543"/>
                  <a:pt x="42943" y="30259"/>
                </a:cubicBezTo>
                <a:close/>
              </a:path>
            </a:pathLst>
          </a:custGeom>
          <a:solidFill>
            <a:srgbClr val="7A7EB2"/>
          </a:solidFill>
          <a:ln>
            <a:noFill/>
          </a:ln>
        </p:spPr>
      </p:sp>
      <p:sp>
        <p:nvSpPr>
          <p:cNvPr id="49"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50" name="Text 4"/>
          <p:cNvSpPr txBox="1"/>
          <p:nvPr/>
        </p:nvSpPr>
        <p:spPr>
          <a:xfrm>
            <a:off x="11667083" y="6306483"/>
            <a:ext cx="115342"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823"/>
        </a:solidFill>
      </p:bgPr>
    </p:bg>
    <p:spTree>
      <p:nvGrpSpPr>
        <p:cNvPr id="1" name=""/>
        <p:cNvGrpSpPr/>
        <p:nvPr/>
      </p:nvGrpSpPr>
      <p:grpSpPr>
        <a:xfrm>
          <a:off x="0" y="0"/>
          <a:ext cx="0" cy="0"/>
          <a:chOff x="0" y="0"/>
          <a:chExt cx="0" cy="0"/>
        </a:xfrm>
      </p:grpSpPr>
      <p:sp>
        <p:nvSpPr>
          <p:cNvPr id="2" name="Text Context Rot Measured"/>
          <p:cNvSpPr txBox="1"/>
          <p:nvPr/>
        </p:nvSpPr>
        <p:spPr>
          <a:xfrm>
            <a:off x="400050" y="475926"/>
            <a:ext cx="4191595"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Context Rot, Measured</a:t>
            </a:r>
            <a:endParaRPr lang="en-US" sz="3067" dirty="0"/>
          </a:p>
        </p:txBody>
      </p:sp>
      <p:sp>
        <p:nvSpPr>
          <p:cNvPr id="3" name="Text Chroma popularized the term in"/>
          <p:cNvSpPr txBox="1"/>
          <p:nvPr/>
        </p:nvSpPr>
        <p:spPr>
          <a:xfrm>
            <a:off x="400050" y="1025625"/>
            <a:ext cx="8753326"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Chroma popularized the term in July 2025: models get worse as the input grows, even on simple tasks.</a:t>
            </a:r>
            <a:endParaRPr lang="en-US" sz="1467" dirty="0"/>
          </a:p>
        </p:txBody>
      </p:sp>
      <p:sp>
        <p:nvSpPr>
          <p:cNvPr id="4" name="dk-card"/>
          <p:cNvSpPr/>
          <p:nvPr/>
        </p:nvSpPr>
        <p:spPr>
          <a:xfrm>
            <a:off x="404813" y="1490663"/>
            <a:ext cx="5591175" cy="4143375"/>
          </a:xfrm>
          <a:prstGeom prst="roundRect">
            <a:avLst>
              <a:gd name="adj" fmla="val 3563"/>
            </a:avLst>
          </a:prstGeom>
          <a:gradFill rotWithShape="1">
            <a:gsLst>
              <a:gs pos="0">
                <a:srgbClr val="1A1550"/>
              </a:gs>
              <a:gs pos="100000">
                <a:srgbClr val="120E36"/>
              </a:gs>
            </a:gsLst>
            <a:lin ang="5400000" scaled="0"/>
          </a:gradFill>
          <a:ln w="9525">
            <a:solidFill>
              <a:srgbClr val="3B3392"/>
            </a:solidFill>
          </a:ln>
        </p:spPr>
      </p:sp>
      <p:sp>
        <p:nvSpPr>
          <p:cNvPr id="5" name="Text NEEDLE THAT DOESN T ECHO THE Q"/>
          <p:cNvSpPr txBox="1"/>
          <p:nvPr/>
        </p:nvSpPr>
        <p:spPr>
          <a:xfrm>
            <a:off x="600075" y="1624013"/>
            <a:ext cx="2802731"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NEEDLE THAT DOESN’T ECHO THE QUESTION</a:t>
            </a:r>
            <a:endParaRPr lang="en-US" sz="825" dirty="0"/>
          </a:p>
        </p:txBody>
      </p:sp>
      <p:sp>
        <p:nvSpPr>
          <p:cNvPr id="6" name="i"/>
          <p:cNvSpPr/>
          <p:nvPr/>
        </p:nvSpPr>
        <p:spPr>
          <a:xfrm>
            <a:off x="600075" y="1938337"/>
            <a:ext cx="152400" cy="28575"/>
          </a:xfrm>
          <a:prstGeom prst="roundRect">
            <a:avLst>
              <a:gd name="adj" fmla="val 50000"/>
            </a:avLst>
          </a:prstGeom>
          <a:solidFill>
            <a:srgbClr val="6191EA"/>
          </a:solidFill>
          <a:ln>
            <a:noFill/>
          </a:ln>
        </p:spPr>
      </p:sp>
      <p:sp>
        <p:nvSpPr>
          <p:cNvPr id="7" name="Text High similarity"/>
          <p:cNvSpPr txBox="1"/>
          <p:nvPr/>
        </p:nvSpPr>
        <p:spPr>
          <a:xfrm>
            <a:off x="828675" y="1871663"/>
            <a:ext cx="808434"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High similarity</a:t>
            </a:r>
            <a:endParaRPr lang="en-US" sz="938" dirty="0"/>
          </a:p>
        </p:txBody>
      </p:sp>
      <p:sp>
        <p:nvSpPr>
          <p:cNvPr id="8" name="i"/>
          <p:cNvSpPr/>
          <p:nvPr/>
        </p:nvSpPr>
        <p:spPr>
          <a:xfrm>
            <a:off x="1751409" y="1938337"/>
            <a:ext cx="152400" cy="28575"/>
          </a:xfrm>
          <a:prstGeom prst="roundRect">
            <a:avLst>
              <a:gd name="adj" fmla="val 50000"/>
            </a:avLst>
          </a:prstGeom>
          <a:solidFill>
            <a:srgbClr val="EF6651"/>
          </a:solidFill>
          <a:ln>
            <a:noFill/>
          </a:ln>
        </p:spPr>
      </p:sp>
      <p:sp>
        <p:nvSpPr>
          <p:cNvPr id="9" name="Text Low similarity"/>
          <p:cNvSpPr txBox="1"/>
          <p:nvPr/>
        </p:nvSpPr>
        <p:spPr>
          <a:xfrm>
            <a:off x="1980009" y="1871663"/>
            <a:ext cx="778818"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Low similarity</a:t>
            </a:r>
            <a:endParaRPr lang="en-US" sz="938" dirty="0"/>
          </a:p>
        </p:txBody>
      </p:sp>
      <p:sp>
        <p:nvSpPr>
          <p:cNvPr id="10" name="cr-img"/>
          <p:cNvSpPr/>
          <p:nvPr/>
        </p:nvSpPr>
        <p:spPr>
          <a:xfrm>
            <a:off x="600075" y="2124075"/>
            <a:ext cx="5200650" cy="3352800"/>
          </a:xfrm>
          <a:prstGeom prst="roundRect">
            <a:avLst>
              <a:gd name="adj" fmla="val 2841"/>
            </a:avLst>
          </a:prstGeom>
          <a:solidFill>
            <a:srgbClr val="FFFFFF"/>
          </a:solidFill>
          <a:ln>
            <a:noFill/>
          </a:ln>
        </p:spPr>
      </p:sp>
      <p:pic>
        <p:nvPicPr>
          <p:cNvPr id="11" name="Picture Chroma: accuracy by input length for needles with hi" descr="Chroma: accuracy by input length for needles with high or low similarity to the question, for the two best models with windows over 500K tokens">    </p:cNvPr>
          <p:cNvPicPr>
            <a:picLocks noChangeAspect="1"/>
          </p:cNvPicPr>
          <p:nvPr/>
        </p:nvPicPr>
        <p:blipFill>
          <a:blip r:embed="rId1"/>
          <a:stretch>
            <a:fillRect/>
          </a:stretch>
        </p:blipFill>
        <p:spPr>
          <a:xfrm>
            <a:off x="1408361" y="2181225"/>
            <a:ext cx="3583930" cy="3238500"/>
          </a:xfrm>
          <a:prstGeom prst="rect">
            <a:avLst/>
          </a:prstGeom>
        </p:spPr>
      </p:pic>
      <p:sp>
        <p:nvSpPr>
          <p:cNvPr id="12" name="dk-card"/>
          <p:cNvSpPr/>
          <p:nvPr/>
        </p:nvSpPr>
        <p:spPr>
          <a:xfrm>
            <a:off x="6196013" y="1490663"/>
            <a:ext cx="5591175" cy="4143375"/>
          </a:xfrm>
          <a:prstGeom prst="roundRect">
            <a:avLst>
              <a:gd name="adj" fmla="val 3563"/>
            </a:avLst>
          </a:prstGeom>
          <a:gradFill rotWithShape="1">
            <a:gsLst>
              <a:gs pos="0">
                <a:srgbClr val="1A1550"/>
              </a:gs>
              <a:gs pos="100000">
                <a:srgbClr val="120E36"/>
              </a:gs>
            </a:gsLst>
            <a:lin ang="5400000" scaled="0"/>
          </a:gradFill>
          <a:ln w="9525">
            <a:solidFill>
              <a:srgbClr val="3B3392"/>
            </a:solidFill>
          </a:ln>
        </p:spPr>
      </p:sp>
      <p:sp>
        <p:nvSpPr>
          <p:cNvPr id="13" name="Text LOOK-ALIKE DISTRACTORS"/>
          <p:cNvSpPr txBox="1"/>
          <p:nvPr/>
        </p:nvSpPr>
        <p:spPr>
          <a:xfrm>
            <a:off x="6391275" y="1624013"/>
            <a:ext cx="1708993"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LOOK-ALIKE DISTRACTORS</a:t>
            </a:r>
            <a:endParaRPr lang="en-US" sz="825" dirty="0"/>
          </a:p>
        </p:txBody>
      </p:sp>
      <p:sp>
        <p:nvSpPr>
          <p:cNvPr id="14" name="i"/>
          <p:cNvSpPr/>
          <p:nvPr/>
        </p:nvSpPr>
        <p:spPr>
          <a:xfrm>
            <a:off x="6391275" y="1938337"/>
            <a:ext cx="152400" cy="28575"/>
          </a:xfrm>
          <a:prstGeom prst="roundRect">
            <a:avLst>
              <a:gd name="adj" fmla="val 50000"/>
            </a:avLst>
          </a:prstGeom>
          <a:solidFill>
            <a:srgbClr val="6391E5"/>
          </a:solidFill>
          <a:ln>
            <a:noFill/>
          </a:ln>
        </p:spPr>
      </p:sp>
      <p:sp>
        <p:nvSpPr>
          <p:cNvPr id="15" name="Text No distractors"/>
          <p:cNvSpPr txBox="1"/>
          <p:nvPr/>
        </p:nvSpPr>
        <p:spPr>
          <a:xfrm>
            <a:off x="6619875" y="1871663"/>
            <a:ext cx="800993"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No distractors</a:t>
            </a:r>
            <a:endParaRPr lang="en-US" sz="938" dirty="0"/>
          </a:p>
        </p:txBody>
      </p:sp>
      <p:sp>
        <p:nvSpPr>
          <p:cNvPr id="16" name="i"/>
          <p:cNvSpPr/>
          <p:nvPr/>
        </p:nvSpPr>
        <p:spPr>
          <a:xfrm>
            <a:off x="7535168" y="1938337"/>
            <a:ext cx="152400" cy="28575"/>
          </a:xfrm>
          <a:prstGeom prst="roundRect">
            <a:avLst>
              <a:gd name="adj" fmla="val 50000"/>
            </a:avLst>
          </a:prstGeom>
          <a:solidFill>
            <a:srgbClr val="EFC154"/>
          </a:solidFill>
          <a:ln>
            <a:noFill/>
          </a:ln>
        </p:spPr>
      </p:sp>
      <p:sp>
        <p:nvSpPr>
          <p:cNvPr id="17" name="Text One"/>
          <p:cNvSpPr txBox="1"/>
          <p:nvPr/>
        </p:nvSpPr>
        <p:spPr>
          <a:xfrm>
            <a:off x="7763768" y="1871663"/>
            <a:ext cx="280095"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One</a:t>
            </a:r>
            <a:endParaRPr lang="en-US" sz="938" dirty="0"/>
          </a:p>
        </p:txBody>
      </p:sp>
      <p:sp>
        <p:nvSpPr>
          <p:cNvPr id="18" name="i"/>
          <p:cNvSpPr/>
          <p:nvPr/>
        </p:nvSpPr>
        <p:spPr>
          <a:xfrm>
            <a:off x="8158163" y="1938337"/>
            <a:ext cx="152400" cy="28575"/>
          </a:xfrm>
          <a:prstGeom prst="roundRect">
            <a:avLst>
              <a:gd name="adj" fmla="val 50000"/>
            </a:avLst>
          </a:prstGeom>
          <a:solidFill>
            <a:srgbClr val="EE7742"/>
          </a:solidFill>
          <a:ln>
            <a:noFill/>
          </a:ln>
        </p:spPr>
      </p:sp>
      <p:sp>
        <p:nvSpPr>
          <p:cNvPr id="19" name="Text Four"/>
          <p:cNvSpPr txBox="1"/>
          <p:nvPr/>
        </p:nvSpPr>
        <p:spPr>
          <a:xfrm>
            <a:off x="8386763" y="1871663"/>
            <a:ext cx="298847"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Four</a:t>
            </a:r>
            <a:endParaRPr lang="en-US" sz="938" dirty="0"/>
          </a:p>
        </p:txBody>
      </p:sp>
      <p:sp>
        <p:nvSpPr>
          <p:cNvPr id="20" name="cr-img"/>
          <p:cNvSpPr/>
          <p:nvPr/>
        </p:nvSpPr>
        <p:spPr>
          <a:xfrm>
            <a:off x="6391275" y="2124075"/>
            <a:ext cx="5200650" cy="3352800"/>
          </a:xfrm>
          <a:prstGeom prst="roundRect">
            <a:avLst>
              <a:gd name="adj" fmla="val 2841"/>
            </a:avLst>
          </a:prstGeom>
          <a:solidFill>
            <a:srgbClr val="FFFFFF"/>
          </a:solidFill>
          <a:ln>
            <a:noFill/>
          </a:ln>
        </p:spPr>
      </p:sp>
      <p:pic>
        <p:nvPicPr>
          <p:cNvPr id="21" name="Picture Chroma: accuracy by input length with 0 1 or 4 distr" descr="Chroma: accuracy by input length with 0, 1 or 4 distractors, for the two best models with windows over 500K tokens">    </p:cNvPr>
          <p:cNvPicPr>
            <a:picLocks noChangeAspect="1"/>
          </p:cNvPicPr>
          <p:nvPr/>
        </p:nvPicPr>
        <p:blipFill>
          <a:blip r:embed="rId2"/>
          <a:stretch>
            <a:fillRect/>
          </a:stretch>
        </p:blipFill>
        <p:spPr>
          <a:xfrm>
            <a:off x="7199561" y="2181225"/>
            <a:ext cx="3583930" cy="3238500"/>
          </a:xfrm>
          <a:prstGeom prst="rect">
            <a:avLst/>
          </a:prstGeom>
        </p:spPr>
      </p:pic>
      <p:sp>
        <p:nvSpPr>
          <p:cNvPr id="22" name="Text Models tested: 18 including C"/>
          <p:cNvSpPr txBox="1"/>
          <p:nvPr/>
        </p:nvSpPr>
        <p:spPr>
          <a:xfrm>
            <a:off x="400050" y="5772150"/>
            <a:ext cx="11136064" cy="171450"/>
          </a:xfrm>
          <a:prstGeom prst="rect">
            <a:avLst/>
          </a:prstGeom>
          <a:noFill/>
          <a:ln/>
        </p:spPr>
        <p:txBody>
          <a:bodyPr wrap="none" lIns="0" tIns="0" rIns="0" bIns="0" rtlCol="0" anchor="ctr"/>
          <a:lstStyle/>
          <a:p>
            <a:pPr algn="l" indent="0" marL="0">
              <a:buNone/>
            </a:pPr>
            <a:r>
              <a:rPr lang="en-US" sz="975" b="1" dirty="0">
                <a:solidFill>
                  <a:srgbClr val="FFFFFF"/>
                </a:solidFill>
                <a:latin typeface="Scotia" pitchFamily="34" charset="0"/>
                <a:ea typeface="Scotia" pitchFamily="34" charset="-122"/>
                <a:cs typeface="Scotia" pitchFamily="34" charset="-120"/>
              </a:rPr>
              <a:t>Models tested:</a:t>
            </a:r>
            <a:pPr algn="l" indent="0" marL="0">
              <a:buNone/>
            </a:pPr>
            <a:r>
              <a:rPr lang="en-US" sz="975" dirty="0">
                <a:solidFill>
                  <a:srgbClr val="BDC2EF"/>
                </a:solidFill>
                <a:latin typeface="Scotia Serif" pitchFamily="34" charset="0"/>
                <a:ea typeface="Scotia Serif" pitchFamily="34" charset="-122"/>
                <a:cs typeface="Scotia Serif" pitchFamily="34" charset="-120"/>
              </a:rPr>
              <a:t> 18, including Claude Opus 4, o3, GPT-4.1, Gemini 2.5 Pro and Qwen3-235B. Both panels show the two best models with windows over 500K tokens; Chroma doesn’t name which two.</a:t>
            </a:r>
            <a:endParaRPr lang="en-US" sz="975" dirty="0"/>
          </a:p>
        </p:txBody>
      </p:sp>
      <p:sp>
        <p:nvSpPr>
          <p:cNvPr id="23" name="Text Source: Chroma Research Cont"/>
          <p:cNvSpPr txBox="1"/>
          <p:nvPr/>
        </p:nvSpPr>
        <p:spPr>
          <a:xfrm>
            <a:off x="400050" y="5976938"/>
            <a:ext cx="7349133" cy="152400"/>
          </a:xfrm>
          <a:prstGeom prst="rect">
            <a:avLst/>
          </a:prstGeom>
          <a:noFill/>
          <a:ln/>
        </p:spPr>
        <p:txBody>
          <a:bodyPr wrap="none" lIns="0" tIns="0" rIns="0" bIns="0" rtlCol="0" anchor="ctr"/>
          <a:lstStyle/>
          <a:p>
            <a:pPr algn="l" indent="0" marL="0">
              <a:buNone/>
            </a:pPr>
            <a:r>
              <a:rPr lang="en-US" sz="900" dirty="0">
                <a:solidFill>
                  <a:srgbClr val="8E8AB8"/>
                </a:solidFill>
                <a:latin typeface="Scotia Serif" pitchFamily="34" charset="0"/>
                <a:ea typeface="Scotia Serif" pitchFamily="34" charset="-122"/>
                <a:cs typeface="Scotia Serif" pitchFamily="34" charset="-120"/>
              </a:rPr>
              <a:t>Source: Chroma Research, “Context Rot: How Increasing Input Tokens Impacts LLM Performance” (Hong, Troynikov, Huber), July 14, 2025.</a:t>
            </a:r>
            <a:endParaRPr lang="en-US" sz="900" dirty="0"/>
          </a:p>
        </p:txBody>
      </p:sp>
      <p:sp>
        <p:nvSpPr>
          <p:cNvPr id="24"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25" name="Text 5"/>
          <p:cNvSpPr txBox="1"/>
          <p:nvPr/>
        </p:nvSpPr>
        <p:spPr>
          <a:xfrm>
            <a:off x="11671102" y="6306483"/>
            <a:ext cx="111323"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823"/>
        </a:solidFill>
      </p:bgPr>
    </p:bg>
    <p:spTree>
      <p:nvGrpSpPr>
        <p:cNvPr id="1" name=""/>
        <p:cNvGrpSpPr/>
        <p:nvPr/>
      </p:nvGrpSpPr>
      <p:grpSpPr>
        <a:xfrm>
          <a:off x="0" y="0"/>
          <a:ext cx="0" cy="0"/>
          <a:chOff x="0" y="0"/>
          <a:chExt cx="0" cy="0"/>
        </a:xfrm>
      </p:grpSpPr>
      <p:sp>
        <p:nvSpPr>
          <p:cNvPr id="2" name="Text Targeting the Limiting Factor"/>
          <p:cNvSpPr txBox="1"/>
          <p:nvPr/>
        </p:nvSpPr>
        <p:spPr>
          <a:xfrm>
            <a:off x="400050" y="475926"/>
            <a:ext cx="5288607"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Targeting the Limiting Factor</a:t>
            </a:r>
            <a:endParaRPr lang="en-US" sz="3067" dirty="0"/>
          </a:p>
        </p:txBody>
      </p:sp>
      <p:sp>
        <p:nvSpPr>
          <p:cNvPr id="3" name="Text Long context used to be the li"/>
          <p:cNvSpPr txBox="1"/>
          <p:nvPr/>
        </p:nvSpPr>
        <p:spPr>
          <a:xfrm>
            <a:off x="400050" y="1025625"/>
            <a:ext cx="7827764"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Long context used to be the limiting factor. The people testing models say it is being solved.</a:t>
            </a:r>
            <a:endParaRPr lang="en-US" sz="1467" dirty="0"/>
          </a:p>
        </p:txBody>
      </p:sp>
      <p:sp>
        <p:nvSpPr>
          <p:cNvPr id="4" name="dk-card"/>
          <p:cNvSpPr/>
          <p:nvPr/>
        </p:nvSpPr>
        <p:spPr>
          <a:xfrm>
            <a:off x="404813" y="1566863"/>
            <a:ext cx="5591175" cy="3228975"/>
          </a:xfrm>
          <a:prstGeom prst="roundRect">
            <a:avLst>
              <a:gd name="adj" fmla="val 4572"/>
            </a:avLst>
          </a:prstGeom>
          <a:gradFill rotWithShape="1">
            <a:gsLst>
              <a:gs pos="0">
                <a:srgbClr val="1A1550"/>
              </a:gs>
              <a:gs pos="100000">
                <a:srgbClr val="120E36"/>
              </a:gs>
            </a:gsLst>
            <a:lin ang="5400000" scaled="0"/>
          </a:gradFill>
          <a:ln w="9525">
            <a:solidFill>
              <a:srgbClr val="3B3392"/>
            </a:solidFill>
          </a:ln>
        </p:spPr>
      </p:sp>
      <p:sp>
        <p:nvSpPr>
          <p:cNvPr id="5" name="Text"/>
          <p:cNvSpPr txBox="1"/>
          <p:nvPr/>
        </p:nvSpPr>
        <p:spPr>
          <a:xfrm>
            <a:off x="714375" y="1819275"/>
            <a:ext cx="404664" cy="762000"/>
          </a:xfrm>
          <a:prstGeom prst="rect">
            <a:avLst/>
          </a:prstGeom>
          <a:noFill/>
          <a:ln/>
        </p:spPr>
        <p:txBody>
          <a:bodyPr wrap="none" lIns="0" tIns="0" rIns="0" bIns="0" rtlCol="0" anchor="ctr"/>
          <a:lstStyle/>
          <a:p>
            <a:pPr algn="l" indent="0" marL="0">
              <a:buNone/>
            </a:pPr>
            <a:r>
              <a:rPr lang="en-US" sz="6000" dirty="0">
                <a:solidFill>
                  <a:srgbClr val="6551FF"/>
                </a:solidFill>
                <a:latin typeface="Scotia Headline" pitchFamily="34" charset="0"/>
                <a:ea typeface="Scotia Headline" pitchFamily="34" charset="-122"/>
                <a:cs typeface="Scotia Headline" pitchFamily="34" charset="-120"/>
              </a:rPr>
              <a:t>“</a:t>
            </a:r>
            <a:endParaRPr lang="en-US" sz="6000" dirty="0"/>
          </a:p>
        </p:txBody>
      </p:sp>
      <p:sp>
        <p:nvSpPr>
          <p:cNvPr id="6" name="Text For text Gemini 1.5 Pro achie"/>
          <p:cNvSpPr txBox="1"/>
          <p:nvPr/>
        </p:nvSpPr>
        <p:spPr>
          <a:xfrm>
            <a:off x="714375" y="2352675"/>
            <a:ext cx="4956712" cy="942975"/>
          </a:xfrm>
          <a:prstGeom prst="rect">
            <a:avLst/>
          </a:prstGeom>
          <a:noFill/>
          <a:ln/>
        </p:spPr>
        <p:txBody>
          <a:bodyPr wrap="square" lIns="0" tIns="0" rIns="0" bIns="0" rtlCol="0" anchor="t"/>
          <a:lstStyle/>
          <a:p>
            <a:pPr algn="l" indent="0" marL="0">
              <a:lnSpc>
                <a:spcPts val="2475"/>
              </a:lnSpc>
              <a:buNone/>
            </a:pPr>
            <a:r>
              <a:rPr lang="en-US" sz="1800" dirty="0">
                <a:solidFill>
                  <a:srgbClr val="FFFFFF"/>
                </a:solidFill>
                <a:latin typeface="Scotia Serif" pitchFamily="34" charset="0"/>
                <a:ea typeface="Scotia Serif" pitchFamily="34" charset="-122"/>
                <a:cs typeface="Scotia Serif" pitchFamily="34" charset="-120"/>
              </a:rPr>
              <a:t>For text, Gemini 1.5 Pro achieves 100% recall up to 530k tokens, 99.7% up to 1M tokens, and 99.2% accuracy up to 10M tokens.</a:t>
            </a:r>
            <a:endParaRPr lang="en-US" sz="1800" dirty="0"/>
          </a:p>
        </p:txBody>
      </p:sp>
      <p:sp>
        <p:nvSpPr>
          <p:cNvPr id="7" name="dk-who border"/>
          <p:cNvSpPr/>
          <p:nvPr/>
        </p:nvSpPr>
        <p:spPr>
          <a:xfrm>
            <a:off x="714375" y="4024313"/>
            <a:ext cx="4972050" cy="0"/>
          </a:xfrm>
          <a:prstGeom prst="line">
            <a:avLst/>
          </a:prstGeom>
          <a:noFill/>
          <a:ln w="9525">
            <a:solidFill>
              <a:srgbClr val="BDC2EF">
                <a:alpha val="16000"/>
              </a:srgbClr>
            </a:solidFill>
          </a:ln>
        </p:spPr>
      </p:sp>
      <p:sp>
        <p:nvSpPr>
          <p:cNvPr id="8" name="dk-av"/>
          <p:cNvSpPr/>
          <p:nvPr/>
        </p:nvSpPr>
        <p:spPr>
          <a:xfrm>
            <a:off x="719138" y="4167188"/>
            <a:ext cx="409575" cy="409575"/>
          </a:xfrm>
          <a:prstGeom prst="ellipse">
            <a:avLst/>
          </a:prstGeom>
          <a:solidFill>
            <a:srgbClr val="6551FF">
              <a:alpha val="18000"/>
            </a:srgbClr>
          </a:solidFill>
          <a:ln w="9525">
            <a:solidFill>
              <a:srgbClr val="6551FF"/>
            </a:solidFill>
          </a:ln>
        </p:spPr>
        <p:txBody>
          <a:bodyPr wrap="none" lIns="0" tIns="0" rIns="0" bIns="9525" rtlCol="0" anchor="ctr"/>
          <a:lstStyle/>
          <a:p>
            <a:pPr algn="ctr" indent="0" marL="0">
              <a:buNone/>
            </a:pPr>
            <a:r>
              <a:rPr lang="en-US" sz="1125" b="1" dirty="0">
                <a:solidFill>
                  <a:srgbClr val="FFFFFF"/>
                </a:solidFill>
                <a:latin typeface="Scotia" pitchFamily="34" charset="0"/>
                <a:ea typeface="Scotia" pitchFamily="34" charset="-122"/>
                <a:cs typeface="Scotia" pitchFamily="34" charset="-120"/>
              </a:rPr>
              <a:t>JD</a:t>
            </a:r>
            <a:endParaRPr lang="en-US" sz="1125" dirty="0"/>
          </a:p>
        </p:txBody>
      </p:sp>
      <p:sp>
        <p:nvSpPr>
          <p:cNvPr id="9" name="Text Jeff Dean JeffDean"/>
          <p:cNvSpPr txBox="1"/>
          <p:nvPr/>
        </p:nvSpPr>
        <p:spPr>
          <a:xfrm>
            <a:off x="1266825" y="4176712"/>
            <a:ext cx="1438870" cy="209550"/>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Jeff Dean </a:t>
            </a:r>
            <a:pPr algn="l" indent="0" marL="0">
              <a:buNone/>
            </a:pPr>
            <a:r>
              <a:rPr lang="en-US" sz="975" dirty="0">
                <a:solidFill>
                  <a:srgbClr val="8E8AB8"/>
                </a:solidFill>
                <a:latin typeface="Scotia" pitchFamily="34" charset="0"/>
                <a:ea typeface="Scotia" pitchFamily="34" charset="-122"/>
                <a:cs typeface="Scotia" pitchFamily="34" charset="-120"/>
              </a:rPr>
              <a:t>@JeffDean</a:t>
            </a:r>
            <a:endParaRPr lang="en-US" sz="1275" dirty="0"/>
          </a:p>
        </p:txBody>
      </p:sp>
      <p:sp>
        <p:nvSpPr>
          <p:cNvPr id="10" name="Text Then Chief Scientist Google"/>
          <p:cNvSpPr txBox="1"/>
          <p:nvPr/>
        </p:nvSpPr>
        <p:spPr>
          <a:xfrm>
            <a:off x="1266825" y="4391025"/>
            <a:ext cx="1593503" cy="171450"/>
          </a:xfrm>
          <a:prstGeom prst="rect">
            <a:avLst/>
          </a:prstGeom>
          <a:noFill/>
          <a:ln/>
        </p:spPr>
        <p:txBody>
          <a:bodyPr wrap="none" lIns="0" tIns="0" rIns="0" bIns="0" rtlCol="0" anchor="ctr"/>
          <a:lstStyle/>
          <a:p>
            <a:pPr algn="l" indent="0" marL="0">
              <a:buNone/>
            </a:pPr>
            <a:r>
              <a:rPr lang="en-US" sz="975" dirty="0">
                <a:solidFill>
                  <a:srgbClr val="A9A6CF"/>
                </a:solidFill>
                <a:latin typeface="Scotia" pitchFamily="34" charset="0"/>
                <a:ea typeface="Scotia" pitchFamily="34" charset="-122"/>
                <a:cs typeface="Scotia" pitchFamily="34" charset="-120"/>
              </a:rPr>
              <a:t>Then Chief Scientist, Google</a:t>
            </a:r>
            <a:endParaRPr lang="en-US" sz="975" dirty="0"/>
          </a:p>
        </p:txBody>
      </p:sp>
      <p:sp>
        <p:nvSpPr>
          <p:cNvPr id="11" name="dk-tag"/>
          <p:cNvSpPr/>
          <p:nvPr/>
        </p:nvSpPr>
        <p:spPr>
          <a:xfrm>
            <a:off x="4103191" y="4271963"/>
            <a:ext cx="1578471" cy="200025"/>
          </a:xfrm>
          <a:prstGeom prst="roundRect">
            <a:avLst>
              <a:gd name="adj" fmla="val 50000"/>
            </a:avLst>
          </a:prstGeom>
          <a:noFill/>
          <a:ln w="9525">
            <a:solidFill>
              <a:srgbClr val="6551FF"/>
            </a:solidFill>
          </a:ln>
        </p:spPr>
        <p:txBody>
          <a:bodyPr wrap="none" lIns="0" tIns="0" rIns="0" bIns="0" rtlCol="0" anchor="ctr"/>
          <a:lstStyle/>
          <a:p>
            <a:pPr algn="ctr" indent="0" marL="0">
              <a:buNone/>
            </a:pPr>
            <a:r>
              <a:rPr lang="en-US" sz="975" dirty="0">
                <a:solidFill>
                  <a:srgbClr val="A9A6CF"/>
                </a:solidFill>
                <a:latin typeface="Scotia" pitchFamily="34" charset="0"/>
                <a:ea typeface="Scotia" pitchFamily="34" charset="-122"/>
                <a:cs typeface="Scotia" pitchFamily="34" charset="-120"/>
              </a:rPr>
              <a:t>Gemini 1.5 Pro · Feb 2024</a:t>
            </a:r>
            <a:endParaRPr lang="en-US" sz="975" dirty="0"/>
          </a:p>
        </p:txBody>
      </p:sp>
      <p:sp>
        <p:nvSpPr>
          <p:cNvPr id="12" name="dk-card"/>
          <p:cNvSpPr/>
          <p:nvPr/>
        </p:nvSpPr>
        <p:spPr>
          <a:xfrm>
            <a:off x="6196013" y="1566863"/>
            <a:ext cx="5591175" cy="3228975"/>
          </a:xfrm>
          <a:prstGeom prst="roundRect">
            <a:avLst>
              <a:gd name="adj" fmla="val 4572"/>
            </a:avLst>
          </a:prstGeom>
          <a:gradFill rotWithShape="1">
            <a:gsLst>
              <a:gs pos="0">
                <a:srgbClr val="1A1550"/>
              </a:gs>
              <a:gs pos="100000">
                <a:srgbClr val="120E36"/>
              </a:gs>
            </a:gsLst>
            <a:lin ang="5400000" scaled="0"/>
          </a:gradFill>
          <a:ln w="9525">
            <a:solidFill>
              <a:srgbClr val="3B3392"/>
            </a:solidFill>
          </a:ln>
        </p:spPr>
      </p:sp>
      <p:sp>
        <p:nvSpPr>
          <p:cNvPr id="13" name="Text"/>
          <p:cNvSpPr txBox="1"/>
          <p:nvPr/>
        </p:nvSpPr>
        <p:spPr>
          <a:xfrm>
            <a:off x="6505575" y="1819275"/>
            <a:ext cx="404664" cy="762000"/>
          </a:xfrm>
          <a:prstGeom prst="rect">
            <a:avLst/>
          </a:prstGeom>
          <a:noFill/>
          <a:ln/>
        </p:spPr>
        <p:txBody>
          <a:bodyPr wrap="none" lIns="0" tIns="0" rIns="0" bIns="0" rtlCol="0" anchor="ctr"/>
          <a:lstStyle/>
          <a:p>
            <a:pPr algn="l" indent="0" marL="0">
              <a:buNone/>
            </a:pPr>
            <a:r>
              <a:rPr lang="en-US" sz="6000" dirty="0">
                <a:solidFill>
                  <a:srgbClr val="6551FF"/>
                </a:solidFill>
                <a:latin typeface="Scotia Headline" pitchFamily="34" charset="0"/>
                <a:ea typeface="Scotia Headline" pitchFamily="34" charset="-122"/>
                <a:cs typeface="Scotia Headline" pitchFamily="34" charset="-120"/>
              </a:rPr>
              <a:t>“</a:t>
            </a:r>
            <a:endParaRPr lang="en-US" sz="6000" dirty="0"/>
          </a:p>
        </p:txBody>
      </p:sp>
      <p:sp>
        <p:nvSpPr>
          <p:cNvPr id="14" name="Text Long context improvements are"/>
          <p:cNvSpPr txBox="1"/>
          <p:nvPr/>
        </p:nvSpPr>
        <p:spPr>
          <a:xfrm>
            <a:off x="6505575" y="2352675"/>
            <a:ext cx="5037775" cy="1257300"/>
          </a:xfrm>
          <a:prstGeom prst="rect">
            <a:avLst/>
          </a:prstGeom>
          <a:noFill/>
          <a:ln/>
        </p:spPr>
        <p:txBody>
          <a:bodyPr wrap="square" lIns="0" tIns="0" rIns="0" bIns="0" rtlCol="0" anchor="t"/>
          <a:lstStyle/>
          <a:p>
            <a:pPr algn="l" indent="0" marL="0">
              <a:lnSpc>
                <a:spcPts val="2475"/>
              </a:lnSpc>
              <a:buNone/>
            </a:pPr>
            <a:r>
              <a:rPr lang="en-US" sz="1800" dirty="0">
                <a:solidFill>
                  <a:srgbClr val="FFFFFF"/>
                </a:solidFill>
                <a:latin typeface="Scotia Serif" pitchFamily="34" charset="0"/>
                <a:ea typeface="Scotia Serif" pitchFamily="34" charset="-122"/>
                <a:cs typeface="Scotia Serif" pitchFamily="34" charset="-120"/>
              </a:rPr>
              <a:t>Long context improvements are a HUGE deal. This unlocks 1mil context windows to actually work. Now GPT doesn’t randomly forget 9-30% of your context.</a:t>
            </a:r>
            <a:endParaRPr lang="en-US" sz="1800" dirty="0"/>
          </a:p>
        </p:txBody>
      </p:sp>
      <p:sp>
        <p:nvSpPr>
          <p:cNvPr id="15" name="dk-who border"/>
          <p:cNvSpPr/>
          <p:nvPr/>
        </p:nvSpPr>
        <p:spPr>
          <a:xfrm>
            <a:off x="6505575" y="4024313"/>
            <a:ext cx="4972050" cy="0"/>
          </a:xfrm>
          <a:prstGeom prst="line">
            <a:avLst/>
          </a:prstGeom>
          <a:noFill/>
          <a:ln w="9525">
            <a:solidFill>
              <a:srgbClr val="BDC2EF">
                <a:alpha val="16000"/>
              </a:srgbClr>
            </a:solidFill>
          </a:ln>
        </p:spPr>
      </p:sp>
      <p:sp>
        <p:nvSpPr>
          <p:cNvPr id="16" name="dk-av"/>
          <p:cNvSpPr/>
          <p:nvPr/>
        </p:nvSpPr>
        <p:spPr>
          <a:xfrm>
            <a:off x="6510338" y="4167188"/>
            <a:ext cx="409575" cy="409575"/>
          </a:xfrm>
          <a:prstGeom prst="ellipse">
            <a:avLst/>
          </a:prstGeom>
          <a:solidFill>
            <a:srgbClr val="6551FF">
              <a:alpha val="18000"/>
            </a:srgbClr>
          </a:solidFill>
          <a:ln w="9525">
            <a:solidFill>
              <a:srgbClr val="6551FF"/>
            </a:solidFill>
          </a:ln>
        </p:spPr>
        <p:txBody>
          <a:bodyPr wrap="none" lIns="0" tIns="0" rIns="0" bIns="9525" rtlCol="0" anchor="ctr"/>
          <a:lstStyle/>
          <a:p>
            <a:pPr algn="ctr" indent="0" marL="0">
              <a:buNone/>
            </a:pPr>
            <a:r>
              <a:rPr lang="en-US" sz="1125" b="1" dirty="0">
                <a:solidFill>
                  <a:srgbClr val="FFFFFF"/>
                </a:solidFill>
                <a:latin typeface="Scotia" pitchFamily="34" charset="0"/>
                <a:ea typeface="Scotia" pitchFamily="34" charset="-122"/>
                <a:cs typeface="Scotia" pitchFamily="34" charset="-120"/>
              </a:rPr>
              <a:t>ND</a:t>
            </a:r>
            <a:endParaRPr lang="en-US" sz="1125" dirty="0"/>
          </a:p>
        </p:txBody>
      </p:sp>
      <p:sp>
        <p:nvSpPr>
          <p:cNvPr id="17" name="Text Nick Dobos NickADobos"/>
          <p:cNvSpPr txBox="1"/>
          <p:nvPr/>
        </p:nvSpPr>
        <p:spPr>
          <a:xfrm>
            <a:off x="7058025" y="4176712"/>
            <a:ext cx="1764804" cy="209550"/>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Nick Dobos </a:t>
            </a:r>
            <a:pPr algn="l" indent="0" marL="0">
              <a:buNone/>
            </a:pPr>
            <a:r>
              <a:rPr lang="en-US" sz="975" dirty="0">
                <a:solidFill>
                  <a:srgbClr val="8E8AB8"/>
                </a:solidFill>
                <a:latin typeface="Scotia" pitchFamily="34" charset="0"/>
                <a:ea typeface="Scotia" pitchFamily="34" charset="-122"/>
                <a:cs typeface="Scotia" pitchFamily="34" charset="-120"/>
              </a:rPr>
              <a:t>@NickADobos</a:t>
            </a:r>
            <a:endParaRPr lang="en-US" sz="1275" dirty="0"/>
          </a:p>
        </p:txBody>
      </p:sp>
      <p:sp>
        <p:nvSpPr>
          <p:cNvPr id="18" name="Text Prompt engineer The Browser C"/>
          <p:cNvSpPr txBox="1"/>
          <p:nvPr/>
        </p:nvSpPr>
        <p:spPr>
          <a:xfrm>
            <a:off x="7058025" y="4391025"/>
            <a:ext cx="2274838" cy="171450"/>
          </a:xfrm>
          <a:prstGeom prst="rect">
            <a:avLst/>
          </a:prstGeom>
          <a:noFill/>
          <a:ln/>
        </p:spPr>
        <p:txBody>
          <a:bodyPr wrap="none" lIns="0" tIns="0" rIns="0" bIns="0" rtlCol="0" anchor="ctr"/>
          <a:lstStyle/>
          <a:p>
            <a:pPr algn="l" indent="0" marL="0">
              <a:buNone/>
            </a:pPr>
            <a:r>
              <a:rPr lang="en-US" sz="975" dirty="0">
                <a:solidFill>
                  <a:srgbClr val="A9A6CF"/>
                </a:solidFill>
                <a:latin typeface="Scotia" pitchFamily="34" charset="0"/>
                <a:ea typeface="Scotia" pitchFamily="34" charset="-122"/>
                <a:cs typeface="Scotia" pitchFamily="34" charset="-120"/>
              </a:rPr>
              <a:t>Prompt engineer, The Browser Company</a:t>
            </a:r>
            <a:endParaRPr lang="en-US" sz="975" dirty="0"/>
          </a:p>
        </p:txBody>
      </p:sp>
      <p:sp>
        <p:nvSpPr>
          <p:cNvPr id="19" name="dk-tag"/>
          <p:cNvSpPr/>
          <p:nvPr/>
        </p:nvSpPr>
        <p:spPr>
          <a:xfrm>
            <a:off x="9997976" y="4271963"/>
            <a:ext cx="1474887" cy="200025"/>
          </a:xfrm>
          <a:prstGeom prst="roundRect">
            <a:avLst>
              <a:gd name="adj" fmla="val 50000"/>
            </a:avLst>
          </a:prstGeom>
          <a:noFill/>
          <a:ln w="9525">
            <a:solidFill>
              <a:srgbClr val="6551FF"/>
            </a:solidFill>
          </a:ln>
        </p:spPr>
        <p:txBody>
          <a:bodyPr wrap="none" lIns="0" tIns="0" rIns="0" bIns="0" rtlCol="0" anchor="ctr"/>
          <a:lstStyle/>
          <a:p>
            <a:pPr algn="ctr" indent="0" marL="0">
              <a:buNone/>
            </a:pPr>
            <a:r>
              <a:rPr lang="en-US" sz="975" dirty="0">
                <a:solidFill>
                  <a:srgbClr val="A9A6CF"/>
                </a:solidFill>
                <a:latin typeface="Scotia" pitchFamily="34" charset="0"/>
                <a:ea typeface="Scotia" pitchFamily="34" charset="-122"/>
                <a:cs typeface="Scotia" pitchFamily="34" charset="-120"/>
              </a:rPr>
              <a:t>GPT-6 Astra · Sep 2026</a:t>
            </a:r>
            <a:endParaRPr lang="en-US" sz="975" dirty="0"/>
          </a:p>
        </p:txBody>
      </p:sp>
      <p:sp>
        <p:nvSpPr>
          <p:cNvPr id="20" name="dk-hero"/>
          <p:cNvSpPr/>
          <p:nvPr/>
        </p:nvSpPr>
        <p:spPr>
          <a:xfrm>
            <a:off x="400050" y="5029200"/>
            <a:ext cx="11391900" cy="523875"/>
          </a:xfrm>
          <a:prstGeom prst="roundRect">
            <a:avLst>
              <a:gd name="adj" fmla="val 25455"/>
            </a:avLst>
          </a:prstGeom>
          <a:gradFill rotWithShape="1">
            <a:gsLst>
              <a:gs pos="0">
                <a:srgbClr val="7B69FF"/>
              </a:gs>
              <a:gs pos="100000">
                <a:srgbClr val="5141D3"/>
              </a:gs>
            </a:gsLst>
            <a:lin ang="2700000" scaled="0"/>
          </a:gradFill>
          <a:ln>
            <a:noFill/>
          </a:ln>
          <a:effectLst>
            <a:outerShdw blurRad="342900" dist="152400" dir="5400000" sx="96990" sy="34545" algn="ctr" rotWithShape="0">
              <a:srgbClr val="6551FF">
                <a:alpha val="90000"/>
              </a:srgbClr>
            </a:outerShdw>
          </a:effectLst>
        </p:spPr>
      </p:sp>
      <p:sp>
        <p:nvSpPr>
          <p:cNvPr id="21" name="Text If the window holds the limit"/>
          <p:cNvSpPr txBox="1"/>
          <p:nvPr/>
        </p:nvSpPr>
        <p:spPr>
          <a:xfrm>
            <a:off x="628650" y="5181600"/>
            <a:ext cx="4916091" cy="219075"/>
          </a:xfrm>
          <a:prstGeom prst="rect">
            <a:avLst/>
          </a:prstGeom>
          <a:noFill/>
          <a:ln/>
        </p:spPr>
        <p:txBody>
          <a:bodyPr wrap="none" lIns="0" tIns="0" rIns="0" bIns="0" rtlCol="0" anchor="ctr"/>
          <a:lstStyle/>
          <a:p>
            <a:pPr algn="l" indent="0" marL="0">
              <a:buNone/>
            </a:pPr>
            <a:r>
              <a:rPr lang="en-US" sz="1275" dirty="0">
                <a:solidFill>
                  <a:srgbClr val="FFFFFF"/>
                </a:solidFill>
                <a:latin typeface="Scotia Headline" pitchFamily="34" charset="0"/>
                <a:ea typeface="Scotia Headline" pitchFamily="34" charset="-122"/>
                <a:cs typeface="Scotia Headline" pitchFamily="34" charset="-120"/>
              </a:rPr>
              <a:t>If the window holds, the limiting factor moves to cost and speed.</a:t>
            </a:r>
            <a:endParaRPr lang="en-US" sz="1275" dirty="0"/>
          </a:p>
        </p:txBody>
      </p:sp>
      <p:sp>
        <p:nvSpPr>
          <p:cNvPr id="22"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23" name="Text 6"/>
          <p:cNvSpPr txBox="1"/>
          <p:nvPr/>
        </p:nvSpPr>
        <p:spPr>
          <a:xfrm>
            <a:off x="11664702" y="6306483"/>
            <a:ext cx="117723"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823"/>
        </a:solidFill>
      </p:bgPr>
    </p:bg>
    <p:spTree>
      <p:nvGrpSpPr>
        <p:cNvPr id="1" name=""/>
        <p:cNvGrpSpPr/>
        <p:nvPr/>
      </p:nvGrpSpPr>
      <p:grpSpPr>
        <a:xfrm>
          <a:off x="0" y="0"/>
          <a:ext cx="0" cy="0"/>
          <a:chOff x="0" y="0"/>
          <a:chExt cx="0" cy="0"/>
        </a:xfrm>
      </p:grpSpPr>
      <p:sp>
        <p:nvSpPr>
          <p:cNvPr id="2" name="Text Context Evals"/>
          <p:cNvSpPr txBox="1"/>
          <p:nvPr/>
        </p:nvSpPr>
        <p:spPr>
          <a:xfrm>
            <a:off x="400050" y="475926"/>
            <a:ext cx="2533948"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Context Evals</a:t>
            </a:r>
            <a:endParaRPr lang="en-US" sz="3067" dirty="0"/>
          </a:p>
        </p:txBody>
      </p:sp>
      <p:sp>
        <p:nvSpPr>
          <p:cNvPr id="3" name="Text Our own eval set built to tes"/>
          <p:cNvSpPr txBox="1"/>
          <p:nvPr/>
        </p:nvSpPr>
        <p:spPr>
          <a:xfrm>
            <a:off x="400050" y="1025625"/>
            <a:ext cx="7364462"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Our own eval set, built to test agentic patterns and context strategies, not just models.</a:t>
            </a:r>
            <a:endParaRPr lang="en-US" sz="1467" dirty="0"/>
          </a:p>
        </p:txBody>
      </p:sp>
      <p:sp>
        <p:nvSpPr>
          <p:cNvPr id="4" name="dk-card"/>
          <p:cNvSpPr/>
          <p:nvPr/>
        </p:nvSpPr>
        <p:spPr>
          <a:xfrm>
            <a:off x="404813" y="1566863"/>
            <a:ext cx="3800475" cy="3876675"/>
          </a:xfrm>
          <a:prstGeom prst="roundRect">
            <a:avLst>
              <a:gd name="adj" fmla="val 3885"/>
            </a:avLst>
          </a:prstGeom>
          <a:gradFill rotWithShape="1">
            <a:gsLst>
              <a:gs pos="0">
                <a:srgbClr val="1A1550"/>
              </a:gs>
              <a:gs pos="100000">
                <a:srgbClr val="120E36"/>
              </a:gs>
            </a:gsLst>
            <a:lin ang="5400000" scaled="0"/>
          </a:gradFill>
          <a:ln w="9525">
            <a:solidFill>
              <a:srgbClr val="3B3392"/>
            </a:solidFill>
          </a:ln>
        </p:spPr>
      </p:sp>
      <p:sp>
        <p:nvSpPr>
          <p:cNvPr id="5" name="Text 01 HOW WE TEST"/>
          <p:cNvSpPr txBox="1"/>
          <p:nvPr/>
        </p:nvSpPr>
        <p:spPr>
          <a:xfrm>
            <a:off x="619125" y="1738313"/>
            <a:ext cx="1179761"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01 · HOW WE TEST</a:t>
            </a:r>
            <a:endParaRPr lang="en-US" sz="825" dirty="0"/>
          </a:p>
        </p:txBody>
      </p:sp>
      <p:sp>
        <p:nvSpPr>
          <p:cNvPr id="6" name="Text Patterns and Context Not Just"/>
          <p:cNvSpPr txBox="1"/>
          <p:nvPr/>
        </p:nvSpPr>
        <p:spPr>
          <a:xfrm>
            <a:off x="619125" y="2005013"/>
            <a:ext cx="3371850" cy="514350"/>
          </a:xfrm>
          <a:prstGeom prst="rect">
            <a:avLst/>
          </a:prstGeom>
          <a:noFill/>
          <a:ln/>
        </p:spPr>
        <p:txBody>
          <a:bodyPr wrap="square" lIns="0" tIns="0" rIns="0" bIns="0" rtlCol="0" anchor="t"/>
          <a:lstStyle/>
          <a:p>
            <a:pPr algn="l" indent="0" marL="0">
              <a:lnSpc>
                <a:spcPts val="2025"/>
              </a:lnSpc>
              <a:buNone/>
            </a:pPr>
            <a:r>
              <a:rPr lang="en-US" sz="1650" dirty="0">
                <a:solidFill>
                  <a:srgbClr val="FFFFFF"/>
                </a:solidFill>
                <a:latin typeface="Scotia Headline" pitchFamily="34" charset="0"/>
                <a:ea typeface="Scotia Headline" pitchFamily="34" charset="-122"/>
                <a:cs typeface="Scotia Headline" pitchFamily="34" charset="-120"/>
              </a:rPr>
              <a:t>Patterns and Context,</a:t>
            </a:r>
            <a:endParaRPr lang="en-US" sz="1650" dirty="0"/>
          </a:p>
          <a:p>
            <a:pPr algn="l" indent="0" marL="0">
              <a:lnSpc>
                <a:spcPts val="2025"/>
              </a:lnSpc>
              <a:buNone/>
            </a:pPr>
            <a:r>
              <a:rPr lang="en-US" sz="1650" dirty="0">
                <a:solidFill>
                  <a:srgbClr val="FFFFFF"/>
                </a:solidFill>
                <a:latin typeface="Scotia Headline" pitchFamily="34" charset="0"/>
                <a:ea typeface="Scotia Headline" pitchFamily="34" charset="-122"/>
                <a:cs typeface="Scotia Headline" pitchFamily="34" charset="-120"/>
              </a:rPr>
              <a:t>Not Just Models</a:t>
            </a:r>
            <a:endParaRPr lang="en-US" sz="1650" dirty="0"/>
          </a:p>
        </p:txBody>
      </p:sp>
      <p:sp>
        <p:nvSpPr>
          <p:cNvPr id="7" name="dk-tile"/>
          <p:cNvSpPr/>
          <p:nvPr/>
        </p:nvSpPr>
        <p:spPr>
          <a:xfrm>
            <a:off x="619125" y="2638425"/>
            <a:ext cx="3371850" cy="1676400"/>
          </a:xfrm>
          <a:prstGeom prst="roundRect">
            <a:avLst>
              <a:gd name="adj" fmla="val 6818"/>
            </a:avLst>
          </a:prstGeom>
          <a:solidFill>
            <a:srgbClr val="FFFFFF">
              <a:alpha val="4000"/>
            </a:srgbClr>
          </a:solidFill>
          <a:ln>
            <a:noFill/>
          </a:ln>
        </p:spPr>
      </p:sp>
      <p:sp>
        <p:nvSpPr>
          <p:cNvPr id="8" name="Text LUNA"/>
          <p:cNvSpPr txBox="1"/>
          <p:nvPr/>
        </p:nvSpPr>
        <p:spPr>
          <a:xfrm>
            <a:off x="1925538" y="2838450"/>
            <a:ext cx="378023" cy="123825"/>
          </a:xfrm>
          <a:prstGeom prst="rect">
            <a:avLst/>
          </a:prstGeom>
          <a:noFill/>
          <a:ln/>
        </p:spPr>
        <p:txBody>
          <a:bodyPr wrap="none" lIns="0" tIns="0" rIns="0" bIns="0" rtlCol="0" anchor="ctr"/>
          <a:lstStyle/>
          <a:p>
            <a:pPr algn="ctr" indent="0" marL="0">
              <a:buNone/>
            </a:pPr>
            <a:r>
              <a:rPr lang="en-US" sz="788" b="1" spc="113" kern="0" dirty="0">
                <a:solidFill>
                  <a:srgbClr val="B0AAFF"/>
                </a:solidFill>
                <a:latin typeface="Scotia" pitchFamily="34" charset="0"/>
                <a:ea typeface="Scotia" pitchFamily="34" charset="-122"/>
                <a:cs typeface="Scotia" pitchFamily="34" charset="-120"/>
              </a:rPr>
              <a:t>LUNA</a:t>
            </a:r>
            <a:endParaRPr lang="en-US" sz="788" dirty="0"/>
          </a:p>
        </p:txBody>
      </p:sp>
      <p:sp>
        <p:nvSpPr>
          <p:cNvPr id="9" name="Text SOL"/>
          <p:cNvSpPr txBox="1"/>
          <p:nvPr/>
        </p:nvSpPr>
        <p:spPr>
          <a:xfrm>
            <a:off x="2732410" y="2838450"/>
            <a:ext cx="288280" cy="123825"/>
          </a:xfrm>
          <a:prstGeom prst="rect">
            <a:avLst/>
          </a:prstGeom>
          <a:noFill/>
          <a:ln/>
        </p:spPr>
        <p:txBody>
          <a:bodyPr wrap="none" lIns="0" tIns="0" rIns="0" bIns="0" rtlCol="0" anchor="ctr"/>
          <a:lstStyle/>
          <a:p>
            <a:pPr algn="ctr" indent="0" marL="0">
              <a:buNone/>
            </a:pPr>
            <a:r>
              <a:rPr lang="en-US" sz="788" b="1" spc="113" kern="0" dirty="0">
                <a:solidFill>
                  <a:srgbClr val="B0AAFF"/>
                </a:solidFill>
                <a:latin typeface="Scotia" pitchFamily="34" charset="0"/>
                <a:ea typeface="Scotia" pitchFamily="34" charset="-122"/>
                <a:cs typeface="Scotia" pitchFamily="34" charset="-120"/>
              </a:rPr>
              <a:t>SOL</a:t>
            </a:r>
            <a:endParaRPr lang="en-US" sz="788" dirty="0"/>
          </a:p>
        </p:txBody>
      </p:sp>
      <p:sp>
        <p:nvSpPr>
          <p:cNvPr id="10" name="Text ASTRA"/>
          <p:cNvSpPr txBox="1"/>
          <p:nvPr/>
        </p:nvSpPr>
        <p:spPr>
          <a:xfrm>
            <a:off x="3415903" y="2838450"/>
            <a:ext cx="445294" cy="123825"/>
          </a:xfrm>
          <a:prstGeom prst="rect">
            <a:avLst/>
          </a:prstGeom>
          <a:noFill/>
          <a:ln/>
        </p:spPr>
        <p:txBody>
          <a:bodyPr wrap="none" lIns="0" tIns="0" rIns="0" bIns="0" rtlCol="0" anchor="ctr"/>
          <a:lstStyle/>
          <a:p>
            <a:pPr algn="ctr" indent="0" marL="0">
              <a:buNone/>
            </a:pPr>
            <a:r>
              <a:rPr lang="en-US" sz="788" b="1" spc="113" kern="0" dirty="0">
                <a:solidFill>
                  <a:srgbClr val="B0AAFF"/>
                </a:solidFill>
                <a:latin typeface="Scotia" pitchFamily="34" charset="0"/>
                <a:ea typeface="Scotia" pitchFamily="34" charset="-122"/>
                <a:cs typeface="Scotia" pitchFamily="34" charset="-120"/>
              </a:rPr>
              <a:t>ASTRA</a:t>
            </a:r>
            <a:endParaRPr lang="en-US" sz="788" dirty="0"/>
          </a:p>
        </p:txBody>
      </p:sp>
      <p:sp>
        <p:nvSpPr>
          <p:cNvPr id="11" name="Text PATTERNS"/>
          <p:cNvSpPr txBox="1"/>
          <p:nvPr/>
        </p:nvSpPr>
        <p:spPr>
          <a:xfrm>
            <a:off x="762000" y="2838450"/>
            <a:ext cx="657225" cy="123825"/>
          </a:xfrm>
          <a:prstGeom prst="rect">
            <a:avLst/>
          </a:prstGeom>
          <a:noFill/>
          <a:ln/>
        </p:spPr>
        <p:txBody>
          <a:bodyPr wrap="none" lIns="0" tIns="0" rIns="0" bIns="0" rtlCol="0" anchor="ctr"/>
          <a:lstStyle/>
          <a:p>
            <a:pPr algn="l" indent="0" marL="0">
              <a:buNone/>
            </a:pPr>
            <a:r>
              <a:rPr lang="en-US" sz="788" b="1" spc="113" kern="0" dirty="0">
                <a:solidFill>
                  <a:srgbClr val="8E8AB8"/>
                </a:solidFill>
                <a:latin typeface="Scotia" pitchFamily="34" charset="0"/>
                <a:ea typeface="Scotia" pitchFamily="34" charset="-122"/>
                <a:cs typeface="Scotia" pitchFamily="34" charset="-120"/>
              </a:rPr>
              <a:t>PATTERNS</a:t>
            </a:r>
            <a:endParaRPr lang="en-US" sz="788" dirty="0"/>
          </a:p>
        </p:txBody>
      </p:sp>
      <p:sp>
        <p:nvSpPr>
          <p:cNvPr id="12" name="svg rect"/>
          <p:cNvSpPr/>
          <p:nvPr/>
        </p:nvSpPr>
        <p:spPr>
          <a:xfrm>
            <a:off x="762000" y="3038475"/>
            <a:ext cx="876300" cy="133350"/>
          </a:xfrm>
          <a:prstGeom prst="roundRect">
            <a:avLst>
              <a:gd name="adj" fmla="val 50000"/>
            </a:avLst>
          </a:prstGeom>
          <a:solidFill>
            <a:srgbClr val="3B3392"/>
          </a:solidFill>
          <a:ln>
            <a:noFill/>
          </a:ln>
        </p:spPr>
      </p:sp>
      <p:sp>
        <p:nvSpPr>
          <p:cNvPr id="13" name="svg path"/>
          <p:cNvSpPr/>
          <p:nvPr/>
        </p:nvSpPr>
        <p:spPr>
          <a:xfrm>
            <a:off x="1485900" y="3048000"/>
            <a:ext cx="114300" cy="114300"/>
          </a:xfrm>
          <a:custGeom>
            <a:avLst/>
            <a:gdLst/>
            <a:ahLst/>
            <a:cxnLst/>
            <a:rect l="l" t="t" r="r" b="b"/>
            <a:pathLst>
              <a:path w="114300" h="114300">
                <a:moveTo>
                  <a:pt x="57150" y="0"/>
                </a:moveTo>
                <a:lnTo>
                  <a:pt x="114300" y="57150"/>
                </a:lnTo>
                <a:lnTo>
                  <a:pt x="57150" y="114300"/>
                </a:lnTo>
                <a:lnTo>
                  <a:pt x="0" y="57150"/>
                </a:lnTo>
                <a:close/>
              </a:path>
            </a:pathLst>
          </a:custGeom>
          <a:solidFill>
            <a:srgbClr val="E5485D"/>
          </a:solidFill>
          <a:ln>
            <a:noFill/>
          </a:ln>
        </p:spPr>
      </p:sp>
      <p:sp>
        <p:nvSpPr>
          <p:cNvPr id="14" name="svg rect"/>
          <p:cNvSpPr/>
          <p:nvPr/>
        </p:nvSpPr>
        <p:spPr>
          <a:xfrm>
            <a:off x="1790700" y="3038475"/>
            <a:ext cx="647700" cy="133350"/>
          </a:xfrm>
          <a:prstGeom prst="roundRect">
            <a:avLst>
              <a:gd name="adj" fmla="val 28571"/>
            </a:avLst>
          </a:prstGeom>
          <a:solidFill>
            <a:srgbClr val="6551FF">
              <a:alpha val="28000"/>
            </a:srgbClr>
          </a:solidFill>
          <a:ln>
            <a:noFill/>
          </a:ln>
        </p:spPr>
      </p:sp>
      <p:sp>
        <p:nvSpPr>
          <p:cNvPr id="15" name="svg rect"/>
          <p:cNvSpPr/>
          <p:nvPr/>
        </p:nvSpPr>
        <p:spPr>
          <a:xfrm>
            <a:off x="2552700" y="3038475"/>
            <a:ext cx="647700" cy="133350"/>
          </a:xfrm>
          <a:prstGeom prst="roundRect">
            <a:avLst>
              <a:gd name="adj" fmla="val 28571"/>
            </a:avLst>
          </a:prstGeom>
          <a:solidFill>
            <a:srgbClr val="6551FF">
              <a:alpha val="40000"/>
            </a:srgbClr>
          </a:solidFill>
          <a:ln>
            <a:noFill/>
          </a:ln>
        </p:spPr>
      </p:sp>
      <p:sp>
        <p:nvSpPr>
          <p:cNvPr id="16" name="svg rect"/>
          <p:cNvSpPr/>
          <p:nvPr/>
        </p:nvSpPr>
        <p:spPr>
          <a:xfrm>
            <a:off x="3314700" y="3038475"/>
            <a:ext cx="647700" cy="133350"/>
          </a:xfrm>
          <a:prstGeom prst="roundRect">
            <a:avLst>
              <a:gd name="adj" fmla="val 28571"/>
            </a:avLst>
          </a:prstGeom>
          <a:solidFill>
            <a:srgbClr val="6551FF">
              <a:alpha val="52000"/>
            </a:srgbClr>
          </a:solidFill>
          <a:ln>
            <a:noFill/>
          </a:ln>
        </p:spPr>
      </p:sp>
      <p:sp>
        <p:nvSpPr>
          <p:cNvPr id="17" name="svg rect"/>
          <p:cNvSpPr/>
          <p:nvPr/>
        </p:nvSpPr>
        <p:spPr>
          <a:xfrm>
            <a:off x="762000" y="3248025"/>
            <a:ext cx="876300" cy="133350"/>
          </a:xfrm>
          <a:prstGeom prst="roundRect">
            <a:avLst>
              <a:gd name="adj" fmla="val 50000"/>
            </a:avLst>
          </a:prstGeom>
          <a:solidFill>
            <a:srgbClr val="3B3392"/>
          </a:solidFill>
          <a:ln>
            <a:noFill/>
          </a:ln>
        </p:spPr>
      </p:sp>
      <p:sp>
        <p:nvSpPr>
          <p:cNvPr id="18" name="svg path"/>
          <p:cNvSpPr/>
          <p:nvPr/>
        </p:nvSpPr>
        <p:spPr>
          <a:xfrm>
            <a:off x="1485900" y="3257550"/>
            <a:ext cx="114300" cy="114300"/>
          </a:xfrm>
          <a:custGeom>
            <a:avLst/>
            <a:gdLst/>
            <a:ahLst/>
            <a:cxnLst/>
            <a:rect l="l" t="t" r="r" b="b"/>
            <a:pathLst>
              <a:path w="114300" h="114300">
                <a:moveTo>
                  <a:pt x="57150" y="0"/>
                </a:moveTo>
                <a:lnTo>
                  <a:pt x="114300" y="57150"/>
                </a:lnTo>
                <a:lnTo>
                  <a:pt x="57150" y="114300"/>
                </a:lnTo>
                <a:lnTo>
                  <a:pt x="0" y="57150"/>
                </a:lnTo>
                <a:close/>
              </a:path>
            </a:pathLst>
          </a:custGeom>
          <a:solidFill>
            <a:srgbClr val="E5485D"/>
          </a:solidFill>
          <a:ln>
            <a:noFill/>
          </a:ln>
        </p:spPr>
      </p:sp>
      <p:sp>
        <p:nvSpPr>
          <p:cNvPr id="19" name="svg rect"/>
          <p:cNvSpPr/>
          <p:nvPr/>
        </p:nvSpPr>
        <p:spPr>
          <a:xfrm>
            <a:off x="1790700" y="3248025"/>
            <a:ext cx="647700" cy="133350"/>
          </a:xfrm>
          <a:prstGeom prst="roundRect">
            <a:avLst>
              <a:gd name="adj" fmla="val 28571"/>
            </a:avLst>
          </a:prstGeom>
          <a:solidFill>
            <a:srgbClr val="6551FF">
              <a:alpha val="28000"/>
            </a:srgbClr>
          </a:solidFill>
          <a:ln>
            <a:noFill/>
          </a:ln>
        </p:spPr>
      </p:sp>
      <p:sp>
        <p:nvSpPr>
          <p:cNvPr id="20" name="svg rect"/>
          <p:cNvSpPr/>
          <p:nvPr/>
        </p:nvSpPr>
        <p:spPr>
          <a:xfrm>
            <a:off x="2552700" y="3248025"/>
            <a:ext cx="647700" cy="133350"/>
          </a:xfrm>
          <a:prstGeom prst="roundRect">
            <a:avLst>
              <a:gd name="adj" fmla="val 28571"/>
            </a:avLst>
          </a:prstGeom>
          <a:solidFill>
            <a:srgbClr val="6551FF">
              <a:alpha val="40000"/>
            </a:srgbClr>
          </a:solidFill>
          <a:ln>
            <a:noFill/>
          </a:ln>
        </p:spPr>
      </p:sp>
      <p:sp>
        <p:nvSpPr>
          <p:cNvPr id="21" name="svg rect"/>
          <p:cNvSpPr/>
          <p:nvPr/>
        </p:nvSpPr>
        <p:spPr>
          <a:xfrm>
            <a:off x="3314700" y="3248025"/>
            <a:ext cx="647700" cy="133350"/>
          </a:xfrm>
          <a:prstGeom prst="roundRect">
            <a:avLst>
              <a:gd name="adj" fmla="val 28571"/>
            </a:avLst>
          </a:prstGeom>
          <a:solidFill>
            <a:srgbClr val="6551FF">
              <a:alpha val="52000"/>
            </a:srgbClr>
          </a:solidFill>
          <a:ln>
            <a:noFill/>
          </a:ln>
        </p:spPr>
      </p:sp>
      <p:sp>
        <p:nvSpPr>
          <p:cNvPr id="22" name="svg rect"/>
          <p:cNvSpPr/>
          <p:nvPr/>
        </p:nvSpPr>
        <p:spPr>
          <a:xfrm>
            <a:off x="762000" y="3457575"/>
            <a:ext cx="876300" cy="133350"/>
          </a:xfrm>
          <a:prstGeom prst="roundRect">
            <a:avLst>
              <a:gd name="adj" fmla="val 50000"/>
            </a:avLst>
          </a:prstGeom>
          <a:solidFill>
            <a:srgbClr val="3B3392"/>
          </a:solidFill>
          <a:ln>
            <a:noFill/>
          </a:ln>
        </p:spPr>
      </p:sp>
      <p:sp>
        <p:nvSpPr>
          <p:cNvPr id="23" name="svg path"/>
          <p:cNvSpPr/>
          <p:nvPr/>
        </p:nvSpPr>
        <p:spPr>
          <a:xfrm>
            <a:off x="1485900" y="3467100"/>
            <a:ext cx="114300" cy="114300"/>
          </a:xfrm>
          <a:custGeom>
            <a:avLst/>
            <a:gdLst/>
            <a:ahLst/>
            <a:cxnLst/>
            <a:rect l="l" t="t" r="r" b="b"/>
            <a:pathLst>
              <a:path w="114300" h="114300">
                <a:moveTo>
                  <a:pt x="57150" y="0"/>
                </a:moveTo>
                <a:lnTo>
                  <a:pt x="114300" y="57150"/>
                </a:lnTo>
                <a:lnTo>
                  <a:pt x="57150" y="114300"/>
                </a:lnTo>
                <a:lnTo>
                  <a:pt x="0" y="57150"/>
                </a:lnTo>
                <a:close/>
              </a:path>
            </a:pathLst>
          </a:custGeom>
          <a:solidFill>
            <a:srgbClr val="E5485D"/>
          </a:solidFill>
          <a:ln>
            <a:noFill/>
          </a:ln>
        </p:spPr>
      </p:sp>
      <p:sp>
        <p:nvSpPr>
          <p:cNvPr id="24" name="svg rect"/>
          <p:cNvSpPr/>
          <p:nvPr/>
        </p:nvSpPr>
        <p:spPr>
          <a:xfrm>
            <a:off x="1790700" y="3457575"/>
            <a:ext cx="647700" cy="133350"/>
          </a:xfrm>
          <a:prstGeom prst="roundRect">
            <a:avLst>
              <a:gd name="adj" fmla="val 28571"/>
            </a:avLst>
          </a:prstGeom>
          <a:solidFill>
            <a:srgbClr val="6551FF">
              <a:alpha val="28000"/>
            </a:srgbClr>
          </a:solidFill>
          <a:ln>
            <a:noFill/>
          </a:ln>
        </p:spPr>
      </p:sp>
      <p:sp>
        <p:nvSpPr>
          <p:cNvPr id="25" name="svg rect"/>
          <p:cNvSpPr/>
          <p:nvPr/>
        </p:nvSpPr>
        <p:spPr>
          <a:xfrm>
            <a:off x="2552700" y="3457575"/>
            <a:ext cx="647700" cy="133350"/>
          </a:xfrm>
          <a:prstGeom prst="roundRect">
            <a:avLst>
              <a:gd name="adj" fmla="val 28571"/>
            </a:avLst>
          </a:prstGeom>
          <a:solidFill>
            <a:srgbClr val="6551FF">
              <a:alpha val="40000"/>
            </a:srgbClr>
          </a:solidFill>
          <a:ln>
            <a:noFill/>
          </a:ln>
        </p:spPr>
      </p:sp>
      <p:sp>
        <p:nvSpPr>
          <p:cNvPr id="26" name="svg rect"/>
          <p:cNvSpPr/>
          <p:nvPr/>
        </p:nvSpPr>
        <p:spPr>
          <a:xfrm>
            <a:off x="3314700" y="3457575"/>
            <a:ext cx="647700" cy="133350"/>
          </a:xfrm>
          <a:prstGeom prst="roundRect">
            <a:avLst>
              <a:gd name="adj" fmla="val 28571"/>
            </a:avLst>
          </a:prstGeom>
          <a:solidFill>
            <a:srgbClr val="6551FF">
              <a:alpha val="52000"/>
            </a:srgbClr>
          </a:solidFill>
          <a:ln>
            <a:noFill/>
          </a:ln>
        </p:spPr>
      </p:sp>
      <p:sp>
        <p:nvSpPr>
          <p:cNvPr id="27" name="svg rect"/>
          <p:cNvSpPr/>
          <p:nvPr/>
        </p:nvSpPr>
        <p:spPr>
          <a:xfrm>
            <a:off x="762000" y="3667125"/>
            <a:ext cx="876300" cy="133350"/>
          </a:xfrm>
          <a:prstGeom prst="roundRect">
            <a:avLst>
              <a:gd name="adj" fmla="val 50000"/>
            </a:avLst>
          </a:prstGeom>
          <a:solidFill>
            <a:srgbClr val="3B3392"/>
          </a:solidFill>
          <a:ln>
            <a:noFill/>
          </a:ln>
        </p:spPr>
      </p:sp>
      <p:sp>
        <p:nvSpPr>
          <p:cNvPr id="28" name="svg path"/>
          <p:cNvSpPr/>
          <p:nvPr/>
        </p:nvSpPr>
        <p:spPr>
          <a:xfrm>
            <a:off x="1485900" y="3676650"/>
            <a:ext cx="114300" cy="114300"/>
          </a:xfrm>
          <a:custGeom>
            <a:avLst/>
            <a:gdLst/>
            <a:ahLst/>
            <a:cxnLst/>
            <a:rect l="l" t="t" r="r" b="b"/>
            <a:pathLst>
              <a:path w="114300" h="114300">
                <a:moveTo>
                  <a:pt x="57150" y="0"/>
                </a:moveTo>
                <a:lnTo>
                  <a:pt x="114300" y="57150"/>
                </a:lnTo>
                <a:lnTo>
                  <a:pt x="57150" y="114300"/>
                </a:lnTo>
                <a:lnTo>
                  <a:pt x="0" y="57150"/>
                </a:lnTo>
                <a:close/>
              </a:path>
            </a:pathLst>
          </a:custGeom>
          <a:solidFill>
            <a:srgbClr val="E5485D"/>
          </a:solidFill>
          <a:ln>
            <a:noFill/>
          </a:ln>
        </p:spPr>
      </p:sp>
      <p:sp>
        <p:nvSpPr>
          <p:cNvPr id="29" name="svg rect"/>
          <p:cNvSpPr/>
          <p:nvPr/>
        </p:nvSpPr>
        <p:spPr>
          <a:xfrm>
            <a:off x="1790700" y="3667125"/>
            <a:ext cx="647700" cy="133350"/>
          </a:xfrm>
          <a:prstGeom prst="roundRect">
            <a:avLst>
              <a:gd name="adj" fmla="val 28571"/>
            </a:avLst>
          </a:prstGeom>
          <a:solidFill>
            <a:srgbClr val="6551FF">
              <a:alpha val="28000"/>
            </a:srgbClr>
          </a:solidFill>
          <a:ln>
            <a:noFill/>
          </a:ln>
        </p:spPr>
      </p:sp>
      <p:sp>
        <p:nvSpPr>
          <p:cNvPr id="30" name="svg rect"/>
          <p:cNvSpPr/>
          <p:nvPr/>
        </p:nvSpPr>
        <p:spPr>
          <a:xfrm>
            <a:off x="2552700" y="3667125"/>
            <a:ext cx="647700" cy="133350"/>
          </a:xfrm>
          <a:prstGeom prst="roundRect">
            <a:avLst>
              <a:gd name="adj" fmla="val 28571"/>
            </a:avLst>
          </a:prstGeom>
          <a:solidFill>
            <a:srgbClr val="6551FF">
              <a:alpha val="40000"/>
            </a:srgbClr>
          </a:solidFill>
          <a:ln>
            <a:noFill/>
          </a:ln>
        </p:spPr>
      </p:sp>
      <p:sp>
        <p:nvSpPr>
          <p:cNvPr id="31" name="svg rect"/>
          <p:cNvSpPr/>
          <p:nvPr/>
        </p:nvSpPr>
        <p:spPr>
          <a:xfrm>
            <a:off x="3314700" y="3667125"/>
            <a:ext cx="647700" cy="133350"/>
          </a:xfrm>
          <a:prstGeom prst="roundRect">
            <a:avLst>
              <a:gd name="adj" fmla="val 28571"/>
            </a:avLst>
          </a:prstGeom>
          <a:solidFill>
            <a:srgbClr val="6551FF">
              <a:alpha val="52000"/>
            </a:srgbClr>
          </a:solidFill>
          <a:ln>
            <a:noFill/>
          </a:ln>
        </p:spPr>
      </p:sp>
      <p:sp>
        <p:nvSpPr>
          <p:cNvPr id="32" name="svg rect"/>
          <p:cNvSpPr/>
          <p:nvPr/>
        </p:nvSpPr>
        <p:spPr>
          <a:xfrm>
            <a:off x="762000" y="3876675"/>
            <a:ext cx="876300" cy="133350"/>
          </a:xfrm>
          <a:prstGeom prst="roundRect">
            <a:avLst>
              <a:gd name="adj" fmla="val 50000"/>
            </a:avLst>
          </a:prstGeom>
          <a:solidFill>
            <a:srgbClr val="3B3392"/>
          </a:solidFill>
          <a:ln>
            <a:noFill/>
          </a:ln>
        </p:spPr>
      </p:sp>
      <p:sp>
        <p:nvSpPr>
          <p:cNvPr id="33" name="svg path"/>
          <p:cNvSpPr/>
          <p:nvPr/>
        </p:nvSpPr>
        <p:spPr>
          <a:xfrm>
            <a:off x="1485900" y="3886200"/>
            <a:ext cx="114300" cy="114300"/>
          </a:xfrm>
          <a:custGeom>
            <a:avLst/>
            <a:gdLst/>
            <a:ahLst/>
            <a:cxnLst/>
            <a:rect l="l" t="t" r="r" b="b"/>
            <a:pathLst>
              <a:path w="114300" h="114300">
                <a:moveTo>
                  <a:pt x="57150" y="0"/>
                </a:moveTo>
                <a:lnTo>
                  <a:pt x="114300" y="57150"/>
                </a:lnTo>
                <a:lnTo>
                  <a:pt x="57150" y="114300"/>
                </a:lnTo>
                <a:lnTo>
                  <a:pt x="0" y="57150"/>
                </a:lnTo>
                <a:close/>
              </a:path>
            </a:pathLst>
          </a:custGeom>
          <a:solidFill>
            <a:srgbClr val="E5485D"/>
          </a:solidFill>
          <a:ln>
            <a:noFill/>
          </a:ln>
        </p:spPr>
      </p:sp>
      <p:sp>
        <p:nvSpPr>
          <p:cNvPr id="34" name="svg rect"/>
          <p:cNvSpPr/>
          <p:nvPr/>
        </p:nvSpPr>
        <p:spPr>
          <a:xfrm>
            <a:off x="1790700" y="3876675"/>
            <a:ext cx="647700" cy="133350"/>
          </a:xfrm>
          <a:prstGeom prst="roundRect">
            <a:avLst>
              <a:gd name="adj" fmla="val 28571"/>
            </a:avLst>
          </a:prstGeom>
          <a:solidFill>
            <a:srgbClr val="6551FF">
              <a:alpha val="28000"/>
            </a:srgbClr>
          </a:solidFill>
          <a:ln>
            <a:noFill/>
          </a:ln>
        </p:spPr>
      </p:sp>
      <p:sp>
        <p:nvSpPr>
          <p:cNvPr id="35" name="svg rect"/>
          <p:cNvSpPr/>
          <p:nvPr/>
        </p:nvSpPr>
        <p:spPr>
          <a:xfrm>
            <a:off x="2552700" y="3876675"/>
            <a:ext cx="647700" cy="133350"/>
          </a:xfrm>
          <a:prstGeom prst="roundRect">
            <a:avLst>
              <a:gd name="adj" fmla="val 28571"/>
            </a:avLst>
          </a:prstGeom>
          <a:solidFill>
            <a:srgbClr val="6551FF">
              <a:alpha val="40000"/>
            </a:srgbClr>
          </a:solidFill>
          <a:ln>
            <a:noFill/>
          </a:ln>
        </p:spPr>
      </p:sp>
      <p:sp>
        <p:nvSpPr>
          <p:cNvPr id="36" name="svg rect"/>
          <p:cNvSpPr/>
          <p:nvPr/>
        </p:nvSpPr>
        <p:spPr>
          <a:xfrm>
            <a:off x="3314700" y="3876675"/>
            <a:ext cx="647700" cy="133350"/>
          </a:xfrm>
          <a:prstGeom prst="roundRect">
            <a:avLst>
              <a:gd name="adj" fmla="val 28571"/>
            </a:avLst>
          </a:prstGeom>
          <a:solidFill>
            <a:srgbClr val="6551FF">
              <a:alpha val="52000"/>
            </a:srgbClr>
          </a:solidFill>
          <a:ln>
            <a:noFill/>
          </a:ln>
        </p:spPr>
      </p:sp>
      <p:sp>
        <p:nvSpPr>
          <p:cNvPr id="37" name="svg path"/>
          <p:cNvSpPr/>
          <p:nvPr/>
        </p:nvSpPr>
        <p:spPr>
          <a:xfrm>
            <a:off x="2590800" y="4105275"/>
            <a:ext cx="114300" cy="114300"/>
          </a:xfrm>
          <a:custGeom>
            <a:avLst/>
            <a:gdLst/>
            <a:ahLst/>
            <a:cxnLst/>
            <a:rect l="l" t="t" r="r" b="b"/>
            <a:pathLst>
              <a:path w="114300" h="114300">
                <a:moveTo>
                  <a:pt x="0" y="57150"/>
                </a:moveTo>
                <a:lnTo>
                  <a:pt x="57150" y="0"/>
                </a:lnTo>
                <a:lnTo>
                  <a:pt x="114300" y="57150"/>
                </a:lnTo>
                <a:lnTo>
                  <a:pt x="57150" y="114300"/>
                </a:lnTo>
                <a:close/>
              </a:path>
            </a:pathLst>
          </a:custGeom>
          <a:solidFill>
            <a:srgbClr val="E5485D"/>
          </a:solidFill>
          <a:ln>
            <a:noFill/>
          </a:ln>
        </p:spPr>
      </p:sp>
      <p:sp>
        <p:nvSpPr>
          <p:cNvPr id="38" name="Text task with a hidden trap"/>
          <p:cNvSpPr txBox="1"/>
          <p:nvPr/>
        </p:nvSpPr>
        <p:spPr>
          <a:xfrm>
            <a:off x="2762250" y="4114800"/>
            <a:ext cx="1122313" cy="123825"/>
          </a:xfrm>
          <a:prstGeom prst="rect">
            <a:avLst/>
          </a:prstGeom>
          <a:noFill/>
          <a:ln/>
        </p:spPr>
        <p:txBody>
          <a:bodyPr wrap="none" lIns="0" tIns="0" rIns="0" bIns="0" rtlCol="0" anchor="ctr"/>
          <a:lstStyle/>
          <a:p>
            <a:pPr algn="l" indent="0" marL="0">
              <a:buNone/>
            </a:pPr>
            <a:r>
              <a:rPr lang="en-US" sz="825" dirty="0">
                <a:solidFill>
                  <a:srgbClr val="A9A6CF"/>
                </a:solidFill>
                <a:latin typeface="Scotia" pitchFamily="34" charset="0"/>
                <a:ea typeface="Scotia" pitchFamily="34" charset="-122"/>
                <a:cs typeface="Scotia" pitchFamily="34" charset="-120"/>
              </a:rPr>
              <a:t>task with a hidden trap</a:t>
            </a:r>
            <a:endParaRPr lang="en-US" sz="825" dirty="0"/>
          </a:p>
        </p:txBody>
      </p:sp>
      <p:sp>
        <p:nvSpPr>
          <p:cNvPr id="39" name="dk-card"/>
          <p:cNvSpPr/>
          <p:nvPr/>
        </p:nvSpPr>
        <p:spPr>
          <a:xfrm>
            <a:off x="4367213" y="1566863"/>
            <a:ext cx="2657475" cy="3876675"/>
          </a:xfrm>
          <a:prstGeom prst="roundRect">
            <a:avLst>
              <a:gd name="adj" fmla="val 5556"/>
            </a:avLst>
          </a:prstGeom>
          <a:gradFill rotWithShape="1">
            <a:gsLst>
              <a:gs pos="0">
                <a:srgbClr val="1A1550"/>
              </a:gs>
              <a:gs pos="100000">
                <a:srgbClr val="120E36"/>
              </a:gs>
            </a:gsLst>
            <a:lin ang="5400000" scaled="0"/>
          </a:gradFill>
          <a:ln w="9525">
            <a:solidFill>
              <a:srgbClr val="3B3392"/>
            </a:solidFill>
          </a:ln>
        </p:spPr>
      </p:sp>
      <p:sp>
        <p:nvSpPr>
          <p:cNvPr id="40" name="Text 02 FIRST RUN"/>
          <p:cNvSpPr txBox="1"/>
          <p:nvPr/>
        </p:nvSpPr>
        <p:spPr>
          <a:xfrm>
            <a:off x="4581525" y="1738313"/>
            <a:ext cx="9687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02 · FIRST RUN</a:t>
            </a:r>
            <a:endParaRPr lang="en-US" sz="825" dirty="0"/>
          </a:p>
        </p:txBody>
      </p:sp>
      <p:sp>
        <p:nvSpPr>
          <p:cNvPr id="41" name="Text 100"/>
          <p:cNvSpPr txBox="1"/>
          <p:nvPr/>
        </p:nvSpPr>
        <p:spPr>
          <a:xfrm>
            <a:off x="4581525" y="2062163"/>
            <a:ext cx="1689497" cy="723900"/>
          </a:xfrm>
          <a:prstGeom prst="rect">
            <a:avLst/>
          </a:prstGeom>
          <a:noFill/>
          <a:ln/>
        </p:spPr>
        <p:txBody>
          <a:bodyPr wrap="none" lIns="0" tIns="0" rIns="0" bIns="0" rtlCol="0" anchor="ctr"/>
          <a:lstStyle/>
          <a:p>
            <a:pPr algn="l" indent="0" marL="0">
              <a:buNone/>
            </a:pPr>
            <a:r>
              <a:rPr lang="en-US" sz="5400" spc="-108" kern="0" dirty="0">
                <a:solidFill>
                  <a:srgbClr val="FFFFFF"/>
                </a:solidFill>
                <a:latin typeface="Scotia Headline" pitchFamily="34" charset="0"/>
                <a:ea typeface="Scotia Headline" pitchFamily="34" charset="-122"/>
                <a:cs typeface="Scotia Headline" pitchFamily="34" charset="-120"/>
              </a:rPr>
              <a:t>100%</a:t>
            </a:r>
            <a:endParaRPr lang="en-US" sz="5400" dirty="0"/>
          </a:p>
        </p:txBody>
      </p:sp>
      <p:sp>
        <p:nvSpPr>
          <p:cNvPr id="42" name="Text Sol and Astra on needle-in-a-h"/>
          <p:cNvSpPr txBox="1"/>
          <p:nvPr/>
        </p:nvSpPr>
        <p:spPr>
          <a:xfrm>
            <a:off x="4581525" y="2905125"/>
            <a:ext cx="2186575" cy="742950"/>
          </a:xfrm>
          <a:prstGeom prst="rect">
            <a:avLst/>
          </a:prstGeom>
          <a:noFill/>
          <a:ln/>
        </p:spPr>
        <p:txBody>
          <a:bodyPr wrap="square" lIns="0" tIns="0" rIns="0" bIns="0" rtlCol="0" anchor="t"/>
          <a:lstStyle/>
          <a:p>
            <a:pPr algn="l" indent="0" marL="0">
              <a:lnSpc>
                <a:spcPts val="1950"/>
              </a:lnSpc>
              <a:buNone/>
            </a:pPr>
            <a:r>
              <a:rPr lang="en-US" sz="1500" dirty="0">
                <a:solidFill>
                  <a:srgbClr val="FFFFFF"/>
                </a:solidFill>
                <a:latin typeface="Scotia Headline" pitchFamily="34" charset="0"/>
                <a:ea typeface="Scotia Headline" pitchFamily="34" charset="-122"/>
                <a:cs typeface="Scotia Headline" pitchFamily="34" charset="-120"/>
              </a:rPr>
              <a:t>Sol and Astra on </a:t>
            </a:r>
            <a:pPr algn="l" indent="0" marL="0">
              <a:lnSpc>
                <a:spcPts val="1950"/>
              </a:lnSpc>
              <a:buNone/>
            </a:pPr>
            <a:r>
              <a:rPr lang="en-US" sz="1500" dirty="0">
                <a:solidFill>
                  <a:srgbClr val="FFFFFF"/>
                </a:solidFill>
                <a:latin typeface="Scotia Headline" pitchFamily="34" charset="0"/>
                <a:ea typeface="Scotia Headline" pitchFamily="34" charset="-122"/>
                <a:cs typeface="Scotia Headline" pitchFamily="34" charset="-120"/>
              </a:rPr>
              <a:t>needle-in-a-haystack</a:t>
            </a:r>
            <a:pPr algn="l" indent="0" marL="0">
              <a:lnSpc>
                <a:spcPts val="1950"/>
              </a:lnSpc>
              <a:buNone/>
            </a:pPr>
            <a:r>
              <a:rPr lang="en-US" sz="1500" dirty="0">
                <a:solidFill>
                  <a:srgbClr val="FFFFFF"/>
                </a:solidFill>
                <a:latin typeface="Scotia Headline" pitchFamily="34" charset="0"/>
                <a:ea typeface="Scotia Headline" pitchFamily="34" charset="-122"/>
                <a:cs typeface="Scotia Headline" pitchFamily="34" charset="-120"/>
              </a:rPr>
              <a:t> questions</a:t>
            </a:r>
            <a:endParaRPr lang="en-US" sz="1500" dirty="0"/>
          </a:p>
        </p:txBody>
      </p:sp>
      <p:sp>
        <p:nvSpPr>
          <p:cNvPr id="43" name="svg rect"/>
          <p:cNvSpPr/>
          <p:nvPr/>
        </p:nvSpPr>
        <p:spPr>
          <a:xfrm>
            <a:off x="4615259" y="3884612"/>
            <a:ext cx="244078" cy="48816"/>
          </a:xfrm>
          <a:prstGeom prst="roundRect">
            <a:avLst>
              <a:gd name="adj" fmla="val 50000"/>
            </a:avLst>
          </a:prstGeom>
          <a:solidFill>
            <a:srgbClr val="3B3392"/>
          </a:solidFill>
          <a:ln>
            <a:noFill/>
          </a:ln>
        </p:spPr>
      </p:sp>
      <p:sp>
        <p:nvSpPr>
          <p:cNvPr id="44" name="svg rect"/>
          <p:cNvSpPr/>
          <p:nvPr/>
        </p:nvSpPr>
        <p:spPr>
          <a:xfrm>
            <a:off x="4924425" y="3884612"/>
            <a:ext cx="195263" cy="48816"/>
          </a:xfrm>
          <a:prstGeom prst="roundRect">
            <a:avLst>
              <a:gd name="adj" fmla="val 50000"/>
            </a:avLst>
          </a:prstGeom>
          <a:solidFill>
            <a:srgbClr val="3B3392"/>
          </a:solidFill>
          <a:ln>
            <a:noFill/>
          </a:ln>
        </p:spPr>
      </p:sp>
      <p:sp>
        <p:nvSpPr>
          <p:cNvPr id="45" name="svg rect"/>
          <p:cNvSpPr/>
          <p:nvPr/>
        </p:nvSpPr>
        <p:spPr>
          <a:xfrm>
            <a:off x="5184775" y="3884612"/>
            <a:ext cx="292894" cy="48816"/>
          </a:xfrm>
          <a:prstGeom prst="roundRect">
            <a:avLst>
              <a:gd name="adj" fmla="val 50000"/>
            </a:avLst>
          </a:prstGeom>
          <a:solidFill>
            <a:srgbClr val="3B3392"/>
          </a:solidFill>
          <a:ln>
            <a:noFill/>
          </a:ln>
        </p:spPr>
      </p:sp>
      <p:sp>
        <p:nvSpPr>
          <p:cNvPr id="46" name="svg rect"/>
          <p:cNvSpPr/>
          <p:nvPr/>
        </p:nvSpPr>
        <p:spPr>
          <a:xfrm>
            <a:off x="5542756" y="3884612"/>
            <a:ext cx="146447" cy="48816"/>
          </a:xfrm>
          <a:prstGeom prst="roundRect">
            <a:avLst>
              <a:gd name="adj" fmla="val 50000"/>
            </a:avLst>
          </a:prstGeom>
          <a:solidFill>
            <a:srgbClr val="3B3392"/>
          </a:solidFill>
          <a:ln>
            <a:noFill/>
          </a:ln>
        </p:spPr>
      </p:sp>
      <p:sp>
        <p:nvSpPr>
          <p:cNvPr id="47" name="svg rect"/>
          <p:cNvSpPr/>
          <p:nvPr/>
        </p:nvSpPr>
        <p:spPr>
          <a:xfrm>
            <a:off x="5754291" y="3884612"/>
            <a:ext cx="146447" cy="48816"/>
          </a:xfrm>
          <a:prstGeom prst="roundRect">
            <a:avLst>
              <a:gd name="adj" fmla="val 50000"/>
            </a:avLst>
          </a:prstGeom>
          <a:solidFill>
            <a:srgbClr val="3B3392"/>
          </a:solidFill>
          <a:ln>
            <a:noFill/>
          </a:ln>
        </p:spPr>
      </p:sp>
      <p:sp>
        <p:nvSpPr>
          <p:cNvPr id="48" name="svg rect"/>
          <p:cNvSpPr/>
          <p:nvPr/>
        </p:nvSpPr>
        <p:spPr>
          <a:xfrm>
            <a:off x="5965825" y="3884612"/>
            <a:ext cx="341709" cy="48816"/>
          </a:xfrm>
          <a:prstGeom prst="roundRect">
            <a:avLst>
              <a:gd name="adj" fmla="val 50000"/>
            </a:avLst>
          </a:prstGeom>
          <a:solidFill>
            <a:srgbClr val="3B3392"/>
          </a:solidFill>
          <a:ln>
            <a:noFill/>
          </a:ln>
        </p:spPr>
      </p:sp>
      <p:sp>
        <p:nvSpPr>
          <p:cNvPr id="49" name="svg rect"/>
          <p:cNvSpPr/>
          <p:nvPr/>
        </p:nvSpPr>
        <p:spPr>
          <a:xfrm>
            <a:off x="6372622" y="3884612"/>
            <a:ext cx="146447" cy="48816"/>
          </a:xfrm>
          <a:prstGeom prst="roundRect">
            <a:avLst>
              <a:gd name="adj" fmla="val 50000"/>
            </a:avLst>
          </a:prstGeom>
          <a:solidFill>
            <a:srgbClr val="3B3392"/>
          </a:solidFill>
          <a:ln>
            <a:noFill/>
          </a:ln>
        </p:spPr>
      </p:sp>
      <p:sp>
        <p:nvSpPr>
          <p:cNvPr id="50" name="svg rect"/>
          <p:cNvSpPr/>
          <p:nvPr/>
        </p:nvSpPr>
        <p:spPr>
          <a:xfrm>
            <a:off x="4615259" y="4006652"/>
            <a:ext cx="341709" cy="48816"/>
          </a:xfrm>
          <a:prstGeom prst="roundRect">
            <a:avLst>
              <a:gd name="adj" fmla="val 50000"/>
            </a:avLst>
          </a:prstGeom>
          <a:solidFill>
            <a:srgbClr val="3B3392"/>
          </a:solidFill>
          <a:ln>
            <a:noFill/>
          </a:ln>
        </p:spPr>
      </p:sp>
      <p:sp>
        <p:nvSpPr>
          <p:cNvPr id="51" name="svg rect"/>
          <p:cNvSpPr/>
          <p:nvPr/>
        </p:nvSpPr>
        <p:spPr>
          <a:xfrm>
            <a:off x="5022056" y="4006652"/>
            <a:ext cx="146447" cy="48816"/>
          </a:xfrm>
          <a:prstGeom prst="roundRect">
            <a:avLst>
              <a:gd name="adj" fmla="val 50000"/>
            </a:avLst>
          </a:prstGeom>
          <a:solidFill>
            <a:srgbClr val="3B3392"/>
          </a:solidFill>
          <a:ln>
            <a:noFill/>
          </a:ln>
        </p:spPr>
      </p:sp>
      <p:sp>
        <p:nvSpPr>
          <p:cNvPr id="52" name="svg rect"/>
          <p:cNvSpPr/>
          <p:nvPr/>
        </p:nvSpPr>
        <p:spPr>
          <a:xfrm>
            <a:off x="5233591" y="4006652"/>
            <a:ext cx="341709" cy="48816"/>
          </a:xfrm>
          <a:prstGeom prst="roundRect">
            <a:avLst>
              <a:gd name="adj" fmla="val 50000"/>
            </a:avLst>
          </a:prstGeom>
          <a:solidFill>
            <a:srgbClr val="3B3392"/>
          </a:solidFill>
          <a:ln>
            <a:noFill/>
          </a:ln>
        </p:spPr>
      </p:sp>
      <p:sp>
        <p:nvSpPr>
          <p:cNvPr id="53" name="svg rect"/>
          <p:cNvSpPr/>
          <p:nvPr/>
        </p:nvSpPr>
        <p:spPr>
          <a:xfrm>
            <a:off x="5640388" y="4006652"/>
            <a:ext cx="195263" cy="48816"/>
          </a:xfrm>
          <a:prstGeom prst="roundRect">
            <a:avLst>
              <a:gd name="adj" fmla="val 50000"/>
            </a:avLst>
          </a:prstGeom>
          <a:solidFill>
            <a:srgbClr val="3B3392"/>
          </a:solidFill>
          <a:ln>
            <a:noFill/>
          </a:ln>
        </p:spPr>
      </p:sp>
      <p:sp>
        <p:nvSpPr>
          <p:cNvPr id="54" name="svg rect"/>
          <p:cNvSpPr/>
          <p:nvPr/>
        </p:nvSpPr>
        <p:spPr>
          <a:xfrm>
            <a:off x="5900738" y="4006652"/>
            <a:ext cx="146447" cy="48816"/>
          </a:xfrm>
          <a:prstGeom prst="roundRect">
            <a:avLst>
              <a:gd name="adj" fmla="val 50000"/>
            </a:avLst>
          </a:prstGeom>
          <a:solidFill>
            <a:srgbClr val="3B3392"/>
          </a:solidFill>
          <a:ln>
            <a:noFill/>
          </a:ln>
        </p:spPr>
      </p:sp>
      <p:sp>
        <p:nvSpPr>
          <p:cNvPr id="55" name="svg rect"/>
          <p:cNvSpPr/>
          <p:nvPr/>
        </p:nvSpPr>
        <p:spPr>
          <a:xfrm>
            <a:off x="6112272" y="4006652"/>
            <a:ext cx="146447" cy="48816"/>
          </a:xfrm>
          <a:prstGeom prst="roundRect">
            <a:avLst>
              <a:gd name="adj" fmla="val 50000"/>
            </a:avLst>
          </a:prstGeom>
          <a:solidFill>
            <a:srgbClr val="3B3392"/>
          </a:solidFill>
          <a:ln>
            <a:noFill/>
          </a:ln>
        </p:spPr>
      </p:sp>
      <p:sp>
        <p:nvSpPr>
          <p:cNvPr id="56" name="svg rect"/>
          <p:cNvSpPr/>
          <p:nvPr/>
        </p:nvSpPr>
        <p:spPr>
          <a:xfrm>
            <a:off x="6323806" y="4006652"/>
            <a:ext cx="292894" cy="48816"/>
          </a:xfrm>
          <a:prstGeom prst="roundRect">
            <a:avLst>
              <a:gd name="adj" fmla="val 50000"/>
            </a:avLst>
          </a:prstGeom>
          <a:solidFill>
            <a:srgbClr val="3B3392"/>
          </a:solidFill>
          <a:ln>
            <a:noFill/>
          </a:ln>
        </p:spPr>
      </p:sp>
      <p:sp>
        <p:nvSpPr>
          <p:cNvPr id="57" name="svg rect"/>
          <p:cNvSpPr/>
          <p:nvPr/>
        </p:nvSpPr>
        <p:spPr>
          <a:xfrm>
            <a:off x="4615259" y="4128691"/>
            <a:ext cx="146447" cy="48816"/>
          </a:xfrm>
          <a:prstGeom prst="roundRect">
            <a:avLst>
              <a:gd name="adj" fmla="val 50000"/>
            </a:avLst>
          </a:prstGeom>
          <a:solidFill>
            <a:srgbClr val="3B3392"/>
          </a:solidFill>
          <a:ln>
            <a:noFill/>
          </a:ln>
        </p:spPr>
      </p:sp>
      <p:sp>
        <p:nvSpPr>
          <p:cNvPr id="58" name="svg rect"/>
          <p:cNvSpPr/>
          <p:nvPr/>
        </p:nvSpPr>
        <p:spPr>
          <a:xfrm>
            <a:off x="4826794" y="4128691"/>
            <a:ext cx="195263" cy="48816"/>
          </a:xfrm>
          <a:prstGeom prst="roundRect">
            <a:avLst>
              <a:gd name="adj" fmla="val 50000"/>
            </a:avLst>
          </a:prstGeom>
          <a:solidFill>
            <a:srgbClr val="3B3392"/>
          </a:solidFill>
          <a:ln>
            <a:noFill/>
          </a:ln>
        </p:spPr>
      </p:sp>
      <p:sp>
        <p:nvSpPr>
          <p:cNvPr id="59" name="svg rect"/>
          <p:cNvSpPr/>
          <p:nvPr/>
        </p:nvSpPr>
        <p:spPr>
          <a:xfrm>
            <a:off x="5087144" y="4128691"/>
            <a:ext cx="146447" cy="48816"/>
          </a:xfrm>
          <a:prstGeom prst="roundRect">
            <a:avLst>
              <a:gd name="adj" fmla="val 50000"/>
            </a:avLst>
          </a:prstGeom>
          <a:solidFill>
            <a:srgbClr val="3B3392"/>
          </a:solidFill>
          <a:ln>
            <a:noFill/>
          </a:ln>
        </p:spPr>
      </p:sp>
      <p:sp>
        <p:nvSpPr>
          <p:cNvPr id="60" name="svg rect"/>
          <p:cNvSpPr/>
          <p:nvPr/>
        </p:nvSpPr>
        <p:spPr>
          <a:xfrm>
            <a:off x="5298678" y="4128691"/>
            <a:ext cx="341709" cy="48816"/>
          </a:xfrm>
          <a:prstGeom prst="roundRect">
            <a:avLst>
              <a:gd name="adj" fmla="val 50000"/>
            </a:avLst>
          </a:prstGeom>
          <a:solidFill>
            <a:srgbClr val="3B3392"/>
          </a:solidFill>
          <a:ln>
            <a:noFill/>
          </a:ln>
        </p:spPr>
      </p:sp>
      <p:sp>
        <p:nvSpPr>
          <p:cNvPr id="61" name="svg rect"/>
          <p:cNvSpPr/>
          <p:nvPr/>
        </p:nvSpPr>
        <p:spPr>
          <a:xfrm>
            <a:off x="5705475" y="4128691"/>
            <a:ext cx="292894" cy="48816"/>
          </a:xfrm>
          <a:prstGeom prst="roundRect">
            <a:avLst>
              <a:gd name="adj" fmla="val 50000"/>
            </a:avLst>
          </a:prstGeom>
          <a:solidFill>
            <a:srgbClr val="3B3392"/>
          </a:solidFill>
          <a:ln>
            <a:noFill/>
          </a:ln>
        </p:spPr>
      </p:sp>
      <p:sp>
        <p:nvSpPr>
          <p:cNvPr id="62" name="svg rect"/>
          <p:cNvSpPr/>
          <p:nvPr/>
        </p:nvSpPr>
        <p:spPr>
          <a:xfrm>
            <a:off x="6063456" y="4128691"/>
            <a:ext cx="146447" cy="48816"/>
          </a:xfrm>
          <a:prstGeom prst="roundRect">
            <a:avLst>
              <a:gd name="adj" fmla="val 50000"/>
            </a:avLst>
          </a:prstGeom>
          <a:solidFill>
            <a:srgbClr val="3B3392"/>
          </a:solidFill>
          <a:ln>
            <a:noFill/>
          </a:ln>
        </p:spPr>
      </p:sp>
      <p:sp>
        <p:nvSpPr>
          <p:cNvPr id="63" name="svg rect"/>
          <p:cNvSpPr/>
          <p:nvPr/>
        </p:nvSpPr>
        <p:spPr>
          <a:xfrm>
            <a:off x="6274991" y="4128691"/>
            <a:ext cx="341709" cy="48816"/>
          </a:xfrm>
          <a:prstGeom prst="roundRect">
            <a:avLst>
              <a:gd name="adj" fmla="val 50000"/>
            </a:avLst>
          </a:prstGeom>
          <a:solidFill>
            <a:srgbClr val="3B3392"/>
          </a:solidFill>
          <a:ln>
            <a:noFill/>
          </a:ln>
        </p:spPr>
      </p:sp>
      <p:sp>
        <p:nvSpPr>
          <p:cNvPr id="64" name="svg rect"/>
          <p:cNvSpPr/>
          <p:nvPr/>
        </p:nvSpPr>
        <p:spPr>
          <a:xfrm>
            <a:off x="4615259" y="4250730"/>
            <a:ext cx="195263" cy="48816"/>
          </a:xfrm>
          <a:prstGeom prst="roundRect">
            <a:avLst>
              <a:gd name="adj" fmla="val 50000"/>
            </a:avLst>
          </a:prstGeom>
          <a:solidFill>
            <a:srgbClr val="3B3392"/>
          </a:solidFill>
          <a:ln>
            <a:noFill/>
          </a:ln>
        </p:spPr>
      </p:sp>
      <p:sp>
        <p:nvSpPr>
          <p:cNvPr id="65" name="svg rect"/>
          <p:cNvSpPr/>
          <p:nvPr/>
        </p:nvSpPr>
        <p:spPr>
          <a:xfrm>
            <a:off x="4875609" y="4250730"/>
            <a:ext cx="341709" cy="48816"/>
          </a:xfrm>
          <a:prstGeom prst="roundRect">
            <a:avLst>
              <a:gd name="adj" fmla="val 50000"/>
            </a:avLst>
          </a:prstGeom>
          <a:solidFill>
            <a:srgbClr val="3B3392"/>
          </a:solidFill>
          <a:ln>
            <a:noFill/>
          </a:ln>
        </p:spPr>
      </p:sp>
      <p:sp>
        <p:nvSpPr>
          <p:cNvPr id="66" name="svg rect"/>
          <p:cNvSpPr/>
          <p:nvPr/>
        </p:nvSpPr>
        <p:spPr>
          <a:xfrm>
            <a:off x="5282406" y="4250730"/>
            <a:ext cx="146447" cy="48816"/>
          </a:xfrm>
          <a:prstGeom prst="roundRect">
            <a:avLst>
              <a:gd name="adj" fmla="val 50000"/>
            </a:avLst>
          </a:prstGeom>
          <a:solidFill>
            <a:srgbClr val="3B3392"/>
          </a:solidFill>
          <a:ln>
            <a:noFill/>
          </a:ln>
        </p:spPr>
      </p:sp>
      <p:sp>
        <p:nvSpPr>
          <p:cNvPr id="67" name="svg rect"/>
          <p:cNvSpPr/>
          <p:nvPr/>
        </p:nvSpPr>
        <p:spPr>
          <a:xfrm>
            <a:off x="5493941" y="4250730"/>
            <a:ext cx="423069" cy="48816"/>
          </a:xfrm>
          <a:prstGeom prst="roundRect">
            <a:avLst>
              <a:gd name="adj" fmla="val 50000"/>
            </a:avLst>
          </a:prstGeom>
          <a:solidFill>
            <a:srgbClr val="B0AAFF"/>
          </a:solidFill>
          <a:ln>
            <a:noFill/>
          </a:ln>
        </p:spPr>
      </p:sp>
      <p:sp>
        <p:nvSpPr>
          <p:cNvPr id="68" name="svg circle"/>
          <p:cNvSpPr/>
          <p:nvPr/>
        </p:nvSpPr>
        <p:spPr>
          <a:xfrm>
            <a:off x="5982097" y="4210050"/>
            <a:ext cx="130175" cy="130175"/>
          </a:xfrm>
          <a:prstGeom prst="ellipse">
            <a:avLst/>
          </a:prstGeom>
          <a:solidFill>
            <a:srgbClr val="2FBF71"/>
          </a:solidFill>
          <a:ln>
            <a:noFill/>
          </a:ln>
        </p:spPr>
      </p:sp>
      <p:sp>
        <p:nvSpPr>
          <p:cNvPr id="69" name="svg path"/>
          <p:cNvSpPr/>
          <p:nvPr/>
        </p:nvSpPr>
        <p:spPr>
          <a:xfrm>
            <a:off x="6014641" y="4250730"/>
            <a:ext cx="65088" cy="48816"/>
          </a:xfrm>
          <a:custGeom>
            <a:avLst/>
            <a:gdLst/>
            <a:ahLst/>
            <a:cxnLst/>
            <a:rect l="l" t="t" r="r" b="b"/>
            <a:pathLst>
              <a:path w="65088" h="48816">
                <a:moveTo>
                  <a:pt x="0" y="24408"/>
                </a:moveTo>
                <a:lnTo>
                  <a:pt x="24408" y="48816"/>
                </a:lnTo>
                <a:lnTo>
                  <a:pt x="65088" y="0"/>
                </a:lnTo>
              </a:path>
            </a:pathLst>
          </a:custGeom>
          <a:noFill/>
          <a:ln w="14645" cap="rnd">
            <a:solidFill>
              <a:srgbClr val="FFFFFF"/>
            </a:solidFill>
            <a:round/>
          </a:ln>
        </p:spPr>
      </p:sp>
      <p:sp>
        <p:nvSpPr>
          <p:cNvPr id="70" name="svg rect"/>
          <p:cNvSpPr/>
          <p:nvPr/>
        </p:nvSpPr>
        <p:spPr>
          <a:xfrm>
            <a:off x="6193631" y="4250730"/>
            <a:ext cx="341709" cy="48816"/>
          </a:xfrm>
          <a:prstGeom prst="roundRect">
            <a:avLst>
              <a:gd name="adj" fmla="val 50000"/>
            </a:avLst>
          </a:prstGeom>
          <a:solidFill>
            <a:srgbClr val="3B3392"/>
          </a:solidFill>
          <a:ln>
            <a:noFill/>
          </a:ln>
        </p:spPr>
      </p:sp>
      <p:sp>
        <p:nvSpPr>
          <p:cNvPr id="71" name="svg rect"/>
          <p:cNvSpPr/>
          <p:nvPr/>
        </p:nvSpPr>
        <p:spPr>
          <a:xfrm>
            <a:off x="4615259" y="4372769"/>
            <a:ext cx="146447" cy="48816"/>
          </a:xfrm>
          <a:prstGeom prst="roundRect">
            <a:avLst>
              <a:gd name="adj" fmla="val 50000"/>
            </a:avLst>
          </a:prstGeom>
          <a:solidFill>
            <a:srgbClr val="3B3392"/>
          </a:solidFill>
          <a:ln>
            <a:noFill/>
          </a:ln>
        </p:spPr>
      </p:sp>
      <p:sp>
        <p:nvSpPr>
          <p:cNvPr id="72" name="svg rect"/>
          <p:cNvSpPr/>
          <p:nvPr/>
        </p:nvSpPr>
        <p:spPr>
          <a:xfrm>
            <a:off x="4826794" y="4372769"/>
            <a:ext cx="195263" cy="48816"/>
          </a:xfrm>
          <a:prstGeom prst="roundRect">
            <a:avLst>
              <a:gd name="adj" fmla="val 50000"/>
            </a:avLst>
          </a:prstGeom>
          <a:solidFill>
            <a:srgbClr val="3B3392"/>
          </a:solidFill>
          <a:ln>
            <a:noFill/>
          </a:ln>
        </p:spPr>
      </p:sp>
      <p:sp>
        <p:nvSpPr>
          <p:cNvPr id="73" name="svg rect"/>
          <p:cNvSpPr/>
          <p:nvPr/>
        </p:nvSpPr>
        <p:spPr>
          <a:xfrm>
            <a:off x="5087144" y="4372769"/>
            <a:ext cx="146447" cy="48816"/>
          </a:xfrm>
          <a:prstGeom prst="roundRect">
            <a:avLst>
              <a:gd name="adj" fmla="val 50000"/>
            </a:avLst>
          </a:prstGeom>
          <a:solidFill>
            <a:srgbClr val="3B3392"/>
          </a:solidFill>
          <a:ln>
            <a:noFill/>
          </a:ln>
        </p:spPr>
      </p:sp>
      <p:sp>
        <p:nvSpPr>
          <p:cNvPr id="74" name="svg rect"/>
          <p:cNvSpPr/>
          <p:nvPr/>
        </p:nvSpPr>
        <p:spPr>
          <a:xfrm>
            <a:off x="5298678" y="4372769"/>
            <a:ext cx="341709" cy="48816"/>
          </a:xfrm>
          <a:prstGeom prst="roundRect">
            <a:avLst>
              <a:gd name="adj" fmla="val 50000"/>
            </a:avLst>
          </a:prstGeom>
          <a:solidFill>
            <a:srgbClr val="3B3392"/>
          </a:solidFill>
          <a:ln>
            <a:noFill/>
          </a:ln>
        </p:spPr>
      </p:sp>
      <p:sp>
        <p:nvSpPr>
          <p:cNvPr id="75" name="svg rect"/>
          <p:cNvSpPr/>
          <p:nvPr/>
        </p:nvSpPr>
        <p:spPr>
          <a:xfrm>
            <a:off x="5705475" y="4372769"/>
            <a:ext cx="195263" cy="48816"/>
          </a:xfrm>
          <a:prstGeom prst="roundRect">
            <a:avLst>
              <a:gd name="adj" fmla="val 50000"/>
            </a:avLst>
          </a:prstGeom>
          <a:solidFill>
            <a:srgbClr val="3B3392"/>
          </a:solidFill>
          <a:ln>
            <a:noFill/>
          </a:ln>
        </p:spPr>
      </p:sp>
      <p:sp>
        <p:nvSpPr>
          <p:cNvPr id="76" name="svg rect"/>
          <p:cNvSpPr/>
          <p:nvPr/>
        </p:nvSpPr>
        <p:spPr>
          <a:xfrm>
            <a:off x="5965825" y="4372769"/>
            <a:ext cx="244078" cy="48816"/>
          </a:xfrm>
          <a:prstGeom prst="roundRect">
            <a:avLst>
              <a:gd name="adj" fmla="val 50000"/>
            </a:avLst>
          </a:prstGeom>
          <a:solidFill>
            <a:srgbClr val="3B3392"/>
          </a:solidFill>
          <a:ln>
            <a:noFill/>
          </a:ln>
        </p:spPr>
      </p:sp>
      <p:sp>
        <p:nvSpPr>
          <p:cNvPr id="77" name="svg rect"/>
          <p:cNvSpPr/>
          <p:nvPr/>
        </p:nvSpPr>
        <p:spPr>
          <a:xfrm>
            <a:off x="6274991" y="4372769"/>
            <a:ext cx="292894" cy="48816"/>
          </a:xfrm>
          <a:prstGeom prst="roundRect">
            <a:avLst>
              <a:gd name="adj" fmla="val 50000"/>
            </a:avLst>
          </a:prstGeom>
          <a:solidFill>
            <a:srgbClr val="3B3392"/>
          </a:solidFill>
          <a:ln>
            <a:noFill/>
          </a:ln>
        </p:spPr>
      </p:sp>
      <p:sp>
        <p:nvSpPr>
          <p:cNvPr id="78" name="svg rect"/>
          <p:cNvSpPr/>
          <p:nvPr/>
        </p:nvSpPr>
        <p:spPr>
          <a:xfrm>
            <a:off x="4615259" y="4494808"/>
            <a:ext cx="341709" cy="48816"/>
          </a:xfrm>
          <a:prstGeom prst="roundRect">
            <a:avLst>
              <a:gd name="adj" fmla="val 50000"/>
            </a:avLst>
          </a:prstGeom>
          <a:solidFill>
            <a:srgbClr val="3B3392"/>
          </a:solidFill>
          <a:ln>
            <a:noFill/>
          </a:ln>
        </p:spPr>
      </p:sp>
      <p:sp>
        <p:nvSpPr>
          <p:cNvPr id="79" name="svg rect"/>
          <p:cNvSpPr/>
          <p:nvPr/>
        </p:nvSpPr>
        <p:spPr>
          <a:xfrm>
            <a:off x="5022056" y="4494808"/>
            <a:ext cx="146447" cy="48816"/>
          </a:xfrm>
          <a:prstGeom prst="roundRect">
            <a:avLst>
              <a:gd name="adj" fmla="val 50000"/>
            </a:avLst>
          </a:prstGeom>
          <a:solidFill>
            <a:srgbClr val="3B3392"/>
          </a:solidFill>
          <a:ln>
            <a:noFill/>
          </a:ln>
        </p:spPr>
      </p:sp>
      <p:sp>
        <p:nvSpPr>
          <p:cNvPr id="80" name="svg rect"/>
          <p:cNvSpPr/>
          <p:nvPr/>
        </p:nvSpPr>
        <p:spPr>
          <a:xfrm>
            <a:off x="5233591" y="4494808"/>
            <a:ext cx="341709" cy="48816"/>
          </a:xfrm>
          <a:prstGeom prst="roundRect">
            <a:avLst>
              <a:gd name="adj" fmla="val 50000"/>
            </a:avLst>
          </a:prstGeom>
          <a:solidFill>
            <a:srgbClr val="3B3392"/>
          </a:solidFill>
          <a:ln>
            <a:noFill/>
          </a:ln>
        </p:spPr>
      </p:sp>
      <p:sp>
        <p:nvSpPr>
          <p:cNvPr id="81" name="svg rect"/>
          <p:cNvSpPr/>
          <p:nvPr/>
        </p:nvSpPr>
        <p:spPr>
          <a:xfrm>
            <a:off x="5640388" y="4494808"/>
            <a:ext cx="244078" cy="48816"/>
          </a:xfrm>
          <a:prstGeom prst="roundRect">
            <a:avLst>
              <a:gd name="adj" fmla="val 50000"/>
            </a:avLst>
          </a:prstGeom>
          <a:solidFill>
            <a:srgbClr val="3B3392"/>
          </a:solidFill>
          <a:ln>
            <a:noFill/>
          </a:ln>
        </p:spPr>
      </p:sp>
      <p:sp>
        <p:nvSpPr>
          <p:cNvPr id="82" name="svg rect"/>
          <p:cNvSpPr/>
          <p:nvPr/>
        </p:nvSpPr>
        <p:spPr>
          <a:xfrm>
            <a:off x="5949553" y="4494808"/>
            <a:ext cx="341709" cy="48816"/>
          </a:xfrm>
          <a:prstGeom prst="roundRect">
            <a:avLst>
              <a:gd name="adj" fmla="val 50000"/>
            </a:avLst>
          </a:prstGeom>
          <a:solidFill>
            <a:srgbClr val="3B3392"/>
          </a:solidFill>
          <a:ln>
            <a:noFill/>
          </a:ln>
        </p:spPr>
      </p:sp>
      <p:sp>
        <p:nvSpPr>
          <p:cNvPr id="83" name="svg rect"/>
          <p:cNvSpPr/>
          <p:nvPr/>
        </p:nvSpPr>
        <p:spPr>
          <a:xfrm>
            <a:off x="6356350" y="4494808"/>
            <a:ext cx="195263" cy="48816"/>
          </a:xfrm>
          <a:prstGeom prst="roundRect">
            <a:avLst>
              <a:gd name="adj" fmla="val 50000"/>
            </a:avLst>
          </a:prstGeom>
          <a:solidFill>
            <a:srgbClr val="3B3392"/>
          </a:solidFill>
          <a:ln>
            <a:noFill/>
          </a:ln>
        </p:spPr>
      </p:sp>
      <p:sp>
        <p:nvSpPr>
          <p:cNvPr id="84" name="svg rect"/>
          <p:cNvSpPr/>
          <p:nvPr/>
        </p:nvSpPr>
        <p:spPr>
          <a:xfrm>
            <a:off x="6616700" y="4494808"/>
            <a:ext cx="146447" cy="48816"/>
          </a:xfrm>
          <a:prstGeom prst="roundRect">
            <a:avLst>
              <a:gd name="adj" fmla="val 50000"/>
            </a:avLst>
          </a:prstGeom>
          <a:solidFill>
            <a:srgbClr val="3B3392"/>
          </a:solidFill>
          <a:ln>
            <a:noFill/>
          </a:ln>
        </p:spPr>
      </p:sp>
      <p:sp>
        <p:nvSpPr>
          <p:cNvPr id="85" name="dk-card"/>
          <p:cNvSpPr/>
          <p:nvPr/>
        </p:nvSpPr>
        <p:spPr>
          <a:xfrm>
            <a:off x="7186613" y="1566863"/>
            <a:ext cx="4619625" cy="3876675"/>
          </a:xfrm>
          <a:prstGeom prst="roundRect">
            <a:avLst>
              <a:gd name="adj" fmla="val 3808"/>
            </a:avLst>
          </a:prstGeom>
          <a:gradFill rotWithShape="1">
            <a:gsLst>
              <a:gs pos="0">
                <a:srgbClr val="1A1550"/>
              </a:gs>
              <a:gs pos="100000">
                <a:srgbClr val="120E36"/>
              </a:gs>
            </a:gsLst>
            <a:lin ang="5400000" scaled="0"/>
          </a:gradFill>
          <a:ln w="9525">
            <a:solidFill>
              <a:srgbClr val="3B3392"/>
            </a:solidFill>
          </a:ln>
        </p:spPr>
      </p:sp>
      <p:sp>
        <p:nvSpPr>
          <p:cNvPr id="86" name="Text 03 HARDER SET: RESULTS"/>
          <p:cNvSpPr txBox="1"/>
          <p:nvPr/>
        </p:nvSpPr>
        <p:spPr>
          <a:xfrm>
            <a:off x="7400925" y="1719263"/>
            <a:ext cx="1691878"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03 · HARDER SET: RESULTS</a:t>
            </a:r>
            <a:endParaRPr lang="en-US" sz="825" dirty="0"/>
          </a:p>
        </p:txBody>
      </p:sp>
      <p:sp>
        <p:nvSpPr>
          <p:cNvPr id="87" name="i"/>
          <p:cNvSpPr/>
          <p:nvPr/>
        </p:nvSpPr>
        <p:spPr>
          <a:xfrm>
            <a:off x="7400925" y="2066925"/>
            <a:ext cx="152400" cy="28575"/>
          </a:xfrm>
          <a:prstGeom prst="roundRect">
            <a:avLst>
              <a:gd name="adj" fmla="val 50000"/>
            </a:avLst>
          </a:prstGeom>
          <a:solidFill>
            <a:srgbClr val="8070FF"/>
          </a:solidFill>
          <a:ln>
            <a:noFill/>
          </a:ln>
        </p:spPr>
      </p:sp>
      <p:sp>
        <p:nvSpPr>
          <p:cNvPr id="88" name="Text Astra"/>
          <p:cNvSpPr txBox="1"/>
          <p:nvPr/>
        </p:nvSpPr>
        <p:spPr>
          <a:xfrm>
            <a:off x="7648575" y="1985963"/>
            <a:ext cx="375196" cy="180975"/>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Astra</a:t>
            </a:r>
            <a:endParaRPr lang="en-US" sz="1013" dirty="0"/>
          </a:p>
        </p:txBody>
      </p:sp>
      <p:sp>
        <p:nvSpPr>
          <p:cNvPr id="89" name="Text Perfect to 768K on the two har"/>
          <p:cNvSpPr txBox="1"/>
          <p:nvPr/>
        </p:nvSpPr>
        <p:spPr>
          <a:xfrm>
            <a:off x="8181975" y="1985963"/>
            <a:ext cx="2459087" cy="180975"/>
          </a:xfrm>
          <a:prstGeom prst="rect">
            <a:avLst/>
          </a:prstGeom>
          <a:noFill/>
          <a:ln/>
        </p:spPr>
        <p:txBody>
          <a:bodyPr wrap="none" lIns="0" tIns="0" rIns="0" bIns="0" rtlCol="0" anchor="ctr"/>
          <a:lstStyle/>
          <a:p>
            <a:pPr algn="l" indent="0" marL="0">
              <a:buNone/>
            </a:pPr>
            <a:r>
              <a:rPr lang="en-US" sz="1013" dirty="0">
                <a:solidFill>
                  <a:srgbClr val="D6D4EA"/>
                </a:solidFill>
                <a:latin typeface="Scotia Serif" pitchFamily="34" charset="0"/>
                <a:ea typeface="Scotia Serif" pitchFamily="34" charset="-122"/>
                <a:cs typeface="Scotia Serif" pitchFamily="34" charset="-120"/>
              </a:rPr>
              <a:t>Perfect to 768K on the two hardest types</a:t>
            </a:r>
            <a:endParaRPr lang="en-US" sz="1013" dirty="0"/>
          </a:p>
        </p:txBody>
      </p:sp>
      <p:sp>
        <p:nvSpPr>
          <p:cNvPr id="90" name="i"/>
          <p:cNvSpPr/>
          <p:nvPr/>
        </p:nvSpPr>
        <p:spPr>
          <a:xfrm>
            <a:off x="7400925" y="2295525"/>
            <a:ext cx="152400" cy="28575"/>
          </a:xfrm>
          <a:prstGeom prst="roundRect">
            <a:avLst>
              <a:gd name="adj" fmla="val 50000"/>
            </a:avLst>
          </a:prstGeom>
          <a:solidFill>
            <a:srgbClr val="13A89B"/>
          </a:solidFill>
          <a:ln>
            <a:noFill/>
          </a:ln>
        </p:spPr>
      </p:sp>
      <p:sp>
        <p:nvSpPr>
          <p:cNvPr id="91" name="Text Sol"/>
          <p:cNvSpPr txBox="1"/>
          <p:nvPr/>
        </p:nvSpPr>
        <p:spPr>
          <a:xfrm>
            <a:off x="7648575" y="2214563"/>
            <a:ext cx="240953" cy="180975"/>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Sol</a:t>
            </a:r>
            <a:endParaRPr lang="en-US" sz="1013" dirty="0"/>
          </a:p>
        </p:txBody>
      </p:sp>
      <p:sp>
        <p:nvSpPr>
          <p:cNvPr id="92" name="Text Perfect to 128K from 256K mis"/>
          <p:cNvSpPr txBox="1"/>
          <p:nvPr/>
        </p:nvSpPr>
        <p:spPr>
          <a:xfrm>
            <a:off x="8181975" y="2214563"/>
            <a:ext cx="2916585" cy="180975"/>
          </a:xfrm>
          <a:prstGeom prst="rect">
            <a:avLst/>
          </a:prstGeom>
          <a:noFill/>
          <a:ln/>
        </p:spPr>
        <p:txBody>
          <a:bodyPr wrap="none" lIns="0" tIns="0" rIns="0" bIns="0" rtlCol="0" anchor="ctr"/>
          <a:lstStyle/>
          <a:p>
            <a:pPr algn="l" indent="0" marL="0">
              <a:buNone/>
            </a:pPr>
            <a:r>
              <a:rPr lang="en-US" sz="1013" dirty="0">
                <a:solidFill>
                  <a:srgbClr val="D6D4EA"/>
                </a:solidFill>
                <a:latin typeface="Scotia Serif" pitchFamily="34" charset="0"/>
                <a:ea typeface="Scotia Serif" pitchFamily="34" charset="-122"/>
                <a:cs typeface="Scotia Serif" pitchFamily="34" charset="-120"/>
              </a:rPr>
              <a:t>Perfect to 128K; from 256K misses long counting</a:t>
            </a:r>
            <a:endParaRPr lang="en-US" sz="1013" dirty="0"/>
          </a:p>
        </p:txBody>
      </p:sp>
      <p:sp>
        <p:nvSpPr>
          <p:cNvPr id="93" name="i"/>
          <p:cNvSpPr/>
          <p:nvPr/>
        </p:nvSpPr>
        <p:spPr>
          <a:xfrm>
            <a:off x="7400925" y="2524125"/>
            <a:ext cx="152400" cy="28575"/>
          </a:xfrm>
          <a:prstGeom prst="roundRect">
            <a:avLst>
              <a:gd name="adj" fmla="val 50000"/>
            </a:avLst>
          </a:prstGeom>
          <a:solidFill>
            <a:srgbClr val="D0772A"/>
          </a:solidFill>
          <a:ln>
            <a:noFill/>
          </a:ln>
        </p:spPr>
      </p:sp>
      <p:sp>
        <p:nvSpPr>
          <p:cNvPr id="94" name="Text Luna"/>
          <p:cNvSpPr txBox="1"/>
          <p:nvPr/>
        </p:nvSpPr>
        <p:spPr>
          <a:xfrm>
            <a:off x="7648575" y="2443163"/>
            <a:ext cx="349151" cy="180975"/>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Luna</a:t>
            </a:r>
            <a:endParaRPr lang="en-US" sz="1013" dirty="0"/>
          </a:p>
        </p:txBody>
      </p:sp>
      <p:sp>
        <p:nvSpPr>
          <p:cNvPr id="95" name="Text Misses even at 32K 20 right"/>
          <p:cNvSpPr txBox="1"/>
          <p:nvPr/>
        </p:nvSpPr>
        <p:spPr>
          <a:xfrm>
            <a:off x="8181975" y="2443163"/>
            <a:ext cx="2326779" cy="180975"/>
          </a:xfrm>
          <a:prstGeom prst="rect">
            <a:avLst/>
          </a:prstGeom>
          <a:noFill/>
          <a:ln/>
        </p:spPr>
        <p:txBody>
          <a:bodyPr wrap="none" lIns="0" tIns="0" rIns="0" bIns="0" rtlCol="0" anchor="ctr"/>
          <a:lstStyle/>
          <a:p>
            <a:pPr algn="l" indent="0" marL="0">
              <a:buNone/>
            </a:pPr>
            <a:r>
              <a:rPr lang="en-US" sz="1013" dirty="0">
                <a:solidFill>
                  <a:srgbClr val="D6D4EA"/>
                </a:solidFill>
                <a:latin typeface="Scotia Serif" pitchFamily="34" charset="0"/>
                <a:ea typeface="Scotia Serif" pitchFamily="34" charset="-122"/>
                <a:cs typeface="Scotia Serif" pitchFamily="34" charset="-120"/>
              </a:rPr>
              <a:t>Misses even at 32K; 20% right at 768K</a:t>
            </a:r>
            <a:endParaRPr lang="en-US" sz="1013" dirty="0"/>
          </a:p>
        </p:txBody>
      </p:sp>
      <p:sp>
        <p:nvSpPr>
          <p:cNvPr id="96" name="svg line"/>
          <p:cNvSpPr/>
          <p:nvPr/>
        </p:nvSpPr>
        <p:spPr>
          <a:xfrm>
            <a:off x="7820025" y="4305300"/>
            <a:ext cx="3124200" cy="0"/>
          </a:xfrm>
          <a:prstGeom prst="line">
            <a:avLst/>
          </a:prstGeom>
          <a:noFill/>
          <a:ln w="9525" cap="flat">
            <a:solidFill>
              <a:srgbClr val="BDC2EF">
                <a:alpha val="28000"/>
              </a:srgbClr>
            </a:solidFill>
            <a:miter lim="800000"/>
          </a:ln>
        </p:spPr>
      </p:sp>
      <p:sp>
        <p:nvSpPr>
          <p:cNvPr id="97" name="Text 0"/>
          <p:cNvSpPr txBox="1"/>
          <p:nvPr/>
        </p:nvSpPr>
        <p:spPr>
          <a:xfrm>
            <a:off x="7529810" y="4257675"/>
            <a:ext cx="214015" cy="123825"/>
          </a:xfrm>
          <a:prstGeom prst="rect">
            <a:avLst/>
          </a:prstGeom>
          <a:noFill/>
          <a:ln/>
        </p:spPr>
        <p:txBody>
          <a:bodyPr wrap="none" lIns="0" tIns="0" rIns="0" bIns="0" rtlCol="0" anchor="ctr"/>
          <a:lstStyle/>
          <a:p>
            <a:pPr algn="r" indent="0" marL="0">
              <a:buNone/>
            </a:pPr>
            <a:r>
              <a:rPr lang="en-US" sz="825" dirty="0">
                <a:solidFill>
                  <a:srgbClr val="8E8AB8"/>
                </a:solidFill>
                <a:latin typeface="Scotia" pitchFamily="34" charset="0"/>
                <a:ea typeface="Scotia" pitchFamily="34" charset="-122"/>
                <a:cs typeface="Scotia" pitchFamily="34" charset="-120"/>
              </a:rPr>
              <a:t>0%</a:t>
            </a:r>
            <a:endParaRPr lang="en-US" sz="825" dirty="0"/>
          </a:p>
        </p:txBody>
      </p:sp>
      <p:sp>
        <p:nvSpPr>
          <p:cNvPr id="98" name="svg line"/>
          <p:cNvSpPr/>
          <p:nvPr/>
        </p:nvSpPr>
        <p:spPr>
          <a:xfrm>
            <a:off x="7820025" y="3590925"/>
            <a:ext cx="3124200" cy="0"/>
          </a:xfrm>
          <a:prstGeom prst="line">
            <a:avLst/>
          </a:prstGeom>
          <a:noFill/>
          <a:ln w="9525" cap="flat">
            <a:solidFill>
              <a:srgbClr val="BDC2EF">
                <a:alpha val="13000"/>
              </a:srgbClr>
            </a:solidFill>
            <a:miter lim="800000"/>
          </a:ln>
        </p:spPr>
      </p:sp>
      <p:sp>
        <p:nvSpPr>
          <p:cNvPr id="99" name="Text 50"/>
          <p:cNvSpPr txBox="1"/>
          <p:nvPr/>
        </p:nvSpPr>
        <p:spPr>
          <a:xfrm>
            <a:off x="7474000" y="3543300"/>
            <a:ext cx="269825" cy="123825"/>
          </a:xfrm>
          <a:prstGeom prst="rect">
            <a:avLst/>
          </a:prstGeom>
          <a:noFill/>
          <a:ln/>
        </p:spPr>
        <p:txBody>
          <a:bodyPr wrap="none" lIns="0" tIns="0" rIns="0" bIns="0" rtlCol="0" anchor="ctr"/>
          <a:lstStyle/>
          <a:p>
            <a:pPr algn="r" indent="0" marL="0">
              <a:buNone/>
            </a:pPr>
            <a:r>
              <a:rPr lang="en-US" sz="825" dirty="0">
                <a:solidFill>
                  <a:srgbClr val="8E8AB8"/>
                </a:solidFill>
                <a:latin typeface="Scotia" pitchFamily="34" charset="0"/>
                <a:ea typeface="Scotia" pitchFamily="34" charset="-122"/>
                <a:cs typeface="Scotia" pitchFamily="34" charset="-120"/>
              </a:rPr>
              <a:t>50%</a:t>
            </a:r>
            <a:endParaRPr lang="en-US" sz="825" dirty="0"/>
          </a:p>
        </p:txBody>
      </p:sp>
      <p:sp>
        <p:nvSpPr>
          <p:cNvPr id="100" name="svg line"/>
          <p:cNvSpPr/>
          <p:nvPr/>
        </p:nvSpPr>
        <p:spPr>
          <a:xfrm>
            <a:off x="7820025" y="2876550"/>
            <a:ext cx="3124200" cy="0"/>
          </a:xfrm>
          <a:prstGeom prst="line">
            <a:avLst/>
          </a:prstGeom>
          <a:noFill/>
          <a:ln w="9525" cap="flat">
            <a:solidFill>
              <a:srgbClr val="BDC2EF">
                <a:alpha val="13000"/>
              </a:srgbClr>
            </a:solidFill>
            <a:miter lim="800000"/>
          </a:ln>
        </p:spPr>
      </p:sp>
      <p:sp>
        <p:nvSpPr>
          <p:cNvPr id="101" name="Text 100"/>
          <p:cNvSpPr txBox="1"/>
          <p:nvPr/>
        </p:nvSpPr>
        <p:spPr>
          <a:xfrm>
            <a:off x="7420124" y="2828925"/>
            <a:ext cx="323701" cy="123825"/>
          </a:xfrm>
          <a:prstGeom prst="rect">
            <a:avLst/>
          </a:prstGeom>
          <a:noFill/>
          <a:ln/>
        </p:spPr>
        <p:txBody>
          <a:bodyPr wrap="none" lIns="0" tIns="0" rIns="0" bIns="0" rtlCol="0" anchor="ctr"/>
          <a:lstStyle/>
          <a:p>
            <a:pPr algn="r" indent="0" marL="0">
              <a:buNone/>
            </a:pPr>
            <a:r>
              <a:rPr lang="en-US" sz="825" dirty="0">
                <a:solidFill>
                  <a:srgbClr val="8E8AB8"/>
                </a:solidFill>
                <a:latin typeface="Scotia" pitchFamily="34" charset="0"/>
                <a:ea typeface="Scotia" pitchFamily="34" charset="-122"/>
                <a:cs typeface="Scotia" pitchFamily="34" charset="-120"/>
              </a:rPr>
              <a:t>100%</a:t>
            </a:r>
            <a:endParaRPr lang="en-US" sz="825" dirty="0"/>
          </a:p>
        </p:txBody>
      </p:sp>
      <p:sp>
        <p:nvSpPr>
          <p:cNvPr id="102" name="Text 32K 128K"/>
          <p:cNvSpPr txBox="1"/>
          <p:nvPr/>
        </p:nvSpPr>
        <p:spPr>
          <a:xfrm>
            <a:off x="7748588" y="4429125"/>
            <a:ext cx="523875" cy="123825"/>
          </a:xfrm>
          <a:prstGeom prst="rect">
            <a:avLst/>
          </a:prstGeom>
          <a:noFill/>
          <a:ln/>
        </p:spPr>
        <p:txBody>
          <a:bodyPr wrap="none" lIns="0" tIns="0" rIns="0" bIns="0" rtlCol="0" anchor="ctr"/>
          <a:lstStyle/>
          <a:p>
            <a:pPr algn="ctr" indent="0" marL="0">
              <a:buNone/>
            </a:pPr>
            <a:r>
              <a:rPr lang="en-US" sz="863" dirty="0">
                <a:solidFill>
                  <a:srgbClr val="A9A6CF"/>
                </a:solidFill>
                <a:latin typeface="Scotia" pitchFamily="34" charset="0"/>
                <a:ea typeface="Scotia" pitchFamily="34" charset="-122"/>
                <a:cs typeface="Scotia" pitchFamily="34" charset="-120"/>
              </a:rPr>
              <a:t>32K–128K</a:t>
            </a:r>
            <a:endParaRPr lang="en-US" sz="863" dirty="0"/>
          </a:p>
        </p:txBody>
      </p:sp>
      <p:sp>
        <p:nvSpPr>
          <p:cNvPr id="103" name="Text 256K 512K"/>
          <p:cNvSpPr txBox="1"/>
          <p:nvPr/>
        </p:nvSpPr>
        <p:spPr>
          <a:xfrm>
            <a:off x="9127257" y="4429125"/>
            <a:ext cx="585936" cy="123825"/>
          </a:xfrm>
          <a:prstGeom prst="rect">
            <a:avLst/>
          </a:prstGeom>
          <a:noFill/>
          <a:ln/>
        </p:spPr>
        <p:txBody>
          <a:bodyPr wrap="none" lIns="0" tIns="0" rIns="0" bIns="0" rtlCol="0" anchor="ctr"/>
          <a:lstStyle/>
          <a:p>
            <a:pPr algn="ctr" indent="0" marL="0">
              <a:buNone/>
            </a:pPr>
            <a:r>
              <a:rPr lang="en-US" sz="863" dirty="0">
                <a:solidFill>
                  <a:srgbClr val="A9A6CF"/>
                </a:solidFill>
                <a:latin typeface="Scotia" pitchFamily="34" charset="0"/>
                <a:ea typeface="Scotia" pitchFamily="34" charset="-122"/>
                <a:cs typeface="Scotia" pitchFamily="34" charset="-120"/>
              </a:rPr>
              <a:t>256K–512K</a:t>
            </a:r>
            <a:endParaRPr lang="en-US" sz="863" dirty="0"/>
          </a:p>
        </p:txBody>
      </p:sp>
      <p:sp>
        <p:nvSpPr>
          <p:cNvPr id="104" name="Text 768K"/>
          <p:cNvSpPr txBox="1"/>
          <p:nvPr/>
        </p:nvSpPr>
        <p:spPr>
          <a:xfrm>
            <a:off x="10673730" y="4429125"/>
            <a:ext cx="312390" cy="123825"/>
          </a:xfrm>
          <a:prstGeom prst="rect">
            <a:avLst/>
          </a:prstGeom>
          <a:noFill/>
          <a:ln/>
        </p:spPr>
        <p:txBody>
          <a:bodyPr wrap="none" lIns="0" tIns="0" rIns="0" bIns="0" rtlCol="0" anchor="ctr"/>
          <a:lstStyle/>
          <a:p>
            <a:pPr algn="ctr" indent="0" marL="0">
              <a:buNone/>
            </a:pPr>
            <a:r>
              <a:rPr lang="en-US" sz="863" dirty="0">
                <a:solidFill>
                  <a:srgbClr val="A9A6CF"/>
                </a:solidFill>
                <a:latin typeface="Scotia" pitchFamily="34" charset="0"/>
                <a:ea typeface="Scotia" pitchFamily="34" charset="-122"/>
                <a:cs typeface="Scotia" pitchFamily="34" charset="-120"/>
              </a:rPr>
              <a:t>768K</a:t>
            </a:r>
            <a:endParaRPr lang="en-US" sz="863" dirty="0"/>
          </a:p>
        </p:txBody>
      </p:sp>
      <p:sp>
        <p:nvSpPr>
          <p:cNvPr id="105" name="svg path"/>
          <p:cNvSpPr/>
          <p:nvPr/>
        </p:nvSpPr>
        <p:spPr>
          <a:xfrm>
            <a:off x="8010525" y="3543300"/>
            <a:ext cx="2819400" cy="476250"/>
          </a:xfrm>
          <a:custGeom>
            <a:avLst/>
            <a:gdLst/>
            <a:ahLst/>
            <a:cxnLst/>
            <a:rect l="l" t="t" r="r" b="b"/>
            <a:pathLst>
              <a:path w="2819400" h="476250">
                <a:moveTo>
                  <a:pt x="0" y="0"/>
                </a:moveTo>
                <a:lnTo>
                  <a:pt x="1409700" y="0"/>
                </a:lnTo>
                <a:lnTo>
                  <a:pt x="2819400" y="476250"/>
                </a:lnTo>
              </a:path>
            </a:pathLst>
          </a:custGeom>
          <a:noFill/>
          <a:ln w="22860" cap="rnd">
            <a:solidFill>
              <a:srgbClr val="D0772A"/>
            </a:solidFill>
            <a:round/>
          </a:ln>
        </p:spPr>
      </p:sp>
      <p:sp>
        <p:nvSpPr>
          <p:cNvPr id="106" name="svg path"/>
          <p:cNvSpPr/>
          <p:nvPr/>
        </p:nvSpPr>
        <p:spPr>
          <a:xfrm>
            <a:off x="8010525" y="2876550"/>
            <a:ext cx="2819400" cy="190500"/>
          </a:xfrm>
          <a:custGeom>
            <a:avLst/>
            <a:gdLst/>
            <a:ahLst/>
            <a:cxnLst/>
            <a:rect l="l" t="t" r="r" b="b"/>
            <a:pathLst>
              <a:path w="2819400" h="190500">
                <a:moveTo>
                  <a:pt x="0" y="0"/>
                </a:moveTo>
                <a:lnTo>
                  <a:pt x="1409700" y="190500"/>
                </a:lnTo>
                <a:lnTo>
                  <a:pt x="2819400" y="190500"/>
                </a:lnTo>
              </a:path>
            </a:pathLst>
          </a:custGeom>
          <a:noFill/>
          <a:ln w="22860" cap="rnd">
            <a:solidFill>
              <a:srgbClr val="13A89B"/>
            </a:solidFill>
            <a:round/>
          </a:ln>
        </p:spPr>
      </p:sp>
      <p:sp>
        <p:nvSpPr>
          <p:cNvPr id="107" name="svg path"/>
          <p:cNvSpPr/>
          <p:nvPr/>
        </p:nvSpPr>
        <p:spPr>
          <a:xfrm>
            <a:off x="8010525" y="2876550"/>
            <a:ext cx="2819400" cy="4763"/>
          </a:xfrm>
          <a:custGeom>
            <a:avLst/>
            <a:gdLst/>
            <a:ahLst/>
            <a:cxnLst/>
            <a:rect l="l" t="t" r="r" b="b"/>
            <a:pathLst>
              <a:path w="2819400" h="4763">
                <a:moveTo>
                  <a:pt x="0" y="0"/>
                </a:moveTo>
                <a:lnTo>
                  <a:pt x="1409700" y="0"/>
                </a:lnTo>
                <a:lnTo>
                  <a:pt x="2819400" y="0"/>
                </a:lnTo>
              </a:path>
            </a:pathLst>
          </a:custGeom>
          <a:noFill/>
          <a:ln w="22860" cap="rnd">
            <a:solidFill>
              <a:srgbClr val="8070FF"/>
            </a:solidFill>
            <a:round/>
          </a:ln>
        </p:spPr>
      </p:sp>
      <p:sp>
        <p:nvSpPr>
          <p:cNvPr id="108" name="svg circle"/>
          <p:cNvSpPr/>
          <p:nvPr/>
        </p:nvSpPr>
        <p:spPr>
          <a:xfrm>
            <a:off x="7962900" y="3495675"/>
            <a:ext cx="95250" cy="95250"/>
          </a:xfrm>
          <a:prstGeom prst="ellipse">
            <a:avLst/>
          </a:prstGeom>
          <a:solidFill>
            <a:srgbClr val="D0772A"/>
          </a:solidFill>
          <a:ln w="19050" cap="flat">
            <a:solidFill>
              <a:srgbClr val="17123F"/>
            </a:solidFill>
            <a:miter lim="800000"/>
          </a:ln>
        </p:spPr>
      </p:sp>
      <p:sp>
        <p:nvSpPr>
          <p:cNvPr id="109" name="svg circle"/>
          <p:cNvSpPr/>
          <p:nvPr/>
        </p:nvSpPr>
        <p:spPr>
          <a:xfrm>
            <a:off x="9372600" y="3495675"/>
            <a:ext cx="95250" cy="95250"/>
          </a:xfrm>
          <a:prstGeom prst="ellipse">
            <a:avLst/>
          </a:prstGeom>
          <a:solidFill>
            <a:srgbClr val="D0772A"/>
          </a:solidFill>
          <a:ln w="19050" cap="flat">
            <a:solidFill>
              <a:srgbClr val="17123F"/>
            </a:solidFill>
            <a:miter lim="800000"/>
          </a:ln>
        </p:spPr>
      </p:sp>
      <p:sp>
        <p:nvSpPr>
          <p:cNvPr id="110" name="svg circle"/>
          <p:cNvSpPr/>
          <p:nvPr/>
        </p:nvSpPr>
        <p:spPr>
          <a:xfrm>
            <a:off x="10782300" y="3971925"/>
            <a:ext cx="95250" cy="95250"/>
          </a:xfrm>
          <a:prstGeom prst="ellipse">
            <a:avLst/>
          </a:prstGeom>
          <a:solidFill>
            <a:srgbClr val="D0772A"/>
          </a:solidFill>
          <a:ln w="19050" cap="flat">
            <a:solidFill>
              <a:srgbClr val="17123F"/>
            </a:solidFill>
            <a:miter lim="800000"/>
          </a:ln>
        </p:spPr>
      </p:sp>
      <p:sp>
        <p:nvSpPr>
          <p:cNvPr id="111" name="svg circle"/>
          <p:cNvSpPr/>
          <p:nvPr/>
        </p:nvSpPr>
        <p:spPr>
          <a:xfrm>
            <a:off x="7962900" y="2828925"/>
            <a:ext cx="95250" cy="95250"/>
          </a:xfrm>
          <a:prstGeom prst="ellipse">
            <a:avLst/>
          </a:prstGeom>
          <a:solidFill>
            <a:srgbClr val="13A89B"/>
          </a:solidFill>
          <a:ln w="19050" cap="flat">
            <a:solidFill>
              <a:srgbClr val="17123F"/>
            </a:solidFill>
            <a:miter lim="800000"/>
          </a:ln>
        </p:spPr>
      </p:sp>
      <p:sp>
        <p:nvSpPr>
          <p:cNvPr id="112" name="svg circle"/>
          <p:cNvSpPr/>
          <p:nvPr/>
        </p:nvSpPr>
        <p:spPr>
          <a:xfrm>
            <a:off x="9372600" y="3019425"/>
            <a:ext cx="95250" cy="95250"/>
          </a:xfrm>
          <a:prstGeom prst="ellipse">
            <a:avLst/>
          </a:prstGeom>
          <a:solidFill>
            <a:srgbClr val="13A89B"/>
          </a:solidFill>
          <a:ln w="19050" cap="flat">
            <a:solidFill>
              <a:srgbClr val="17123F"/>
            </a:solidFill>
            <a:miter lim="800000"/>
          </a:ln>
        </p:spPr>
      </p:sp>
      <p:sp>
        <p:nvSpPr>
          <p:cNvPr id="113" name="svg circle"/>
          <p:cNvSpPr/>
          <p:nvPr/>
        </p:nvSpPr>
        <p:spPr>
          <a:xfrm>
            <a:off x="10782300" y="3019425"/>
            <a:ext cx="95250" cy="95250"/>
          </a:xfrm>
          <a:prstGeom prst="ellipse">
            <a:avLst/>
          </a:prstGeom>
          <a:solidFill>
            <a:srgbClr val="13A89B"/>
          </a:solidFill>
          <a:ln w="19050" cap="flat">
            <a:solidFill>
              <a:srgbClr val="17123F"/>
            </a:solidFill>
            <a:miter lim="800000"/>
          </a:ln>
        </p:spPr>
      </p:sp>
      <p:sp>
        <p:nvSpPr>
          <p:cNvPr id="114" name="svg circle"/>
          <p:cNvSpPr/>
          <p:nvPr/>
        </p:nvSpPr>
        <p:spPr>
          <a:xfrm>
            <a:off x="7962900" y="2828925"/>
            <a:ext cx="95250" cy="95250"/>
          </a:xfrm>
          <a:prstGeom prst="ellipse">
            <a:avLst/>
          </a:prstGeom>
          <a:solidFill>
            <a:srgbClr val="8070FF"/>
          </a:solidFill>
          <a:ln w="19050" cap="flat">
            <a:solidFill>
              <a:srgbClr val="17123F"/>
            </a:solidFill>
            <a:miter lim="800000"/>
          </a:ln>
        </p:spPr>
      </p:sp>
      <p:sp>
        <p:nvSpPr>
          <p:cNvPr id="115" name="svg circle"/>
          <p:cNvSpPr/>
          <p:nvPr/>
        </p:nvSpPr>
        <p:spPr>
          <a:xfrm>
            <a:off x="9372600" y="2828925"/>
            <a:ext cx="95250" cy="95250"/>
          </a:xfrm>
          <a:prstGeom prst="ellipse">
            <a:avLst/>
          </a:prstGeom>
          <a:solidFill>
            <a:srgbClr val="8070FF"/>
          </a:solidFill>
          <a:ln w="19050" cap="flat">
            <a:solidFill>
              <a:srgbClr val="17123F"/>
            </a:solidFill>
            <a:miter lim="800000"/>
          </a:ln>
        </p:spPr>
      </p:sp>
      <p:sp>
        <p:nvSpPr>
          <p:cNvPr id="116" name="svg circle"/>
          <p:cNvSpPr/>
          <p:nvPr/>
        </p:nvSpPr>
        <p:spPr>
          <a:xfrm>
            <a:off x="10782300" y="2828925"/>
            <a:ext cx="95250" cy="95250"/>
          </a:xfrm>
          <a:prstGeom prst="ellipse">
            <a:avLst/>
          </a:prstGeom>
          <a:solidFill>
            <a:srgbClr val="8070FF"/>
          </a:solidFill>
          <a:ln w="19050" cap="flat">
            <a:solidFill>
              <a:srgbClr val="17123F"/>
            </a:solidFill>
            <a:miter lim="800000"/>
          </a:ln>
        </p:spPr>
      </p:sp>
      <p:sp>
        <p:nvSpPr>
          <p:cNvPr id="117" name="Text 20"/>
          <p:cNvSpPr txBox="1"/>
          <p:nvPr/>
        </p:nvSpPr>
        <p:spPr>
          <a:xfrm>
            <a:off x="10982325" y="3957638"/>
            <a:ext cx="312093" cy="152400"/>
          </a:xfrm>
          <a:prstGeom prst="rect">
            <a:avLst/>
          </a:prstGeom>
          <a:noFill/>
          <a:ln/>
        </p:spPr>
        <p:txBody>
          <a:bodyPr wrap="none" lIns="0" tIns="0" rIns="0" bIns="0" rtlCol="0" anchor="ctr"/>
          <a:lstStyle/>
          <a:p>
            <a:pPr algn="l" indent="0" marL="0">
              <a:buNone/>
            </a:pPr>
            <a:r>
              <a:rPr lang="en-US" sz="975" b="1" dirty="0">
                <a:solidFill>
                  <a:srgbClr val="FFFFFF"/>
                </a:solidFill>
                <a:latin typeface="Scotia" pitchFamily="34" charset="0"/>
                <a:ea typeface="Scotia" pitchFamily="34" charset="-122"/>
                <a:cs typeface="Scotia" pitchFamily="34" charset="-120"/>
              </a:rPr>
              <a:t>20%</a:t>
            </a:r>
            <a:endParaRPr lang="en-US" sz="975" dirty="0"/>
          </a:p>
        </p:txBody>
      </p:sp>
      <p:sp>
        <p:nvSpPr>
          <p:cNvPr id="118" name="Text 87"/>
          <p:cNvSpPr txBox="1"/>
          <p:nvPr/>
        </p:nvSpPr>
        <p:spPr>
          <a:xfrm>
            <a:off x="10982325" y="3005138"/>
            <a:ext cx="302270" cy="152400"/>
          </a:xfrm>
          <a:prstGeom prst="rect">
            <a:avLst/>
          </a:prstGeom>
          <a:noFill/>
          <a:ln/>
        </p:spPr>
        <p:txBody>
          <a:bodyPr wrap="none" lIns="0" tIns="0" rIns="0" bIns="0" rtlCol="0" anchor="ctr"/>
          <a:lstStyle/>
          <a:p>
            <a:pPr algn="l" indent="0" marL="0">
              <a:buNone/>
            </a:pPr>
            <a:r>
              <a:rPr lang="en-US" sz="975" b="1" dirty="0">
                <a:solidFill>
                  <a:srgbClr val="FFFFFF"/>
                </a:solidFill>
                <a:latin typeface="Scotia" pitchFamily="34" charset="0"/>
                <a:ea typeface="Scotia" pitchFamily="34" charset="-122"/>
                <a:cs typeface="Scotia" pitchFamily="34" charset="-120"/>
              </a:rPr>
              <a:t>87%</a:t>
            </a:r>
            <a:endParaRPr lang="en-US" sz="975" dirty="0"/>
          </a:p>
        </p:txBody>
      </p:sp>
      <p:sp>
        <p:nvSpPr>
          <p:cNvPr id="119" name="Text 100"/>
          <p:cNvSpPr txBox="1"/>
          <p:nvPr/>
        </p:nvSpPr>
        <p:spPr>
          <a:xfrm>
            <a:off x="10982325" y="2814638"/>
            <a:ext cx="381000" cy="152400"/>
          </a:xfrm>
          <a:prstGeom prst="rect">
            <a:avLst/>
          </a:prstGeom>
          <a:noFill/>
          <a:ln/>
        </p:spPr>
        <p:txBody>
          <a:bodyPr wrap="none" lIns="0" tIns="0" rIns="0" bIns="0" rtlCol="0" anchor="ctr"/>
          <a:lstStyle/>
          <a:p>
            <a:pPr algn="l" indent="0" marL="0">
              <a:buNone/>
            </a:pPr>
            <a:r>
              <a:rPr lang="en-US" sz="975" b="1" dirty="0">
                <a:solidFill>
                  <a:srgbClr val="FFFFFF"/>
                </a:solidFill>
                <a:latin typeface="Scotia" pitchFamily="34" charset="0"/>
                <a:ea typeface="Scotia" pitchFamily="34" charset="-122"/>
                <a:cs typeface="Scotia" pitchFamily="34" charset="-120"/>
              </a:rPr>
              <a:t>100%</a:t>
            </a:r>
            <a:endParaRPr lang="en-US" sz="975" dirty="0"/>
          </a:p>
        </p:txBody>
      </p:sp>
      <p:sp>
        <p:nvSpPr>
          <p:cNvPr id="120" name="Text The test: one decision at the"/>
          <p:cNvSpPr txBox="1"/>
          <p:nvPr/>
        </p:nvSpPr>
        <p:spPr>
          <a:xfrm>
            <a:off x="7400925" y="4719638"/>
            <a:ext cx="4250661" cy="542925"/>
          </a:xfrm>
          <a:prstGeom prst="rect">
            <a:avLst/>
          </a:prstGeom>
          <a:noFill/>
          <a:ln/>
        </p:spPr>
        <p:txBody>
          <a:bodyPr wrap="square" lIns="0" tIns="0" rIns="0" bIns="0" rtlCol="0" anchor="t"/>
          <a:lstStyle/>
          <a:p>
            <a:pPr algn="l" indent="0" marL="0">
              <a:lnSpc>
                <a:spcPts val="1425"/>
              </a:lnSpc>
              <a:buNone/>
            </a:pPr>
            <a:r>
              <a:rPr lang="en-US" sz="1013" b="1" dirty="0">
                <a:solidFill>
                  <a:srgbClr val="FFFFFF"/>
                </a:solidFill>
                <a:latin typeface="Scotia" pitchFamily="34" charset="0"/>
                <a:ea typeface="Scotia" pitchFamily="34" charset="-122"/>
                <a:cs typeface="Scotia" pitchFamily="34" charset="-120"/>
              </a:rPr>
              <a:t>The test:</a:t>
            </a:r>
            <a:pPr algn="l" indent="0" marL="0">
              <a:lnSpc>
                <a:spcPts val="1425"/>
              </a:lnSpc>
              <a:buNone/>
            </a:pPr>
            <a:r>
              <a:rPr lang="en-US" sz="1013" dirty="0">
                <a:solidFill>
                  <a:srgbClr val="A9A6CF"/>
                </a:solidFill>
                <a:latin typeface="Scotia Serif" pitchFamily="34" charset="0"/>
                <a:ea typeface="Scotia Serif" pitchFamily="34" charset="-122"/>
                <a:cs typeface="Scotia Serif" pitchFamily="34" charset="-120"/>
              </a:rPr>
              <a:t> one decision at the end of a replayed support shift. The rule is</a:t>
            </a:r>
            <a:endParaRPr lang="en-US" sz="1013" dirty="0"/>
          </a:p>
          <a:p>
            <a:pPr algn="l" indent="0" marL="0">
              <a:lnSpc>
                <a:spcPts val="1425"/>
              </a:lnSpc>
              <a:buNone/>
            </a:pPr>
            <a:r>
              <a:rPr lang="en-US" sz="1013" dirty="0">
                <a:solidFill>
                  <a:srgbClr val="A9A6CF"/>
                </a:solidFill>
                <a:latin typeface="Scotia Serif" pitchFamily="34" charset="0"/>
                <a:ea typeface="Scotia Serif" pitchFamily="34" charset="-122"/>
                <a:cs typeface="Scotia Serif" pitchFamily="34" charset="-120"/>
              </a:rPr>
              <a:t>stated once at the top; the facts it needs hide among hundreds of</a:t>
            </a:r>
            <a:endParaRPr lang="en-US" sz="1013" dirty="0"/>
          </a:p>
          <a:p>
            <a:pPr algn="l" indent="0" marL="0">
              <a:lnSpc>
                <a:spcPts val="1425"/>
              </a:lnSpc>
              <a:buNone/>
            </a:pPr>
            <a:r>
              <a:rPr lang="en-US" sz="1013" dirty="0">
                <a:solidFill>
                  <a:srgbClr val="A9A6CF"/>
                </a:solidFill>
                <a:latin typeface="Scotia Serif" pitchFamily="34" charset="0"/>
                <a:ea typeface="Scotia Serif" pitchFamily="34" charset="-122"/>
                <a:cs typeface="Scotia Serif" pitchFamily="34" charset="-120"/>
              </a:rPr>
              <a:t>look-alike</a:t>
            </a:r>
            <a:pPr algn="l" indent="0" marL="0">
              <a:lnSpc>
                <a:spcPts val="1425"/>
              </a:lnSpc>
              <a:buNone/>
            </a:pPr>
            <a:r>
              <a:rPr lang="en-US" sz="1013" dirty="0">
                <a:solidFill>
                  <a:srgbClr val="A9A6CF"/>
                </a:solidFill>
                <a:latin typeface="Scotia Serif" pitchFamily="34" charset="0"/>
                <a:ea typeface="Scotia Serif" pitchFamily="34" charset="-122"/>
                <a:cs typeface="Scotia Serif" pitchFamily="34" charset="-120"/>
              </a:rPr>
              <a:t> cases. One shot, no search tool.</a:t>
            </a:r>
            <a:endParaRPr lang="en-US" sz="1013" dirty="0"/>
          </a:p>
        </p:txBody>
      </p:sp>
      <p:sp>
        <p:nvSpPr>
          <p:cNvPr id="121"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122" name="Text 7"/>
          <p:cNvSpPr txBox="1"/>
          <p:nvPr/>
        </p:nvSpPr>
        <p:spPr>
          <a:xfrm>
            <a:off x="11669464" y="6306483"/>
            <a:ext cx="112961"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823"/>
        </a:solidFill>
      </p:bgPr>
    </p:bg>
    <p:spTree>
      <p:nvGrpSpPr>
        <p:cNvPr id="1" name=""/>
        <p:cNvGrpSpPr/>
        <p:nvPr/>
      </p:nvGrpSpPr>
      <p:grpSpPr>
        <a:xfrm>
          <a:off x="0" y="0"/>
          <a:ext cx="0" cy="0"/>
          <a:chOff x="0" y="0"/>
          <a:chExt cx="0" cy="0"/>
        </a:xfrm>
      </p:grpSpPr>
      <p:sp>
        <p:nvSpPr>
          <p:cNvPr id="2" name="Text Context Windows Are Becoming F"/>
          <p:cNvSpPr txBox="1"/>
          <p:nvPr/>
        </p:nvSpPr>
        <p:spPr>
          <a:xfrm>
            <a:off x="400050" y="475926"/>
            <a:ext cx="9106346"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Context Windows Are Becoming Fully Searchable</a:t>
            </a:r>
            <a:endParaRPr lang="en-US" sz="3067" dirty="0"/>
          </a:p>
        </p:txBody>
      </p:sp>
      <p:sp>
        <p:nvSpPr>
          <p:cNvPr id="3" name="Text In 2026 frontier models keep"/>
          <p:cNvSpPr txBox="1"/>
          <p:nvPr/>
        </p:nvSpPr>
        <p:spPr>
          <a:xfrm>
            <a:off x="400050" y="1025625"/>
            <a:ext cx="6046143"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In 2026, frontier models keep their accuracy across the whole window.</a:t>
            </a:r>
            <a:endParaRPr lang="en-US" sz="1467" dirty="0"/>
          </a:p>
        </p:txBody>
      </p:sp>
      <p:sp>
        <p:nvSpPr>
          <p:cNvPr id="4" name="dk-card"/>
          <p:cNvSpPr/>
          <p:nvPr/>
        </p:nvSpPr>
        <p:spPr>
          <a:xfrm>
            <a:off x="2290763" y="1490663"/>
            <a:ext cx="7610475" cy="3324225"/>
          </a:xfrm>
          <a:prstGeom prst="roundRect">
            <a:avLst>
              <a:gd name="adj" fmla="val 4441"/>
            </a:avLst>
          </a:prstGeom>
          <a:gradFill rotWithShape="1">
            <a:gsLst>
              <a:gs pos="0">
                <a:srgbClr val="1A1550"/>
              </a:gs>
              <a:gs pos="100000">
                <a:srgbClr val="120E36"/>
              </a:gs>
            </a:gsLst>
            <a:lin ang="5400000" scaled="0"/>
          </a:gradFill>
          <a:ln w="9525">
            <a:solidFill>
              <a:srgbClr val="3B3392"/>
            </a:solidFill>
          </a:ln>
        </p:spPr>
      </p:sp>
      <p:sp>
        <p:nvSpPr>
          <p:cNvPr id="5" name="Text OPENAI MRCR V2 8 NEEDLES"/>
          <p:cNvSpPr txBox="1"/>
          <p:nvPr/>
        </p:nvSpPr>
        <p:spPr>
          <a:xfrm>
            <a:off x="5157639" y="1719263"/>
            <a:ext cx="1876723" cy="152400"/>
          </a:xfrm>
          <a:prstGeom prst="rect">
            <a:avLst/>
          </a:prstGeom>
          <a:noFill/>
          <a:ln/>
        </p:spPr>
        <p:txBody>
          <a:bodyPr wrap="none" lIns="0" tIns="0" rIns="0" bIns="0" rtlCol="0" anchor="ctr"/>
          <a:lstStyle/>
          <a:p>
            <a:pPr algn="ctr" indent="0" marL="0">
              <a:buNone/>
            </a:pPr>
            <a:r>
              <a:rPr lang="en-US" sz="825" b="1" spc="116" kern="0" dirty="0">
                <a:solidFill>
                  <a:srgbClr val="B0AAFF"/>
                </a:solidFill>
                <a:latin typeface="Scotia" pitchFamily="34" charset="0"/>
                <a:ea typeface="Scotia" pitchFamily="34" charset="-122"/>
                <a:cs typeface="Scotia" pitchFamily="34" charset="-120"/>
              </a:rPr>
              <a:t>OPENAI MRCR V2 · 8 NEEDLES</a:t>
            </a:r>
            <a:endParaRPr lang="en-US" sz="825" dirty="0"/>
          </a:p>
        </p:txBody>
      </p:sp>
      <p:sp>
        <p:nvSpPr>
          <p:cNvPr id="6" name="Text 96.3"/>
          <p:cNvSpPr txBox="1"/>
          <p:nvPr/>
        </p:nvSpPr>
        <p:spPr>
          <a:xfrm>
            <a:off x="4888409" y="1971675"/>
            <a:ext cx="2415034" cy="838200"/>
          </a:xfrm>
          <a:prstGeom prst="rect">
            <a:avLst/>
          </a:prstGeom>
          <a:noFill/>
          <a:ln/>
        </p:spPr>
        <p:txBody>
          <a:bodyPr wrap="none" lIns="0" tIns="0" rIns="0" bIns="0" rtlCol="0" anchor="ctr"/>
          <a:lstStyle/>
          <a:p>
            <a:pPr algn="ctr" indent="0" marL="0">
              <a:buNone/>
            </a:pPr>
            <a:r>
              <a:rPr lang="en-US" sz="6600" spc="-132" kern="0" dirty="0">
                <a:solidFill>
                  <a:srgbClr val="FFFFFF"/>
                </a:solidFill>
                <a:latin typeface="Scotia Headline" pitchFamily="34" charset="0"/>
                <a:ea typeface="Scotia Headline" pitchFamily="34" charset="-122"/>
                <a:cs typeface="Scotia Headline" pitchFamily="34" charset="-120"/>
              </a:rPr>
              <a:t>96.3%</a:t>
            </a:r>
            <a:endParaRPr lang="en-US" sz="6600" dirty="0"/>
          </a:p>
        </p:txBody>
      </p:sp>
      <p:sp>
        <p:nvSpPr>
          <p:cNvPr id="7" name="Text GPT-6 Astra between 512K and 1"/>
          <p:cNvSpPr txBox="1"/>
          <p:nvPr/>
        </p:nvSpPr>
        <p:spPr>
          <a:xfrm>
            <a:off x="4509492" y="2862263"/>
            <a:ext cx="3172867" cy="228600"/>
          </a:xfrm>
          <a:prstGeom prst="rect">
            <a:avLst/>
          </a:prstGeom>
          <a:noFill/>
          <a:ln/>
        </p:spPr>
        <p:txBody>
          <a:bodyPr wrap="none" lIns="0" tIns="0" rIns="0" bIns="0" rtlCol="0" anchor="ctr"/>
          <a:lstStyle/>
          <a:p>
            <a:pPr algn="ctr" indent="0" marL="0">
              <a:buNone/>
            </a:pPr>
            <a:r>
              <a:rPr lang="en-US" sz="1275" dirty="0">
                <a:solidFill>
                  <a:srgbClr val="D6D4EA"/>
                </a:solidFill>
                <a:latin typeface="Scotia Serif" pitchFamily="34" charset="0"/>
                <a:ea typeface="Scotia Serif" pitchFamily="34" charset="-122"/>
                <a:cs typeface="Scotia Serif" pitchFamily="34" charset="-120"/>
              </a:rPr>
              <a:t>GPT-6 Astra between 512K and 1M tokens</a:t>
            </a:r>
            <a:endParaRPr lang="en-US" sz="1275" dirty="0"/>
          </a:p>
        </p:txBody>
      </p:sp>
      <p:sp>
        <p:nvSpPr>
          <p:cNvPr id="8" name="mr-row border"/>
          <p:cNvSpPr/>
          <p:nvPr/>
        </p:nvSpPr>
        <p:spPr>
          <a:xfrm>
            <a:off x="2676525" y="3290888"/>
            <a:ext cx="6838950" cy="0"/>
          </a:xfrm>
          <a:prstGeom prst="line">
            <a:avLst/>
          </a:prstGeom>
          <a:noFill/>
          <a:ln w="9525">
            <a:solidFill>
              <a:srgbClr val="BDC2EF">
                <a:alpha val="16000"/>
              </a:srgbClr>
            </a:solidFill>
          </a:ln>
        </p:spPr>
      </p:sp>
      <p:sp>
        <p:nvSpPr>
          <p:cNvPr id="9" name="Text 256K 512K"/>
          <p:cNvSpPr txBox="1"/>
          <p:nvPr/>
        </p:nvSpPr>
        <p:spPr>
          <a:xfrm>
            <a:off x="2676525" y="3490913"/>
            <a:ext cx="728216" cy="152400"/>
          </a:xfrm>
          <a:prstGeom prst="rect">
            <a:avLst/>
          </a:prstGeom>
          <a:noFill/>
          <a:ln/>
        </p:spPr>
        <p:txBody>
          <a:bodyPr wrap="none" lIns="0" tIns="0" rIns="0" bIns="0" rtlCol="0" anchor="ctr"/>
          <a:lstStyle/>
          <a:p>
            <a:pPr algn="l" indent="0" marL="0">
              <a:buNone/>
            </a:pPr>
            <a:r>
              <a:rPr lang="en-US" sz="900" b="1" spc="90" kern="0" dirty="0">
                <a:solidFill>
                  <a:srgbClr val="A9A6CF"/>
                </a:solidFill>
                <a:latin typeface="Scotia" pitchFamily="34" charset="0"/>
                <a:ea typeface="Scotia" pitchFamily="34" charset="-122"/>
                <a:cs typeface="Scotia" pitchFamily="34" charset="-120"/>
              </a:rPr>
              <a:t>256K–512K</a:t>
            </a:r>
            <a:endParaRPr lang="en-US" sz="900" dirty="0"/>
          </a:p>
        </p:txBody>
      </p:sp>
      <p:sp>
        <p:nvSpPr>
          <p:cNvPr id="10" name="Text Sol"/>
          <p:cNvSpPr txBox="1"/>
          <p:nvPr/>
        </p:nvSpPr>
        <p:spPr>
          <a:xfrm>
            <a:off x="3876675" y="3386138"/>
            <a:ext cx="220712"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Sol</a:t>
            </a:r>
            <a:endParaRPr lang="en-US" sz="938" dirty="0"/>
          </a:p>
        </p:txBody>
      </p:sp>
      <p:sp>
        <p:nvSpPr>
          <p:cNvPr id="11" name="mr-track"/>
          <p:cNvSpPr/>
          <p:nvPr/>
        </p:nvSpPr>
        <p:spPr>
          <a:xfrm>
            <a:off x="4429125" y="3419475"/>
            <a:ext cx="4457700" cy="95250"/>
          </a:xfrm>
          <a:prstGeom prst="roundRect">
            <a:avLst>
              <a:gd name="adj" fmla="val 50000"/>
            </a:avLst>
          </a:prstGeom>
          <a:solidFill>
            <a:srgbClr val="FFFFFF">
              <a:alpha val="6000"/>
            </a:srgbClr>
          </a:solidFill>
          <a:ln>
            <a:noFill/>
          </a:ln>
        </p:spPr>
      </p:sp>
      <p:sp>
        <p:nvSpPr>
          <p:cNvPr id="12" name="mr-fill"/>
          <p:cNvSpPr/>
          <p:nvPr/>
        </p:nvSpPr>
        <p:spPr>
          <a:xfrm>
            <a:off x="4429125" y="3419475"/>
            <a:ext cx="4078784" cy="95250"/>
          </a:xfrm>
          <a:prstGeom prst="roundRect">
            <a:avLst>
              <a:gd name="adj" fmla="val 50000"/>
            </a:avLst>
          </a:prstGeom>
          <a:solidFill>
            <a:srgbClr val="13A89B"/>
          </a:solidFill>
          <a:ln>
            <a:noFill/>
          </a:ln>
        </p:spPr>
      </p:sp>
      <p:sp>
        <p:nvSpPr>
          <p:cNvPr id="13" name="Text 91.5"/>
          <p:cNvSpPr txBox="1"/>
          <p:nvPr/>
        </p:nvSpPr>
        <p:spPr>
          <a:xfrm>
            <a:off x="9127182" y="3390900"/>
            <a:ext cx="388293" cy="152400"/>
          </a:xfrm>
          <a:prstGeom prst="rect">
            <a:avLst/>
          </a:prstGeom>
          <a:noFill/>
          <a:ln/>
        </p:spPr>
        <p:txBody>
          <a:bodyPr wrap="none" lIns="0" tIns="0" rIns="0" bIns="0" rtlCol="0" anchor="ctr"/>
          <a:lstStyle/>
          <a:p>
            <a:pPr algn="r" indent="0" marL="0">
              <a:buNone/>
            </a:pPr>
            <a:r>
              <a:rPr lang="en-US" sz="975" b="1" dirty="0">
                <a:solidFill>
                  <a:srgbClr val="FFFFFF"/>
                </a:solidFill>
                <a:latin typeface="Scotia" pitchFamily="34" charset="0"/>
                <a:ea typeface="Scotia" pitchFamily="34" charset="-122"/>
                <a:cs typeface="Scotia" pitchFamily="34" charset="-120"/>
              </a:rPr>
              <a:t>91.5%</a:t>
            </a:r>
            <a:endParaRPr lang="en-US" sz="975" dirty="0"/>
          </a:p>
        </p:txBody>
      </p:sp>
      <p:sp>
        <p:nvSpPr>
          <p:cNvPr id="14" name="Text Astra"/>
          <p:cNvSpPr txBox="1"/>
          <p:nvPr/>
        </p:nvSpPr>
        <p:spPr>
          <a:xfrm>
            <a:off x="3876675" y="3595688"/>
            <a:ext cx="336649"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Astra</a:t>
            </a:r>
            <a:endParaRPr lang="en-US" sz="938" dirty="0"/>
          </a:p>
        </p:txBody>
      </p:sp>
      <p:sp>
        <p:nvSpPr>
          <p:cNvPr id="15" name="mr-track"/>
          <p:cNvSpPr/>
          <p:nvPr/>
        </p:nvSpPr>
        <p:spPr>
          <a:xfrm>
            <a:off x="4429125" y="3629025"/>
            <a:ext cx="4457700" cy="95250"/>
          </a:xfrm>
          <a:prstGeom prst="roundRect">
            <a:avLst>
              <a:gd name="adj" fmla="val 50000"/>
            </a:avLst>
          </a:prstGeom>
          <a:solidFill>
            <a:srgbClr val="FFFFFF">
              <a:alpha val="6000"/>
            </a:srgbClr>
          </a:solidFill>
          <a:ln>
            <a:noFill/>
          </a:ln>
        </p:spPr>
      </p:sp>
      <p:sp>
        <p:nvSpPr>
          <p:cNvPr id="16" name="mr-fill"/>
          <p:cNvSpPr/>
          <p:nvPr/>
        </p:nvSpPr>
        <p:spPr>
          <a:xfrm>
            <a:off x="4429125" y="3629025"/>
            <a:ext cx="4457700" cy="95250"/>
          </a:xfrm>
          <a:prstGeom prst="roundRect">
            <a:avLst>
              <a:gd name="adj" fmla="val 50000"/>
            </a:avLst>
          </a:prstGeom>
          <a:solidFill>
            <a:srgbClr val="8070FF"/>
          </a:solidFill>
          <a:ln>
            <a:noFill/>
          </a:ln>
        </p:spPr>
      </p:sp>
      <p:sp>
        <p:nvSpPr>
          <p:cNvPr id="17" name="Text 100"/>
          <p:cNvSpPr txBox="1"/>
          <p:nvPr/>
        </p:nvSpPr>
        <p:spPr>
          <a:xfrm>
            <a:off x="9134475" y="3600450"/>
            <a:ext cx="381000" cy="152400"/>
          </a:xfrm>
          <a:prstGeom prst="rect">
            <a:avLst/>
          </a:prstGeom>
          <a:noFill/>
          <a:ln/>
        </p:spPr>
        <p:txBody>
          <a:bodyPr wrap="none" lIns="0" tIns="0" rIns="0" bIns="0" rtlCol="0" anchor="ctr"/>
          <a:lstStyle/>
          <a:p>
            <a:pPr algn="r" indent="0" marL="0">
              <a:buNone/>
            </a:pPr>
            <a:r>
              <a:rPr lang="en-US" sz="975" b="1" dirty="0">
                <a:solidFill>
                  <a:srgbClr val="FFFFFF"/>
                </a:solidFill>
                <a:latin typeface="Scotia" pitchFamily="34" charset="0"/>
                <a:ea typeface="Scotia" pitchFamily="34" charset="-122"/>
                <a:cs typeface="Scotia" pitchFamily="34" charset="-120"/>
              </a:rPr>
              <a:t>100%</a:t>
            </a:r>
            <a:endParaRPr lang="en-US" sz="975" dirty="0"/>
          </a:p>
        </p:txBody>
      </p:sp>
      <p:sp>
        <p:nvSpPr>
          <p:cNvPr id="18" name="mr-row border"/>
          <p:cNvSpPr/>
          <p:nvPr/>
        </p:nvSpPr>
        <p:spPr>
          <a:xfrm>
            <a:off x="2676525" y="3871913"/>
            <a:ext cx="6838950" cy="0"/>
          </a:xfrm>
          <a:prstGeom prst="line">
            <a:avLst/>
          </a:prstGeom>
          <a:noFill/>
          <a:ln w="9525">
            <a:solidFill>
              <a:srgbClr val="BDC2EF">
                <a:alpha val="16000"/>
              </a:srgbClr>
            </a:solidFill>
          </a:ln>
        </p:spPr>
      </p:sp>
      <p:sp>
        <p:nvSpPr>
          <p:cNvPr id="19" name="Text 512K 1M"/>
          <p:cNvSpPr txBox="1"/>
          <p:nvPr/>
        </p:nvSpPr>
        <p:spPr>
          <a:xfrm>
            <a:off x="2676525" y="4071938"/>
            <a:ext cx="581174" cy="152400"/>
          </a:xfrm>
          <a:prstGeom prst="rect">
            <a:avLst/>
          </a:prstGeom>
          <a:noFill/>
          <a:ln/>
        </p:spPr>
        <p:txBody>
          <a:bodyPr wrap="none" lIns="0" tIns="0" rIns="0" bIns="0" rtlCol="0" anchor="ctr"/>
          <a:lstStyle/>
          <a:p>
            <a:pPr algn="l" indent="0" marL="0">
              <a:buNone/>
            </a:pPr>
            <a:r>
              <a:rPr lang="en-US" sz="900" b="1" spc="90" kern="0" dirty="0">
                <a:solidFill>
                  <a:srgbClr val="A9A6CF"/>
                </a:solidFill>
                <a:latin typeface="Scotia" pitchFamily="34" charset="0"/>
                <a:ea typeface="Scotia" pitchFamily="34" charset="-122"/>
                <a:cs typeface="Scotia" pitchFamily="34" charset="-120"/>
              </a:rPr>
              <a:t>512K–1M</a:t>
            </a:r>
            <a:endParaRPr lang="en-US" sz="900" dirty="0"/>
          </a:p>
        </p:txBody>
      </p:sp>
      <p:sp>
        <p:nvSpPr>
          <p:cNvPr id="20" name="Text Sol"/>
          <p:cNvSpPr txBox="1"/>
          <p:nvPr/>
        </p:nvSpPr>
        <p:spPr>
          <a:xfrm>
            <a:off x="3876675" y="3967163"/>
            <a:ext cx="220712"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Sol</a:t>
            </a:r>
            <a:endParaRPr lang="en-US" sz="938" dirty="0"/>
          </a:p>
        </p:txBody>
      </p:sp>
      <p:sp>
        <p:nvSpPr>
          <p:cNvPr id="21" name="mr-track"/>
          <p:cNvSpPr/>
          <p:nvPr/>
        </p:nvSpPr>
        <p:spPr>
          <a:xfrm>
            <a:off x="4429125" y="4000500"/>
            <a:ext cx="4457700" cy="95250"/>
          </a:xfrm>
          <a:prstGeom prst="roundRect">
            <a:avLst>
              <a:gd name="adj" fmla="val 50000"/>
            </a:avLst>
          </a:prstGeom>
          <a:solidFill>
            <a:srgbClr val="FFFFFF">
              <a:alpha val="6000"/>
            </a:srgbClr>
          </a:solidFill>
          <a:ln>
            <a:noFill/>
          </a:ln>
        </p:spPr>
      </p:sp>
      <p:sp>
        <p:nvSpPr>
          <p:cNvPr id="22" name="mr-fill"/>
          <p:cNvSpPr/>
          <p:nvPr/>
        </p:nvSpPr>
        <p:spPr>
          <a:xfrm>
            <a:off x="4429125" y="4000500"/>
            <a:ext cx="3289697" cy="95250"/>
          </a:xfrm>
          <a:prstGeom prst="roundRect">
            <a:avLst>
              <a:gd name="adj" fmla="val 50000"/>
            </a:avLst>
          </a:prstGeom>
          <a:solidFill>
            <a:srgbClr val="13A89B"/>
          </a:solidFill>
          <a:ln>
            <a:noFill/>
          </a:ln>
        </p:spPr>
      </p:sp>
      <p:sp>
        <p:nvSpPr>
          <p:cNvPr id="23" name="Text 73.8"/>
          <p:cNvSpPr txBox="1"/>
          <p:nvPr/>
        </p:nvSpPr>
        <p:spPr>
          <a:xfrm>
            <a:off x="9115574" y="3971925"/>
            <a:ext cx="399901" cy="152400"/>
          </a:xfrm>
          <a:prstGeom prst="rect">
            <a:avLst/>
          </a:prstGeom>
          <a:noFill/>
          <a:ln/>
        </p:spPr>
        <p:txBody>
          <a:bodyPr wrap="none" lIns="0" tIns="0" rIns="0" bIns="0" rtlCol="0" anchor="ctr"/>
          <a:lstStyle/>
          <a:p>
            <a:pPr algn="r" indent="0" marL="0">
              <a:buNone/>
            </a:pPr>
            <a:r>
              <a:rPr lang="en-US" sz="975" b="1" dirty="0">
                <a:solidFill>
                  <a:srgbClr val="FFFFFF"/>
                </a:solidFill>
                <a:latin typeface="Scotia" pitchFamily="34" charset="0"/>
                <a:ea typeface="Scotia" pitchFamily="34" charset="-122"/>
                <a:cs typeface="Scotia" pitchFamily="34" charset="-120"/>
              </a:rPr>
              <a:t>73.8%</a:t>
            </a:r>
            <a:endParaRPr lang="en-US" sz="975" dirty="0"/>
          </a:p>
        </p:txBody>
      </p:sp>
      <p:sp>
        <p:nvSpPr>
          <p:cNvPr id="24" name="Text Astra"/>
          <p:cNvSpPr txBox="1"/>
          <p:nvPr/>
        </p:nvSpPr>
        <p:spPr>
          <a:xfrm>
            <a:off x="3876675" y="4176712"/>
            <a:ext cx="336649"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Astra</a:t>
            </a:r>
            <a:endParaRPr lang="en-US" sz="938" dirty="0"/>
          </a:p>
        </p:txBody>
      </p:sp>
      <p:sp>
        <p:nvSpPr>
          <p:cNvPr id="25" name="mr-track"/>
          <p:cNvSpPr/>
          <p:nvPr/>
        </p:nvSpPr>
        <p:spPr>
          <a:xfrm>
            <a:off x="4429125" y="4210050"/>
            <a:ext cx="4457700" cy="95250"/>
          </a:xfrm>
          <a:prstGeom prst="roundRect">
            <a:avLst>
              <a:gd name="adj" fmla="val 50000"/>
            </a:avLst>
          </a:prstGeom>
          <a:solidFill>
            <a:srgbClr val="FFFFFF">
              <a:alpha val="6000"/>
            </a:srgbClr>
          </a:solidFill>
          <a:ln>
            <a:noFill/>
          </a:ln>
        </p:spPr>
      </p:sp>
      <p:sp>
        <p:nvSpPr>
          <p:cNvPr id="26" name="mr-fill"/>
          <p:cNvSpPr/>
          <p:nvPr/>
        </p:nvSpPr>
        <p:spPr>
          <a:xfrm>
            <a:off x="4429125" y="4210050"/>
            <a:ext cx="4292650" cy="95250"/>
          </a:xfrm>
          <a:prstGeom prst="roundRect">
            <a:avLst>
              <a:gd name="adj" fmla="val 50000"/>
            </a:avLst>
          </a:prstGeom>
          <a:solidFill>
            <a:srgbClr val="8070FF"/>
          </a:solidFill>
          <a:ln>
            <a:noFill/>
          </a:ln>
        </p:spPr>
      </p:sp>
      <p:sp>
        <p:nvSpPr>
          <p:cNvPr id="27" name="Text 96.3"/>
          <p:cNvSpPr txBox="1"/>
          <p:nvPr/>
        </p:nvSpPr>
        <p:spPr>
          <a:xfrm>
            <a:off x="9106942" y="4181475"/>
            <a:ext cx="408533" cy="152400"/>
          </a:xfrm>
          <a:prstGeom prst="rect">
            <a:avLst/>
          </a:prstGeom>
          <a:noFill/>
          <a:ln/>
        </p:spPr>
        <p:txBody>
          <a:bodyPr wrap="none" lIns="0" tIns="0" rIns="0" bIns="0" rtlCol="0" anchor="ctr"/>
          <a:lstStyle/>
          <a:p>
            <a:pPr algn="r" indent="0" marL="0">
              <a:buNone/>
            </a:pPr>
            <a:r>
              <a:rPr lang="en-US" sz="975" b="1" dirty="0">
                <a:solidFill>
                  <a:srgbClr val="FFFFFF"/>
                </a:solidFill>
                <a:latin typeface="Scotia" pitchFamily="34" charset="0"/>
                <a:ea typeface="Scotia" pitchFamily="34" charset="-122"/>
                <a:cs typeface="Scotia" pitchFamily="34" charset="-120"/>
              </a:rPr>
              <a:t>96.3%</a:t>
            </a:r>
            <a:endParaRPr lang="en-US" sz="975" dirty="0"/>
          </a:p>
        </p:txBody>
      </p:sp>
      <p:sp>
        <p:nvSpPr>
          <p:cNvPr id="28" name="Text OpenAI GPT-6 Astra launch Se"/>
          <p:cNvSpPr txBox="1"/>
          <p:nvPr/>
        </p:nvSpPr>
        <p:spPr>
          <a:xfrm>
            <a:off x="4493270" y="4481513"/>
            <a:ext cx="3205460" cy="152400"/>
          </a:xfrm>
          <a:prstGeom prst="rect">
            <a:avLst/>
          </a:prstGeom>
          <a:noFill/>
          <a:ln/>
        </p:spPr>
        <p:txBody>
          <a:bodyPr wrap="none" lIns="0" tIns="0" rIns="0" bIns="0" rtlCol="0" anchor="ctr"/>
          <a:lstStyle/>
          <a:p>
            <a:pPr algn="ctr" indent="0" marL="0">
              <a:buNone/>
            </a:pPr>
            <a:r>
              <a:rPr lang="en-US" sz="863" dirty="0">
                <a:solidFill>
                  <a:srgbClr val="6F6A9E"/>
                </a:solidFill>
                <a:latin typeface="Scotia" pitchFamily="34" charset="0"/>
                <a:ea typeface="Scotia" pitchFamily="34" charset="-122"/>
                <a:cs typeface="Scotia" pitchFamily="34" charset="-120"/>
              </a:rPr>
              <a:t>OpenAI, GPT-6 Astra launch, September 2026 · Sol is GPT-5.6 Sol</a:t>
            </a:r>
            <a:endParaRPr lang="en-US" sz="863" dirty="0"/>
          </a:p>
        </p:txBody>
      </p:sp>
      <p:sp>
        <p:nvSpPr>
          <p:cNvPr id="29" name="dk-hero"/>
          <p:cNvSpPr/>
          <p:nvPr/>
        </p:nvSpPr>
        <p:spPr>
          <a:xfrm>
            <a:off x="2286000" y="5143500"/>
            <a:ext cx="7620000" cy="523875"/>
          </a:xfrm>
          <a:prstGeom prst="roundRect">
            <a:avLst>
              <a:gd name="adj" fmla="val 25455"/>
            </a:avLst>
          </a:prstGeom>
          <a:gradFill rotWithShape="1">
            <a:gsLst>
              <a:gs pos="0">
                <a:srgbClr val="7B69FF"/>
              </a:gs>
              <a:gs pos="100000">
                <a:srgbClr val="5141D3"/>
              </a:gs>
            </a:gsLst>
            <a:lin ang="2700000" scaled="0"/>
          </a:gradFill>
          <a:ln>
            <a:noFill/>
          </a:ln>
          <a:effectLst>
            <a:outerShdw blurRad="342900" dist="152400" dir="5400000" sx="95500" sy="34545" algn="ctr" rotWithShape="0">
              <a:srgbClr val="6551FF">
                <a:alpha val="90000"/>
              </a:srgbClr>
            </a:outerShdw>
          </a:effectLst>
        </p:spPr>
      </p:sp>
      <p:sp>
        <p:nvSpPr>
          <p:cNvPr id="30" name="Text For frontier models finding w"/>
          <p:cNvSpPr txBox="1"/>
          <p:nvPr/>
        </p:nvSpPr>
        <p:spPr>
          <a:xfrm>
            <a:off x="2514600" y="5295900"/>
            <a:ext cx="5767090" cy="219075"/>
          </a:xfrm>
          <a:prstGeom prst="rect">
            <a:avLst/>
          </a:prstGeom>
          <a:noFill/>
          <a:ln/>
        </p:spPr>
        <p:txBody>
          <a:bodyPr wrap="none" lIns="0" tIns="0" rIns="0" bIns="0" rtlCol="0" anchor="ctr"/>
          <a:lstStyle/>
          <a:p>
            <a:pPr algn="l" indent="0" marL="0">
              <a:buNone/>
            </a:pPr>
            <a:r>
              <a:rPr lang="en-US" sz="1275" dirty="0">
                <a:solidFill>
                  <a:srgbClr val="FFFFFF"/>
                </a:solidFill>
                <a:latin typeface="Scotia Headline" pitchFamily="34" charset="0"/>
                <a:ea typeface="Scotia Headline" pitchFamily="34" charset="-122"/>
                <a:cs typeface="Scotia Headline" pitchFamily="34" charset="-120"/>
              </a:rPr>
              <a:t>For frontier models, finding what is in the window is no longer the hard part.</a:t>
            </a:r>
            <a:endParaRPr lang="en-US" sz="1275" dirty="0"/>
          </a:p>
        </p:txBody>
      </p:sp>
      <p:sp>
        <p:nvSpPr>
          <p:cNvPr id="31"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32" name="Text 8"/>
          <p:cNvSpPr txBox="1"/>
          <p:nvPr/>
        </p:nvSpPr>
        <p:spPr>
          <a:xfrm>
            <a:off x="11666637" y="6306483"/>
            <a:ext cx="115788"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823"/>
        </a:solidFill>
      </p:bgPr>
    </p:bg>
    <p:spTree>
      <p:nvGrpSpPr>
        <p:cNvPr id="1" name=""/>
        <p:cNvGrpSpPr/>
        <p:nvPr/>
      </p:nvGrpSpPr>
      <p:grpSpPr>
        <a:xfrm>
          <a:off x="0" y="0"/>
          <a:ext cx="0" cy="0"/>
          <a:chOff x="0" y="0"/>
          <a:chExt cx="0" cy="0"/>
        </a:xfrm>
      </p:grpSpPr>
      <p:sp>
        <p:nvSpPr>
          <p:cNvPr id="2" name="Text Three Ways To Manage Context"/>
          <p:cNvSpPr txBox="1"/>
          <p:nvPr/>
        </p:nvSpPr>
        <p:spPr>
          <a:xfrm>
            <a:off x="400050" y="475926"/>
            <a:ext cx="5919192"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Three Ways To Manage Context</a:t>
            </a:r>
            <a:endParaRPr lang="en-US" sz="3067" dirty="0"/>
          </a:p>
        </p:txBody>
      </p:sp>
      <p:sp>
        <p:nvSpPr>
          <p:cNvPr id="3" name="Text Context strategies keep one ag"/>
          <p:cNvSpPr txBox="1"/>
          <p:nvPr/>
        </p:nvSpPr>
        <p:spPr>
          <a:xfrm>
            <a:off x="400050" y="1025625"/>
            <a:ext cx="9048601"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Context strategies keep one agent and manage what it sees. Agentic patterns split the work across agents.</a:t>
            </a:r>
            <a:endParaRPr lang="en-US" sz="1467" dirty="0"/>
          </a:p>
        </p:txBody>
      </p:sp>
      <p:sp>
        <p:nvSpPr>
          <p:cNvPr id="4" name="dk-card"/>
          <p:cNvSpPr/>
          <p:nvPr/>
        </p:nvSpPr>
        <p:spPr>
          <a:xfrm>
            <a:off x="404813" y="1490663"/>
            <a:ext cx="3705225" cy="3133725"/>
          </a:xfrm>
          <a:prstGeom prst="roundRect">
            <a:avLst>
              <a:gd name="adj" fmla="val 4711"/>
            </a:avLst>
          </a:prstGeom>
          <a:gradFill rotWithShape="1">
            <a:gsLst>
              <a:gs pos="0">
                <a:srgbClr val="1A1550"/>
              </a:gs>
              <a:gs pos="100000">
                <a:srgbClr val="120E36"/>
              </a:gs>
            </a:gsLst>
            <a:lin ang="5400000" scaled="0"/>
          </a:gradFill>
          <a:ln w="9525">
            <a:solidFill>
              <a:srgbClr val="3B3392"/>
            </a:solidFill>
          </a:ln>
        </p:spPr>
      </p:sp>
      <p:sp>
        <p:nvSpPr>
          <p:cNvPr id="5" name="cs-icon path"/>
          <p:cNvSpPr/>
          <p:nvPr/>
        </p:nvSpPr>
        <p:spPr>
          <a:xfrm>
            <a:off x="615977" y="1644170"/>
            <a:ext cx="158854" cy="80335"/>
          </a:xfrm>
          <a:custGeom>
            <a:avLst/>
            <a:gdLst/>
            <a:ahLst/>
            <a:cxnLst/>
            <a:rect l="l" t="t" r="r" b="b"/>
            <a:pathLst>
              <a:path w="158854" h="80335">
                <a:moveTo>
                  <a:pt x="85936" y="1909"/>
                </a:moveTo>
                <a:cubicBezTo>
                  <a:pt x="81751" y="0"/>
                  <a:pt x="76944" y="0"/>
                  <a:pt x="72759" y="1909"/>
                </a:cubicBezTo>
                <a:lnTo>
                  <a:pt x="4735" y="32865"/>
                </a:lnTo>
                <a:cubicBezTo>
                  <a:pt x="1857" y="34134"/>
                  <a:pt x="0" y="36983"/>
                  <a:pt x="0" y="40128"/>
                </a:cubicBezTo>
                <a:cubicBezTo>
                  <a:pt x="0" y="43273"/>
                  <a:pt x="1857" y="46122"/>
                  <a:pt x="4735" y="47391"/>
                </a:cubicBezTo>
                <a:lnTo>
                  <a:pt x="72839" y="78426"/>
                </a:lnTo>
                <a:cubicBezTo>
                  <a:pt x="77024" y="80335"/>
                  <a:pt x="81830" y="80335"/>
                  <a:pt x="86015" y="78426"/>
                </a:cubicBezTo>
                <a:lnTo>
                  <a:pt x="154119" y="47470"/>
                </a:lnTo>
                <a:cubicBezTo>
                  <a:pt x="156997" y="46201"/>
                  <a:pt x="158854" y="43352"/>
                  <a:pt x="158854" y="40207"/>
                </a:cubicBezTo>
                <a:cubicBezTo>
                  <a:pt x="158854" y="37062"/>
                  <a:pt x="156997" y="34213"/>
                  <a:pt x="154119" y="32944"/>
                </a:cubicBezTo>
                <a:close/>
              </a:path>
            </a:pathLst>
          </a:custGeom>
          <a:noFill/>
          <a:ln w="11906" cap="rnd">
            <a:solidFill>
              <a:srgbClr val="B0AAFF"/>
            </a:solidFill>
            <a:round/>
          </a:ln>
        </p:spPr>
      </p:sp>
      <p:sp>
        <p:nvSpPr>
          <p:cNvPr id="6" name="cs-icon path"/>
          <p:cNvSpPr/>
          <p:nvPr/>
        </p:nvSpPr>
        <p:spPr>
          <a:xfrm>
            <a:off x="615950" y="1768872"/>
            <a:ext cx="158750" cy="34929"/>
          </a:xfrm>
          <a:custGeom>
            <a:avLst/>
            <a:gdLst/>
            <a:ahLst/>
            <a:cxnLst/>
            <a:rect l="l" t="t" r="r" b="b"/>
            <a:pathLst>
              <a:path w="158750" h="34929">
                <a:moveTo>
                  <a:pt x="158750" y="0"/>
                </a:moveTo>
                <a:lnTo>
                  <a:pt x="85963" y="33020"/>
                </a:lnTo>
                <a:cubicBezTo>
                  <a:pt x="81778" y="34929"/>
                  <a:pt x="76972" y="34929"/>
                  <a:pt x="72787" y="33020"/>
                </a:cubicBezTo>
                <a:lnTo>
                  <a:pt x="0" y="0"/>
                </a:lnTo>
              </a:path>
            </a:pathLst>
          </a:custGeom>
          <a:noFill/>
          <a:ln w="11906" cap="rnd">
            <a:solidFill>
              <a:srgbClr val="B0AAFF"/>
            </a:solidFill>
            <a:round/>
          </a:ln>
        </p:spPr>
      </p:sp>
      <p:sp>
        <p:nvSpPr>
          <p:cNvPr id="7" name="cs-icon path"/>
          <p:cNvSpPr/>
          <p:nvPr/>
        </p:nvSpPr>
        <p:spPr>
          <a:xfrm>
            <a:off x="615950" y="1729184"/>
            <a:ext cx="158750" cy="34929"/>
          </a:xfrm>
          <a:custGeom>
            <a:avLst/>
            <a:gdLst/>
            <a:ahLst/>
            <a:cxnLst/>
            <a:rect l="l" t="t" r="r" b="b"/>
            <a:pathLst>
              <a:path w="158750" h="34929">
                <a:moveTo>
                  <a:pt x="158750" y="0"/>
                </a:moveTo>
                <a:lnTo>
                  <a:pt x="85963" y="33020"/>
                </a:lnTo>
                <a:cubicBezTo>
                  <a:pt x="81778" y="34929"/>
                  <a:pt x="76972" y="34929"/>
                  <a:pt x="72787" y="33020"/>
                </a:cubicBezTo>
                <a:lnTo>
                  <a:pt x="0" y="0"/>
                </a:lnTo>
              </a:path>
            </a:pathLst>
          </a:custGeom>
          <a:noFill/>
          <a:ln w="11906" cap="rnd">
            <a:solidFill>
              <a:srgbClr val="B0AAFF"/>
            </a:solidFill>
            <a:round/>
          </a:ln>
        </p:spPr>
      </p:sp>
      <p:sp>
        <p:nvSpPr>
          <p:cNvPr id="8" name="Text CONTEXT STRATEGY"/>
          <p:cNvSpPr txBox="1"/>
          <p:nvPr/>
        </p:nvSpPr>
        <p:spPr>
          <a:xfrm>
            <a:off x="885825" y="1643063"/>
            <a:ext cx="1304330"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 STRATEGY</a:t>
            </a:r>
            <a:endParaRPr lang="en-US" sz="825" dirty="0"/>
          </a:p>
        </p:txBody>
      </p:sp>
      <p:sp>
        <p:nvSpPr>
          <p:cNvPr id="9" name="Text Compress it"/>
          <p:cNvSpPr txBox="1"/>
          <p:nvPr/>
        </p:nvSpPr>
        <p:spPr>
          <a:xfrm>
            <a:off x="600075" y="1895475"/>
            <a:ext cx="1425922" cy="295275"/>
          </a:xfrm>
          <a:prstGeom prst="rect">
            <a:avLst/>
          </a:prstGeom>
          <a:noFill/>
          <a:ln/>
        </p:spPr>
        <p:txBody>
          <a:bodyPr wrap="none" lIns="0" tIns="0" rIns="0" bIns="0" rtlCol="0" anchor="ctr"/>
          <a:lstStyle/>
          <a:p>
            <a:pPr algn="l" indent="0" marL="0">
              <a:buNone/>
            </a:pPr>
            <a:r>
              <a:rPr lang="en-US" sz="1950" dirty="0">
                <a:solidFill>
                  <a:srgbClr val="FFFFFF"/>
                </a:solidFill>
                <a:latin typeface="Scotia Headline" pitchFamily="34" charset="0"/>
                <a:ea typeface="Scotia Headline" pitchFamily="34" charset="-122"/>
                <a:cs typeface="Scotia Headline" pitchFamily="34" charset="-120"/>
              </a:rPr>
              <a:t>Compress it</a:t>
            </a:r>
            <a:endParaRPr lang="en-US" sz="1950" dirty="0"/>
          </a:p>
        </p:txBody>
      </p:sp>
      <p:sp>
        <p:nvSpPr>
          <p:cNvPr id="10" name="Text Keep one agent shrink its his"/>
          <p:cNvSpPr txBox="1"/>
          <p:nvPr/>
        </p:nvSpPr>
        <p:spPr>
          <a:xfrm>
            <a:off x="600075" y="2262188"/>
            <a:ext cx="3314700" cy="419100"/>
          </a:xfrm>
          <a:prstGeom prst="rect">
            <a:avLst/>
          </a:prstGeom>
          <a:noFill/>
          <a:ln/>
        </p:spPr>
        <p:txBody>
          <a:bodyPr wrap="square" lIns="0" tIns="0" rIns="0" bIns="0" rtlCol="0" anchor="t"/>
          <a:lstStyle/>
          <a:p>
            <a:pPr algn="l" indent="0" marL="0">
              <a:lnSpc>
                <a:spcPts val="1650"/>
              </a:lnSpc>
              <a:buNone/>
            </a:pPr>
            <a:r>
              <a:rPr lang="en-US" sz="1200" dirty="0">
                <a:solidFill>
                  <a:srgbClr val="FFFFFF">
                    <a:alpha val="92000"/>
                  </a:srgbClr>
                </a:solidFill>
                <a:latin typeface="Scotia Serif" pitchFamily="34" charset="0"/>
                <a:ea typeface="Scotia Serif" pitchFamily="34" charset="-122"/>
                <a:cs typeface="Scotia Serif" pitchFamily="34" charset="-120"/>
              </a:rPr>
              <a:t>Keep one agent; shrink its history to fit the window.</a:t>
            </a:r>
            <a:endParaRPr lang="en-US" sz="1200" dirty="0"/>
          </a:p>
        </p:txBody>
      </p:sp>
      <p:sp>
        <p:nvSpPr>
          <p:cNvPr id="11" name="dk-tile"/>
          <p:cNvSpPr/>
          <p:nvPr/>
        </p:nvSpPr>
        <p:spPr>
          <a:xfrm>
            <a:off x="600075" y="2800350"/>
            <a:ext cx="3314700" cy="1628775"/>
          </a:xfrm>
          <a:prstGeom prst="roundRect">
            <a:avLst>
              <a:gd name="adj" fmla="val 7018"/>
            </a:avLst>
          </a:prstGeom>
          <a:solidFill>
            <a:srgbClr val="FFFFFF">
              <a:alpha val="4000"/>
            </a:srgbClr>
          </a:solidFill>
          <a:ln>
            <a:noFill/>
          </a:ln>
        </p:spPr>
      </p:sp>
      <p:sp>
        <p:nvSpPr>
          <p:cNvPr id="12" name="svg rect"/>
          <p:cNvSpPr/>
          <p:nvPr/>
        </p:nvSpPr>
        <p:spPr>
          <a:xfrm>
            <a:off x="734455" y="3323581"/>
            <a:ext cx="1075038" cy="50392"/>
          </a:xfrm>
          <a:prstGeom prst="roundRect">
            <a:avLst>
              <a:gd name="adj" fmla="val 44445"/>
            </a:avLst>
          </a:prstGeom>
          <a:solidFill>
            <a:srgbClr val="3B3392"/>
          </a:solidFill>
          <a:ln>
            <a:noFill/>
          </a:ln>
        </p:spPr>
      </p:sp>
      <p:sp>
        <p:nvSpPr>
          <p:cNvPr id="13" name="svg rect"/>
          <p:cNvSpPr/>
          <p:nvPr/>
        </p:nvSpPr>
        <p:spPr>
          <a:xfrm>
            <a:off x="734455" y="3401970"/>
            <a:ext cx="1075038" cy="50392"/>
          </a:xfrm>
          <a:prstGeom prst="roundRect">
            <a:avLst>
              <a:gd name="adj" fmla="val 44445"/>
            </a:avLst>
          </a:prstGeom>
          <a:solidFill>
            <a:srgbClr val="3B3392"/>
          </a:solidFill>
          <a:ln>
            <a:noFill/>
          </a:ln>
        </p:spPr>
      </p:sp>
      <p:sp>
        <p:nvSpPr>
          <p:cNvPr id="14" name="svg rect"/>
          <p:cNvSpPr/>
          <p:nvPr/>
        </p:nvSpPr>
        <p:spPr>
          <a:xfrm>
            <a:off x="734455" y="3480358"/>
            <a:ext cx="1075038" cy="50392"/>
          </a:xfrm>
          <a:prstGeom prst="roundRect">
            <a:avLst>
              <a:gd name="adj" fmla="val 44445"/>
            </a:avLst>
          </a:prstGeom>
          <a:solidFill>
            <a:srgbClr val="3B3392"/>
          </a:solidFill>
          <a:ln>
            <a:noFill/>
          </a:ln>
        </p:spPr>
      </p:sp>
      <p:sp>
        <p:nvSpPr>
          <p:cNvPr id="15" name="svg rect"/>
          <p:cNvSpPr/>
          <p:nvPr/>
        </p:nvSpPr>
        <p:spPr>
          <a:xfrm>
            <a:off x="734455" y="3558746"/>
            <a:ext cx="1075038" cy="50392"/>
          </a:xfrm>
          <a:prstGeom prst="roundRect">
            <a:avLst>
              <a:gd name="adj" fmla="val 44445"/>
            </a:avLst>
          </a:prstGeom>
          <a:solidFill>
            <a:srgbClr val="3B3392"/>
          </a:solidFill>
          <a:ln>
            <a:noFill/>
          </a:ln>
        </p:spPr>
      </p:sp>
      <p:sp>
        <p:nvSpPr>
          <p:cNvPr id="16" name="svg rect"/>
          <p:cNvSpPr/>
          <p:nvPr/>
        </p:nvSpPr>
        <p:spPr>
          <a:xfrm>
            <a:off x="734455" y="3637134"/>
            <a:ext cx="1075038" cy="50392"/>
          </a:xfrm>
          <a:prstGeom prst="roundRect">
            <a:avLst>
              <a:gd name="adj" fmla="val 44445"/>
            </a:avLst>
          </a:prstGeom>
          <a:solidFill>
            <a:srgbClr val="3B3392"/>
          </a:solidFill>
          <a:ln>
            <a:noFill/>
          </a:ln>
        </p:spPr>
      </p:sp>
      <p:sp>
        <p:nvSpPr>
          <p:cNvPr id="17" name="svg rect"/>
          <p:cNvSpPr/>
          <p:nvPr/>
        </p:nvSpPr>
        <p:spPr>
          <a:xfrm>
            <a:off x="734455" y="3715522"/>
            <a:ext cx="1075038" cy="50392"/>
          </a:xfrm>
          <a:prstGeom prst="roundRect">
            <a:avLst>
              <a:gd name="adj" fmla="val 44445"/>
            </a:avLst>
          </a:prstGeom>
          <a:solidFill>
            <a:srgbClr val="3B3392"/>
          </a:solidFill>
          <a:ln>
            <a:noFill/>
          </a:ln>
        </p:spPr>
      </p:sp>
      <p:sp>
        <p:nvSpPr>
          <p:cNvPr id="18" name="svg rect"/>
          <p:cNvSpPr/>
          <p:nvPr/>
        </p:nvSpPr>
        <p:spPr>
          <a:xfrm>
            <a:off x="734455" y="3793910"/>
            <a:ext cx="1075038" cy="50392"/>
          </a:xfrm>
          <a:prstGeom prst="roundRect">
            <a:avLst>
              <a:gd name="adj" fmla="val 44445"/>
            </a:avLst>
          </a:prstGeom>
          <a:solidFill>
            <a:srgbClr val="3B3392"/>
          </a:solidFill>
          <a:ln>
            <a:noFill/>
          </a:ln>
        </p:spPr>
      </p:sp>
      <p:sp>
        <p:nvSpPr>
          <p:cNvPr id="19" name="svg rect"/>
          <p:cNvSpPr/>
          <p:nvPr/>
        </p:nvSpPr>
        <p:spPr>
          <a:xfrm>
            <a:off x="734455" y="3872299"/>
            <a:ext cx="1075038" cy="50392"/>
          </a:xfrm>
          <a:prstGeom prst="roundRect">
            <a:avLst>
              <a:gd name="adj" fmla="val 44445"/>
            </a:avLst>
          </a:prstGeom>
          <a:solidFill>
            <a:srgbClr val="3B3392"/>
          </a:solidFill>
          <a:ln>
            <a:noFill/>
          </a:ln>
        </p:spPr>
      </p:sp>
      <p:sp>
        <p:nvSpPr>
          <p:cNvPr id="20" name="svg path"/>
          <p:cNvSpPr/>
          <p:nvPr/>
        </p:nvSpPr>
        <p:spPr>
          <a:xfrm>
            <a:off x="1966269" y="3614737"/>
            <a:ext cx="436734" cy="0"/>
          </a:xfrm>
          <a:prstGeom prst="line">
            <a:avLst/>
          </a:prstGeom>
          <a:noFill/>
          <a:ln w="22397" cap="flat">
            <a:solidFill>
              <a:srgbClr val="B0AAFF"/>
            </a:solidFill>
            <a:miter lim="800000"/>
            <a:tailEnd type="triangle" w="lg" len="lg"/>
          </a:ln>
        </p:spPr>
      </p:sp>
      <p:sp>
        <p:nvSpPr>
          <p:cNvPr id="21" name="svg rect"/>
          <p:cNvSpPr/>
          <p:nvPr/>
        </p:nvSpPr>
        <p:spPr>
          <a:xfrm>
            <a:off x="2548581" y="3368375"/>
            <a:ext cx="1231814" cy="201570"/>
          </a:xfrm>
          <a:prstGeom prst="roundRect">
            <a:avLst>
              <a:gd name="adj" fmla="val 27778"/>
            </a:avLst>
          </a:prstGeom>
          <a:solidFill>
            <a:srgbClr val="6551FF"/>
          </a:solidFill>
          <a:ln>
            <a:noFill/>
          </a:ln>
        </p:spPr>
      </p:sp>
      <p:sp>
        <p:nvSpPr>
          <p:cNvPr id="22" name="Text summary"/>
          <p:cNvSpPr txBox="1"/>
          <p:nvPr/>
        </p:nvSpPr>
        <p:spPr>
          <a:xfrm>
            <a:off x="2878702" y="3413168"/>
            <a:ext cx="571572" cy="145577"/>
          </a:xfrm>
          <a:prstGeom prst="rect">
            <a:avLst/>
          </a:prstGeom>
          <a:noFill/>
          <a:ln/>
        </p:spPr>
        <p:txBody>
          <a:bodyPr wrap="none" lIns="0" tIns="0" rIns="0" bIns="0" rtlCol="0" anchor="ctr"/>
          <a:lstStyle/>
          <a:p>
            <a:pPr algn="ctr" indent="0" marL="0">
              <a:buNone/>
            </a:pPr>
            <a:r>
              <a:rPr lang="en-US" sz="926" b="1" dirty="0">
                <a:solidFill>
                  <a:srgbClr val="FFFFFF"/>
                </a:solidFill>
                <a:latin typeface="Scotia" pitchFamily="34" charset="0"/>
                <a:ea typeface="Scotia" pitchFamily="34" charset="-122"/>
                <a:cs typeface="Scotia" pitchFamily="34" charset="-120"/>
              </a:rPr>
              <a:t>summary</a:t>
            </a:r>
            <a:endParaRPr lang="en-US" sz="926" dirty="0"/>
          </a:p>
        </p:txBody>
      </p:sp>
      <p:sp>
        <p:nvSpPr>
          <p:cNvPr id="23" name="svg rect"/>
          <p:cNvSpPr/>
          <p:nvPr/>
        </p:nvSpPr>
        <p:spPr>
          <a:xfrm>
            <a:off x="2548581" y="3659531"/>
            <a:ext cx="1231814" cy="201570"/>
          </a:xfrm>
          <a:prstGeom prst="roundRect">
            <a:avLst>
              <a:gd name="adj" fmla="val 27778"/>
            </a:avLst>
          </a:prstGeom>
          <a:noFill/>
          <a:ln w="11198" cap="flat">
            <a:solidFill>
              <a:srgbClr val="8070FF"/>
            </a:solidFill>
            <a:miter lim="800000"/>
          </a:ln>
        </p:spPr>
      </p:sp>
      <p:sp>
        <p:nvSpPr>
          <p:cNvPr id="24" name="Text notes todo"/>
          <p:cNvSpPr txBox="1"/>
          <p:nvPr/>
        </p:nvSpPr>
        <p:spPr>
          <a:xfrm>
            <a:off x="2817899" y="3704323"/>
            <a:ext cx="693179" cy="145577"/>
          </a:xfrm>
          <a:prstGeom prst="rect">
            <a:avLst/>
          </a:prstGeom>
          <a:noFill/>
          <a:ln/>
        </p:spPr>
        <p:txBody>
          <a:bodyPr wrap="none" lIns="0" tIns="0" rIns="0" bIns="0" rtlCol="0" anchor="ctr"/>
          <a:lstStyle/>
          <a:p>
            <a:pPr algn="ctr" indent="0" marL="0">
              <a:buNone/>
            </a:pPr>
            <a:r>
              <a:rPr lang="en-US" sz="926" b="1" dirty="0">
                <a:solidFill>
                  <a:srgbClr val="B0AAFF"/>
                </a:solidFill>
                <a:latin typeface="Scotia" pitchFamily="34" charset="0"/>
                <a:ea typeface="Scotia" pitchFamily="34" charset="-122"/>
                <a:cs typeface="Scotia" pitchFamily="34" charset="-120"/>
              </a:rPr>
              <a:t>notes · todo</a:t>
            </a:r>
            <a:endParaRPr lang="en-US" sz="926" dirty="0"/>
          </a:p>
        </p:txBody>
      </p:sp>
      <p:sp>
        <p:nvSpPr>
          <p:cNvPr id="25" name="dk-card"/>
          <p:cNvSpPr/>
          <p:nvPr/>
        </p:nvSpPr>
        <p:spPr>
          <a:xfrm>
            <a:off x="4271963" y="1490663"/>
            <a:ext cx="3705225" cy="3133725"/>
          </a:xfrm>
          <a:prstGeom prst="roundRect">
            <a:avLst>
              <a:gd name="adj" fmla="val 4711"/>
            </a:avLst>
          </a:prstGeom>
          <a:gradFill rotWithShape="1">
            <a:gsLst>
              <a:gs pos="0">
                <a:srgbClr val="1A1550"/>
              </a:gs>
              <a:gs pos="100000">
                <a:srgbClr val="120E36"/>
              </a:gs>
            </a:gsLst>
            <a:lin ang="5400000" scaled="0"/>
          </a:gradFill>
          <a:ln w="9525">
            <a:solidFill>
              <a:srgbClr val="3B3392"/>
            </a:solidFill>
          </a:ln>
        </p:spPr>
      </p:sp>
      <p:sp>
        <p:nvSpPr>
          <p:cNvPr id="26" name="cs-icon rect"/>
          <p:cNvSpPr/>
          <p:nvPr/>
        </p:nvSpPr>
        <p:spPr>
          <a:xfrm>
            <a:off x="4594225" y="1755775"/>
            <a:ext cx="47625" cy="47625"/>
          </a:xfrm>
          <a:prstGeom prst="roundRect">
            <a:avLst>
              <a:gd name="adj" fmla="val 16667"/>
            </a:avLst>
          </a:prstGeom>
          <a:noFill/>
          <a:ln w="11906" cap="rnd">
            <a:solidFill>
              <a:srgbClr val="B0AAFF"/>
            </a:solidFill>
            <a:round/>
          </a:ln>
        </p:spPr>
      </p:sp>
      <p:sp>
        <p:nvSpPr>
          <p:cNvPr id="27" name="cs-icon rect"/>
          <p:cNvSpPr/>
          <p:nvPr/>
        </p:nvSpPr>
        <p:spPr>
          <a:xfrm>
            <a:off x="4483100" y="1755775"/>
            <a:ext cx="47625" cy="47625"/>
          </a:xfrm>
          <a:prstGeom prst="roundRect">
            <a:avLst>
              <a:gd name="adj" fmla="val 16667"/>
            </a:avLst>
          </a:prstGeom>
          <a:noFill/>
          <a:ln w="11906" cap="rnd">
            <a:solidFill>
              <a:srgbClr val="B0AAFF"/>
            </a:solidFill>
            <a:round/>
          </a:ln>
        </p:spPr>
      </p:sp>
      <p:sp>
        <p:nvSpPr>
          <p:cNvPr id="28" name="cs-icon rect"/>
          <p:cNvSpPr/>
          <p:nvPr/>
        </p:nvSpPr>
        <p:spPr>
          <a:xfrm>
            <a:off x="4538663" y="1644650"/>
            <a:ext cx="47625" cy="47625"/>
          </a:xfrm>
          <a:prstGeom prst="roundRect">
            <a:avLst>
              <a:gd name="adj" fmla="val 16667"/>
            </a:avLst>
          </a:prstGeom>
          <a:noFill/>
          <a:ln w="11906" cap="rnd">
            <a:solidFill>
              <a:srgbClr val="B0AAFF"/>
            </a:solidFill>
            <a:round/>
          </a:ln>
        </p:spPr>
      </p:sp>
      <p:sp>
        <p:nvSpPr>
          <p:cNvPr id="29" name="cs-icon path"/>
          <p:cNvSpPr/>
          <p:nvPr/>
        </p:nvSpPr>
        <p:spPr>
          <a:xfrm>
            <a:off x="4506913" y="1724025"/>
            <a:ext cx="111125" cy="31750"/>
          </a:xfrm>
          <a:custGeom>
            <a:avLst/>
            <a:gdLst/>
            <a:ahLst/>
            <a:cxnLst/>
            <a:rect l="l" t="t" r="r" b="b"/>
            <a:pathLst>
              <a:path w="111125" h="31750">
                <a:moveTo>
                  <a:pt x="0" y="31750"/>
                </a:moveTo>
                <a:lnTo>
                  <a:pt x="0" y="7938"/>
                </a:lnTo>
                <a:cubicBezTo>
                  <a:pt x="0" y="3554"/>
                  <a:pt x="3554" y="0"/>
                  <a:pt x="7937" y="0"/>
                </a:cubicBezTo>
                <a:lnTo>
                  <a:pt x="103187" y="0"/>
                </a:lnTo>
                <a:cubicBezTo>
                  <a:pt x="107571" y="0"/>
                  <a:pt x="111125" y="3554"/>
                  <a:pt x="111125" y="7938"/>
                </a:cubicBezTo>
                <a:lnTo>
                  <a:pt x="111125" y="31750"/>
                </a:lnTo>
              </a:path>
            </a:pathLst>
          </a:custGeom>
          <a:noFill/>
          <a:ln w="11906" cap="rnd">
            <a:solidFill>
              <a:srgbClr val="B0AAFF"/>
            </a:solidFill>
            <a:round/>
          </a:ln>
        </p:spPr>
      </p:sp>
      <p:sp>
        <p:nvSpPr>
          <p:cNvPr id="30" name="cs-icon path"/>
          <p:cNvSpPr/>
          <p:nvPr/>
        </p:nvSpPr>
        <p:spPr>
          <a:xfrm flipV="1">
            <a:off x="4562475" y="1692275"/>
            <a:ext cx="0" cy="31750"/>
          </a:xfrm>
          <a:prstGeom prst="line">
            <a:avLst/>
          </a:prstGeom>
          <a:noFill/>
          <a:ln w="11906" cap="rnd">
            <a:solidFill>
              <a:srgbClr val="B0AAFF"/>
            </a:solidFill>
            <a:round/>
          </a:ln>
        </p:spPr>
      </p:sp>
      <p:sp>
        <p:nvSpPr>
          <p:cNvPr id="31" name="Text CONTEXT STRATEGY"/>
          <p:cNvSpPr txBox="1"/>
          <p:nvPr/>
        </p:nvSpPr>
        <p:spPr>
          <a:xfrm>
            <a:off x="4752975" y="1643063"/>
            <a:ext cx="1304330"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 STRATEGY</a:t>
            </a:r>
            <a:endParaRPr lang="en-US" sz="825" dirty="0"/>
          </a:p>
        </p:txBody>
      </p:sp>
      <p:sp>
        <p:nvSpPr>
          <p:cNvPr id="32" name="Text Fetch it"/>
          <p:cNvSpPr txBox="1"/>
          <p:nvPr/>
        </p:nvSpPr>
        <p:spPr>
          <a:xfrm>
            <a:off x="4467225" y="1895475"/>
            <a:ext cx="889546" cy="295275"/>
          </a:xfrm>
          <a:prstGeom prst="rect">
            <a:avLst/>
          </a:prstGeom>
          <a:noFill/>
          <a:ln/>
        </p:spPr>
        <p:txBody>
          <a:bodyPr wrap="none" lIns="0" tIns="0" rIns="0" bIns="0" rtlCol="0" anchor="ctr"/>
          <a:lstStyle/>
          <a:p>
            <a:pPr algn="l" indent="0" marL="0">
              <a:buNone/>
            </a:pPr>
            <a:r>
              <a:rPr lang="en-US" sz="1950" dirty="0">
                <a:solidFill>
                  <a:srgbClr val="FFFFFF"/>
                </a:solidFill>
                <a:latin typeface="Scotia Headline" pitchFamily="34" charset="0"/>
                <a:ea typeface="Scotia Headline" pitchFamily="34" charset="-122"/>
                <a:cs typeface="Scotia Headline" pitchFamily="34" charset="-120"/>
              </a:rPr>
              <a:t>Fetch it</a:t>
            </a:r>
            <a:endParaRPr lang="en-US" sz="1950" dirty="0"/>
          </a:p>
        </p:txBody>
      </p:sp>
      <p:sp>
        <p:nvSpPr>
          <p:cNvPr id="33" name="Text Keep one agent pull in only w"/>
          <p:cNvSpPr txBox="1"/>
          <p:nvPr/>
        </p:nvSpPr>
        <p:spPr>
          <a:xfrm>
            <a:off x="4467225" y="2262188"/>
            <a:ext cx="3314700" cy="419100"/>
          </a:xfrm>
          <a:prstGeom prst="rect">
            <a:avLst/>
          </a:prstGeom>
          <a:noFill/>
          <a:ln/>
        </p:spPr>
        <p:txBody>
          <a:bodyPr wrap="square" lIns="0" tIns="0" rIns="0" bIns="0" rtlCol="0" anchor="t"/>
          <a:lstStyle/>
          <a:p>
            <a:pPr algn="l" indent="0" marL="0">
              <a:lnSpc>
                <a:spcPts val="1650"/>
              </a:lnSpc>
              <a:buNone/>
            </a:pPr>
            <a:r>
              <a:rPr lang="en-US" sz="1200" dirty="0">
                <a:solidFill>
                  <a:srgbClr val="FFFFFF">
                    <a:alpha val="92000"/>
                  </a:srgbClr>
                </a:solidFill>
                <a:latin typeface="Scotia Serif" pitchFamily="34" charset="0"/>
                <a:ea typeface="Scotia Serif" pitchFamily="34" charset="-122"/>
                <a:cs typeface="Scotia Serif" pitchFamily="34" charset="-120"/>
              </a:rPr>
              <a:t>Keep one agent; pull in only what the step needs.</a:t>
            </a:r>
            <a:endParaRPr lang="en-US" sz="1200" dirty="0"/>
          </a:p>
        </p:txBody>
      </p:sp>
      <p:sp>
        <p:nvSpPr>
          <p:cNvPr id="34" name="dk-tile"/>
          <p:cNvSpPr/>
          <p:nvPr/>
        </p:nvSpPr>
        <p:spPr>
          <a:xfrm>
            <a:off x="4467225" y="2800350"/>
            <a:ext cx="3314700" cy="1628775"/>
          </a:xfrm>
          <a:prstGeom prst="roundRect">
            <a:avLst>
              <a:gd name="adj" fmla="val 7018"/>
            </a:avLst>
          </a:prstGeom>
          <a:solidFill>
            <a:srgbClr val="FFFFFF">
              <a:alpha val="4000"/>
            </a:srgbClr>
          </a:solidFill>
          <a:ln>
            <a:noFill/>
          </a:ln>
        </p:spPr>
      </p:sp>
      <p:sp>
        <p:nvSpPr>
          <p:cNvPr id="35" name="svg line"/>
          <p:cNvSpPr/>
          <p:nvPr/>
        </p:nvSpPr>
        <p:spPr>
          <a:xfrm>
            <a:off x="4691191" y="3435565"/>
            <a:ext cx="335949" cy="246363"/>
          </a:xfrm>
          <a:prstGeom prst="line">
            <a:avLst/>
          </a:prstGeom>
          <a:noFill/>
          <a:ln w="16797" cap="flat">
            <a:solidFill>
              <a:srgbClr val="4A3FB0"/>
            </a:solidFill>
            <a:miter lim="800000"/>
          </a:ln>
        </p:spPr>
      </p:sp>
      <p:sp>
        <p:nvSpPr>
          <p:cNvPr id="36" name="svg line"/>
          <p:cNvSpPr/>
          <p:nvPr/>
        </p:nvSpPr>
        <p:spPr>
          <a:xfrm flipV="1">
            <a:off x="5027141" y="3390771"/>
            <a:ext cx="358346" cy="291156"/>
          </a:xfrm>
          <a:prstGeom prst="line">
            <a:avLst/>
          </a:prstGeom>
          <a:noFill/>
          <a:ln w="16797" cap="flat">
            <a:solidFill>
              <a:srgbClr val="4A3FB0"/>
            </a:solidFill>
            <a:miter lim="800000"/>
          </a:ln>
        </p:spPr>
      </p:sp>
      <p:sp>
        <p:nvSpPr>
          <p:cNvPr id="37" name="svg line"/>
          <p:cNvSpPr/>
          <p:nvPr/>
        </p:nvSpPr>
        <p:spPr>
          <a:xfrm>
            <a:off x="5027141" y="3681927"/>
            <a:ext cx="470329" cy="134380"/>
          </a:xfrm>
          <a:prstGeom prst="line">
            <a:avLst/>
          </a:prstGeom>
          <a:noFill/>
          <a:ln w="16797" cap="flat">
            <a:solidFill>
              <a:srgbClr val="4A3FB0"/>
            </a:solidFill>
            <a:miter lim="800000"/>
          </a:ln>
        </p:spPr>
      </p:sp>
      <p:sp>
        <p:nvSpPr>
          <p:cNvPr id="38" name="svg line"/>
          <p:cNvSpPr/>
          <p:nvPr/>
        </p:nvSpPr>
        <p:spPr>
          <a:xfrm>
            <a:off x="5385486" y="3390771"/>
            <a:ext cx="111983" cy="425536"/>
          </a:xfrm>
          <a:prstGeom prst="line">
            <a:avLst/>
          </a:prstGeom>
          <a:noFill/>
          <a:ln w="16797" cap="flat">
            <a:solidFill>
              <a:srgbClr val="4A3FB0"/>
            </a:solidFill>
            <a:miter lim="800000"/>
          </a:ln>
        </p:spPr>
      </p:sp>
      <p:sp>
        <p:nvSpPr>
          <p:cNvPr id="39" name="svg line"/>
          <p:cNvSpPr/>
          <p:nvPr/>
        </p:nvSpPr>
        <p:spPr>
          <a:xfrm>
            <a:off x="4691191" y="3435565"/>
            <a:ext cx="44793" cy="425536"/>
          </a:xfrm>
          <a:prstGeom prst="line">
            <a:avLst/>
          </a:prstGeom>
          <a:noFill/>
          <a:ln w="16797" cap="flat">
            <a:solidFill>
              <a:srgbClr val="4A3FB0"/>
            </a:solidFill>
            <a:miter lim="800000"/>
          </a:ln>
        </p:spPr>
      </p:sp>
      <p:sp>
        <p:nvSpPr>
          <p:cNvPr id="40" name="svg circle"/>
          <p:cNvSpPr/>
          <p:nvPr/>
        </p:nvSpPr>
        <p:spPr>
          <a:xfrm>
            <a:off x="4624001" y="3368375"/>
            <a:ext cx="134380" cy="134380"/>
          </a:xfrm>
          <a:prstGeom prst="ellipse">
            <a:avLst/>
          </a:prstGeom>
          <a:solidFill>
            <a:srgbClr val="3B3392"/>
          </a:solidFill>
          <a:ln>
            <a:noFill/>
          </a:ln>
        </p:spPr>
      </p:sp>
      <p:sp>
        <p:nvSpPr>
          <p:cNvPr id="41" name="svg circle"/>
          <p:cNvSpPr/>
          <p:nvPr/>
        </p:nvSpPr>
        <p:spPr>
          <a:xfrm>
            <a:off x="4668795" y="3793910"/>
            <a:ext cx="134380" cy="134380"/>
          </a:xfrm>
          <a:prstGeom prst="ellipse">
            <a:avLst/>
          </a:prstGeom>
          <a:solidFill>
            <a:srgbClr val="3B3392"/>
          </a:solidFill>
          <a:ln>
            <a:noFill/>
          </a:ln>
        </p:spPr>
      </p:sp>
      <p:sp>
        <p:nvSpPr>
          <p:cNvPr id="42" name="svg circle"/>
          <p:cNvSpPr/>
          <p:nvPr/>
        </p:nvSpPr>
        <p:spPr>
          <a:xfrm>
            <a:off x="5318297" y="3323581"/>
            <a:ext cx="134380" cy="134380"/>
          </a:xfrm>
          <a:prstGeom prst="ellipse">
            <a:avLst/>
          </a:prstGeom>
          <a:solidFill>
            <a:srgbClr val="3B3392"/>
          </a:solidFill>
          <a:ln>
            <a:noFill/>
          </a:ln>
        </p:spPr>
      </p:sp>
      <p:sp>
        <p:nvSpPr>
          <p:cNvPr id="43" name="svg circle"/>
          <p:cNvSpPr/>
          <p:nvPr/>
        </p:nvSpPr>
        <p:spPr>
          <a:xfrm>
            <a:off x="4948752" y="3603539"/>
            <a:ext cx="156776" cy="156776"/>
          </a:xfrm>
          <a:prstGeom prst="ellipse">
            <a:avLst/>
          </a:prstGeom>
          <a:solidFill>
            <a:srgbClr val="8070FF"/>
          </a:solidFill>
          <a:ln>
            <a:noFill/>
          </a:ln>
        </p:spPr>
      </p:sp>
      <p:sp>
        <p:nvSpPr>
          <p:cNvPr id="44" name="svg circle"/>
          <p:cNvSpPr/>
          <p:nvPr/>
        </p:nvSpPr>
        <p:spPr>
          <a:xfrm>
            <a:off x="5419081" y="3737919"/>
            <a:ext cx="156776" cy="156776"/>
          </a:xfrm>
          <a:prstGeom prst="ellipse">
            <a:avLst/>
          </a:prstGeom>
          <a:solidFill>
            <a:srgbClr val="8070FF"/>
          </a:solidFill>
          <a:ln>
            <a:noFill/>
          </a:ln>
        </p:spPr>
      </p:sp>
      <p:sp>
        <p:nvSpPr>
          <p:cNvPr id="45" name="svg path"/>
          <p:cNvSpPr/>
          <p:nvPr/>
        </p:nvSpPr>
        <p:spPr>
          <a:xfrm>
            <a:off x="5699039" y="3614737"/>
            <a:ext cx="571114" cy="0"/>
          </a:xfrm>
          <a:prstGeom prst="line">
            <a:avLst/>
          </a:prstGeom>
          <a:noFill/>
          <a:ln w="22397" cap="flat">
            <a:solidFill>
              <a:srgbClr val="B0AAFF"/>
            </a:solidFill>
            <a:miter lim="800000"/>
            <a:tailEnd type="triangle" w="lg" len="lg"/>
          </a:ln>
        </p:spPr>
      </p:sp>
      <p:sp>
        <p:nvSpPr>
          <p:cNvPr id="46" name="svg rect"/>
          <p:cNvSpPr/>
          <p:nvPr/>
        </p:nvSpPr>
        <p:spPr>
          <a:xfrm>
            <a:off x="6415731" y="3345978"/>
            <a:ext cx="1231814" cy="537519"/>
          </a:xfrm>
          <a:prstGeom prst="roundRect">
            <a:avLst>
              <a:gd name="adj" fmla="val 16667"/>
            </a:avLst>
          </a:prstGeom>
          <a:noFill/>
          <a:ln w="11198" cap="flat">
            <a:solidFill>
              <a:srgbClr val="8070FF"/>
            </a:solidFill>
            <a:miter lim="800000"/>
          </a:ln>
        </p:spPr>
      </p:sp>
      <p:sp>
        <p:nvSpPr>
          <p:cNvPr id="47" name="Text agent"/>
          <p:cNvSpPr txBox="1"/>
          <p:nvPr/>
        </p:nvSpPr>
        <p:spPr>
          <a:xfrm>
            <a:off x="6550111" y="3435562"/>
            <a:ext cx="361254" cy="145582"/>
          </a:xfrm>
          <a:prstGeom prst="rect">
            <a:avLst/>
          </a:prstGeom>
          <a:noFill/>
          <a:ln/>
        </p:spPr>
        <p:txBody>
          <a:bodyPr wrap="none" lIns="0" tIns="0" rIns="0" bIns="0" rtlCol="0" anchor="ctr"/>
          <a:lstStyle/>
          <a:p>
            <a:pPr algn="l" indent="0" marL="0">
              <a:buNone/>
            </a:pPr>
            <a:r>
              <a:rPr lang="en-US" sz="926" b="1" dirty="0">
                <a:solidFill>
                  <a:srgbClr val="FFFFFF"/>
                </a:solidFill>
                <a:latin typeface="Scotia" pitchFamily="34" charset="0"/>
                <a:ea typeface="Scotia" pitchFamily="34" charset="-122"/>
                <a:cs typeface="Scotia" pitchFamily="34" charset="-120"/>
              </a:rPr>
              <a:t>agent</a:t>
            </a:r>
            <a:endParaRPr lang="en-US" sz="926" dirty="0"/>
          </a:p>
        </p:txBody>
      </p:sp>
      <p:sp>
        <p:nvSpPr>
          <p:cNvPr id="48" name="svg rect"/>
          <p:cNvSpPr/>
          <p:nvPr/>
        </p:nvSpPr>
        <p:spPr>
          <a:xfrm>
            <a:off x="6550111" y="3614737"/>
            <a:ext cx="492726" cy="67190"/>
          </a:xfrm>
          <a:prstGeom prst="roundRect">
            <a:avLst>
              <a:gd name="adj" fmla="val 50000"/>
            </a:avLst>
          </a:prstGeom>
          <a:solidFill>
            <a:srgbClr val="8070FF"/>
          </a:solidFill>
          <a:ln>
            <a:noFill/>
          </a:ln>
        </p:spPr>
      </p:sp>
      <p:sp>
        <p:nvSpPr>
          <p:cNvPr id="49" name="svg rect"/>
          <p:cNvSpPr/>
          <p:nvPr/>
        </p:nvSpPr>
        <p:spPr>
          <a:xfrm>
            <a:off x="6550111" y="3737919"/>
            <a:ext cx="335949" cy="67190"/>
          </a:xfrm>
          <a:prstGeom prst="roundRect">
            <a:avLst>
              <a:gd name="adj" fmla="val 50000"/>
            </a:avLst>
          </a:prstGeom>
          <a:solidFill>
            <a:srgbClr val="8070FF"/>
          </a:solidFill>
          <a:ln>
            <a:noFill/>
          </a:ln>
        </p:spPr>
      </p:sp>
      <p:sp>
        <p:nvSpPr>
          <p:cNvPr id="50" name="dk-card"/>
          <p:cNvSpPr/>
          <p:nvPr/>
        </p:nvSpPr>
        <p:spPr>
          <a:xfrm>
            <a:off x="8139112" y="1490663"/>
            <a:ext cx="3705225" cy="3133725"/>
          </a:xfrm>
          <a:prstGeom prst="roundRect">
            <a:avLst>
              <a:gd name="adj" fmla="val 4711"/>
            </a:avLst>
          </a:prstGeom>
          <a:gradFill rotWithShape="1">
            <a:gsLst>
              <a:gs pos="0">
                <a:srgbClr val="1A1550"/>
              </a:gs>
              <a:gs pos="100000">
                <a:srgbClr val="120E36"/>
              </a:gs>
            </a:gsLst>
            <a:lin ang="5400000" scaled="0"/>
          </a:gradFill>
          <a:ln w="9525">
            <a:solidFill>
              <a:srgbClr val="3B3392"/>
            </a:solidFill>
          </a:ln>
        </p:spPr>
      </p:sp>
      <p:sp>
        <p:nvSpPr>
          <p:cNvPr id="51" name="cs-icon path"/>
          <p:cNvSpPr/>
          <p:nvPr/>
        </p:nvSpPr>
        <p:spPr>
          <a:xfrm>
            <a:off x="8461375" y="1652588"/>
            <a:ext cx="39687" cy="39687"/>
          </a:xfrm>
          <a:custGeom>
            <a:avLst/>
            <a:gdLst/>
            <a:ahLst/>
            <a:cxnLst/>
            <a:rect l="l" t="t" r="r" b="b"/>
            <a:pathLst>
              <a:path w="39687" h="39687">
                <a:moveTo>
                  <a:pt x="0" y="0"/>
                </a:moveTo>
                <a:lnTo>
                  <a:pt x="39687" y="0"/>
                </a:lnTo>
                <a:lnTo>
                  <a:pt x="39687" y="39687"/>
                </a:lnTo>
              </a:path>
            </a:pathLst>
          </a:custGeom>
          <a:noFill/>
          <a:ln w="11906" cap="rnd">
            <a:solidFill>
              <a:srgbClr val="B0AAFF"/>
            </a:solidFill>
            <a:round/>
          </a:ln>
        </p:spPr>
      </p:sp>
      <p:sp>
        <p:nvSpPr>
          <p:cNvPr id="52" name="cs-icon path"/>
          <p:cNvSpPr/>
          <p:nvPr/>
        </p:nvSpPr>
        <p:spPr>
          <a:xfrm>
            <a:off x="8358188" y="1652588"/>
            <a:ext cx="39687" cy="39687"/>
          </a:xfrm>
          <a:custGeom>
            <a:avLst/>
            <a:gdLst/>
            <a:ahLst/>
            <a:cxnLst/>
            <a:rect l="l" t="t" r="r" b="b"/>
            <a:pathLst>
              <a:path w="39687" h="39687">
                <a:moveTo>
                  <a:pt x="39687" y="0"/>
                </a:moveTo>
                <a:lnTo>
                  <a:pt x="0" y="0"/>
                </a:lnTo>
                <a:lnTo>
                  <a:pt x="0" y="39687"/>
                </a:lnTo>
              </a:path>
            </a:pathLst>
          </a:custGeom>
          <a:noFill/>
          <a:ln w="11906" cap="rnd">
            <a:solidFill>
              <a:srgbClr val="B0AAFF"/>
            </a:solidFill>
            <a:round/>
          </a:ln>
        </p:spPr>
      </p:sp>
      <p:sp>
        <p:nvSpPr>
          <p:cNvPr id="53" name="cs-icon path"/>
          <p:cNvSpPr/>
          <p:nvPr/>
        </p:nvSpPr>
        <p:spPr>
          <a:xfrm>
            <a:off x="8358188" y="1652588"/>
            <a:ext cx="71529" cy="150813"/>
          </a:xfrm>
          <a:custGeom>
            <a:avLst/>
            <a:gdLst/>
            <a:ahLst/>
            <a:cxnLst/>
            <a:rect l="l" t="t" r="r" b="b"/>
            <a:pathLst>
              <a:path w="71529" h="150813">
                <a:moveTo>
                  <a:pt x="71438" y="150813"/>
                </a:moveTo>
                <a:lnTo>
                  <a:pt x="71438" y="84931"/>
                </a:lnTo>
                <a:cubicBezTo>
                  <a:pt x="71529" y="76390"/>
                  <a:pt x="68176" y="68173"/>
                  <a:pt x="62135" y="62135"/>
                </a:cubicBezTo>
                <a:lnTo>
                  <a:pt x="0" y="0"/>
                </a:lnTo>
              </a:path>
            </a:pathLst>
          </a:custGeom>
          <a:noFill/>
          <a:ln w="11906" cap="rnd">
            <a:solidFill>
              <a:srgbClr val="B0AAFF"/>
            </a:solidFill>
            <a:round/>
          </a:ln>
        </p:spPr>
      </p:sp>
      <p:sp>
        <p:nvSpPr>
          <p:cNvPr id="54" name="cs-icon path"/>
          <p:cNvSpPr/>
          <p:nvPr/>
        </p:nvSpPr>
        <p:spPr>
          <a:xfrm flipV="1">
            <a:off x="8453438" y="1652588"/>
            <a:ext cx="47625" cy="47625"/>
          </a:xfrm>
          <a:prstGeom prst="line">
            <a:avLst/>
          </a:prstGeom>
          <a:noFill/>
          <a:ln w="11906" cap="rnd">
            <a:solidFill>
              <a:srgbClr val="B0AAFF"/>
            </a:solidFill>
            <a:round/>
          </a:ln>
        </p:spPr>
      </p:sp>
      <p:sp>
        <p:nvSpPr>
          <p:cNvPr id="55" name="Text AGENTIC PATTERNS"/>
          <p:cNvSpPr txBox="1"/>
          <p:nvPr/>
        </p:nvSpPr>
        <p:spPr>
          <a:xfrm>
            <a:off x="8620125" y="1643063"/>
            <a:ext cx="1262211"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AGENTIC PATTERNS</a:t>
            </a:r>
            <a:endParaRPr lang="en-US" sz="825" dirty="0"/>
          </a:p>
        </p:txBody>
      </p:sp>
      <p:sp>
        <p:nvSpPr>
          <p:cNvPr id="56" name="Text Split it"/>
          <p:cNvSpPr txBox="1"/>
          <p:nvPr/>
        </p:nvSpPr>
        <p:spPr>
          <a:xfrm>
            <a:off x="8334375" y="1895475"/>
            <a:ext cx="761107" cy="295275"/>
          </a:xfrm>
          <a:prstGeom prst="rect">
            <a:avLst/>
          </a:prstGeom>
          <a:noFill/>
          <a:ln/>
        </p:spPr>
        <p:txBody>
          <a:bodyPr wrap="none" lIns="0" tIns="0" rIns="0" bIns="0" rtlCol="0" anchor="ctr"/>
          <a:lstStyle/>
          <a:p>
            <a:pPr algn="l" indent="0" marL="0">
              <a:buNone/>
            </a:pPr>
            <a:r>
              <a:rPr lang="en-US" sz="1950" dirty="0">
                <a:solidFill>
                  <a:srgbClr val="FFFFFF"/>
                </a:solidFill>
                <a:latin typeface="Scotia Headline" pitchFamily="34" charset="0"/>
                <a:ea typeface="Scotia Headline" pitchFamily="34" charset="-122"/>
                <a:cs typeface="Scotia Headline" pitchFamily="34" charset="-120"/>
              </a:rPr>
              <a:t>Split it</a:t>
            </a:r>
            <a:endParaRPr lang="en-US" sz="1950" dirty="0"/>
          </a:p>
        </p:txBody>
      </p:sp>
      <p:sp>
        <p:nvSpPr>
          <p:cNvPr id="57" name="Text Spread work across agents eac"/>
          <p:cNvSpPr txBox="1"/>
          <p:nvPr/>
        </p:nvSpPr>
        <p:spPr>
          <a:xfrm>
            <a:off x="8334375" y="2262188"/>
            <a:ext cx="3314700" cy="419100"/>
          </a:xfrm>
          <a:prstGeom prst="rect">
            <a:avLst/>
          </a:prstGeom>
          <a:noFill/>
          <a:ln/>
        </p:spPr>
        <p:txBody>
          <a:bodyPr wrap="square" lIns="0" tIns="0" rIns="0" bIns="0" rtlCol="0" anchor="t"/>
          <a:lstStyle/>
          <a:p>
            <a:pPr algn="l" indent="0" marL="0">
              <a:lnSpc>
                <a:spcPts val="1650"/>
              </a:lnSpc>
              <a:buNone/>
            </a:pPr>
            <a:r>
              <a:rPr lang="en-US" sz="1200" dirty="0">
                <a:solidFill>
                  <a:srgbClr val="FFFFFF">
                    <a:alpha val="92000"/>
                  </a:srgbClr>
                </a:solidFill>
                <a:latin typeface="Scotia Serif" pitchFamily="34" charset="0"/>
                <a:ea typeface="Scotia Serif" pitchFamily="34" charset="-122"/>
                <a:cs typeface="Scotia Serif" pitchFamily="34" charset="-120"/>
              </a:rPr>
              <a:t>Spread work across agents, each with its own slice.</a:t>
            </a:r>
            <a:endParaRPr lang="en-US" sz="1200" dirty="0"/>
          </a:p>
        </p:txBody>
      </p:sp>
      <p:sp>
        <p:nvSpPr>
          <p:cNvPr id="58" name="dk-tile"/>
          <p:cNvSpPr/>
          <p:nvPr/>
        </p:nvSpPr>
        <p:spPr>
          <a:xfrm>
            <a:off x="8334375" y="2800350"/>
            <a:ext cx="3314700" cy="1628775"/>
          </a:xfrm>
          <a:prstGeom prst="roundRect">
            <a:avLst>
              <a:gd name="adj" fmla="val 7018"/>
            </a:avLst>
          </a:prstGeom>
          <a:solidFill>
            <a:srgbClr val="FFFFFF">
              <a:alpha val="4000"/>
            </a:srgbClr>
          </a:solidFill>
          <a:ln>
            <a:noFill/>
          </a:ln>
        </p:spPr>
      </p:sp>
      <p:sp>
        <p:nvSpPr>
          <p:cNvPr id="59" name="svg rect"/>
          <p:cNvSpPr/>
          <p:nvPr/>
        </p:nvSpPr>
        <p:spPr>
          <a:xfrm>
            <a:off x="8468755" y="3457961"/>
            <a:ext cx="851072" cy="313553"/>
          </a:xfrm>
          <a:prstGeom prst="roundRect">
            <a:avLst>
              <a:gd name="adj" fmla="val 25000"/>
            </a:avLst>
          </a:prstGeom>
          <a:solidFill>
            <a:srgbClr val="6551FF"/>
          </a:solidFill>
          <a:ln>
            <a:noFill/>
          </a:ln>
        </p:spPr>
      </p:sp>
      <p:sp>
        <p:nvSpPr>
          <p:cNvPr id="60" name="Text orchestrator"/>
          <p:cNvSpPr txBox="1"/>
          <p:nvPr/>
        </p:nvSpPr>
        <p:spPr>
          <a:xfrm>
            <a:off x="8527579" y="3558746"/>
            <a:ext cx="733952" cy="145577"/>
          </a:xfrm>
          <a:prstGeom prst="rect">
            <a:avLst/>
          </a:prstGeom>
          <a:noFill/>
          <a:ln/>
        </p:spPr>
        <p:txBody>
          <a:bodyPr wrap="none" lIns="0" tIns="0" rIns="0" bIns="0" rtlCol="0" anchor="ctr"/>
          <a:lstStyle/>
          <a:p>
            <a:pPr algn="ctr" indent="0" marL="0">
              <a:buNone/>
            </a:pPr>
            <a:r>
              <a:rPr lang="en-US" sz="926" b="1" dirty="0">
                <a:solidFill>
                  <a:srgbClr val="FFFFFF"/>
                </a:solidFill>
                <a:latin typeface="Scotia" pitchFamily="34" charset="0"/>
                <a:ea typeface="Scotia" pitchFamily="34" charset="-122"/>
                <a:cs typeface="Scotia" pitchFamily="34" charset="-120"/>
              </a:rPr>
              <a:t>orchestrator</a:t>
            </a:r>
            <a:endParaRPr lang="en-US" sz="926" dirty="0"/>
          </a:p>
        </p:txBody>
      </p:sp>
      <p:sp>
        <p:nvSpPr>
          <p:cNvPr id="61" name="svg path"/>
          <p:cNvSpPr/>
          <p:nvPr/>
        </p:nvSpPr>
        <p:spPr>
          <a:xfrm>
            <a:off x="9342223" y="3368375"/>
            <a:ext cx="683097" cy="201570"/>
          </a:xfrm>
          <a:custGeom>
            <a:avLst/>
            <a:gdLst/>
            <a:ahLst/>
            <a:cxnLst/>
            <a:rect l="l" t="t" r="r" b="b"/>
            <a:pathLst>
              <a:path w="683097" h="201570">
                <a:moveTo>
                  <a:pt x="0" y="201570"/>
                </a:moveTo>
                <a:cubicBezTo>
                  <a:pt x="335949" y="201570"/>
                  <a:pt x="403139" y="0"/>
                  <a:pt x="683097" y="0"/>
                </a:cubicBezTo>
              </a:path>
            </a:pathLst>
          </a:custGeom>
          <a:noFill/>
          <a:ln w="22397" cap="flat">
            <a:solidFill>
              <a:srgbClr val="B0AAFF"/>
            </a:solidFill>
            <a:miter lim="800000"/>
            <a:tailEnd type="triangle" w="lg" len="lg"/>
          </a:ln>
        </p:spPr>
      </p:sp>
      <p:sp>
        <p:nvSpPr>
          <p:cNvPr id="62" name="svg path"/>
          <p:cNvSpPr/>
          <p:nvPr/>
        </p:nvSpPr>
        <p:spPr>
          <a:xfrm>
            <a:off x="9342223" y="3614737"/>
            <a:ext cx="683097" cy="0"/>
          </a:xfrm>
          <a:prstGeom prst="line">
            <a:avLst/>
          </a:prstGeom>
          <a:noFill/>
          <a:ln w="22397" cap="flat">
            <a:solidFill>
              <a:srgbClr val="B0AAFF"/>
            </a:solidFill>
            <a:miter lim="800000"/>
            <a:tailEnd type="triangle" w="lg" len="lg"/>
          </a:ln>
        </p:spPr>
      </p:sp>
      <p:sp>
        <p:nvSpPr>
          <p:cNvPr id="63" name="svg path"/>
          <p:cNvSpPr/>
          <p:nvPr/>
        </p:nvSpPr>
        <p:spPr>
          <a:xfrm>
            <a:off x="9342223" y="3659531"/>
            <a:ext cx="683097" cy="201570"/>
          </a:xfrm>
          <a:custGeom>
            <a:avLst/>
            <a:gdLst/>
            <a:ahLst/>
            <a:cxnLst/>
            <a:rect l="l" t="t" r="r" b="b"/>
            <a:pathLst>
              <a:path w="683097" h="201570">
                <a:moveTo>
                  <a:pt x="0" y="0"/>
                </a:moveTo>
                <a:cubicBezTo>
                  <a:pt x="335949" y="0"/>
                  <a:pt x="403139" y="201570"/>
                  <a:pt x="683097" y="201570"/>
                </a:cubicBezTo>
              </a:path>
            </a:pathLst>
          </a:custGeom>
          <a:noFill/>
          <a:ln w="22397" cap="flat">
            <a:solidFill>
              <a:srgbClr val="B0AAFF"/>
            </a:solidFill>
            <a:miter lim="800000"/>
            <a:tailEnd type="triangle" w="lg" len="lg"/>
          </a:ln>
        </p:spPr>
      </p:sp>
      <p:sp>
        <p:nvSpPr>
          <p:cNvPr id="64" name="svg rect"/>
          <p:cNvSpPr/>
          <p:nvPr/>
        </p:nvSpPr>
        <p:spPr>
          <a:xfrm>
            <a:off x="10126105" y="3267590"/>
            <a:ext cx="1388591" cy="201570"/>
          </a:xfrm>
          <a:prstGeom prst="roundRect">
            <a:avLst>
              <a:gd name="adj" fmla="val 27778"/>
            </a:avLst>
          </a:prstGeom>
          <a:noFill/>
          <a:ln w="11198" cap="flat">
            <a:solidFill>
              <a:srgbClr val="4A3FB0"/>
            </a:solidFill>
            <a:miter lim="800000"/>
          </a:ln>
        </p:spPr>
      </p:sp>
      <p:sp>
        <p:nvSpPr>
          <p:cNvPr id="65" name="svg rect"/>
          <p:cNvSpPr/>
          <p:nvPr/>
        </p:nvSpPr>
        <p:spPr>
          <a:xfrm>
            <a:off x="10215691" y="3334780"/>
            <a:ext cx="447932" cy="55992"/>
          </a:xfrm>
          <a:prstGeom prst="roundRect">
            <a:avLst>
              <a:gd name="adj" fmla="val 40000"/>
            </a:avLst>
          </a:prstGeom>
          <a:solidFill>
            <a:srgbClr val="8070FF"/>
          </a:solidFill>
          <a:ln>
            <a:noFill/>
          </a:ln>
        </p:spPr>
      </p:sp>
      <p:sp>
        <p:nvSpPr>
          <p:cNvPr id="66" name="svg rect"/>
          <p:cNvSpPr/>
          <p:nvPr/>
        </p:nvSpPr>
        <p:spPr>
          <a:xfrm>
            <a:off x="10126105" y="3513953"/>
            <a:ext cx="1388591" cy="201570"/>
          </a:xfrm>
          <a:prstGeom prst="roundRect">
            <a:avLst>
              <a:gd name="adj" fmla="val 27778"/>
            </a:avLst>
          </a:prstGeom>
          <a:noFill/>
          <a:ln w="11198" cap="flat">
            <a:solidFill>
              <a:srgbClr val="4A3FB0"/>
            </a:solidFill>
            <a:miter lim="800000"/>
          </a:ln>
        </p:spPr>
      </p:sp>
      <p:sp>
        <p:nvSpPr>
          <p:cNvPr id="67" name="svg rect"/>
          <p:cNvSpPr/>
          <p:nvPr/>
        </p:nvSpPr>
        <p:spPr>
          <a:xfrm>
            <a:off x="10215691" y="3581143"/>
            <a:ext cx="604709" cy="55992"/>
          </a:xfrm>
          <a:prstGeom prst="roundRect">
            <a:avLst>
              <a:gd name="adj" fmla="val 40000"/>
            </a:avLst>
          </a:prstGeom>
          <a:solidFill>
            <a:srgbClr val="8070FF"/>
          </a:solidFill>
          <a:ln>
            <a:noFill/>
          </a:ln>
        </p:spPr>
      </p:sp>
      <p:sp>
        <p:nvSpPr>
          <p:cNvPr id="68" name="svg rect"/>
          <p:cNvSpPr/>
          <p:nvPr/>
        </p:nvSpPr>
        <p:spPr>
          <a:xfrm>
            <a:off x="10126105" y="3760316"/>
            <a:ext cx="1388591" cy="201570"/>
          </a:xfrm>
          <a:prstGeom prst="roundRect">
            <a:avLst>
              <a:gd name="adj" fmla="val 27778"/>
            </a:avLst>
          </a:prstGeom>
          <a:noFill/>
          <a:ln w="11198" cap="flat">
            <a:solidFill>
              <a:srgbClr val="4A3FB0"/>
            </a:solidFill>
            <a:miter lim="800000"/>
          </a:ln>
        </p:spPr>
      </p:sp>
      <p:sp>
        <p:nvSpPr>
          <p:cNvPr id="69" name="svg rect"/>
          <p:cNvSpPr/>
          <p:nvPr/>
        </p:nvSpPr>
        <p:spPr>
          <a:xfrm>
            <a:off x="10215691" y="3827505"/>
            <a:ext cx="761485" cy="55992"/>
          </a:xfrm>
          <a:prstGeom prst="roundRect">
            <a:avLst>
              <a:gd name="adj" fmla="val 40000"/>
            </a:avLst>
          </a:prstGeom>
          <a:solidFill>
            <a:srgbClr val="8070FF"/>
          </a:solidFill>
          <a:ln>
            <a:noFill/>
          </a:ln>
        </p:spPr>
      </p:sp>
      <p:sp>
        <p:nvSpPr>
          <p:cNvPr id="70"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71" name="Text 9"/>
          <p:cNvSpPr txBox="1"/>
          <p:nvPr/>
        </p:nvSpPr>
        <p:spPr>
          <a:xfrm>
            <a:off x="11664702" y="6306483"/>
            <a:ext cx="117723"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400050" y="2381250"/>
            <a:ext cx="2133600" cy="2514600"/>
          </a:xfrm>
          <a:prstGeom prst="roundRect">
            <a:avLst>
              <a:gd name="adj" fmla="val 8929"/>
            </a:avLst>
          </a:prstGeom>
          <a:gradFill rotWithShape="1">
            <a:gsLst>
              <a:gs pos="0">
                <a:srgbClr val="1A1550"/>
              </a:gs>
              <a:gs pos="100000">
                <a:srgbClr val="120E36"/>
              </a:gs>
            </a:gsLst>
            <a:lin ang="5400000" scaled="1"/>
          </a:gradFill>
          <a:ln w="13335" cap="flat">
            <a:solidFill>
              <a:srgbClr val="3B3392"/>
            </a:solidFill>
            <a:miter lim="800000"/>
          </a:ln>
        </p:spPr>
      </p:sp>
      <p:sp>
        <p:nvSpPr>
          <p:cNvPr id="3" name="dg rect"/>
          <p:cNvSpPr/>
          <p:nvPr/>
        </p:nvSpPr>
        <p:spPr>
          <a:xfrm>
            <a:off x="552450" y="2533650"/>
            <a:ext cx="1828800" cy="1562100"/>
          </a:xfrm>
          <a:prstGeom prst="roundRect">
            <a:avLst>
              <a:gd name="adj" fmla="val 8537"/>
            </a:avLst>
          </a:prstGeom>
          <a:solidFill>
            <a:srgbClr val="FFFFFF">
              <a:alpha val="4000"/>
            </a:srgbClr>
          </a:solidFill>
          <a:ln>
            <a:noFill/>
          </a:ln>
        </p:spPr>
      </p:sp>
      <p:sp>
        <p:nvSpPr>
          <p:cNvPr id="4" name="dg rect"/>
          <p:cNvSpPr/>
          <p:nvPr/>
        </p:nvSpPr>
        <p:spPr>
          <a:xfrm>
            <a:off x="714375" y="3152775"/>
            <a:ext cx="323850" cy="323850"/>
          </a:xfrm>
          <a:prstGeom prst="roundRect">
            <a:avLst>
              <a:gd name="adj" fmla="val 26471"/>
            </a:avLst>
          </a:prstGeom>
          <a:solidFill>
            <a:srgbClr val="6551FF"/>
          </a:solidFill>
          <a:ln>
            <a:noFill/>
          </a:ln>
        </p:spPr>
      </p:sp>
      <p:sp>
        <p:nvSpPr>
          <p:cNvPr id="5" name="dg rect"/>
          <p:cNvSpPr/>
          <p:nvPr/>
        </p:nvSpPr>
        <p:spPr>
          <a:xfrm>
            <a:off x="1304925" y="3152775"/>
            <a:ext cx="323850" cy="323850"/>
          </a:xfrm>
          <a:prstGeom prst="roundRect">
            <a:avLst>
              <a:gd name="adj" fmla="val 26471"/>
            </a:avLst>
          </a:prstGeom>
          <a:solidFill>
            <a:srgbClr val="6551FF"/>
          </a:solidFill>
          <a:ln>
            <a:noFill/>
          </a:ln>
        </p:spPr>
      </p:sp>
      <p:sp>
        <p:nvSpPr>
          <p:cNvPr id="6" name="dg rect"/>
          <p:cNvSpPr/>
          <p:nvPr/>
        </p:nvSpPr>
        <p:spPr>
          <a:xfrm>
            <a:off x="1895475" y="3152775"/>
            <a:ext cx="323850" cy="323850"/>
          </a:xfrm>
          <a:prstGeom prst="roundRect">
            <a:avLst>
              <a:gd name="adj" fmla="val 26471"/>
            </a:avLst>
          </a:prstGeom>
          <a:solidFill>
            <a:srgbClr val="6551FF"/>
          </a:solidFill>
          <a:ln>
            <a:noFill/>
          </a:ln>
        </p:spPr>
      </p:sp>
      <p:sp>
        <p:nvSpPr>
          <p:cNvPr id="7" name="dg path"/>
          <p:cNvSpPr/>
          <p:nvPr/>
        </p:nvSpPr>
        <p:spPr>
          <a:xfrm>
            <a:off x="1085850" y="3314700"/>
            <a:ext cx="169545" cy="0"/>
          </a:xfrm>
          <a:prstGeom prst="line">
            <a:avLst/>
          </a:prstGeom>
          <a:noFill/>
          <a:ln w="22860" cap="rnd">
            <a:solidFill>
              <a:srgbClr val="B0AAFF"/>
            </a:solidFill>
            <a:miter lim="800000"/>
            <a:tailEnd type="triangle" w="lg" len="lg"/>
          </a:ln>
        </p:spPr>
      </p:sp>
      <p:sp>
        <p:nvSpPr>
          <p:cNvPr id="8" name="dg path"/>
          <p:cNvSpPr/>
          <p:nvPr/>
        </p:nvSpPr>
        <p:spPr>
          <a:xfrm>
            <a:off x="1085850" y="3314700"/>
            <a:ext cx="169545" cy="0"/>
          </a:xfrm>
          <a:prstGeom prst="line">
            <a:avLst/>
          </a:prstGeom>
          <a:noFill/>
          <a:ln w="22860" cap="rnd">
            <a:solidFill>
              <a:srgbClr val="B0AAFF"/>
            </a:solidFill>
            <a:miter lim="800000"/>
            <a:tailEnd type="triangle" w="lg" len="lg"/>
          </a:ln>
        </p:spPr>
      </p:sp>
      <p:sp>
        <p:nvSpPr>
          <p:cNvPr id="9" name="dg path"/>
          <p:cNvSpPr/>
          <p:nvPr/>
        </p:nvSpPr>
        <p:spPr>
          <a:xfrm>
            <a:off x="1676400" y="3314700"/>
            <a:ext cx="169545" cy="0"/>
          </a:xfrm>
          <a:prstGeom prst="line">
            <a:avLst/>
          </a:prstGeom>
          <a:noFill/>
          <a:ln w="22860" cap="rnd">
            <a:solidFill>
              <a:srgbClr val="B0AAFF"/>
            </a:solidFill>
            <a:miter lim="800000"/>
            <a:tailEnd type="triangle" w="lg" len="lg"/>
          </a:ln>
        </p:spPr>
      </p:sp>
      <p:sp>
        <p:nvSpPr>
          <p:cNvPr id="10" name="Text Sequential"/>
          <p:cNvSpPr txBox="1"/>
          <p:nvPr/>
        </p:nvSpPr>
        <p:spPr>
          <a:xfrm>
            <a:off x="900485" y="4333875"/>
            <a:ext cx="1132731" cy="266700"/>
          </a:xfrm>
          <a:prstGeom prst="rect">
            <a:avLst/>
          </a:prstGeom>
          <a:noFill/>
          <a:ln/>
        </p:spPr>
        <p:txBody>
          <a:bodyPr wrap="none" lIns="0" tIns="0" rIns="0" bIns="0" rtlCol="0" anchor="ctr"/>
          <a:lstStyle/>
          <a:p>
            <a:pPr algn="ctr" indent="0" marL="0">
              <a:buNone/>
            </a:pPr>
            <a:r>
              <a:rPr lang="en-US" sz="1725" b="1" dirty="0">
                <a:solidFill>
                  <a:srgbClr val="FFFFFF"/>
                </a:solidFill>
                <a:latin typeface="Scotia" pitchFamily="34" charset="0"/>
                <a:ea typeface="Scotia" pitchFamily="34" charset="-122"/>
                <a:cs typeface="Scotia" pitchFamily="34" charset="-120"/>
              </a:rPr>
              <a:t>Sequential</a:t>
            </a:r>
            <a:endParaRPr lang="en-US" sz="1725" dirty="0"/>
          </a:p>
        </p:txBody>
      </p:sp>
      <p:sp>
        <p:nvSpPr>
          <p:cNvPr id="11" name="dg rect"/>
          <p:cNvSpPr/>
          <p:nvPr/>
        </p:nvSpPr>
        <p:spPr>
          <a:xfrm>
            <a:off x="2714625" y="2381250"/>
            <a:ext cx="2133600" cy="2514600"/>
          </a:xfrm>
          <a:prstGeom prst="roundRect">
            <a:avLst>
              <a:gd name="adj" fmla="val 8929"/>
            </a:avLst>
          </a:prstGeom>
          <a:gradFill rotWithShape="1">
            <a:gsLst>
              <a:gs pos="0">
                <a:srgbClr val="1A1550"/>
              </a:gs>
              <a:gs pos="100000">
                <a:srgbClr val="120E36"/>
              </a:gs>
            </a:gsLst>
            <a:lin ang="5400000" scaled="1"/>
          </a:gradFill>
          <a:ln w="13335" cap="flat">
            <a:solidFill>
              <a:srgbClr val="3B3392"/>
            </a:solidFill>
            <a:miter lim="800000"/>
          </a:ln>
        </p:spPr>
      </p:sp>
      <p:sp>
        <p:nvSpPr>
          <p:cNvPr id="12" name="dg rect"/>
          <p:cNvSpPr/>
          <p:nvPr/>
        </p:nvSpPr>
        <p:spPr>
          <a:xfrm>
            <a:off x="2867025" y="2533650"/>
            <a:ext cx="1828800" cy="1562100"/>
          </a:xfrm>
          <a:prstGeom prst="roundRect">
            <a:avLst>
              <a:gd name="adj" fmla="val 8537"/>
            </a:avLst>
          </a:prstGeom>
          <a:solidFill>
            <a:srgbClr val="FFFFFF">
              <a:alpha val="4000"/>
            </a:srgbClr>
          </a:solidFill>
          <a:ln>
            <a:noFill/>
          </a:ln>
        </p:spPr>
      </p:sp>
      <p:sp>
        <p:nvSpPr>
          <p:cNvPr id="13" name="dg circle"/>
          <p:cNvSpPr/>
          <p:nvPr/>
        </p:nvSpPr>
        <p:spPr>
          <a:xfrm>
            <a:off x="2981325" y="3200400"/>
            <a:ext cx="228600" cy="228600"/>
          </a:xfrm>
          <a:prstGeom prst="ellipse">
            <a:avLst/>
          </a:prstGeom>
          <a:solidFill>
            <a:srgbClr val="6551FF"/>
          </a:solidFill>
          <a:ln>
            <a:noFill/>
          </a:ln>
        </p:spPr>
      </p:sp>
      <p:sp>
        <p:nvSpPr>
          <p:cNvPr id="14" name="dg circle"/>
          <p:cNvSpPr/>
          <p:nvPr/>
        </p:nvSpPr>
        <p:spPr>
          <a:xfrm>
            <a:off x="4352925" y="3200400"/>
            <a:ext cx="228600" cy="228600"/>
          </a:xfrm>
          <a:prstGeom prst="ellipse">
            <a:avLst/>
          </a:prstGeom>
          <a:solidFill>
            <a:srgbClr val="6551FF"/>
          </a:solidFill>
          <a:ln>
            <a:noFill/>
          </a:ln>
        </p:spPr>
      </p:sp>
      <p:sp>
        <p:nvSpPr>
          <p:cNvPr id="15" name="dg rect"/>
          <p:cNvSpPr/>
          <p:nvPr/>
        </p:nvSpPr>
        <p:spPr>
          <a:xfrm>
            <a:off x="3571875" y="2762250"/>
            <a:ext cx="419100" cy="266700"/>
          </a:xfrm>
          <a:prstGeom prst="roundRect">
            <a:avLst>
              <a:gd name="adj" fmla="val 32143"/>
            </a:avLst>
          </a:prstGeom>
          <a:solidFill>
            <a:srgbClr val="6551FF"/>
          </a:solidFill>
          <a:ln>
            <a:noFill/>
          </a:ln>
        </p:spPr>
      </p:sp>
      <p:sp>
        <p:nvSpPr>
          <p:cNvPr id="16" name="dg path"/>
          <p:cNvSpPr/>
          <p:nvPr/>
        </p:nvSpPr>
        <p:spPr>
          <a:xfrm>
            <a:off x="3228975" y="2896246"/>
            <a:ext cx="283730" cy="418454"/>
          </a:xfrm>
          <a:custGeom>
            <a:avLst/>
            <a:gdLst/>
            <a:ahLst/>
            <a:cxnLst/>
            <a:rect l="l" t="t" r="r" b="b"/>
            <a:pathLst>
              <a:path w="283730" h="418454">
                <a:moveTo>
                  <a:pt x="0" y="418454"/>
                </a:moveTo>
                <a:cubicBezTo>
                  <a:pt x="171450" y="418454"/>
                  <a:pt x="120015" y="110797"/>
                  <a:pt x="283730" y="0"/>
                </a:cubicBezTo>
              </a:path>
            </a:pathLst>
          </a:custGeom>
          <a:noFill/>
          <a:ln w="17145" cap="rnd">
            <a:solidFill>
              <a:srgbClr val="B0AAFF"/>
            </a:solidFill>
            <a:miter lim="800000"/>
            <a:tailEnd type="triangle" w="lg" len="lg"/>
          </a:ln>
        </p:spPr>
      </p:sp>
      <p:sp>
        <p:nvSpPr>
          <p:cNvPr id="17" name="dg path"/>
          <p:cNvSpPr/>
          <p:nvPr/>
        </p:nvSpPr>
        <p:spPr>
          <a:xfrm>
            <a:off x="4010025" y="2895600"/>
            <a:ext cx="321717" cy="418548"/>
          </a:xfrm>
          <a:custGeom>
            <a:avLst/>
            <a:gdLst/>
            <a:ahLst/>
            <a:cxnLst/>
            <a:rect l="l" t="t" r="r" b="b"/>
            <a:pathLst>
              <a:path w="321717" h="418548">
                <a:moveTo>
                  <a:pt x="0" y="0"/>
                </a:moveTo>
                <a:cubicBezTo>
                  <a:pt x="152400" y="0"/>
                  <a:pt x="104775" y="283845"/>
                  <a:pt x="321717" y="418548"/>
                </a:cubicBezTo>
              </a:path>
            </a:pathLst>
          </a:custGeom>
          <a:noFill/>
          <a:ln w="17145" cap="rnd">
            <a:solidFill>
              <a:srgbClr val="B0AAFF"/>
            </a:solidFill>
            <a:miter lim="800000"/>
            <a:tailEnd type="triangle" w="lg" len="lg"/>
          </a:ln>
        </p:spPr>
      </p:sp>
      <p:sp>
        <p:nvSpPr>
          <p:cNvPr id="18" name="dg rect"/>
          <p:cNvSpPr/>
          <p:nvPr/>
        </p:nvSpPr>
        <p:spPr>
          <a:xfrm>
            <a:off x="3571875" y="3181350"/>
            <a:ext cx="419100" cy="266700"/>
          </a:xfrm>
          <a:prstGeom prst="roundRect">
            <a:avLst>
              <a:gd name="adj" fmla="val 32143"/>
            </a:avLst>
          </a:prstGeom>
          <a:solidFill>
            <a:srgbClr val="6551FF"/>
          </a:solidFill>
          <a:ln>
            <a:noFill/>
          </a:ln>
        </p:spPr>
      </p:sp>
      <p:sp>
        <p:nvSpPr>
          <p:cNvPr id="19" name="dg path"/>
          <p:cNvSpPr/>
          <p:nvPr/>
        </p:nvSpPr>
        <p:spPr>
          <a:xfrm>
            <a:off x="3228975" y="3314700"/>
            <a:ext cx="283845" cy="4763"/>
          </a:xfrm>
          <a:custGeom>
            <a:avLst/>
            <a:gdLst/>
            <a:ahLst/>
            <a:cxnLst/>
            <a:rect l="l" t="t" r="r" b="b"/>
            <a:pathLst>
              <a:path w="283845" h="4763">
                <a:moveTo>
                  <a:pt x="0" y="0"/>
                </a:moveTo>
                <a:cubicBezTo>
                  <a:pt x="171450" y="0"/>
                  <a:pt x="85725" y="0"/>
                  <a:pt x="283845" y="0"/>
                </a:cubicBezTo>
              </a:path>
            </a:pathLst>
          </a:custGeom>
          <a:noFill/>
          <a:ln w="17145" cap="rnd">
            <a:solidFill>
              <a:srgbClr val="B0AAFF"/>
            </a:solidFill>
            <a:miter lim="800000"/>
            <a:tailEnd type="triangle" w="lg" len="lg"/>
          </a:ln>
        </p:spPr>
      </p:sp>
      <p:sp>
        <p:nvSpPr>
          <p:cNvPr id="20" name="dg path"/>
          <p:cNvSpPr/>
          <p:nvPr/>
        </p:nvSpPr>
        <p:spPr>
          <a:xfrm>
            <a:off x="4010025" y="3314700"/>
            <a:ext cx="321945" cy="4763"/>
          </a:xfrm>
          <a:custGeom>
            <a:avLst/>
            <a:gdLst/>
            <a:ahLst/>
            <a:cxnLst/>
            <a:rect l="l" t="t" r="r" b="b"/>
            <a:pathLst>
              <a:path w="321945" h="4763">
                <a:moveTo>
                  <a:pt x="0" y="0"/>
                </a:moveTo>
                <a:cubicBezTo>
                  <a:pt x="152400" y="0"/>
                  <a:pt x="66675" y="0"/>
                  <a:pt x="321945" y="0"/>
                </a:cubicBezTo>
              </a:path>
            </a:pathLst>
          </a:custGeom>
          <a:noFill/>
          <a:ln w="17145" cap="rnd">
            <a:solidFill>
              <a:srgbClr val="B0AAFF"/>
            </a:solidFill>
            <a:miter lim="800000"/>
            <a:tailEnd type="triangle" w="lg" len="lg"/>
          </a:ln>
        </p:spPr>
      </p:sp>
      <p:sp>
        <p:nvSpPr>
          <p:cNvPr id="21" name="dg rect"/>
          <p:cNvSpPr/>
          <p:nvPr/>
        </p:nvSpPr>
        <p:spPr>
          <a:xfrm>
            <a:off x="3571875" y="3600450"/>
            <a:ext cx="419100" cy="266700"/>
          </a:xfrm>
          <a:prstGeom prst="roundRect">
            <a:avLst>
              <a:gd name="adj" fmla="val 32143"/>
            </a:avLst>
          </a:prstGeom>
          <a:solidFill>
            <a:srgbClr val="6551FF"/>
          </a:solidFill>
          <a:ln>
            <a:noFill/>
          </a:ln>
        </p:spPr>
      </p:sp>
      <p:sp>
        <p:nvSpPr>
          <p:cNvPr id="22" name="dg path"/>
          <p:cNvSpPr/>
          <p:nvPr/>
        </p:nvSpPr>
        <p:spPr>
          <a:xfrm>
            <a:off x="3228975" y="3314700"/>
            <a:ext cx="283730" cy="418454"/>
          </a:xfrm>
          <a:custGeom>
            <a:avLst/>
            <a:gdLst/>
            <a:ahLst/>
            <a:cxnLst/>
            <a:rect l="l" t="t" r="r" b="b"/>
            <a:pathLst>
              <a:path w="283730" h="418454">
                <a:moveTo>
                  <a:pt x="0" y="0"/>
                </a:moveTo>
                <a:cubicBezTo>
                  <a:pt x="171450" y="0"/>
                  <a:pt x="120015" y="307658"/>
                  <a:pt x="283730" y="418454"/>
                </a:cubicBezTo>
              </a:path>
            </a:pathLst>
          </a:custGeom>
          <a:noFill/>
          <a:ln w="17145" cap="rnd">
            <a:solidFill>
              <a:srgbClr val="B0AAFF"/>
            </a:solidFill>
            <a:miter lim="800000"/>
            <a:tailEnd type="triangle" w="lg" len="lg"/>
          </a:ln>
        </p:spPr>
      </p:sp>
      <p:sp>
        <p:nvSpPr>
          <p:cNvPr id="23" name="dg path"/>
          <p:cNvSpPr/>
          <p:nvPr/>
        </p:nvSpPr>
        <p:spPr>
          <a:xfrm>
            <a:off x="4010025" y="3315252"/>
            <a:ext cx="321717" cy="418548"/>
          </a:xfrm>
          <a:custGeom>
            <a:avLst/>
            <a:gdLst/>
            <a:ahLst/>
            <a:cxnLst/>
            <a:rect l="l" t="t" r="r" b="b"/>
            <a:pathLst>
              <a:path w="321717" h="418548">
                <a:moveTo>
                  <a:pt x="0" y="418548"/>
                </a:moveTo>
                <a:cubicBezTo>
                  <a:pt x="152400" y="418548"/>
                  <a:pt x="104775" y="134703"/>
                  <a:pt x="321717" y="0"/>
                </a:cubicBezTo>
              </a:path>
            </a:pathLst>
          </a:custGeom>
          <a:noFill/>
          <a:ln w="17145" cap="rnd">
            <a:solidFill>
              <a:srgbClr val="B0AAFF"/>
            </a:solidFill>
            <a:miter lim="800000"/>
            <a:tailEnd type="triangle" w="lg" len="lg"/>
          </a:ln>
        </p:spPr>
      </p:sp>
      <p:sp>
        <p:nvSpPr>
          <p:cNvPr id="24" name="Text Concurrent"/>
          <p:cNvSpPr txBox="1"/>
          <p:nvPr/>
        </p:nvSpPr>
        <p:spPr>
          <a:xfrm>
            <a:off x="3180829" y="4333875"/>
            <a:ext cx="1201192" cy="266700"/>
          </a:xfrm>
          <a:prstGeom prst="rect">
            <a:avLst/>
          </a:prstGeom>
          <a:noFill/>
          <a:ln/>
        </p:spPr>
        <p:txBody>
          <a:bodyPr wrap="none" lIns="0" tIns="0" rIns="0" bIns="0" rtlCol="0" anchor="ctr"/>
          <a:lstStyle/>
          <a:p>
            <a:pPr algn="ctr" indent="0" marL="0">
              <a:buNone/>
            </a:pPr>
            <a:r>
              <a:rPr lang="en-US" sz="1725" b="1" dirty="0">
                <a:solidFill>
                  <a:srgbClr val="FFFFFF"/>
                </a:solidFill>
                <a:latin typeface="Scotia" pitchFamily="34" charset="0"/>
                <a:ea typeface="Scotia" pitchFamily="34" charset="-122"/>
                <a:cs typeface="Scotia" pitchFamily="34" charset="-120"/>
              </a:rPr>
              <a:t>Concurrent</a:t>
            </a:r>
            <a:endParaRPr lang="en-US" sz="1725" dirty="0"/>
          </a:p>
        </p:txBody>
      </p:sp>
      <p:sp>
        <p:nvSpPr>
          <p:cNvPr id="25" name="dg rect"/>
          <p:cNvSpPr/>
          <p:nvPr/>
        </p:nvSpPr>
        <p:spPr>
          <a:xfrm>
            <a:off x="5029200" y="2381250"/>
            <a:ext cx="2133600" cy="2514600"/>
          </a:xfrm>
          <a:prstGeom prst="roundRect">
            <a:avLst>
              <a:gd name="adj" fmla="val 8929"/>
            </a:avLst>
          </a:prstGeom>
          <a:gradFill rotWithShape="1">
            <a:gsLst>
              <a:gs pos="0">
                <a:srgbClr val="1A1550"/>
              </a:gs>
              <a:gs pos="100000">
                <a:srgbClr val="120E36"/>
              </a:gs>
            </a:gsLst>
            <a:lin ang="5400000" scaled="1"/>
          </a:gradFill>
          <a:ln w="13335" cap="flat">
            <a:solidFill>
              <a:srgbClr val="3B3392"/>
            </a:solidFill>
            <a:miter lim="800000"/>
          </a:ln>
        </p:spPr>
      </p:sp>
      <p:sp>
        <p:nvSpPr>
          <p:cNvPr id="26" name="dg rect"/>
          <p:cNvSpPr/>
          <p:nvPr/>
        </p:nvSpPr>
        <p:spPr>
          <a:xfrm>
            <a:off x="5181600" y="2533650"/>
            <a:ext cx="1828800" cy="1562100"/>
          </a:xfrm>
          <a:prstGeom prst="roundRect">
            <a:avLst>
              <a:gd name="adj" fmla="val 8537"/>
            </a:avLst>
          </a:prstGeom>
          <a:solidFill>
            <a:srgbClr val="FFFFFF">
              <a:alpha val="4000"/>
            </a:srgbClr>
          </a:solidFill>
          <a:ln>
            <a:noFill/>
          </a:ln>
        </p:spPr>
      </p:sp>
      <p:sp>
        <p:nvSpPr>
          <p:cNvPr id="27" name="dg rect"/>
          <p:cNvSpPr/>
          <p:nvPr/>
        </p:nvSpPr>
        <p:spPr>
          <a:xfrm>
            <a:off x="5734050" y="3086100"/>
            <a:ext cx="723900" cy="457200"/>
          </a:xfrm>
          <a:prstGeom prst="roundRect">
            <a:avLst>
              <a:gd name="adj" fmla="val 25000"/>
            </a:avLst>
          </a:prstGeom>
          <a:noFill/>
          <a:ln w="19050" cap="flat">
            <a:solidFill>
              <a:srgbClr val="B0AAFF"/>
            </a:solidFill>
            <a:custDash>
              <a:ds d="250000" sp="200000"/>
            </a:custDash>
            <a:miter lim="800000"/>
          </a:ln>
        </p:spPr>
      </p:sp>
      <p:sp>
        <p:nvSpPr>
          <p:cNvPr id="28" name="dg circle"/>
          <p:cNvSpPr/>
          <p:nvPr/>
        </p:nvSpPr>
        <p:spPr>
          <a:xfrm>
            <a:off x="5776913" y="3243263"/>
            <a:ext cx="66675" cy="66675"/>
          </a:xfrm>
          <a:prstGeom prst="ellipse">
            <a:avLst/>
          </a:prstGeom>
          <a:solidFill>
            <a:srgbClr val="B0AAFF"/>
          </a:solidFill>
          <a:ln>
            <a:noFill/>
          </a:ln>
        </p:spPr>
      </p:sp>
      <p:sp>
        <p:nvSpPr>
          <p:cNvPr id="29" name="dg circle"/>
          <p:cNvSpPr/>
          <p:nvPr/>
        </p:nvSpPr>
        <p:spPr>
          <a:xfrm>
            <a:off x="6062663" y="3243263"/>
            <a:ext cx="66675" cy="66675"/>
          </a:xfrm>
          <a:prstGeom prst="ellipse">
            <a:avLst/>
          </a:prstGeom>
          <a:solidFill>
            <a:srgbClr val="B0AAFF"/>
          </a:solidFill>
          <a:ln>
            <a:noFill/>
          </a:ln>
        </p:spPr>
      </p:sp>
      <p:sp>
        <p:nvSpPr>
          <p:cNvPr id="30" name="dg circle"/>
          <p:cNvSpPr/>
          <p:nvPr/>
        </p:nvSpPr>
        <p:spPr>
          <a:xfrm>
            <a:off x="6348413" y="3243263"/>
            <a:ext cx="66675" cy="66675"/>
          </a:xfrm>
          <a:prstGeom prst="ellipse">
            <a:avLst/>
          </a:prstGeom>
          <a:solidFill>
            <a:srgbClr val="B0AAFF"/>
          </a:solidFill>
          <a:ln>
            <a:noFill/>
          </a:ln>
        </p:spPr>
      </p:sp>
      <p:sp>
        <p:nvSpPr>
          <p:cNvPr id="31" name="dg circle"/>
          <p:cNvSpPr/>
          <p:nvPr/>
        </p:nvSpPr>
        <p:spPr>
          <a:xfrm>
            <a:off x="5391150" y="2724150"/>
            <a:ext cx="228600" cy="228600"/>
          </a:xfrm>
          <a:prstGeom prst="ellipse">
            <a:avLst/>
          </a:prstGeom>
          <a:solidFill>
            <a:srgbClr val="6551FF"/>
          </a:solidFill>
          <a:ln>
            <a:noFill/>
          </a:ln>
        </p:spPr>
      </p:sp>
      <p:sp>
        <p:nvSpPr>
          <p:cNvPr id="32" name="dg path"/>
          <p:cNvSpPr/>
          <p:nvPr/>
        </p:nvSpPr>
        <p:spPr>
          <a:xfrm>
            <a:off x="5611749" y="2943225"/>
            <a:ext cx="177165" cy="123825"/>
          </a:xfrm>
          <a:prstGeom prst="line">
            <a:avLst/>
          </a:prstGeom>
          <a:noFill/>
          <a:ln w="17145" cap="rnd">
            <a:solidFill>
              <a:srgbClr val="B0AAFF"/>
            </a:solidFill>
            <a:custDash>
              <a:ds d="166667" sp="222222"/>
            </a:custDash>
            <a:miter lim="800000"/>
          </a:ln>
        </p:spPr>
      </p:sp>
      <p:sp>
        <p:nvSpPr>
          <p:cNvPr id="33" name="dg circle"/>
          <p:cNvSpPr/>
          <p:nvPr/>
        </p:nvSpPr>
        <p:spPr>
          <a:xfrm>
            <a:off x="6572250" y="2724150"/>
            <a:ext cx="228600" cy="228600"/>
          </a:xfrm>
          <a:prstGeom prst="ellipse">
            <a:avLst/>
          </a:prstGeom>
          <a:solidFill>
            <a:srgbClr val="6551FF"/>
          </a:solidFill>
          <a:ln>
            <a:noFill/>
          </a:ln>
        </p:spPr>
      </p:sp>
      <p:sp>
        <p:nvSpPr>
          <p:cNvPr id="34" name="dg path"/>
          <p:cNvSpPr/>
          <p:nvPr/>
        </p:nvSpPr>
        <p:spPr>
          <a:xfrm flipH="1">
            <a:off x="6403086" y="2943225"/>
            <a:ext cx="177165" cy="123825"/>
          </a:xfrm>
          <a:prstGeom prst="line">
            <a:avLst/>
          </a:prstGeom>
          <a:noFill/>
          <a:ln w="17145" cap="rnd">
            <a:solidFill>
              <a:srgbClr val="B0AAFF"/>
            </a:solidFill>
            <a:custDash>
              <a:ds d="166667" sp="222222"/>
            </a:custDash>
            <a:miter lim="800000"/>
          </a:ln>
        </p:spPr>
      </p:sp>
      <p:sp>
        <p:nvSpPr>
          <p:cNvPr id="35" name="dg circle"/>
          <p:cNvSpPr/>
          <p:nvPr/>
        </p:nvSpPr>
        <p:spPr>
          <a:xfrm>
            <a:off x="5981700" y="3752850"/>
            <a:ext cx="228600" cy="228600"/>
          </a:xfrm>
          <a:prstGeom prst="ellipse">
            <a:avLst/>
          </a:prstGeom>
          <a:solidFill>
            <a:srgbClr val="6551FF"/>
          </a:solidFill>
          <a:ln>
            <a:noFill/>
          </a:ln>
        </p:spPr>
      </p:sp>
      <p:sp>
        <p:nvSpPr>
          <p:cNvPr id="36" name="dg path"/>
          <p:cNvSpPr/>
          <p:nvPr/>
        </p:nvSpPr>
        <p:spPr>
          <a:xfrm flipV="1">
            <a:off x="6096000" y="3601974"/>
            <a:ext cx="0" cy="143637"/>
          </a:xfrm>
          <a:prstGeom prst="line">
            <a:avLst/>
          </a:prstGeom>
          <a:noFill/>
          <a:ln w="17145" cap="rnd">
            <a:solidFill>
              <a:srgbClr val="B0AAFF"/>
            </a:solidFill>
            <a:custDash>
              <a:ds d="166667" sp="222222"/>
            </a:custDash>
            <a:miter lim="800000"/>
          </a:ln>
        </p:spPr>
      </p:sp>
      <p:sp>
        <p:nvSpPr>
          <p:cNvPr id="37" name="Text Group Chat"/>
          <p:cNvSpPr txBox="1"/>
          <p:nvPr/>
        </p:nvSpPr>
        <p:spPr>
          <a:xfrm>
            <a:off x="5489823" y="4333875"/>
            <a:ext cx="1212354" cy="266700"/>
          </a:xfrm>
          <a:prstGeom prst="rect">
            <a:avLst/>
          </a:prstGeom>
          <a:noFill/>
          <a:ln/>
        </p:spPr>
        <p:txBody>
          <a:bodyPr wrap="none" lIns="0" tIns="0" rIns="0" bIns="0" rtlCol="0" anchor="ctr"/>
          <a:lstStyle/>
          <a:p>
            <a:pPr algn="ctr" indent="0" marL="0">
              <a:buNone/>
            </a:pPr>
            <a:r>
              <a:rPr lang="en-US" sz="1725" b="1" dirty="0">
                <a:solidFill>
                  <a:srgbClr val="FFFFFF"/>
                </a:solidFill>
                <a:latin typeface="Scotia" pitchFamily="34" charset="0"/>
                <a:ea typeface="Scotia" pitchFamily="34" charset="-122"/>
                <a:cs typeface="Scotia" pitchFamily="34" charset="-120"/>
              </a:rPr>
              <a:t>Group Chat</a:t>
            </a:r>
            <a:endParaRPr lang="en-US" sz="1725" dirty="0"/>
          </a:p>
        </p:txBody>
      </p:sp>
      <p:sp>
        <p:nvSpPr>
          <p:cNvPr id="38" name="dg rect"/>
          <p:cNvSpPr/>
          <p:nvPr/>
        </p:nvSpPr>
        <p:spPr>
          <a:xfrm>
            <a:off x="7343775" y="2381250"/>
            <a:ext cx="2133600" cy="2514600"/>
          </a:xfrm>
          <a:prstGeom prst="roundRect">
            <a:avLst>
              <a:gd name="adj" fmla="val 8929"/>
            </a:avLst>
          </a:prstGeom>
          <a:gradFill rotWithShape="1">
            <a:gsLst>
              <a:gs pos="0">
                <a:srgbClr val="1A1550"/>
              </a:gs>
              <a:gs pos="100000">
                <a:srgbClr val="120E36"/>
              </a:gs>
            </a:gsLst>
            <a:lin ang="5400000" scaled="1"/>
          </a:gradFill>
          <a:ln w="13335" cap="flat">
            <a:solidFill>
              <a:srgbClr val="3B3392"/>
            </a:solidFill>
            <a:miter lim="800000"/>
          </a:ln>
        </p:spPr>
      </p:sp>
      <p:sp>
        <p:nvSpPr>
          <p:cNvPr id="39" name="dg rect"/>
          <p:cNvSpPr/>
          <p:nvPr/>
        </p:nvSpPr>
        <p:spPr>
          <a:xfrm>
            <a:off x="7496175" y="2533650"/>
            <a:ext cx="1828800" cy="1562100"/>
          </a:xfrm>
          <a:prstGeom prst="roundRect">
            <a:avLst>
              <a:gd name="adj" fmla="val 8537"/>
            </a:avLst>
          </a:prstGeom>
          <a:solidFill>
            <a:srgbClr val="FFFFFF">
              <a:alpha val="4000"/>
            </a:srgbClr>
          </a:solidFill>
          <a:ln>
            <a:noFill/>
          </a:ln>
        </p:spPr>
      </p:sp>
      <p:sp>
        <p:nvSpPr>
          <p:cNvPr id="40" name="dg circle"/>
          <p:cNvSpPr/>
          <p:nvPr/>
        </p:nvSpPr>
        <p:spPr>
          <a:xfrm>
            <a:off x="7658100" y="3190875"/>
            <a:ext cx="247650" cy="247650"/>
          </a:xfrm>
          <a:prstGeom prst="ellipse">
            <a:avLst/>
          </a:prstGeom>
          <a:solidFill>
            <a:srgbClr val="6551FF"/>
          </a:solidFill>
          <a:ln>
            <a:noFill/>
          </a:ln>
        </p:spPr>
      </p:sp>
      <p:sp>
        <p:nvSpPr>
          <p:cNvPr id="41" name="dg circle"/>
          <p:cNvSpPr/>
          <p:nvPr/>
        </p:nvSpPr>
        <p:spPr>
          <a:xfrm>
            <a:off x="8286750" y="3190875"/>
            <a:ext cx="247650" cy="247650"/>
          </a:xfrm>
          <a:prstGeom prst="ellipse">
            <a:avLst/>
          </a:prstGeom>
          <a:solidFill>
            <a:srgbClr val="B0AAFF"/>
          </a:solidFill>
          <a:ln>
            <a:noFill/>
          </a:ln>
        </p:spPr>
      </p:sp>
      <p:sp>
        <p:nvSpPr>
          <p:cNvPr id="42" name="dg circle"/>
          <p:cNvSpPr/>
          <p:nvPr/>
        </p:nvSpPr>
        <p:spPr>
          <a:xfrm>
            <a:off x="8915400" y="3190875"/>
            <a:ext cx="247650" cy="247650"/>
          </a:xfrm>
          <a:prstGeom prst="ellipse">
            <a:avLst/>
          </a:prstGeom>
          <a:solidFill>
            <a:srgbClr val="B0AAFF"/>
          </a:solidFill>
          <a:ln>
            <a:noFill/>
          </a:ln>
        </p:spPr>
      </p:sp>
      <p:sp>
        <p:nvSpPr>
          <p:cNvPr id="43" name="dg path"/>
          <p:cNvSpPr/>
          <p:nvPr/>
        </p:nvSpPr>
        <p:spPr>
          <a:xfrm>
            <a:off x="7953375" y="3314700"/>
            <a:ext cx="245745" cy="0"/>
          </a:xfrm>
          <a:prstGeom prst="line">
            <a:avLst/>
          </a:prstGeom>
          <a:noFill/>
          <a:ln w="22860" cap="rnd">
            <a:solidFill>
              <a:srgbClr val="B0AAFF"/>
            </a:solidFill>
            <a:miter lim="800000"/>
            <a:tailEnd type="triangle" w="lg" len="lg"/>
          </a:ln>
        </p:spPr>
      </p:sp>
      <p:sp>
        <p:nvSpPr>
          <p:cNvPr id="44" name="dg path"/>
          <p:cNvSpPr/>
          <p:nvPr/>
        </p:nvSpPr>
        <p:spPr>
          <a:xfrm>
            <a:off x="8582025" y="3314700"/>
            <a:ext cx="245745" cy="0"/>
          </a:xfrm>
          <a:prstGeom prst="line">
            <a:avLst/>
          </a:prstGeom>
          <a:noFill/>
          <a:ln w="22860" cap="rnd">
            <a:solidFill>
              <a:srgbClr val="B0AAFF"/>
            </a:solidFill>
            <a:miter lim="800000"/>
            <a:tailEnd type="triangle" w="lg" len="lg"/>
          </a:ln>
        </p:spPr>
      </p:sp>
      <p:sp>
        <p:nvSpPr>
          <p:cNvPr id="45" name="dg path"/>
          <p:cNvSpPr/>
          <p:nvPr/>
        </p:nvSpPr>
        <p:spPr>
          <a:xfrm>
            <a:off x="7839075" y="2724150"/>
            <a:ext cx="1134712" cy="419100"/>
          </a:xfrm>
          <a:custGeom>
            <a:avLst/>
            <a:gdLst/>
            <a:ahLst/>
            <a:cxnLst/>
            <a:rect l="l" t="t" r="r" b="b"/>
            <a:pathLst>
              <a:path w="1134712" h="419100">
                <a:moveTo>
                  <a:pt x="0" y="419100"/>
                </a:moveTo>
                <a:cubicBezTo>
                  <a:pt x="190500" y="0"/>
                  <a:pt x="649605" y="184785"/>
                  <a:pt x="1134712" y="414573"/>
                </a:cubicBezTo>
              </a:path>
            </a:pathLst>
          </a:custGeom>
          <a:noFill/>
          <a:ln w="17145" cap="rnd">
            <a:solidFill>
              <a:srgbClr val="A9A6CF"/>
            </a:solidFill>
            <a:custDash>
              <a:ds d="222222" sp="222222"/>
            </a:custDash>
            <a:miter lim="800000"/>
            <a:tailEnd type="triangle" w="lg" len="lg"/>
          </a:ln>
        </p:spPr>
      </p:sp>
      <p:sp>
        <p:nvSpPr>
          <p:cNvPr id="46" name="Text Handoff"/>
          <p:cNvSpPr txBox="1"/>
          <p:nvPr/>
        </p:nvSpPr>
        <p:spPr>
          <a:xfrm>
            <a:off x="7972053" y="4333875"/>
            <a:ext cx="889635" cy="266700"/>
          </a:xfrm>
          <a:prstGeom prst="rect">
            <a:avLst/>
          </a:prstGeom>
          <a:noFill/>
          <a:ln/>
        </p:spPr>
        <p:txBody>
          <a:bodyPr wrap="none" lIns="0" tIns="0" rIns="0" bIns="0" rtlCol="0" anchor="ctr"/>
          <a:lstStyle/>
          <a:p>
            <a:pPr algn="ctr" indent="0" marL="0">
              <a:buNone/>
            </a:pPr>
            <a:r>
              <a:rPr lang="en-US" sz="1725" b="1" dirty="0">
                <a:solidFill>
                  <a:srgbClr val="FFFFFF"/>
                </a:solidFill>
                <a:latin typeface="Scotia" pitchFamily="34" charset="0"/>
                <a:ea typeface="Scotia" pitchFamily="34" charset="-122"/>
                <a:cs typeface="Scotia" pitchFamily="34" charset="-120"/>
              </a:rPr>
              <a:t>Handoff</a:t>
            </a:r>
            <a:endParaRPr lang="en-US" sz="1725" dirty="0"/>
          </a:p>
        </p:txBody>
      </p:sp>
      <p:sp>
        <p:nvSpPr>
          <p:cNvPr id="47" name="dg rect"/>
          <p:cNvSpPr/>
          <p:nvPr/>
        </p:nvSpPr>
        <p:spPr>
          <a:xfrm>
            <a:off x="9658350" y="2381250"/>
            <a:ext cx="2133600" cy="2514600"/>
          </a:xfrm>
          <a:prstGeom prst="roundRect">
            <a:avLst>
              <a:gd name="adj" fmla="val 8929"/>
            </a:avLst>
          </a:prstGeom>
          <a:gradFill rotWithShape="1">
            <a:gsLst>
              <a:gs pos="0">
                <a:srgbClr val="1A1550"/>
              </a:gs>
              <a:gs pos="100000">
                <a:srgbClr val="120E36"/>
              </a:gs>
            </a:gsLst>
            <a:lin ang="5400000" scaled="1"/>
          </a:gradFill>
          <a:ln w="13335" cap="flat">
            <a:solidFill>
              <a:srgbClr val="3B3392"/>
            </a:solidFill>
            <a:miter lim="800000"/>
          </a:ln>
        </p:spPr>
      </p:sp>
      <p:sp>
        <p:nvSpPr>
          <p:cNvPr id="48" name="dg rect"/>
          <p:cNvSpPr/>
          <p:nvPr/>
        </p:nvSpPr>
        <p:spPr>
          <a:xfrm>
            <a:off x="9810750" y="2533650"/>
            <a:ext cx="1828800" cy="1562100"/>
          </a:xfrm>
          <a:prstGeom prst="roundRect">
            <a:avLst>
              <a:gd name="adj" fmla="val 8537"/>
            </a:avLst>
          </a:prstGeom>
          <a:solidFill>
            <a:srgbClr val="FFFFFF">
              <a:alpha val="4000"/>
            </a:srgbClr>
          </a:solidFill>
          <a:ln>
            <a:noFill/>
          </a:ln>
        </p:spPr>
      </p:sp>
      <p:sp>
        <p:nvSpPr>
          <p:cNvPr id="49" name="dg circle"/>
          <p:cNvSpPr/>
          <p:nvPr/>
        </p:nvSpPr>
        <p:spPr>
          <a:xfrm>
            <a:off x="10544175" y="3133725"/>
            <a:ext cx="361950" cy="361950"/>
          </a:xfrm>
          <a:prstGeom prst="ellipse">
            <a:avLst/>
          </a:prstGeom>
          <a:solidFill>
            <a:srgbClr val="6551FF"/>
          </a:solidFill>
          <a:ln>
            <a:noFill/>
          </a:ln>
        </p:spPr>
      </p:sp>
      <p:sp>
        <p:nvSpPr>
          <p:cNvPr id="50" name="dg rect"/>
          <p:cNvSpPr/>
          <p:nvPr/>
        </p:nvSpPr>
        <p:spPr>
          <a:xfrm>
            <a:off x="9906000" y="3028950"/>
            <a:ext cx="285750" cy="57150"/>
          </a:xfrm>
          <a:prstGeom prst="roundRect">
            <a:avLst>
              <a:gd name="adj" fmla="val 50000"/>
            </a:avLst>
          </a:prstGeom>
          <a:solidFill>
            <a:srgbClr val="B0AAFF"/>
          </a:solidFill>
          <a:ln>
            <a:noFill/>
          </a:ln>
        </p:spPr>
      </p:sp>
      <p:sp>
        <p:nvSpPr>
          <p:cNvPr id="51" name="dg rect"/>
          <p:cNvSpPr/>
          <p:nvPr/>
        </p:nvSpPr>
        <p:spPr>
          <a:xfrm>
            <a:off x="9906000" y="3238500"/>
            <a:ext cx="285750" cy="57150"/>
          </a:xfrm>
          <a:prstGeom prst="roundRect">
            <a:avLst>
              <a:gd name="adj" fmla="val 50000"/>
            </a:avLst>
          </a:prstGeom>
          <a:solidFill>
            <a:srgbClr val="B0AAFF"/>
          </a:solidFill>
          <a:ln>
            <a:noFill/>
          </a:ln>
        </p:spPr>
      </p:sp>
      <p:sp>
        <p:nvSpPr>
          <p:cNvPr id="52" name="dg rect"/>
          <p:cNvSpPr/>
          <p:nvPr/>
        </p:nvSpPr>
        <p:spPr>
          <a:xfrm>
            <a:off x="9906000" y="3448050"/>
            <a:ext cx="209550" cy="57150"/>
          </a:xfrm>
          <a:prstGeom prst="roundRect">
            <a:avLst>
              <a:gd name="adj" fmla="val 50000"/>
            </a:avLst>
          </a:prstGeom>
          <a:solidFill>
            <a:srgbClr val="B0AAFF">
              <a:alpha val="45000"/>
            </a:srgbClr>
          </a:solidFill>
          <a:ln>
            <a:noFill/>
          </a:ln>
        </p:spPr>
      </p:sp>
      <p:sp>
        <p:nvSpPr>
          <p:cNvPr id="53" name="dg circle"/>
          <p:cNvSpPr/>
          <p:nvPr/>
        </p:nvSpPr>
        <p:spPr>
          <a:xfrm>
            <a:off x="11258550" y="2819400"/>
            <a:ext cx="190500" cy="190500"/>
          </a:xfrm>
          <a:prstGeom prst="ellipse">
            <a:avLst/>
          </a:prstGeom>
          <a:solidFill>
            <a:srgbClr val="B0AAFF"/>
          </a:solidFill>
          <a:ln>
            <a:noFill/>
          </a:ln>
        </p:spPr>
      </p:sp>
      <p:sp>
        <p:nvSpPr>
          <p:cNvPr id="54" name="dg path"/>
          <p:cNvSpPr/>
          <p:nvPr/>
        </p:nvSpPr>
        <p:spPr>
          <a:xfrm flipV="1">
            <a:off x="10934700" y="2915989"/>
            <a:ext cx="284958" cy="398711"/>
          </a:xfrm>
          <a:prstGeom prst="line">
            <a:avLst/>
          </a:prstGeom>
          <a:noFill/>
          <a:ln w="17145" cap="rnd">
            <a:solidFill>
              <a:srgbClr val="B0AAFF"/>
            </a:solidFill>
            <a:miter lim="800000"/>
            <a:tailEnd type="triangle" w="lg" len="lg"/>
          </a:ln>
        </p:spPr>
      </p:sp>
      <p:sp>
        <p:nvSpPr>
          <p:cNvPr id="55" name="dg circle"/>
          <p:cNvSpPr/>
          <p:nvPr/>
        </p:nvSpPr>
        <p:spPr>
          <a:xfrm>
            <a:off x="11258550" y="3219450"/>
            <a:ext cx="190500" cy="190500"/>
          </a:xfrm>
          <a:prstGeom prst="ellipse">
            <a:avLst/>
          </a:prstGeom>
          <a:solidFill>
            <a:srgbClr val="B0AAFF"/>
          </a:solidFill>
          <a:ln>
            <a:noFill/>
          </a:ln>
        </p:spPr>
      </p:sp>
      <p:sp>
        <p:nvSpPr>
          <p:cNvPr id="56" name="dg path"/>
          <p:cNvSpPr/>
          <p:nvPr/>
        </p:nvSpPr>
        <p:spPr>
          <a:xfrm>
            <a:off x="10934700" y="3314700"/>
            <a:ext cx="283845" cy="0"/>
          </a:xfrm>
          <a:prstGeom prst="line">
            <a:avLst/>
          </a:prstGeom>
          <a:noFill/>
          <a:ln w="17145" cap="rnd">
            <a:solidFill>
              <a:srgbClr val="B0AAFF"/>
            </a:solidFill>
            <a:miter lim="800000"/>
            <a:tailEnd type="triangle" w="lg" len="lg"/>
          </a:ln>
        </p:spPr>
      </p:sp>
      <p:sp>
        <p:nvSpPr>
          <p:cNvPr id="57" name="dg circle"/>
          <p:cNvSpPr/>
          <p:nvPr/>
        </p:nvSpPr>
        <p:spPr>
          <a:xfrm>
            <a:off x="11258550" y="3619500"/>
            <a:ext cx="190500" cy="190500"/>
          </a:xfrm>
          <a:prstGeom prst="ellipse">
            <a:avLst/>
          </a:prstGeom>
          <a:solidFill>
            <a:srgbClr val="B0AAFF"/>
          </a:solidFill>
          <a:ln>
            <a:noFill/>
          </a:ln>
        </p:spPr>
      </p:sp>
      <p:sp>
        <p:nvSpPr>
          <p:cNvPr id="58" name="dg path"/>
          <p:cNvSpPr/>
          <p:nvPr/>
        </p:nvSpPr>
        <p:spPr>
          <a:xfrm>
            <a:off x="10934700" y="3314700"/>
            <a:ext cx="284958" cy="398711"/>
          </a:xfrm>
          <a:prstGeom prst="line">
            <a:avLst/>
          </a:prstGeom>
          <a:noFill/>
          <a:ln w="17145" cap="rnd">
            <a:solidFill>
              <a:srgbClr val="B0AAFF"/>
            </a:solidFill>
            <a:miter lim="800000"/>
            <a:tailEnd type="triangle" w="lg" len="lg"/>
          </a:ln>
        </p:spPr>
      </p:sp>
      <p:sp>
        <p:nvSpPr>
          <p:cNvPr id="59" name="Text Magentic"/>
          <p:cNvSpPr txBox="1"/>
          <p:nvPr/>
        </p:nvSpPr>
        <p:spPr>
          <a:xfrm>
            <a:off x="10238482" y="4333875"/>
            <a:ext cx="973336" cy="266700"/>
          </a:xfrm>
          <a:prstGeom prst="rect">
            <a:avLst/>
          </a:prstGeom>
          <a:noFill/>
          <a:ln/>
        </p:spPr>
        <p:txBody>
          <a:bodyPr wrap="none" lIns="0" tIns="0" rIns="0" bIns="0" rtlCol="0" anchor="ctr"/>
          <a:lstStyle/>
          <a:p>
            <a:pPr algn="ctr" indent="0" marL="0">
              <a:buNone/>
            </a:pPr>
            <a:r>
              <a:rPr lang="en-US" sz="1725" b="1" dirty="0">
                <a:solidFill>
                  <a:srgbClr val="FFFFFF"/>
                </a:solidFill>
                <a:latin typeface="Scotia" pitchFamily="34" charset="0"/>
                <a:ea typeface="Scotia" pitchFamily="34" charset="-122"/>
                <a:cs typeface="Scotia" pitchFamily="34" charset="-120"/>
              </a:rPr>
              <a:t>Magentic</a:t>
            </a:r>
            <a:endParaRPr lang="en-US" sz="1725" dirty="0"/>
          </a:p>
        </p:txBody>
      </p:sp>
      <p:sp>
        <p:nvSpPr>
          <p:cNvPr id="60" name="Text Five Multi-Agent Orchestration"/>
          <p:cNvSpPr txBox="1"/>
          <p:nvPr/>
        </p:nvSpPr>
        <p:spPr>
          <a:xfrm>
            <a:off x="400050" y="475926"/>
            <a:ext cx="7237214"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Five Multi-Agent Orchestration Patterns</a:t>
            </a:r>
            <a:endParaRPr lang="en-US" sz="3067" dirty="0"/>
          </a:p>
        </p:txBody>
      </p:sp>
      <p:sp>
        <p:nvSpPr>
          <p:cNvPr id="61" name="Text Same agents five different wa"/>
          <p:cNvSpPr txBox="1"/>
          <p:nvPr/>
        </p:nvSpPr>
        <p:spPr>
          <a:xfrm>
            <a:off x="400050" y="1025625"/>
            <a:ext cx="4499223"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Same agents, five different ways to coordinate them.</a:t>
            </a:r>
            <a:endParaRPr lang="en-US" sz="1467" dirty="0"/>
          </a:p>
        </p:txBody>
      </p:sp>
      <p:sp>
        <p:nvSpPr>
          <p:cNvPr id="62"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63" name="Text 10"/>
          <p:cNvSpPr txBox="1"/>
          <p:nvPr/>
        </p:nvSpPr>
        <p:spPr>
          <a:xfrm>
            <a:off x="11618714" y="6306483"/>
            <a:ext cx="163711"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823"/>
        </a:solidFill>
      </p:bgPr>
    </p:bg>
    <p:spTree>
      <p:nvGrpSpPr>
        <p:cNvPr id="1" name=""/>
        <p:cNvGrpSpPr/>
        <p:nvPr/>
      </p:nvGrpSpPr>
      <p:grpSpPr>
        <a:xfrm>
          <a:off x="0" y="0"/>
          <a:ext cx="0" cy="0"/>
          <a:chOff x="0" y="0"/>
          <a:chExt cx="0" cy="0"/>
        </a:xfrm>
      </p:grpSpPr>
      <p:sp>
        <p:nvSpPr>
          <p:cNvPr id="2" name="dg circle"/>
          <p:cNvSpPr/>
          <p:nvPr/>
        </p:nvSpPr>
        <p:spPr>
          <a:xfrm>
            <a:off x="10896600" y="609600"/>
            <a:ext cx="114300" cy="114300"/>
          </a:xfrm>
          <a:prstGeom prst="ellipse">
            <a:avLst/>
          </a:prstGeom>
          <a:solidFill>
            <a:srgbClr val="6551FF"/>
          </a:solidFill>
          <a:ln w="14288" cap="flat">
            <a:solidFill>
              <a:srgbClr val="6551FF"/>
            </a:solidFill>
            <a:miter lim="800000"/>
          </a:ln>
        </p:spPr>
      </p:sp>
      <p:sp>
        <p:nvSpPr>
          <p:cNvPr id="3" name="dg circle"/>
          <p:cNvSpPr/>
          <p:nvPr/>
        </p:nvSpPr>
        <p:spPr>
          <a:xfrm>
            <a:off x="11120438" y="623888"/>
            <a:ext cx="85725" cy="85725"/>
          </a:xfrm>
          <a:prstGeom prst="ellipse">
            <a:avLst/>
          </a:prstGeom>
          <a:noFill/>
          <a:ln w="14288" cap="flat">
            <a:solidFill>
              <a:srgbClr val="B0AAFF"/>
            </a:solidFill>
            <a:miter lim="800000"/>
          </a:ln>
        </p:spPr>
      </p:sp>
      <p:sp>
        <p:nvSpPr>
          <p:cNvPr id="4" name="dg circle"/>
          <p:cNvSpPr/>
          <p:nvPr/>
        </p:nvSpPr>
        <p:spPr>
          <a:xfrm>
            <a:off x="11329988" y="623888"/>
            <a:ext cx="85725" cy="85725"/>
          </a:xfrm>
          <a:prstGeom prst="ellipse">
            <a:avLst/>
          </a:prstGeom>
          <a:noFill/>
          <a:ln w="14288" cap="flat">
            <a:solidFill>
              <a:srgbClr val="B0AAFF"/>
            </a:solidFill>
            <a:miter lim="800000"/>
          </a:ln>
        </p:spPr>
      </p:sp>
      <p:sp>
        <p:nvSpPr>
          <p:cNvPr id="5" name="dg circle"/>
          <p:cNvSpPr/>
          <p:nvPr/>
        </p:nvSpPr>
        <p:spPr>
          <a:xfrm>
            <a:off x="11539538" y="623888"/>
            <a:ext cx="85725" cy="85725"/>
          </a:xfrm>
          <a:prstGeom prst="ellipse">
            <a:avLst/>
          </a:prstGeom>
          <a:noFill/>
          <a:ln w="14288" cap="flat">
            <a:solidFill>
              <a:srgbClr val="B0AAFF"/>
            </a:solidFill>
            <a:miter lim="800000"/>
          </a:ln>
        </p:spPr>
      </p:sp>
      <p:sp>
        <p:nvSpPr>
          <p:cNvPr id="6" name="dg circle"/>
          <p:cNvSpPr/>
          <p:nvPr/>
        </p:nvSpPr>
        <p:spPr>
          <a:xfrm>
            <a:off x="11749088" y="623888"/>
            <a:ext cx="85725" cy="85725"/>
          </a:xfrm>
          <a:prstGeom prst="ellipse">
            <a:avLst/>
          </a:prstGeom>
          <a:noFill/>
          <a:ln w="14288" cap="flat">
            <a:solidFill>
              <a:srgbClr val="B0AAFF"/>
            </a:solidFill>
            <a:miter lim="800000"/>
          </a:ln>
        </p:spPr>
      </p:sp>
      <p:sp>
        <p:nvSpPr>
          <p:cNvPr id="7" name="dg polygon"/>
          <p:cNvSpPr/>
          <p:nvPr/>
        </p:nvSpPr>
        <p:spPr>
          <a:xfrm>
            <a:off x="400050" y="2276475"/>
            <a:ext cx="1066800" cy="609600"/>
          </a:xfrm>
          <a:custGeom>
            <a:avLst/>
            <a:gdLst/>
            <a:ahLst/>
            <a:cxnLst/>
            <a:rect l="l" t="t" r="r" b="b"/>
            <a:pathLst>
              <a:path w="1066800" h="609600">
                <a:moveTo>
                  <a:pt x="133350" y="0"/>
                </a:moveTo>
                <a:lnTo>
                  <a:pt x="1066800" y="0"/>
                </a:lnTo>
                <a:lnTo>
                  <a:pt x="933450" y="609600"/>
                </a:lnTo>
                <a:lnTo>
                  <a:pt x="0" y="609600"/>
                </a:lnTo>
                <a:close/>
              </a:path>
            </a:pathLst>
          </a:custGeom>
          <a:gradFill rotWithShape="1">
            <a:gsLst>
              <a:gs pos="0">
                <a:srgbClr val="7B69FF"/>
              </a:gs>
              <a:gs pos="100000">
                <a:srgbClr val="5141D3"/>
              </a:gs>
            </a:gsLst>
            <a:lin ang="2700000" scaled="1"/>
          </a:gradFill>
          <a:ln>
            <a:noFill/>
          </a:ln>
        </p:spPr>
      </p:sp>
      <p:sp>
        <p:nvSpPr>
          <p:cNvPr id="8" name="Text Input"/>
          <p:cNvSpPr txBox="1"/>
          <p:nvPr/>
        </p:nvSpPr>
        <p:spPr>
          <a:xfrm>
            <a:off x="702320" y="2428875"/>
            <a:ext cx="462260"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Input</a:t>
            </a:r>
            <a:endParaRPr lang="en-US" sz="1275" dirty="0"/>
          </a:p>
        </p:txBody>
      </p:sp>
      <p:sp>
        <p:nvSpPr>
          <p:cNvPr id="9" name="Text task"/>
          <p:cNvSpPr txBox="1"/>
          <p:nvPr/>
        </p:nvSpPr>
        <p:spPr>
          <a:xfrm>
            <a:off x="777404" y="2647950"/>
            <a:ext cx="312093" cy="152400"/>
          </a:xfrm>
          <a:prstGeom prst="rect">
            <a:avLst/>
          </a:prstGeom>
          <a:noFill/>
          <a:ln/>
        </p:spPr>
        <p:txBody>
          <a:bodyPr wrap="none" lIns="0" tIns="0" rIns="0" bIns="0" rtlCol="0" anchor="ctr"/>
          <a:lstStyle/>
          <a:p>
            <a:pPr algn="ctr" indent="0" marL="0">
              <a:buNone/>
            </a:pPr>
            <a:r>
              <a:rPr lang="en-US" sz="1050" dirty="0">
                <a:solidFill>
                  <a:srgbClr val="FFFFFF"/>
                </a:solidFill>
                <a:latin typeface="Scotia Serif" pitchFamily="34" charset="0"/>
                <a:ea typeface="Scotia Serif" pitchFamily="34" charset="-122"/>
                <a:cs typeface="Scotia Serif" pitchFamily="34" charset="-120"/>
              </a:rPr>
              <a:t>task</a:t>
            </a:r>
            <a:endParaRPr lang="en-US" sz="1050" dirty="0"/>
          </a:p>
        </p:txBody>
      </p:sp>
      <p:sp>
        <p:nvSpPr>
          <p:cNvPr id="10" name="dg rect"/>
          <p:cNvSpPr/>
          <p:nvPr/>
        </p:nvSpPr>
        <p:spPr>
          <a:xfrm>
            <a:off x="1733550" y="1866900"/>
            <a:ext cx="1828800" cy="1428750"/>
          </a:xfrm>
          <a:prstGeom prst="roundRect">
            <a:avLst>
              <a:gd name="adj" fmla="val 12000"/>
            </a:avLst>
          </a:prstGeom>
          <a:gradFill rotWithShape="1">
            <a:gsLst>
              <a:gs pos="0">
                <a:srgbClr val="1A1550"/>
              </a:gs>
              <a:gs pos="100000">
                <a:srgbClr val="120E36"/>
              </a:gs>
            </a:gsLst>
            <a:lin ang="5400000" scaled="1"/>
          </a:gradFill>
          <a:ln w="13335" cap="flat">
            <a:solidFill>
              <a:srgbClr val="3B3392"/>
            </a:solidFill>
            <a:miter lim="800000"/>
          </a:ln>
        </p:spPr>
      </p:sp>
      <p:sp>
        <p:nvSpPr>
          <p:cNvPr id="11" name="dg circle"/>
          <p:cNvSpPr/>
          <p:nvPr/>
        </p:nvSpPr>
        <p:spPr>
          <a:xfrm>
            <a:off x="1905000" y="2000250"/>
            <a:ext cx="381000" cy="381000"/>
          </a:xfrm>
          <a:prstGeom prst="ellipse">
            <a:avLst/>
          </a:prstGeom>
          <a:solidFill>
            <a:srgbClr val="6551FF"/>
          </a:solidFill>
          <a:ln>
            <a:noFill/>
          </a:ln>
        </p:spPr>
      </p:sp>
      <p:sp>
        <p:nvSpPr>
          <p:cNvPr id="12" name="dg i-bot"/>
          <p:cNvSpPr/>
          <p:nvPr/>
        </p:nvSpPr>
        <p:spPr>
          <a:xfrm>
            <a:off x="2016125" y="212725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13" name="Text Agent 1"/>
          <p:cNvSpPr txBox="1"/>
          <p:nvPr/>
        </p:nvSpPr>
        <p:spPr>
          <a:xfrm>
            <a:off x="2400300" y="2105025"/>
            <a:ext cx="707529" cy="228600"/>
          </a:xfrm>
          <a:prstGeom prst="rect">
            <a:avLst/>
          </a:prstGeom>
          <a:noFill/>
          <a:ln/>
        </p:spPr>
        <p:txBody>
          <a:bodyPr wrap="none" lIns="0" tIns="0" rIns="0" bIns="0" rtlCol="0" anchor="ctr"/>
          <a:lstStyle/>
          <a:p>
            <a:pPr algn="l" indent="0" marL="0">
              <a:buNone/>
            </a:pPr>
            <a:r>
              <a:rPr lang="en-US" sz="1500" b="1" dirty="0">
                <a:solidFill>
                  <a:srgbClr val="FFFFFF"/>
                </a:solidFill>
                <a:latin typeface="Scotia" pitchFamily="34" charset="0"/>
                <a:ea typeface="Scotia" pitchFamily="34" charset="-122"/>
                <a:cs typeface="Scotia" pitchFamily="34" charset="-120"/>
              </a:rPr>
              <a:t>Agent 1</a:t>
            </a:r>
            <a:endParaRPr lang="en-US" sz="1500" dirty="0"/>
          </a:p>
        </p:txBody>
      </p:sp>
      <p:sp>
        <p:nvSpPr>
          <p:cNvPr id="14" name="dg line"/>
          <p:cNvSpPr/>
          <p:nvPr/>
        </p:nvSpPr>
        <p:spPr>
          <a:xfrm>
            <a:off x="1924050" y="2419350"/>
            <a:ext cx="1447800" cy="0"/>
          </a:xfrm>
          <a:prstGeom prst="line">
            <a:avLst/>
          </a:prstGeom>
          <a:noFill/>
          <a:ln w="9525" cap="flat">
            <a:solidFill>
              <a:srgbClr val="BDC2EF">
                <a:alpha val="18000"/>
              </a:srgbClr>
            </a:solidFill>
            <a:miter lim="800000"/>
          </a:ln>
        </p:spPr>
      </p:sp>
      <p:sp>
        <p:nvSpPr>
          <p:cNvPr id="15" name="dg i-brain"/>
          <p:cNvSpPr/>
          <p:nvPr/>
        </p:nvSpPr>
        <p:spPr>
          <a:xfrm>
            <a:off x="1975738" y="2584907"/>
            <a:ext cx="144274" cy="145661"/>
          </a:xfrm>
          <a:custGeom>
            <a:avLst/>
            <a:gdLst/>
            <a:ahLst/>
            <a:cxnLst/>
            <a:rect l="l" t="t" r="r" b="b"/>
            <a:pathLst>
              <a:path w="144274" h="145661">
                <a:moveTo>
                  <a:pt x="72137" y="22562"/>
                </a:moveTo>
                <a:cubicBezTo>
                  <a:pt x="72160" y="14784"/>
                  <a:pt x="67967" y="7604"/>
                  <a:pt x="61181" y="3802"/>
                </a:cubicBezTo>
                <a:cubicBezTo>
                  <a:pt x="54395" y="0"/>
                  <a:pt x="46082" y="173"/>
                  <a:pt x="39461" y="4255"/>
                </a:cubicBezTo>
                <a:cubicBezTo>
                  <a:pt x="32839" y="8336"/>
                  <a:pt x="28949" y="15684"/>
                  <a:pt x="29296" y="23455"/>
                </a:cubicBezTo>
                <a:cubicBezTo>
                  <a:pt x="20788" y="25642"/>
                  <a:pt x="13758" y="31622"/>
                  <a:pt x="10235" y="39670"/>
                </a:cubicBezTo>
                <a:cubicBezTo>
                  <a:pt x="6712" y="47718"/>
                  <a:pt x="7087" y="56939"/>
                  <a:pt x="11251" y="64674"/>
                </a:cubicBezTo>
                <a:cubicBezTo>
                  <a:pt x="3914" y="70634"/>
                  <a:pt x="0" y="79837"/>
                  <a:pt x="795" y="89256"/>
                </a:cubicBezTo>
                <a:cubicBezTo>
                  <a:pt x="1590" y="98675"/>
                  <a:pt x="6991" y="107091"/>
                  <a:pt x="15223" y="111737"/>
                </a:cubicBezTo>
                <a:cubicBezTo>
                  <a:pt x="13858" y="122293"/>
                  <a:pt x="18474" y="132733"/>
                  <a:pt x="27201" y="138827"/>
                </a:cubicBezTo>
                <a:cubicBezTo>
                  <a:pt x="35927" y="144922"/>
                  <a:pt x="47317" y="145661"/>
                  <a:pt x="56758" y="140745"/>
                </a:cubicBezTo>
                <a:cubicBezTo>
                  <a:pt x="66199" y="135830"/>
                  <a:pt x="72126" y="126074"/>
                  <a:pt x="72137" y="115431"/>
                </a:cubicBezTo>
                <a:close/>
                <a:moveTo>
                  <a:pt x="72137" y="22562"/>
                </a:moveTo>
                <a:cubicBezTo>
                  <a:pt x="72114" y="14784"/>
                  <a:pt x="76307" y="7604"/>
                  <a:pt x="83093" y="3802"/>
                </a:cubicBezTo>
                <a:cubicBezTo>
                  <a:pt x="89879" y="0"/>
                  <a:pt x="98192" y="173"/>
                  <a:pt x="104813" y="4255"/>
                </a:cubicBezTo>
                <a:cubicBezTo>
                  <a:pt x="111435" y="8336"/>
                  <a:pt x="115325" y="15684"/>
                  <a:pt x="114978" y="23455"/>
                </a:cubicBezTo>
                <a:cubicBezTo>
                  <a:pt x="123486" y="25642"/>
                  <a:pt x="130516" y="31622"/>
                  <a:pt x="134039" y="39670"/>
                </a:cubicBezTo>
                <a:cubicBezTo>
                  <a:pt x="137562" y="47718"/>
                  <a:pt x="137187" y="56939"/>
                  <a:pt x="133023" y="64674"/>
                </a:cubicBezTo>
                <a:cubicBezTo>
                  <a:pt x="140360" y="70634"/>
                  <a:pt x="144274" y="79837"/>
                  <a:pt x="143479" y="89256"/>
                </a:cubicBezTo>
                <a:cubicBezTo>
                  <a:pt x="142684" y="98675"/>
                  <a:pt x="137283" y="107091"/>
                  <a:pt x="129051" y="111737"/>
                </a:cubicBezTo>
                <a:cubicBezTo>
                  <a:pt x="130416" y="122293"/>
                  <a:pt x="125800" y="132733"/>
                  <a:pt x="117073" y="138827"/>
                </a:cubicBezTo>
                <a:cubicBezTo>
                  <a:pt x="108347" y="144922"/>
                  <a:pt x="96956" y="145661"/>
                  <a:pt x="87516" y="140745"/>
                </a:cubicBezTo>
                <a:cubicBezTo>
                  <a:pt x="78075" y="135830"/>
                  <a:pt x="72148" y="126074"/>
                  <a:pt x="72137" y="115431"/>
                </a:cubicBezTo>
                <a:close/>
                <a:moveTo>
                  <a:pt x="93568" y="79712"/>
                </a:moveTo>
                <a:cubicBezTo>
                  <a:pt x="81303" y="75397"/>
                  <a:pt x="72845" y="64119"/>
                  <a:pt x="72137" y="51137"/>
                </a:cubicBezTo>
                <a:cubicBezTo>
                  <a:pt x="71429" y="64119"/>
                  <a:pt x="62971" y="75397"/>
                  <a:pt x="50706" y="79712"/>
                </a:cubicBezTo>
                <a:moveTo>
                  <a:pt x="112135" y="33277"/>
                </a:moveTo>
                <a:cubicBezTo>
                  <a:pt x="113864" y="30281"/>
                  <a:pt x="114842" y="26911"/>
                  <a:pt x="114985" y="23455"/>
                </a:cubicBezTo>
                <a:moveTo>
                  <a:pt x="29296" y="23455"/>
                </a:moveTo>
                <a:cubicBezTo>
                  <a:pt x="29437" y="26910"/>
                  <a:pt x="30413" y="30281"/>
                  <a:pt x="32139" y="33277"/>
                </a:cubicBezTo>
                <a:moveTo>
                  <a:pt x="11251" y="64681"/>
                </a:moveTo>
                <a:cubicBezTo>
                  <a:pt x="12558" y="63617"/>
                  <a:pt x="13956" y="62670"/>
                  <a:pt x="15430" y="61852"/>
                </a:cubicBezTo>
                <a:moveTo>
                  <a:pt x="128844" y="61852"/>
                </a:moveTo>
                <a:cubicBezTo>
                  <a:pt x="130318" y="62670"/>
                  <a:pt x="131716" y="63617"/>
                  <a:pt x="133023" y="64681"/>
                </a:cubicBezTo>
                <a:moveTo>
                  <a:pt x="29274" y="115431"/>
                </a:moveTo>
                <a:cubicBezTo>
                  <a:pt x="24351" y="115433"/>
                  <a:pt x="19511" y="114163"/>
                  <a:pt x="15223" y="111744"/>
                </a:cubicBezTo>
                <a:moveTo>
                  <a:pt x="129051" y="111744"/>
                </a:moveTo>
                <a:cubicBezTo>
                  <a:pt x="124763" y="114163"/>
                  <a:pt x="119923" y="115433"/>
                  <a:pt x="114999" y="115431"/>
                </a:cubicBezTo>
              </a:path>
            </a:pathLst>
          </a:custGeom>
          <a:noFill/>
          <a:ln w="12859" cap="rnd">
            <a:solidFill>
              <a:srgbClr val="B0AAFF"/>
            </a:solidFill>
            <a:round/>
          </a:ln>
        </p:spPr>
      </p:sp>
      <p:sp>
        <p:nvSpPr>
          <p:cNvPr id="16" name="Text Model"/>
          <p:cNvSpPr txBox="1"/>
          <p:nvPr/>
        </p:nvSpPr>
        <p:spPr>
          <a:xfrm>
            <a:off x="2228850" y="2590800"/>
            <a:ext cx="438894"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Model</a:t>
            </a:r>
            <a:endParaRPr lang="en-US" sz="1088" dirty="0"/>
          </a:p>
        </p:txBody>
      </p:sp>
      <p:sp>
        <p:nvSpPr>
          <p:cNvPr id="17" name="dg i-book-open"/>
          <p:cNvSpPr/>
          <p:nvPr/>
        </p:nvSpPr>
        <p:spPr>
          <a:xfrm>
            <a:off x="1976438" y="2821781"/>
            <a:ext cx="142875" cy="128588"/>
          </a:xfrm>
          <a:custGeom>
            <a:avLst/>
            <a:gdLst/>
            <a:ahLst/>
            <a:cxnLst/>
            <a:rect l="l" t="t" r="r" b="b"/>
            <a:pathLst>
              <a:path w="142875" h="128588">
                <a:moveTo>
                  <a:pt x="71438" y="28575"/>
                </a:moveTo>
                <a:lnTo>
                  <a:pt x="71438" y="128588"/>
                </a:lnTo>
                <a:moveTo>
                  <a:pt x="7144" y="107156"/>
                </a:moveTo>
                <a:cubicBezTo>
                  <a:pt x="3198" y="107156"/>
                  <a:pt x="0" y="103958"/>
                  <a:pt x="0" y="100013"/>
                </a:cubicBezTo>
                <a:lnTo>
                  <a:pt x="0" y="7144"/>
                </a:lnTo>
                <a:cubicBezTo>
                  <a:pt x="0" y="3198"/>
                  <a:pt x="3198" y="0"/>
                  <a:pt x="7144" y="0"/>
                </a:cubicBezTo>
                <a:lnTo>
                  <a:pt x="42863" y="0"/>
                </a:lnTo>
                <a:cubicBezTo>
                  <a:pt x="58644" y="0"/>
                  <a:pt x="71438" y="12793"/>
                  <a:pt x="71438" y="28575"/>
                </a:cubicBezTo>
                <a:cubicBezTo>
                  <a:pt x="71438" y="12793"/>
                  <a:pt x="84231" y="0"/>
                  <a:pt x="100013" y="0"/>
                </a:cubicBezTo>
                <a:lnTo>
                  <a:pt x="135731" y="0"/>
                </a:lnTo>
                <a:cubicBezTo>
                  <a:pt x="139677" y="0"/>
                  <a:pt x="142875" y="3198"/>
                  <a:pt x="142875" y="7144"/>
                </a:cubicBezTo>
                <a:lnTo>
                  <a:pt x="142875" y="100013"/>
                </a:lnTo>
                <a:cubicBezTo>
                  <a:pt x="142875" y="103958"/>
                  <a:pt x="139677" y="107156"/>
                  <a:pt x="135731" y="107156"/>
                </a:cubicBezTo>
                <a:lnTo>
                  <a:pt x="92869" y="107156"/>
                </a:lnTo>
                <a:cubicBezTo>
                  <a:pt x="81033" y="107156"/>
                  <a:pt x="71438" y="116751"/>
                  <a:pt x="71438" y="128588"/>
                </a:cubicBezTo>
                <a:cubicBezTo>
                  <a:pt x="71438" y="116751"/>
                  <a:pt x="61842" y="107156"/>
                  <a:pt x="50006" y="107156"/>
                </a:cubicBezTo>
                <a:close/>
              </a:path>
            </a:pathLst>
          </a:custGeom>
          <a:noFill/>
          <a:ln w="12859" cap="rnd">
            <a:solidFill>
              <a:srgbClr val="B0AAFF"/>
            </a:solidFill>
            <a:round/>
          </a:ln>
        </p:spPr>
      </p:sp>
      <p:sp>
        <p:nvSpPr>
          <p:cNvPr id="18" name="Text Knowledge"/>
          <p:cNvSpPr txBox="1"/>
          <p:nvPr/>
        </p:nvSpPr>
        <p:spPr>
          <a:xfrm>
            <a:off x="2228850" y="2819400"/>
            <a:ext cx="731639"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Knowledge</a:t>
            </a:r>
            <a:endParaRPr lang="en-US" sz="1088" dirty="0"/>
          </a:p>
        </p:txBody>
      </p:sp>
      <p:sp>
        <p:nvSpPr>
          <p:cNvPr id="19" name="dg i-wrench"/>
          <p:cNvSpPr/>
          <p:nvPr/>
        </p:nvSpPr>
        <p:spPr>
          <a:xfrm>
            <a:off x="1982092" y="3039668"/>
            <a:ext cx="140789" cy="140789"/>
          </a:xfrm>
          <a:custGeom>
            <a:avLst/>
            <a:gdLst/>
            <a:ahLst/>
            <a:cxnLst/>
            <a:rect l="l" t="t" r="r" b="b"/>
            <a:pathLst>
              <a:path w="140789" h="140789">
                <a:moveTo>
                  <a:pt x="85071" y="34287"/>
                </a:moveTo>
                <a:cubicBezTo>
                  <a:pt x="82348" y="37065"/>
                  <a:pt x="82348" y="41511"/>
                  <a:pt x="85071" y="44288"/>
                </a:cubicBezTo>
                <a:lnTo>
                  <a:pt x="96501" y="55718"/>
                </a:lnTo>
                <a:cubicBezTo>
                  <a:pt x="99279" y="58441"/>
                  <a:pt x="103724" y="58441"/>
                  <a:pt x="106502" y="55718"/>
                </a:cubicBezTo>
                <a:lnTo>
                  <a:pt x="133434" y="28786"/>
                </a:lnTo>
                <a:cubicBezTo>
                  <a:pt x="140789" y="45040"/>
                  <a:pt x="137307" y="64151"/>
                  <a:pt x="124692" y="76766"/>
                </a:cubicBezTo>
                <a:cubicBezTo>
                  <a:pt x="112077" y="89381"/>
                  <a:pt x="92967" y="92863"/>
                  <a:pt x="76713" y="85508"/>
                </a:cubicBezTo>
                <a:lnTo>
                  <a:pt x="27349" y="134871"/>
                </a:lnTo>
                <a:cubicBezTo>
                  <a:pt x="21431" y="140789"/>
                  <a:pt x="11836" y="140789"/>
                  <a:pt x="5918" y="134871"/>
                </a:cubicBezTo>
                <a:cubicBezTo>
                  <a:pt x="0" y="128953"/>
                  <a:pt x="0" y="119358"/>
                  <a:pt x="5918" y="113440"/>
                </a:cubicBezTo>
                <a:lnTo>
                  <a:pt x="55281" y="64077"/>
                </a:lnTo>
                <a:cubicBezTo>
                  <a:pt x="47926" y="47823"/>
                  <a:pt x="51408" y="28712"/>
                  <a:pt x="64023" y="16097"/>
                </a:cubicBezTo>
                <a:cubicBezTo>
                  <a:pt x="76639" y="3482"/>
                  <a:pt x="95749" y="0"/>
                  <a:pt x="112003" y="7355"/>
                </a:cubicBezTo>
                <a:lnTo>
                  <a:pt x="85142" y="34216"/>
                </a:lnTo>
                <a:close/>
              </a:path>
            </a:pathLst>
          </a:custGeom>
          <a:noFill/>
          <a:ln w="12859" cap="rnd">
            <a:solidFill>
              <a:srgbClr val="B0AAFF"/>
            </a:solidFill>
            <a:round/>
          </a:ln>
        </p:spPr>
      </p:sp>
      <p:sp>
        <p:nvSpPr>
          <p:cNvPr id="20" name="Text Tools"/>
          <p:cNvSpPr txBox="1"/>
          <p:nvPr/>
        </p:nvSpPr>
        <p:spPr>
          <a:xfrm>
            <a:off x="2228850" y="3048000"/>
            <a:ext cx="380851"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Tools</a:t>
            </a:r>
            <a:endParaRPr lang="en-US" sz="1088" dirty="0"/>
          </a:p>
        </p:txBody>
      </p:sp>
      <p:sp>
        <p:nvSpPr>
          <p:cNvPr id="21" name="dg rect"/>
          <p:cNvSpPr/>
          <p:nvPr/>
        </p:nvSpPr>
        <p:spPr>
          <a:xfrm>
            <a:off x="2105025" y="3543300"/>
            <a:ext cx="800100" cy="323850"/>
          </a:xfrm>
          <a:prstGeom prst="roundRect">
            <a:avLst>
              <a:gd name="adj" fmla="val 38462"/>
            </a:avLst>
          </a:prstGeom>
          <a:solidFill>
            <a:srgbClr val="337EFF">
              <a:alpha val="22000"/>
            </a:srgbClr>
          </a:solidFill>
          <a:ln w="13335" cap="flat">
            <a:solidFill>
              <a:srgbClr val="337EFF"/>
            </a:solidFill>
            <a:miter lim="800000"/>
          </a:ln>
        </p:spPr>
      </p:sp>
      <p:sp>
        <p:nvSpPr>
          <p:cNvPr id="22" name="dg i-cloud"/>
          <p:cNvSpPr/>
          <p:nvPr/>
        </p:nvSpPr>
        <p:spPr>
          <a:xfrm>
            <a:off x="2212329" y="36512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23" name="Text MCP"/>
          <p:cNvSpPr txBox="1"/>
          <p:nvPr/>
        </p:nvSpPr>
        <p:spPr>
          <a:xfrm>
            <a:off x="2428875" y="3652838"/>
            <a:ext cx="306884"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MCP</a:t>
            </a:r>
            <a:endParaRPr lang="en-US" sz="938" dirty="0"/>
          </a:p>
        </p:txBody>
      </p:sp>
      <p:sp>
        <p:nvSpPr>
          <p:cNvPr id="24" name="dg path"/>
          <p:cNvSpPr/>
          <p:nvPr/>
        </p:nvSpPr>
        <p:spPr>
          <a:xfrm>
            <a:off x="2505075" y="3324225"/>
            <a:ext cx="0" cy="209550"/>
          </a:xfrm>
          <a:prstGeom prst="line">
            <a:avLst/>
          </a:prstGeom>
          <a:noFill/>
          <a:ln w="17145" cap="rnd">
            <a:solidFill>
              <a:srgbClr val="337EFF">
                <a:alpha val="90000"/>
              </a:srgbClr>
            </a:solidFill>
            <a:custDash>
              <a:ds d="222222" sp="277778"/>
            </a:custDash>
            <a:miter lim="800000"/>
          </a:ln>
        </p:spPr>
      </p:sp>
      <p:sp>
        <p:nvSpPr>
          <p:cNvPr id="25" name="dg circle"/>
          <p:cNvSpPr/>
          <p:nvPr/>
        </p:nvSpPr>
        <p:spPr>
          <a:xfrm>
            <a:off x="2471738" y="3290888"/>
            <a:ext cx="66675" cy="66675"/>
          </a:xfrm>
          <a:prstGeom prst="ellipse">
            <a:avLst/>
          </a:prstGeom>
          <a:solidFill>
            <a:srgbClr val="337EFF"/>
          </a:solidFill>
          <a:ln>
            <a:noFill/>
          </a:ln>
        </p:spPr>
      </p:sp>
      <p:sp>
        <p:nvSpPr>
          <p:cNvPr id="26" name="dg path"/>
          <p:cNvSpPr/>
          <p:nvPr/>
        </p:nvSpPr>
        <p:spPr>
          <a:xfrm>
            <a:off x="1524000" y="2581275"/>
            <a:ext cx="150495" cy="0"/>
          </a:xfrm>
          <a:prstGeom prst="line">
            <a:avLst/>
          </a:prstGeom>
          <a:noFill/>
          <a:ln w="28575" cap="rnd">
            <a:solidFill>
              <a:srgbClr val="B0AAFF"/>
            </a:solidFill>
            <a:miter lim="800000"/>
            <a:tailEnd type="triangle" w="med" len="med"/>
          </a:ln>
        </p:spPr>
      </p:sp>
      <p:sp>
        <p:nvSpPr>
          <p:cNvPr id="27" name="Text MCP LAYER"/>
          <p:cNvSpPr txBox="1"/>
          <p:nvPr/>
        </p:nvSpPr>
        <p:spPr>
          <a:xfrm>
            <a:off x="400050" y="3390900"/>
            <a:ext cx="807541" cy="123825"/>
          </a:xfrm>
          <a:prstGeom prst="rect">
            <a:avLst/>
          </a:prstGeom>
          <a:noFill/>
          <a:ln/>
        </p:spPr>
        <p:txBody>
          <a:bodyPr wrap="none" lIns="0" tIns="0" rIns="0" bIns="0" rtlCol="0" anchor="ctr"/>
          <a:lstStyle/>
          <a:p>
            <a:pPr algn="l" indent="0" marL="0">
              <a:buNone/>
            </a:pPr>
            <a:r>
              <a:rPr lang="en-US" sz="863" b="1" spc="150" kern="0" dirty="0">
                <a:solidFill>
                  <a:srgbClr val="8FB4FF"/>
                </a:solidFill>
                <a:latin typeface="Scotia" pitchFamily="34" charset="0"/>
                <a:ea typeface="Scotia" pitchFamily="34" charset="-122"/>
                <a:cs typeface="Scotia" pitchFamily="34" charset="-120"/>
              </a:rPr>
              <a:t>MCP LAYER</a:t>
            </a:r>
            <a:endParaRPr lang="en-US" sz="863" dirty="0"/>
          </a:p>
        </p:txBody>
      </p:sp>
      <p:sp>
        <p:nvSpPr>
          <p:cNvPr id="28" name="Text each agent has its own"/>
          <p:cNvSpPr txBox="1"/>
          <p:nvPr/>
        </p:nvSpPr>
        <p:spPr>
          <a:xfrm>
            <a:off x="400050" y="3581400"/>
            <a:ext cx="1433513"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each agent has its own</a:t>
            </a:r>
            <a:endParaRPr lang="en-US" sz="1050" dirty="0"/>
          </a:p>
        </p:txBody>
      </p:sp>
      <p:sp>
        <p:nvSpPr>
          <p:cNvPr id="29" name="Text MCP connections"/>
          <p:cNvSpPr txBox="1"/>
          <p:nvPr/>
        </p:nvSpPr>
        <p:spPr>
          <a:xfrm>
            <a:off x="400050" y="3762375"/>
            <a:ext cx="1127968"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MCP connections</a:t>
            </a:r>
            <a:endParaRPr lang="en-US" sz="1050" dirty="0"/>
          </a:p>
        </p:txBody>
      </p:sp>
      <p:sp>
        <p:nvSpPr>
          <p:cNvPr id="30" name="dg circle"/>
          <p:cNvSpPr/>
          <p:nvPr/>
        </p:nvSpPr>
        <p:spPr>
          <a:xfrm>
            <a:off x="400050" y="4819650"/>
            <a:ext cx="266700" cy="266700"/>
          </a:xfrm>
          <a:prstGeom prst="ellipse">
            <a:avLst/>
          </a:prstGeom>
          <a:solidFill>
            <a:srgbClr val="6551FF"/>
          </a:solidFill>
          <a:ln>
            <a:noFill/>
          </a:ln>
        </p:spPr>
      </p:sp>
      <p:sp>
        <p:nvSpPr>
          <p:cNvPr id="31" name="Text 1"/>
          <p:cNvSpPr txBox="1"/>
          <p:nvPr/>
        </p:nvSpPr>
        <p:spPr>
          <a:xfrm>
            <a:off x="474613" y="4896231"/>
            <a:ext cx="117574" cy="152400"/>
          </a:xfrm>
          <a:prstGeom prst="rect">
            <a:avLst/>
          </a:prstGeom>
          <a:noFill/>
          <a:ln/>
        </p:spPr>
        <p:txBody>
          <a:bodyPr wrap="none" lIns="0" tIns="0" rIns="0" bIns="0" rtlCol="0" anchor="ctr"/>
          <a:lstStyle/>
          <a:p>
            <a:pPr algn="ctr" indent="0" marL="0">
              <a:buNone/>
            </a:pPr>
            <a:r>
              <a:rPr lang="en-US" sz="1050" b="1" dirty="0">
                <a:solidFill>
                  <a:srgbClr val="FFFFFF"/>
                </a:solidFill>
                <a:latin typeface="Scotia" pitchFamily="34" charset="0"/>
                <a:ea typeface="Scotia" pitchFamily="34" charset="-122"/>
                <a:cs typeface="Scotia" pitchFamily="34" charset="-120"/>
              </a:rPr>
              <a:t>1</a:t>
            </a:r>
            <a:endParaRPr lang="en-US" sz="1050" dirty="0"/>
          </a:p>
        </p:txBody>
      </p:sp>
      <p:sp>
        <p:nvSpPr>
          <p:cNvPr id="32" name="Text Input enters Agent 1"/>
          <p:cNvSpPr txBox="1"/>
          <p:nvPr/>
        </p:nvSpPr>
        <p:spPr>
          <a:xfrm>
            <a:off x="781050" y="4886325"/>
            <a:ext cx="1506587"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Input enters Agent 1</a:t>
            </a:r>
            <a:endParaRPr lang="en-US" sz="1238" dirty="0"/>
          </a:p>
        </p:txBody>
      </p:sp>
      <p:sp>
        <p:nvSpPr>
          <p:cNvPr id="33" name="Text It reasons with its own model"/>
          <p:cNvSpPr txBox="1"/>
          <p:nvPr/>
        </p:nvSpPr>
        <p:spPr>
          <a:xfrm>
            <a:off x="781050" y="5114925"/>
            <a:ext cx="1883271"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It reasons with its own model,</a:t>
            </a:r>
            <a:endParaRPr lang="en-US" sz="1050" dirty="0"/>
          </a:p>
        </p:txBody>
      </p:sp>
      <p:sp>
        <p:nvSpPr>
          <p:cNvPr id="34" name="Text knowledge and tools."/>
          <p:cNvSpPr txBox="1"/>
          <p:nvPr/>
        </p:nvSpPr>
        <p:spPr>
          <a:xfrm>
            <a:off x="781050" y="5295900"/>
            <a:ext cx="1334244"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knowledge and tools.</a:t>
            </a:r>
            <a:endParaRPr lang="en-US" sz="1050" dirty="0"/>
          </a:p>
        </p:txBody>
      </p:sp>
      <p:sp>
        <p:nvSpPr>
          <p:cNvPr id="35" name="dg rect"/>
          <p:cNvSpPr/>
          <p:nvPr/>
        </p:nvSpPr>
        <p:spPr>
          <a:xfrm>
            <a:off x="3829050" y="1866900"/>
            <a:ext cx="1828800" cy="1428750"/>
          </a:xfrm>
          <a:prstGeom prst="roundRect">
            <a:avLst>
              <a:gd name="adj" fmla="val 12000"/>
            </a:avLst>
          </a:prstGeom>
          <a:gradFill rotWithShape="1">
            <a:gsLst>
              <a:gs pos="0">
                <a:srgbClr val="1A1550"/>
              </a:gs>
              <a:gs pos="100000">
                <a:srgbClr val="120E36"/>
              </a:gs>
            </a:gsLst>
            <a:lin ang="5400000" scaled="1"/>
          </a:gradFill>
          <a:ln w="13335" cap="flat">
            <a:solidFill>
              <a:srgbClr val="3B3392"/>
            </a:solidFill>
            <a:miter lim="800000"/>
          </a:ln>
        </p:spPr>
      </p:sp>
      <p:sp>
        <p:nvSpPr>
          <p:cNvPr id="36" name="dg circle"/>
          <p:cNvSpPr/>
          <p:nvPr/>
        </p:nvSpPr>
        <p:spPr>
          <a:xfrm>
            <a:off x="4000500" y="2000250"/>
            <a:ext cx="381000" cy="381000"/>
          </a:xfrm>
          <a:prstGeom prst="ellipse">
            <a:avLst/>
          </a:prstGeom>
          <a:solidFill>
            <a:srgbClr val="6551FF"/>
          </a:solidFill>
          <a:ln>
            <a:noFill/>
          </a:ln>
        </p:spPr>
      </p:sp>
      <p:sp>
        <p:nvSpPr>
          <p:cNvPr id="37" name="dg i-bot"/>
          <p:cNvSpPr/>
          <p:nvPr/>
        </p:nvSpPr>
        <p:spPr>
          <a:xfrm>
            <a:off x="4111625" y="212725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38" name="Text Agent 2"/>
          <p:cNvSpPr txBox="1"/>
          <p:nvPr/>
        </p:nvSpPr>
        <p:spPr>
          <a:xfrm>
            <a:off x="4495800" y="2105025"/>
            <a:ext cx="726132" cy="228600"/>
          </a:xfrm>
          <a:prstGeom prst="rect">
            <a:avLst/>
          </a:prstGeom>
          <a:noFill/>
          <a:ln/>
        </p:spPr>
        <p:txBody>
          <a:bodyPr wrap="none" lIns="0" tIns="0" rIns="0" bIns="0" rtlCol="0" anchor="ctr"/>
          <a:lstStyle/>
          <a:p>
            <a:pPr algn="l" indent="0" marL="0">
              <a:buNone/>
            </a:pPr>
            <a:r>
              <a:rPr lang="en-US" sz="1500" b="1" dirty="0">
                <a:solidFill>
                  <a:srgbClr val="FFFFFF"/>
                </a:solidFill>
                <a:latin typeface="Scotia" pitchFamily="34" charset="0"/>
                <a:ea typeface="Scotia" pitchFamily="34" charset="-122"/>
                <a:cs typeface="Scotia" pitchFamily="34" charset="-120"/>
              </a:rPr>
              <a:t>Agent 2</a:t>
            </a:r>
            <a:endParaRPr lang="en-US" sz="1500" dirty="0"/>
          </a:p>
        </p:txBody>
      </p:sp>
      <p:sp>
        <p:nvSpPr>
          <p:cNvPr id="39" name="dg line"/>
          <p:cNvSpPr/>
          <p:nvPr/>
        </p:nvSpPr>
        <p:spPr>
          <a:xfrm>
            <a:off x="4019550" y="2419350"/>
            <a:ext cx="1447800" cy="0"/>
          </a:xfrm>
          <a:prstGeom prst="line">
            <a:avLst/>
          </a:prstGeom>
          <a:noFill/>
          <a:ln w="9525" cap="flat">
            <a:solidFill>
              <a:srgbClr val="BDC2EF">
                <a:alpha val="18000"/>
              </a:srgbClr>
            </a:solidFill>
            <a:miter lim="800000"/>
          </a:ln>
        </p:spPr>
      </p:sp>
      <p:sp>
        <p:nvSpPr>
          <p:cNvPr id="40" name="dg i-brain"/>
          <p:cNvSpPr/>
          <p:nvPr/>
        </p:nvSpPr>
        <p:spPr>
          <a:xfrm>
            <a:off x="4071238" y="2584907"/>
            <a:ext cx="144274" cy="145661"/>
          </a:xfrm>
          <a:custGeom>
            <a:avLst/>
            <a:gdLst/>
            <a:ahLst/>
            <a:cxnLst/>
            <a:rect l="l" t="t" r="r" b="b"/>
            <a:pathLst>
              <a:path w="144274" h="145661">
                <a:moveTo>
                  <a:pt x="72137" y="22562"/>
                </a:moveTo>
                <a:cubicBezTo>
                  <a:pt x="72160" y="14784"/>
                  <a:pt x="67967" y="7604"/>
                  <a:pt x="61181" y="3802"/>
                </a:cubicBezTo>
                <a:cubicBezTo>
                  <a:pt x="54395" y="0"/>
                  <a:pt x="46082" y="173"/>
                  <a:pt x="39461" y="4255"/>
                </a:cubicBezTo>
                <a:cubicBezTo>
                  <a:pt x="32839" y="8336"/>
                  <a:pt x="28949" y="15684"/>
                  <a:pt x="29296" y="23455"/>
                </a:cubicBezTo>
                <a:cubicBezTo>
                  <a:pt x="20788" y="25642"/>
                  <a:pt x="13758" y="31622"/>
                  <a:pt x="10235" y="39670"/>
                </a:cubicBezTo>
                <a:cubicBezTo>
                  <a:pt x="6712" y="47718"/>
                  <a:pt x="7087" y="56939"/>
                  <a:pt x="11251" y="64674"/>
                </a:cubicBezTo>
                <a:cubicBezTo>
                  <a:pt x="3914" y="70634"/>
                  <a:pt x="0" y="79837"/>
                  <a:pt x="795" y="89256"/>
                </a:cubicBezTo>
                <a:cubicBezTo>
                  <a:pt x="1590" y="98675"/>
                  <a:pt x="6991" y="107091"/>
                  <a:pt x="15223" y="111737"/>
                </a:cubicBezTo>
                <a:cubicBezTo>
                  <a:pt x="13858" y="122293"/>
                  <a:pt x="18474" y="132733"/>
                  <a:pt x="27201" y="138827"/>
                </a:cubicBezTo>
                <a:cubicBezTo>
                  <a:pt x="35927" y="144922"/>
                  <a:pt x="47317" y="145661"/>
                  <a:pt x="56758" y="140745"/>
                </a:cubicBezTo>
                <a:cubicBezTo>
                  <a:pt x="66199" y="135830"/>
                  <a:pt x="72126" y="126074"/>
                  <a:pt x="72137" y="115431"/>
                </a:cubicBezTo>
                <a:close/>
                <a:moveTo>
                  <a:pt x="72137" y="22562"/>
                </a:moveTo>
                <a:cubicBezTo>
                  <a:pt x="72114" y="14784"/>
                  <a:pt x="76307" y="7604"/>
                  <a:pt x="83093" y="3802"/>
                </a:cubicBezTo>
                <a:cubicBezTo>
                  <a:pt x="89879" y="0"/>
                  <a:pt x="98192" y="173"/>
                  <a:pt x="104813" y="4255"/>
                </a:cubicBezTo>
                <a:cubicBezTo>
                  <a:pt x="111435" y="8336"/>
                  <a:pt x="115325" y="15684"/>
                  <a:pt x="114978" y="23455"/>
                </a:cubicBezTo>
                <a:cubicBezTo>
                  <a:pt x="123486" y="25642"/>
                  <a:pt x="130516" y="31622"/>
                  <a:pt x="134039" y="39670"/>
                </a:cubicBezTo>
                <a:cubicBezTo>
                  <a:pt x="137562" y="47718"/>
                  <a:pt x="137187" y="56939"/>
                  <a:pt x="133023" y="64674"/>
                </a:cubicBezTo>
                <a:cubicBezTo>
                  <a:pt x="140360" y="70634"/>
                  <a:pt x="144274" y="79837"/>
                  <a:pt x="143479" y="89256"/>
                </a:cubicBezTo>
                <a:cubicBezTo>
                  <a:pt x="142684" y="98675"/>
                  <a:pt x="137283" y="107091"/>
                  <a:pt x="129051" y="111737"/>
                </a:cubicBezTo>
                <a:cubicBezTo>
                  <a:pt x="130416" y="122293"/>
                  <a:pt x="125800" y="132733"/>
                  <a:pt x="117073" y="138827"/>
                </a:cubicBezTo>
                <a:cubicBezTo>
                  <a:pt x="108347" y="144922"/>
                  <a:pt x="96956" y="145661"/>
                  <a:pt x="87516" y="140745"/>
                </a:cubicBezTo>
                <a:cubicBezTo>
                  <a:pt x="78075" y="135830"/>
                  <a:pt x="72148" y="126074"/>
                  <a:pt x="72137" y="115431"/>
                </a:cubicBezTo>
                <a:close/>
                <a:moveTo>
                  <a:pt x="93568" y="79712"/>
                </a:moveTo>
                <a:cubicBezTo>
                  <a:pt x="81303" y="75397"/>
                  <a:pt x="72845" y="64119"/>
                  <a:pt x="72137" y="51137"/>
                </a:cubicBezTo>
                <a:cubicBezTo>
                  <a:pt x="71429" y="64119"/>
                  <a:pt x="62971" y="75397"/>
                  <a:pt x="50706" y="79712"/>
                </a:cubicBezTo>
                <a:moveTo>
                  <a:pt x="112135" y="33277"/>
                </a:moveTo>
                <a:cubicBezTo>
                  <a:pt x="113864" y="30281"/>
                  <a:pt x="114842" y="26911"/>
                  <a:pt x="114985" y="23455"/>
                </a:cubicBezTo>
                <a:moveTo>
                  <a:pt x="29296" y="23455"/>
                </a:moveTo>
                <a:cubicBezTo>
                  <a:pt x="29437" y="26910"/>
                  <a:pt x="30413" y="30281"/>
                  <a:pt x="32139" y="33277"/>
                </a:cubicBezTo>
                <a:moveTo>
                  <a:pt x="11251" y="64681"/>
                </a:moveTo>
                <a:cubicBezTo>
                  <a:pt x="12558" y="63617"/>
                  <a:pt x="13956" y="62670"/>
                  <a:pt x="15430" y="61852"/>
                </a:cubicBezTo>
                <a:moveTo>
                  <a:pt x="128844" y="61852"/>
                </a:moveTo>
                <a:cubicBezTo>
                  <a:pt x="130318" y="62670"/>
                  <a:pt x="131716" y="63617"/>
                  <a:pt x="133023" y="64681"/>
                </a:cubicBezTo>
                <a:moveTo>
                  <a:pt x="29274" y="115431"/>
                </a:moveTo>
                <a:cubicBezTo>
                  <a:pt x="24351" y="115433"/>
                  <a:pt x="19511" y="114163"/>
                  <a:pt x="15223" y="111744"/>
                </a:cubicBezTo>
                <a:moveTo>
                  <a:pt x="129051" y="111744"/>
                </a:moveTo>
                <a:cubicBezTo>
                  <a:pt x="124763" y="114163"/>
                  <a:pt x="119923" y="115433"/>
                  <a:pt x="114999" y="115431"/>
                </a:cubicBezTo>
              </a:path>
            </a:pathLst>
          </a:custGeom>
          <a:noFill/>
          <a:ln w="12859" cap="rnd">
            <a:solidFill>
              <a:srgbClr val="B0AAFF"/>
            </a:solidFill>
            <a:round/>
          </a:ln>
        </p:spPr>
      </p:sp>
      <p:sp>
        <p:nvSpPr>
          <p:cNvPr id="41" name="Text Model"/>
          <p:cNvSpPr txBox="1"/>
          <p:nvPr/>
        </p:nvSpPr>
        <p:spPr>
          <a:xfrm>
            <a:off x="4324350" y="2590800"/>
            <a:ext cx="438894"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Model</a:t>
            </a:r>
            <a:endParaRPr lang="en-US" sz="1088" dirty="0"/>
          </a:p>
        </p:txBody>
      </p:sp>
      <p:sp>
        <p:nvSpPr>
          <p:cNvPr id="42" name="dg i-book-open"/>
          <p:cNvSpPr/>
          <p:nvPr/>
        </p:nvSpPr>
        <p:spPr>
          <a:xfrm>
            <a:off x="4071938" y="2821781"/>
            <a:ext cx="142875" cy="128588"/>
          </a:xfrm>
          <a:custGeom>
            <a:avLst/>
            <a:gdLst/>
            <a:ahLst/>
            <a:cxnLst/>
            <a:rect l="l" t="t" r="r" b="b"/>
            <a:pathLst>
              <a:path w="142875" h="128588">
                <a:moveTo>
                  <a:pt x="71438" y="28575"/>
                </a:moveTo>
                <a:lnTo>
                  <a:pt x="71438" y="128588"/>
                </a:lnTo>
                <a:moveTo>
                  <a:pt x="7144" y="107156"/>
                </a:moveTo>
                <a:cubicBezTo>
                  <a:pt x="3198" y="107156"/>
                  <a:pt x="0" y="103958"/>
                  <a:pt x="0" y="100013"/>
                </a:cubicBezTo>
                <a:lnTo>
                  <a:pt x="0" y="7144"/>
                </a:lnTo>
                <a:cubicBezTo>
                  <a:pt x="0" y="3198"/>
                  <a:pt x="3198" y="0"/>
                  <a:pt x="7144" y="0"/>
                </a:cubicBezTo>
                <a:lnTo>
                  <a:pt x="42863" y="0"/>
                </a:lnTo>
                <a:cubicBezTo>
                  <a:pt x="58644" y="0"/>
                  <a:pt x="71438" y="12793"/>
                  <a:pt x="71438" y="28575"/>
                </a:cubicBezTo>
                <a:cubicBezTo>
                  <a:pt x="71438" y="12793"/>
                  <a:pt x="84231" y="0"/>
                  <a:pt x="100013" y="0"/>
                </a:cubicBezTo>
                <a:lnTo>
                  <a:pt x="135731" y="0"/>
                </a:lnTo>
                <a:cubicBezTo>
                  <a:pt x="139677" y="0"/>
                  <a:pt x="142875" y="3198"/>
                  <a:pt x="142875" y="7144"/>
                </a:cubicBezTo>
                <a:lnTo>
                  <a:pt x="142875" y="100013"/>
                </a:lnTo>
                <a:cubicBezTo>
                  <a:pt x="142875" y="103958"/>
                  <a:pt x="139677" y="107156"/>
                  <a:pt x="135731" y="107156"/>
                </a:cubicBezTo>
                <a:lnTo>
                  <a:pt x="92869" y="107156"/>
                </a:lnTo>
                <a:cubicBezTo>
                  <a:pt x="81033" y="107156"/>
                  <a:pt x="71438" y="116751"/>
                  <a:pt x="71438" y="128588"/>
                </a:cubicBezTo>
                <a:cubicBezTo>
                  <a:pt x="71438" y="116751"/>
                  <a:pt x="61842" y="107156"/>
                  <a:pt x="50006" y="107156"/>
                </a:cubicBezTo>
                <a:close/>
              </a:path>
            </a:pathLst>
          </a:custGeom>
          <a:noFill/>
          <a:ln w="12859" cap="rnd">
            <a:solidFill>
              <a:srgbClr val="B0AAFF"/>
            </a:solidFill>
            <a:round/>
          </a:ln>
        </p:spPr>
      </p:sp>
      <p:sp>
        <p:nvSpPr>
          <p:cNvPr id="43" name="Text Knowledge"/>
          <p:cNvSpPr txBox="1"/>
          <p:nvPr/>
        </p:nvSpPr>
        <p:spPr>
          <a:xfrm>
            <a:off x="4324350" y="2819400"/>
            <a:ext cx="731639"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Knowledge</a:t>
            </a:r>
            <a:endParaRPr lang="en-US" sz="1088" dirty="0"/>
          </a:p>
        </p:txBody>
      </p:sp>
      <p:sp>
        <p:nvSpPr>
          <p:cNvPr id="44" name="dg i-wrench"/>
          <p:cNvSpPr/>
          <p:nvPr/>
        </p:nvSpPr>
        <p:spPr>
          <a:xfrm>
            <a:off x="4077592" y="3039668"/>
            <a:ext cx="140789" cy="140789"/>
          </a:xfrm>
          <a:custGeom>
            <a:avLst/>
            <a:gdLst/>
            <a:ahLst/>
            <a:cxnLst/>
            <a:rect l="l" t="t" r="r" b="b"/>
            <a:pathLst>
              <a:path w="140789" h="140789">
                <a:moveTo>
                  <a:pt x="85071" y="34287"/>
                </a:moveTo>
                <a:cubicBezTo>
                  <a:pt x="82348" y="37065"/>
                  <a:pt x="82348" y="41511"/>
                  <a:pt x="85071" y="44288"/>
                </a:cubicBezTo>
                <a:lnTo>
                  <a:pt x="96501" y="55718"/>
                </a:lnTo>
                <a:cubicBezTo>
                  <a:pt x="99279" y="58441"/>
                  <a:pt x="103724" y="58441"/>
                  <a:pt x="106502" y="55718"/>
                </a:cubicBezTo>
                <a:lnTo>
                  <a:pt x="133434" y="28786"/>
                </a:lnTo>
                <a:cubicBezTo>
                  <a:pt x="140789" y="45040"/>
                  <a:pt x="137307" y="64151"/>
                  <a:pt x="124692" y="76766"/>
                </a:cubicBezTo>
                <a:cubicBezTo>
                  <a:pt x="112077" y="89381"/>
                  <a:pt x="92967" y="92863"/>
                  <a:pt x="76713" y="85508"/>
                </a:cubicBezTo>
                <a:lnTo>
                  <a:pt x="27349" y="134871"/>
                </a:lnTo>
                <a:cubicBezTo>
                  <a:pt x="21431" y="140789"/>
                  <a:pt x="11836" y="140789"/>
                  <a:pt x="5918" y="134871"/>
                </a:cubicBezTo>
                <a:cubicBezTo>
                  <a:pt x="0" y="128953"/>
                  <a:pt x="0" y="119358"/>
                  <a:pt x="5918" y="113440"/>
                </a:cubicBezTo>
                <a:lnTo>
                  <a:pt x="55281" y="64077"/>
                </a:lnTo>
                <a:cubicBezTo>
                  <a:pt x="47926" y="47823"/>
                  <a:pt x="51408" y="28712"/>
                  <a:pt x="64023" y="16097"/>
                </a:cubicBezTo>
                <a:cubicBezTo>
                  <a:pt x="76639" y="3482"/>
                  <a:pt x="95749" y="0"/>
                  <a:pt x="112003" y="7355"/>
                </a:cubicBezTo>
                <a:lnTo>
                  <a:pt x="85142" y="34216"/>
                </a:lnTo>
                <a:close/>
              </a:path>
            </a:pathLst>
          </a:custGeom>
          <a:noFill/>
          <a:ln w="12859" cap="rnd">
            <a:solidFill>
              <a:srgbClr val="B0AAFF"/>
            </a:solidFill>
            <a:round/>
          </a:ln>
        </p:spPr>
      </p:sp>
      <p:sp>
        <p:nvSpPr>
          <p:cNvPr id="45" name="Text Tools"/>
          <p:cNvSpPr txBox="1"/>
          <p:nvPr/>
        </p:nvSpPr>
        <p:spPr>
          <a:xfrm>
            <a:off x="4324350" y="3048000"/>
            <a:ext cx="380851"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Tools</a:t>
            </a:r>
            <a:endParaRPr lang="en-US" sz="1088" dirty="0"/>
          </a:p>
        </p:txBody>
      </p:sp>
      <p:sp>
        <p:nvSpPr>
          <p:cNvPr id="46" name="dg rect"/>
          <p:cNvSpPr/>
          <p:nvPr/>
        </p:nvSpPr>
        <p:spPr>
          <a:xfrm>
            <a:off x="4200525" y="3543300"/>
            <a:ext cx="800100" cy="323850"/>
          </a:xfrm>
          <a:prstGeom prst="roundRect">
            <a:avLst>
              <a:gd name="adj" fmla="val 38462"/>
            </a:avLst>
          </a:prstGeom>
          <a:solidFill>
            <a:srgbClr val="337EFF">
              <a:alpha val="22000"/>
            </a:srgbClr>
          </a:solidFill>
          <a:ln w="13335" cap="flat">
            <a:solidFill>
              <a:srgbClr val="337EFF"/>
            </a:solidFill>
            <a:miter lim="800000"/>
          </a:ln>
        </p:spPr>
      </p:sp>
      <p:sp>
        <p:nvSpPr>
          <p:cNvPr id="47" name="dg i-cloud"/>
          <p:cNvSpPr/>
          <p:nvPr/>
        </p:nvSpPr>
        <p:spPr>
          <a:xfrm>
            <a:off x="4307829" y="36512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8" name="Text MCP"/>
          <p:cNvSpPr txBox="1"/>
          <p:nvPr/>
        </p:nvSpPr>
        <p:spPr>
          <a:xfrm>
            <a:off x="4524375" y="3652838"/>
            <a:ext cx="306884"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MCP</a:t>
            </a:r>
            <a:endParaRPr lang="en-US" sz="938" dirty="0"/>
          </a:p>
        </p:txBody>
      </p:sp>
      <p:sp>
        <p:nvSpPr>
          <p:cNvPr id="49" name="dg path"/>
          <p:cNvSpPr/>
          <p:nvPr/>
        </p:nvSpPr>
        <p:spPr>
          <a:xfrm>
            <a:off x="4600575" y="3324225"/>
            <a:ext cx="0" cy="209550"/>
          </a:xfrm>
          <a:prstGeom prst="line">
            <a:avLst/>
          </a:prstGeom>
          <a:noFill/>
          <a:ln w="17145" cap="rnd">
            <a:solidFill>
              <a:srgbClr val="337EFF">
                <a:alpha val="90000"/>
              </a:srgbClr>
            </a:solidFill>
            <a:custDash>
              <a:ds d="222222" sp="277778"/>
            </a:custDash>
            <a:miter lim="800000"/>
          </a:ln>
        </p:spPr>
      </p:sp>
      <p:sp>
        <p:nvSpPr>
          <p:cNvPr id="50" name="dg circle"/>
          <p:cNvSpPr/>
          <p:nvPr/>
        </p:nvSpPr>
        <p:spPr>
          <a:xfrm>
            <a:off x="4567238" y="3290888"/>
            <a:ext cx="66675" cy="66675"/>
          </a:xfrm>
          <a:prstGeom prst="ellipse">
            <a:avLst/>
          </a:prstGeom>
          <a:solidFill>
            <a:srgbClr val="337EFF"/>
          </a:solidFill>
          <a:ln>
            <a:noFill/>
          </a:ln>
        </p:spPr>
      </p:sp>
      <p:sp>
        <p:nvSpPr>
          <p:cNvPr id="51" name="dg path"/>
          <p:cNvSpPr/>
          <p:nvPr/>
        </p:nvSpPr>
        <p:spPr>
          <a:xfrm>
            <a:off x="3609975" y="2581275"/>
            <a:ext cx="160020" cy="0"/>
          </a:xfrm>
          <a:prstGeom prst="line">
            <a:avLst/>
          </a:prstGeom>
          <a:noFill/>
          <a:ln w="28575" cap="rnd">
            <a:solidFill>
              <a:srgbClr val="B0AAFF"/>
            </a:solidFill>
            <a:miter lim="800000"/>
            <a:tailEnd type="triangle" w="med" len="med"/>
          </a:ln>
        </p:spPr>
      </p:sp>
      <p:sp>
        <p:nvSpPr>
          <p:cNvPr id="52" name="dg circle"/>
          <p:cNvSpPr/>
          <p:nvPr/>
        </p:nvSpPr>
        <p:spPr>
          <a:xfrm>
            <a:off x="4305300" y="4819650"/>
            <a:ext cx="266700" cy="266700"/>
          </a:xfrm>
          <a:prstGeom prst="ellipse">
            <a:avLst/>
          </a:prstGeom>
          <a:solidFill>
            <a:srgbClr val="6551FF"/>
          </a:solidFill>
          <a:ln>
            <a:noFill/>
          </a:ln>
        </p:spPr>
      </p:sp>
      <p:sp>
        <p:nvSpPr>
          <p:cNvPr id="53" name="Text 2"/>
          <p:cNvSpPr txBox="1"/>
          <p:nvPr/>
        </p:nvSpPr>
        <p:spPr>
          <a:xfrm>
            <a:off x="4373389" y="4896231"/>
            <a:ext cx="130522" cy="152400"/>
          </a:xfrm>
          <a:prstGeom prst="rect">
            <a:avLst/>
          </a:prstGeom>
          <a:noFill/>
          <a:ln/>
        </p:spPr>
        <p:txBody>
          <a:bodyPr wrap="none" lIns="0" tIns="0" rIns="0" bIns="0" rtlCol="0" anchor="ctr"/>
          <a:lstStyle/>
          <a:p>
            <a:pPr algn="ctr" indent="0" marL="0">
              <a:buNone/>
            </a:pPr>
            <a:r>
              <a:rPr lang="en-US" sz="1050" b="1" dirty="0">
                <a:solidFill>
                  <a:srgbClr val="FFFFFF"/>
                </a:solidFill>
                <a:latin typeface="Scotia" pitchFamily="34" charset="0"/>
                <a:ea typeface="Scotia" pitchFamily="34" charset="-122"/>
                <a:cs typeface="Scotia" pitchFamily="34" charset="-120"/>
              </a:rPr>
              <a:t>2</a:t>
            </a:r>
            <a:endParaRPr lang="en-US" sz="1050" dirty="0"/>
          </a:p>
        </p:txBody>
      </p:sp>
      <p:sp>
        <p:nvSpPr>
          <p:cNvPr id="54" name="Text Output becomes the next input"/>
          <p:cNvSpPr txBox="1"/>
          <p:nvPr/>
        </p:nvSpPr>
        <p:spPr>
          <a:xfrm>
            <a:off x="4686300" y="4886325"/>
            <a:ext cx="2317552"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Output becomes the next input</a:t>
            </a:r>
            <a:endParaRPr lang="en-US" sz="1238" dirty="0"/>
          </a:p>
        </p:txBody>
      </p:sp>
      <p:sp>
        <p:nvSpPr>
          <p:cNvPr id="55" name="Text Each agent builds on the previ"/>
          <p:cNvSpPr txBox="1"/>
          <p:nvPr/>
        </p:nvSpPr>
        <p:spPr>
          <a:xfrm>
            <a:off x="4686300" y="5114925"/>
            <a:ext cx="2115145"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Each agent builds on the previous</a:t>
            </a:r>
            <a:endParaRPr lang="en-US" sz="1050" dirty="0"/>
          </a:p>
        </p:txBody>
      </p:sp>
      <p:sp>
        <p:nvSpPr>
          <p:cNvPr id="56" name="Text one down to Agent n."/>
          <p:cNvSpPr txBox="1"/>
          <p:nvPr/>
        </p:nvSpPr>
        <p:spPr>
          <a:xfrm>
            <a:off x="4686300" y="5295900"/>
            <a:ext cx="1394073"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one, down to Agent n.</a:t>
            </a:r>
            <a:endParaRPr lang="en-US" sz="1050" dirty="0"/>
          </a:p>
        </p:txBody>
      </p:sp>
      <p:sp>
        <p:nvSpPr>
          <p:cNvPr id="57" name="dg rect"/>
          <p:cNvSpPr/>
          <p:nvPr/>
        </p:nvSpPr>
        <p:spPr>
          <a:xfrm>
            <a:off x="5924550" y="1866900"/>
            <a:ext cx="1828800" cy="1428750"/>
          </a:xfrm>
          <a:prstGeom prst="roundRect">
            <a:avLst>
              <a:gd name="adj" fmla="val 12000"/>
            </a:avLst>
          </a:prstGeom>
          <a:gradFill rotWithShape="1">
            <a:gsLst>
              <a:gs pos="0">
                <a:srgbClr val="1A1550"/>
              </a:gs>
              <a:gs pos="100000">
                <a:srgbClr val="120E36"/>
              </a:gs>
            </a:gsLst>
            <a:lin ang="5400000" scaled="1"/>
          </a:gradFill>
          <a:ln w="13335" cap="flat">
            <a:solidFill>
              <a:srgbClr val="3B3392"/>
            </a:solidFill>
            <a:miter lim="800000"/>
          </a:ln>
        </p:spPr>
      </p:sp>
      <p:sp>
        <p:nvSpPr>
          <p:cNvPr id="58" name="dg circle"/>
          <p:cNvSpPr/>
          <p:nvPr/>
        </p:nvSpPr>
        <p:spPr>
          <a:xfrm>
            <a:off x="6096000" y="2000250"/>
            <a:ext cx="381000" cy="381000"/>
          </a:xfrm>
          <a:prstGeom prst="ellipse">
            <a:avLst/>
          </a:prstGeom>
          <a:solidFill>
            <a:srgbClr val="6551FF"/>
          </a:solidFill>
          <a:ln>
            <a:noFill/>
          </a:ln>
        </p:spPr>
      </p:sp>
      <p:sp>
        <p:nvSpPr>
          <p:cNvPr id="59" name="dg i-bot"/>
          <p:cNvSpPr/>
          <p:nvPr/>
        </p:nvSpPr>
        <p:spPr>
          <a:xfrm>
            <a:off x="6207125" y="212725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60" name="Text Agent 3"/>
          <p:cNvSpPr txBox="1"/>
          <p:nvPr/>
        </p:nvSpPr>
        <p:spPr>
          <a:xfrm>
            <a:off x="6591300" y="2105025"/>
            <a:ext cx="724942" cy="228600"/>
          </a:xfrm>
          <a:prstGeom prst="rect">
            <a:avLst/>
          </a:prstGeom>
          <a:noFill/>
          <a:ln/>
        </p:spPr>
        <p:txBody>
          <a:bodyPr wrap="none" lIns="0" tIns="0" rIns="0" bIns="0" rtlCol="0" anchor="ctr"/>
          <a:lstStyle/>
          <a:p>
            <a:pPr algn="l" indent="0" marL="0">
              <a:buNone/>
            </a:pPr>
            <a:r>
              <a:rPr lang="en-US" sz="1500" b="1" dirty="0">
                <a:solidFill>
                  <a:srgbClr val="FFFFFF"/>
                </a:solidFill>
                <a:latin typeface="Scotia" pitchFamily="34" charset="0"/>
                <a:ea typeface="Scotia" pitchFamily="34" charset="-122"/>
                <a:cs typeface="Scotia" pitchFamily="34" charset="-120"/>
              </a:rPr>
              <a:t>Agent 3</a:t>
            </a:r>
            <a:endParaRPr lang="en-US" sz="1500" dirty="0"/>
          </a:p>
        </p:txBody>
      </p:sp>
      <p:sp>
        <p:nvSpPr>
          <p:cNvPr id="61" name="dg line"/>
          <p:cNvSpPr/>
          <p:nvPr/>
        </p:nvSpPr>
        <p:spPr>
          <a:xfrm>
            <a:off x="6115050" y="2419350"/>
            <a:ext cx="1447800" cy="0"/>
          </a:xfrm>
          <a:prstGeom prst="line">
            <a:avLst/>
          </a:prstGeom>
          <a:noFill/>
          <a:ln w="9525" cap="flat">
            <a:solidFill>
              <a:srgbClr val="BDC2EF">
                <a:alpha val="18000"/>
              </a:srgbClr>
            </a:solidFill>
            <a:miter lim="800000"/>
          </a:ln>
        </p:spPr>
      </p:sp>
      <p:sp>
        <p:nvSpPr>
          <p:cNvPr id="62" name="dg i-brain"/>
          <p:cNvSpPr/>
          <p:nvPr/>
        </p:nvSpPr>
        <p:spPr>
          <a:xfrm>
            <a:off x="6166738" y="2584907"/>
            <a:ext cx="144274" cy="145661"/>
          </a:xfrm>
          <a:custGeom>
            <a:avLst/>
            <a:gdLst/>
            <a:ahLst/>
            <a:cxnLst/>
            <a:rect l="l" t="t" r="r" b="b"/>
            <a:pathLst>
              <a:path w="144274" h="145661">
                <a:moveTo>
                  <a:pt x="72137" y="22562"/>
                </a:moveTo>
                <a:cubicBezTo>
                  <a:pt x="72160" y="14784"/>
                  <a:pt x="67967" y="7604"/>
                  <a:pt x="61181" y="3802"/>
                </a:cubicBezTo>
                <a:cubicBezTo>
                  <a:pt x="54395" y="0"/>
                  <a:pt x="46082" y="173"/>
                  <a:pt x="39461" y="4255"/>
                </a:cubicBezTo>
                <a:cubicBezTo>
                  <a:pt x="32839" y="8336"/>
                  <a:pt x="28949" y="15684"/>
                  <a:pt x="29296" y="23455"/>
                </a:cubicBezTo>
                <a:cubicBezTo>
                  <a:pt x="20788" y="25642"/>
                  <a:pt x="13758" y="31622"/>
                  <a:pt x="10235" y="39670"/>
                </a:cubicBezTo>
                <a:cubicBezTo>
                  <a:pt x="6712" y="47718"/>
                  <a:pt x="7087" y="56939"/>
                  <a:pt x="11251" y="64674"/>
                </a:cubicBezTo>
                <a:cubicBezTo>
                  <a:pt x="3914" y="70634"/>
                  <a:pt x="0" y="79837"/>
                  <a:pt x="795" y="89256"/>
                </a:cubicBezTo>
                <a:cubicBezTo>
                  <a:pt x="1590" y="98675"/>
                  <a:pt x="6991" y="107091"/>
                  <a:pt x="15223" y="111737"/>
                </a:cubicBezTo>
                <a:cubicBezTo>
                  <a:pt x="13858" y="122293"/>
                  <a:pt x="18474" y="132733"/>
                  <a:pt x="27201" y="138827"/>
                </a:cubicBezTo>
                <a:cubicBezTo>
                  <a:pt x="35927" y="144922"/>
                  <a:pt x="47317" y="145661"/>
                  <a:pt x="56758" y="140745"/>
                </a:cubicBezTo>
                <a:cubicBezTo>
                  <a:pt x="66199" y="135830"/>
                  <a:pt x="72126" y="126074"/>
                  <a:pt x="72137" y="115431"/>
                </a:cubicBezTo>
                <a:close/>
                <a:moveTo>
                  <a:pt x="72137" y="22562"/>
                </a:moveTo>
                <a:cubicBezTo>
                  <a:pt x="72114" y="14784"/>
                  <a:pt x="76307" y="7604"/>
                  <a:pt x="83093" y="3802"/>
                </a:cubicBezTo>
                <a:cubicBezTo>
                  <a:pt x="89879" y="0"/>
                  <a:pt x="98192" y="173"/>
                  <a:pt x="104813" y="4255"/>
                </a:cubicBezTo>
                <a:cubicBezTo>
                  <a:pt x="111435" y="8336"/>
                  <a:pt x="115325" y="15684"/>
                  <a:pt x="114978" y="23455"/>
                </a:cubicBezTo>
                <a:cubicBezTo>
                  <a:pt x="123486" y="25642"/>
                  <a:pt x="130516" y="31622"/>
                  <a:pt x="134039" y="39670"/>
                </a:cubicBezTo>
                <a:cubicBezTo>
                  <a:pt x="137562" y="47718"/>
                  <a:pt x="137187" y="56939"/>
                  <a:pt x="133023" y="64674"/>
                </a:cubicBezTo>
                <a:cubicBezTo>
                  <a:pt x="140360" y="70634"/>
                  <a:pt x="144274" y="79837"/>
                  <a:pt x="143479" y="89256"/>
                </a:cubicBezTo>
                <a:cubicBezTo>
                  <a:pt x="142684" y="98675"/>
                  <a:pt x="137283" y="107091"/>
                  <a:pt x="129051" y="111737"/>
                </a:cubicBezTo>
                <a:cubicBezTo>
                  <a:pt x="130416" y="122293"/>
                  <a:pt x="125800" y="132733"/>
                  <a:pt x="117073" y="138827"/>
                </a:cubicBezTo>
                <a:cubicBezTo>
                  <a:pt x="108347" y="144922"/>
                  <a:pt x="96956" y="145661"/>
                  <a:pt x="87516" y="140745"/>
                </a:cubicBezTo>
                <a:cubicBezTo>
                  <a:pt x="78075" y="135830"/>
                  <a:pt x="72148" y="126074"/>
                  <a:pt x="72137" y="115431"/>
                </a:cubicBezTo>
                <a:close/>
                <a:moveTo>
                  <a:pt x="93568" y="79712"/>
                </a:moveTo>
                <a:cubicBezTo>
                  <a:pt x="81303" y="75397"/>
                  <a:pt x="72845" y="64119"/>
                  <a:pt x="72137" y="51137"/>
                </a:cubicBezTo>
                <a:cubicBezTo>
                  <a:pt x="71429" y="64119"/>
                  <a:pt x="62971" y="75397"/>
                  <a:pt x="50706" y="79712"/>
                </a:cubicBezTo>
                <a:moveTo>
                  <a:pt x="112135" y="33277"/>
                </a:moveTo>
                <a:cubicBezTo>
                  <a:pt x="113864" y="30281"/>
                  <a:pt x="114842" y="26911"/>
                  <a:pt x="114985" y="23455"/>
                </a:cubicBezTo>
                <a:moveTo>
                  <a:pt x="29296" y="23455"/>
                </a:moveTo>
                <a:cubicBezTo>
                  <a:pt x="29437" y="26910"/>
                  <a:pt x="30413" y="30281"/>
                  <a:pt x="32139" y="33277"/>
                </a:cubicBezTo>
                <a:moveTo>
                  <a:pt x="11251" y="64681"/>
                </a:moveTo>
                <a:cubicBezTo>
                  <a:pt x="12558" y="63617"/>
                  <a:pt x="13956" y="62670"/>
                  <a:pt x="15430" y="61852"/>
                </a:cubicBezTo>
                <a:moveTo>
                  <a:pt x="128844" y="61852"/>
                </a:moveTo>
                <a:cubicBezTo>
                  <a:pt x="130318" y="62670"/>
                  <a:pt x="131716" y="63617"/>
                  <a:pt x="133023" y="64681"/>
                </a:cubicBezTo>
                <a:moveTo>
                  <a:pt x="29274" y="115431"/>
                </a:moveTo>
                <a:cubicBezTo>
                  <a:pt x="24351" y="115433"/>
                  <a:pt x="19511" y="114163"/>
                  <a:pt x="15223" y="111744"/>
                </a:cubicBezTo>
                <a:moveTo>
                  <a:pt x="129051" y="111744"/>
                </a:moveTo>
                <a:cubicBezTo>
                  <a:pt x="124763" y="114163"/>
                  <a:pt x="119923" y="115433"/>
                  <a:pt x="114999" y="115431"/>
                </a:cubicBezTo>
              </a:path>
            </a:pathLst>
          </a:custGeom>
          <a:noFill/>
          <a:ln w="12859" cap="rnd">
            <a:solidFill>
              <a:srgbClr val="B0AAFF"/>
            </a:solidFill>
            <a:round/>
          </a:ln>
        </p:spPr>
      </p:sp>
      <p:sp>
        <p:nvSpPr>
          <p:cNvPr id="63" name="Text Model"/>
          <p:cNvSpPr txBox="1"/>
          <p:nvPr/>
        </p:nvSpPr>
        <p:spPr>
          <a:xfrm>
            <a:off x="6419850" y="2590800"/>
            <a:ext cx="438894"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Model</a:t>
            </a:r>
            <a:endParaRPr lang="en-US" sz="1088" dirty="0"/>
          </a:p>
        </p:txBody>
      </p:sp>
      <p:sp>
        <p:nvSpPr>
          <p:cNvPr id="64" name="dg i-book-open"/>
          <p:cNvSpPr/>
          <p:nvPr/>
        </p:nvSpPr>
        <p:spPr>
          <a:xfrm>
            <a:off x="6167438" y="2821781"/>
            <a:ext cx="142875" cy="128588"/>
          </a:xfrm>
          <a:custGeom>
            <a:avLst/>
            <a:gdLst/>
            <a:ahLst/>
            <a:cxnLst/>
            <a:rect l="l" t="t" r="r" b="b"/>
            <a:pathLst>
              <a:path w="142875" h="128588">
                <a:moveTo>
                  <a:pt x="71438" y="28575"/>
                </a:moveTo>
                <a:lnTo>
                  <a:pt x="71438" y="128588"/>
                </a:lnTo>
                <a:moveTo>
                  <a:pt x="7144" y="107156"/>
                </a:moveTo>
                <a:cubicBezTo>
                  <a:pt x="3198" y="107156"/>
                  <a:pt x="0" y="103958"/>
                  <a:pt x="0" y="100013"/>
                </a:cubicBezTo>
                <a:lnTo>
                  <a:pt x="0" y="7144"/>
                </a:lnTo>
                <a:cubicBezTo>
                  <a:pt x="0" y="3198"/>
                  <a:pt x="3198" y="0"/>
                  <a:pt x="7144" y="0"/>
                </a:cubicBezTo>
                <a:lnTo>
                  <a:pt x="42863" y="0"/>
                </a:lnTo>
                <a:cubicBezTo>
                  <a:pt x="58644" y="0"/>
                  <a:pt x="71438" y="12793"/>
                  <a:pt x="71438" y="28575"/>
                </a:cubicBezTo>
                <a:cubicBezTo>
                  <a:pt x="71438" y="12793"/>
                  <a:pt x="84231" y="0"/>
                  <a:pt x="100013" y="0"/>
                </a:cubicBezTo>
                <a:lnTo>
                  <a:pt x="135731" y="0"/>
                </a:lnTo>
                <a:cubicBezTo>
                  <a:pt x="139677" y="0"/>
                  <a:pt x="142875" y="3198"/>
                  <a:pt x="142875" y="7144"/>
                </a:cubicBezTo>
                <a:lnTo>
                  <a:pt x="142875" y="100013"/>
                </a:lnTo>
                <a:cubicBezTo>
                  <a:pt x="142875" y="103958"/>
                  <a:pt x="139677" y="107156"/>
                  <a:pt x="135731" y="107156"/>
                </a:cubicBezTo>
                <a:lnTo>
                  <a:pt x="92869" y="107156"/>
                </a:lnTo>
                <a:cubicBezTo>
                  <a:pt x="81033" y="107156"/>
                  <a:pt x="71438" y="116751"/>
                  <a:pt x="71438" y="128588"/>
                </a:cubicBezTo>
                <a:cubicBezTo>
                  <a:pt x="71438" y="116751"/>
                  <a:pt x="61842" y="107156"/>
                  <a:pt x="50006" y="107156"/>
                </a:cubicBezTo>
                <a:close/>
              </a:path>
            </a:pathLst>
          </a:custGeom>
          <a:noFill/>
          <a:ln w="12859" cap="rnd">
            <a:solidFill>
              <a:srgbClr val="B0AAFF"/>
            </a:solidFill>
            <a:round/>
          </a:ln>
        </p:spPr>
      </p:sp>
      <p:sp>
        <p:nvSpPr>
          <p:cNvPr id="65" name="Text Knowledge"/>
          <p:cNvSpPr txBox="1"/>
          <p:nvPr/>
        </p:nvSpPr>
        <p:spPr>
          <a:xfrm>
            <a:off x="6419850" y="2819400"/>
            <a:ext cx="731639"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Knowledge</a:t>
            </a:r>
            <a:endParaRPr lang="en-US" sz="1088" dirty="0"/>
          </a:p>
        </p:txBody>
      </p:sp>
      <p:sp>
        <p:nvSpPr>
          <p:cNvPr id="66" name="dg i-wrench"/>
          <p:cNvSpPr/>
          <p:nvPr/>
        </p:nvSpPr>
        <p:spPr>
          <a:xfrm>
            <a:off x="6173092" y="3039668"/>
            <a:ext cx="140789" cy="140789"/>
          </a:xfrm>
          <a:custGeom>
            <a:avLst/>
            <a:gdLst/>
            <a:ahLst/>
            <a:cxnLst/>
            <a:rect l="l" t="t" r="r" b="b"/>
            <a:pathLst>
              <a:path w="140789" h="140789">
                <a:moveTo>
                  <a:pt x="85071" y="34287"/>
                </a:moveTo>
                <a:cubicBezTo>
                  <a:pt x="82348" y="37065"/>
                  <a:pt x="82348" y="41511"/>
                  <a:pt x="85071" y="44288"/>
                </a:cubicBezTo>
                <a:lnTo>
                  <a:pt x="96501" y="55718"/>
                </a:lnTo>
                <a:cubicBezTo>
                  <a:pt x="99279" y="58441"/>
                  <a:pt x="103724" y="58441"/>
                  <a:pt x="106502" y="55718"/>
                </a:cubicBezTo>
                <a:lnTo>
                  <a:pt x="133434" y="28786"/>
                </a:lnTo>
                <a:cubicBezTo>
                  <a:pt x="140789" y="45040"/>
                  <a:pt x="137307" y="64151"/>
                  <a:pt x="124692" y="76766"/>
                </a:cubicBezTo>
                <a:cubicBezTo>
                  <a:pt x="112077" y="89381"/>
                  <a:pt x="92967" y="92863"/>
                  <a:pt x="76713" y="85508"/>
                </a:cubicBezTo>
                <a:lnTo>
                  <a:pt x="27349" y="134871"/>
                </a:lnTo>
                <a:cubicBezTo>
                  <a:pt x="21431" y="140789"/>
                  <a:pt x="11836" y="140789"/>
                  <a:pt x="5918" y="134871"/>
                </a:cubicBezTo>
                <a:cubicBezTo>
                  <a:pt x="0" y="128953"/>
                  <a:pt x="0" y="119358"/>
                  <a:pt x="5918" y="113440"/>
                </a:cubicBezTo>
                <a:lnTo>
                  <a:pt x="55281" y="64077"/>
                </a:lnTo>
                <a:cubicBezTo>
                  <a:pt x="47926" y="47823"/>
                  <a:pt x="51408" y="28712"/>
                  <a:pt x="64023" y="16097"/>
                </a:cubicBezTo>
                <a:cubicBezTo>
                  <a:pt x="76639" y="3482"/>
                  <a:pt x="95749" y="0"/>
                  <a:pt x="112003" y="7355"/>
                </a:cubicBezTo>
                <a:lnTo>
                  <a:pt x="85142" y="34216"/>
                </a:lnTo>
                <a:close/>
              </a:path>
            </a:pathLst>
          </a:custGeom>
          <a:noFill/>
          <a:ln w="12859" cap="rnd">
            <a:solidFill>
              <a:srgbClr val="B0AAFF"/>
            </a:solidFill>
            <a:round/>
          </a:ln>
        </p:spPr>
      </p:sp>
      <p:sp>
        <p:nvSpPr>
          <p:cNvPr id="67" name="Text Tools"/>
          <p:cNvSpPr txBox="1"/>
          <p:nvPr/>
        </p:nvSpPr>
        <p:spPr>
          <a:xfrm>
            <a:off x="6419850" y="3048000"/>
            <a:ext cx="380851"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Tools</a:t>
            </a:r>
            <a:endParaRPr lang="en-US" sz="1088" dirty="0"/>
          </a:p>
        </p:txBody>
      </p:sp>
      <p:sp>
        <p:nvSpPr>
          <p:cNvPr id="68" name="dg rect"/>
          <p:cNvSpPr/>
          <p:nvPr/>
        </p:nvSpPr>
        <p:spPr>
          <a:xfrm>
            <a:off x="6296025" y="3543300"/>
            <a:ext cx="800100" cy="323850"/>
          </a:xfrm>
          <a:prstGeom prst="roundRect">
            <a:avLst>
              <a:gd name="adj" fmla="val 38462"/>
            </a:avLst>
          </a:prstGeom>
          <a:solidFill>
            <a:srgbClr val="337EFF">
              <a:alpha val="22000"/>
            </a:srgbClr>
          </a:solidFill>
          <a:ln w="13335" cap="flat">
            <a:solidFill>
              <a:srgbClr val="337EFF"/>
            </a:solidFill>
            <a:miter lim="800000"/>
          </a:ln>
        </p:spPr>
      </p:sp>
      <p:sp>
        <p:nvSpPr>
          <p:cNvPr id="69" name="dg i-cloud"/>
          <p:cNvSpPr/>
          <p:nvPr/>
        </p:nvSpPr>
        <p:spPr>
          <a:xfrm>
            <a:off x="6403329" y="36512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70" name="Text MCP"/>
          <p:cNvSpPr txBox="1"/>
          <p:nvPr/>
        </p:nvSpPr>
        <p:spPr>
          <a:xfrm>
            <a:off x="6619875" y="3652838"/>
            <a:ext cx="306884"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MCP</a:t>
            </a:r>
            <a:endParaRPr lang="en-US" sz="938" dirty="0"/>
          </a:p>
        </p:txBody>
      </p:sp>
      <p:sp>
        <p:nvSpPr>
          <p:cNvPr id="71" name="dg path"/>
          <p:cNvSpPr/>
          <p:nvPr/>
        </p:nvSpPr>
        <p:spPr>
          <a:xfrm>
            <a:off x="6696075" y="3324225"/>
            <a:ext cx="0" cy="209550"/>
          </a:xfrm>
          <a:prstGeom prst="line">
            <a:avLst/>
          </a:prstGeom>
          <a:noFill/>
          <a:ln w="17145" cap="rnd">
            <a:solidFill>
              <a:srgbClr val="337EFF">
                <a:alpha val="90000"/>
              </a:srgbClr>
            </a:solidFill>
            <a:custDash>
              <a:ds d="222222" sp="277778"/>
            </a:custDash>
            <a:miter lim="800000"/>
          </a:ln>
        </p:spPr>
      </p:sp>
      <p:sp>
        <p:nvSpPr>
          <p:cNvPr id="72" name="dg circle"/>
          <p:cNvSpPr/>
          <p:nvPr/>
        </p:nvSpPr>
        <p:spPr>
          <a:xfrm>
            <a:off x="6662738" y="3290888"/>
            <a:ext cx="66675" cy="66675"/>
          </a:xfrm>
          <a:prstGeom prst="ellipse">
            <a:avLst/>
          </a:prstGeom>
          <a:solidFill>
            <a:srgbClr val="337EFF"/>
          </a:solidFill>
          <a:ln>
            <a:noFill/>
          </a:ln>
        </p:spPr>
      </p:sp>
      <p:sp>
        <p:nvSpPr>
          <p:cNvPr id="73" name="dg path"/>
          <p:cNvSpPr/>
          <p:nvPr/>
        </p:nvSpPr>
        <p:spPr>
          <a:xfrm>
            <a:off x="5705475" y="2581275"/>
            <a:ext cx="160020" cy="0"/>
          </a:xfrm>
          <a:prstGeom prst="line">
            <a:avLst/>
          </a:prstGeom>
          <a:noFill/>
          <a:ln w="28575" cap="rnd">
            <a:solidFill>
              <a:srgbClr val="B0AAFF"/>
            </a:solidFill>
            <a:miter lim="800000"/>
            <a:tailEnd type="triangle" w="med" len="med"/>
          </a:ln>
        </p:spPr>
      </p:sp>
      <p:sp>
        <p:nvSpPr>
          <p:cNvPr id="74" name="dg rect"/>
          <p:cNvSpPr/>
          <p:nvPr/>
        </p:nvSpPr>
        <p:spPr>
          <a:xfrm>
            <a:off x="8629650" y="1866900"/>
            <a:ext cx="1828800" cy="1428750"/>
          </a:xfrm>
          <a:prstGeom prst="roundRect">
            <a:avLst>
              <a:gd name="adj" fmla="val 12000"/>
            </a:avLst>
          </a:prstGeom>
          <a:gradFill rotWithShape="1">
            <a:gsLst>
              <a:gs pos="0">
                <a:srgbClr val="1A1550"/>
              </a:gs>
              <a:gs pos="100000">
                <a:srgbClr val="120E36"/>
              </a:gs>
            </a:gsLst>
            <a:lin ang="5400000" scaled="1"/>
          </a:gradFill>
          <a:ln w="13335" cap="flat">
            <a:solidFill>
              <a:srgbClr val="3B3392"/>
            </a:solidFill>
            <a:miter lim="800000"/>
          </a:ln>
        </p:spPr>
      </p:sp>
      <p:sp>
        <p:nvSpPr>
          <p:cNvPr id="75" name="dg circle"/>
          <p:cNvSpPr/>
          <p:nvPr/>
        </p:nvSpPr>
        <p:spPr>
          <a:xfrm>
            <a:off x="8801100" y="2000250"/>
            <a:ext cx="381000" cy="381000"/>
          </a:xfrm>
          <a:prstGeom prst="ellipse">
            <a:avLst/>
          </a:prstGeom>
          <a:solidFill>
            <a:srgbClr val="6551FF"/>
          </a:solidFill>
          <a:ln>
            <a:noFill/>
          </a:ln>
        </p:spPr>
      </p:sp>
      <p:sp>
        <p:nvSpPr>
          <p:cNvPr id="76" name="dg i-bot"/>
          <p:cNvSpPr/>
          <p:nvPr/>
        </p:nvSpPr>
        <p:spPr>
          <a:xfrm>
            <a:off x="8912225" y="212725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77" name="Text Agent n"/>
          <p:cNvSpPr txBox="1"/>
          <p:nvPr/>
        </p:nvSpPr>
        <p:spPr>
          <a:xfrm>
            <a:off x="9296400" y="2105025"/>
            <a:ext cx="736104" cy="228600"/>
          </a:xfrm>
          <a:prstGeom prst="rect">
            <a:avLst/>
          </a:prstGeom>
          <a:noFill/>
          <a:ln/>
        </p:spPr>
        <p:txBody>
          <a:bodyPr wrap="none" lIns="0" tIns="0" rIns="0" bIns="0" rtlCol="0" anchor="ctr"/>
          <a:lstStyle/>
          <a:p>
            <a:pPr algn="l" indent="0" marL="0">
              <a:buNone/>
            </a:pPr>
            <a:r>
              <a:rPr lang="en-US" sz="1500" b="1" dirty="0">
                <a:solidFill>
                  <a:srgbClr val="FFFFFF"/>
                </a:solidFill>
                <a:latin typeface="Scotia" pitchFamily="34" charset="0"/>
                <a:ea typeface="Scotia" pitchFamily="34" charset="-122"/>
                <a:cs typeface="Scotia" pitchFamily="34" charset="-120"/>
              </a:rPr>
              <a:t>Agent n</a:t>
            </a:r>
            <a:endParaRPr lang="en-US" sz="1500" dirty="0"/>
          </a:p>
        </p:txBody>
      </p:sp>
      <p:sp>
        <p:nvSpPr>
          <p:cNvPr id="78" name="dg line"/>
          <p:cNvSpPr/>
          <p:nvPr/>
        </p:nvSpPr>
        <p:spPr>
          <a:xfrm>
            <a:off x="8820150" y="2419350"/>
            <a:ext cx="1447800" cy="0"/>
          </a:xfrm>
          <a:prstGeom prst="line">
            <a:avLst/>
          </a:prstGeom>
          <a:noFill/>
          <a:ln w="9525" cap="flat">
            <a:solidFill>
              <a:srgbClr val="BDC2EF">
                <a:alpha val="18000"/>
              </a:srgbClr>
            </a:solidFill>
            <a:miter lim="800000"/>
          </a:ln>
        </p:spPr>
      </p:sp>
      <p:sp>
        <p:nvSpPr>
          <p:cNvPr id="79" name="dg i-brain"/>
          <p:cNvSpPr/>
          <p:nvPr/>
        </p:nvSpPr>
        <p:spPr>
          <a:xfrm>
            <a:off x="8871838" y="2584907"/>
            <a:ext cx="144274" cy="145661"/>
          </a:xfrm>
          <a:custGeom>
            <a:avLst/>
            <a:gdLst/>
            <a:ahLst/>
            <a:cxnLst/>
            <a:rect l="l" t="t" r="r" b="b"/>
            <a:pathLst>
              <a:path w="144274" h="145661">
                <a:moveTo>
                  <a:pt x="72137" y="22562"/>
                </a:moveTo>
                <a:cubicBezTo>
                  <a:pt x="72160" y="14784"/>
                  <a:pt x="67967" y="7604"/>
                  <a:pt x="61181" y="3802"/>
                </a:cubicBezTo>
                <a:cubicBezTo>
                  <a:pt x="54395" y="0"/>
                  <a:pt x="46082" y="173"/>
                  <a:pt x="39461" y="4255"/>
                </a:cubicBezTo>
                <a:cubicBezTo>
                  <a:pt x="32839" y="8336"/>
                  <a:pt x="28949" y="15684"/>
                  <a:pt x="29296" y="23455"/>
                </a:cubicBezTo>
                <a:cubicBezTo>
                  <a:pt x="20788" y="25642"/>
                  <a:pt x="13758" y="31622"/>
                  <a:pt x="10235" y="39670"/>
                </a:cubicBezTo>
                <a:cubicBezTo>
                  <a:pt x="6712" y="47718"/>
                  <a:pt x="7087" y="56939"/>
                  <a:pt x="11251" y="64674"/>
                </a:cubicBezTo>
                <a:cubicBezTo>
                  <a:pt x="3914" y="70634"/>
                  <a:pt x="0" y="79837"/>
                  <a:pt x="795" y="89256"/>
                </a:cubicBezTo>
                <a:cubicBezTo>
                  <a:pt x="1590" y="98675"/>
                  <a:pt x="6991" y="107091"/>
                  <a:pt x="15223" y="111737"/>
                </a:cubicBezTo>
                <a:cubicBezTo>
                  <a:pt x="13858" y="122293"/>
                  <a:pt x="18474" y="132733"/>
                  <a:pt x="27201" y="138827"/>
                </a:cubicBezTo>
                <a:cubicBezTo>
                  <a:pt x="35927" y="144922"/>
                  <a:pt x="47317" y="145661"/>
                  <a:pt x="56758" y="140745"/>
                </a:cubicBezTo>
                <a:cubicBezTo>
                  <a:pt x="66199" y="135830"/>
                  <a:pt x="72126" y="126074"/>
                  <a:pt x="72137" y="115431"/>
                </a:cubicBezTo>
                <a:close/>
                <a:moveTo>
                  <a:pt x="72137" y="22562"/>
                </a:moveTo>
                <a:cubicBezTo>
                  <a:pt x="72114" y="14784"/>
                  <a:pt x="76307" y="7604"/>
                  <a:pt x="83093" y="3802"/>
                </a:cubicBezTo>
                <a:cubicBezTo>
                  <a:pt x="89879" y="0"/>
                  <a:pt x="98192" y="173"/>
                  <a:pt x="104813" y="4255"/>
                </a:cubicBezTo>
                <a:cubicBezTo>
                  <a:pt x="111435" y="8336"/>
                  <a:pt x="115325" y="15684"/>
                  <a:pt x="114978" y="23455"/>
                </a:cubicBezTo>
                <a:cubicBezTo>
                  <a:pt x="123486" y="25642"/>
                  <a:pt x="130516" y="31622"/>
                  <a:pt x="134039" y="39670"/>
                </a:cubicBezTo>
                <a:cubicBezTo>
                  <a:pt x="137562" y="47718"/>
                  <a:pt x="137187" y="56939"/>
                  <a:pt x="133023" y="64674"/>
                </a:cubicBezTo>
                <a:cubicBezTo>
                  <a:pt x="140360" y="70634"/>
                  <a:pt x="144274" y="79837"/>
                  <a:pt x="143479" y="89256"/>
                </a:cubicBezTo>
                <a:cubicBezTo>
                  <a:pt x="142684" y="98675"/>
                  <a:pt x="137283" y="107091"/>
                  <a:pt x="129051" y="111737"/>
                </a:cubicBezTo>
                <a:cubicBezTo>
                  <a:pt x="130416" y="122293"/>
                  <a:pt x="125800" y="132733"/>
                  <a:pt x="117073" y="138827"/>
                </a:cubicBezTo>
                <a:cubicBezTo>
                  <a:pt x="108347" y="144922"/>
                  <a:pt x="96956" y="145661"/>
                  <a:pt x="87516" y="140745"/>
                </a:cubicBezTo>
                <a:cubicBezTo>
                  <a:pt x="78075" y="135830"/>
                  <a:pt x="72148" y="126074"/>
                  <a:pt x="72137" y="115431"/>
                </a:cubicBezTo>
                <a:close/>
                <a:moveTo>
                  <a:pt x="93568" y="79712"/>
                </a:moveTo>
                <a:cubicBezTo>
                  <a:pt x="81303" y="75397"/>
                  <a:pt x="72845" y="64119"/>
                  <a:pt x="72137" y="51137"/>
                </a:cubicBezTo>
                <a:cubicBezTo>
                  <a:pt x="71429" y="64119"/>
                  <a:pt x="62971" y="75397"/>
                  <a:pt x="50706" y="79712"/>
                </a:cubicBezTo>
                <a:moveTo>
                  <a:pt x="112135" y="33277"/>
                </a:moveTo>
                <a:cubicBezTo>
                  <a:pt x="113864" y="30281"/>
                  <a:pt x="114842" y="26911"/>
                  <a:pt x="114985" y="23455"/>
                </a:cubicBezTo>
                <a:moveTo>
                  <a:pt x="29296" y="23455"/>
                </a:moveTo>
                <a:cubicBezTo>
                  <a:pt x="29437" y="26910"/>
                  <a:pt x="30413" y="30281"/>
                  <a:pt x="32139" y="33277"/>
                </a:cubicBezTo>
                <a:moveTo>
                  <a:pt x="11251" y="64681"/>
                </a:moveTo>
                <a:cubicBezTo>
                  <a:pt x="12558" y="63617"/>
                  <a:pt x="13956" y="62670"/>
                  <a:pt x="15430" y="61852"/>
                </a:cubicBezTo>
                <a:moveTo>
                  <a:pt x="128844" y="61852"/>
                </a:moveTo>
                <a:cubicBezTo>
                  <a:pt x="130318" y="62670"/>
                  <a:pt x="131716" y="63617"/>
                  <a:pt x="133023" y="64681"/>
                </a:cubicBezTo>
                <a:moveTo>
                  <a:pt x="29274" y="115431"/>
                </a:moveTo>
                <a:cubicBezTo>
                  <a:pt x="24351" y="115433"/>
                  <a:pt x="19511" y="114163"/>
                  <a:pt x="15223" y="111744"/>
                </a:cubicBezTo>
                <a:moveTo>
                  <a:pt x="129051" y="111744"/>
                </a:moveTo>
                <a:cubicBezTo>
                  <a:pt x="124763" y="114163"/>
                  <a:pt x="119923" y="115433"/>
                  <a:pt x="114999" y="115431"/>
                </a:cubicBezTo>
              </a:path>
            </a:pathLst>
          </a:custGeom>
          <a:noFill/>
          <a:ln w="12859" cap="rnd">
            <a:solidFill>
              <a:srgbClr val="B0AAFF"/>
            </a:solidFill>
            <a:round/>
          </a:ln>
        </p:spPr>
      </p:sp>
      <p:sp>
        <p:nvSpPr>
          <p:cNvPr id="80" name="Text Model"/>
          <p:cNvSpPr txBox="1"/>
          <p:nvPr/>
        </p:nvSpPr>
        <p:spPr>
          <a:xfrm>
            <a:off x="9124950" y="2590800"/>
            <a:ext cx="438894"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Model</a:t>
            </a:r>
            <a:endParaRPr lang="en-US" sz="1088" dirty="0"/>
          </a:p>
        </p:txBody>
      </p:sp>
      <p:sp>
        <p:nvSpPr>
          <p:cNvPr id="81" name="dg i-book-open"/>
          <p:cNvSpPr/>
          <p:nvPr/>
        </p:nvSpPr>
        <p:spPr>
          <a:xfrm>
            <a:off x="8872538" y="2821781"/>
            <a:ext cx="142875" cy="128588"/>
          </a:xfrm>
          <a:custGeom>
            <a:avLst/>
            <a:gdLst/>
            <a:ahLst/>
            <a:cxnLst/>
            <a:rect l="l" t="t" r="r" b="b"/>
            <a:pathLst>
              <a:path w="142875" h="128588">
                <a:moveTo>
                  <a:pt x="71438" y="28575"/>
                </a:moveTo>
                <a:lnTo>
                  <a:pt x="71438" y="128588"/>
                </a:lnTo>
                <a:moveTo>
                  <a:pt x="7144" y="107156"/>
                </a:moveTo>
                <a:cubicBezTo>
                  <a:pt x="3198" y="107156"/>
                  <a:pt x="0" y="103958"/>
                  <a:pt x="0" y="100013"/>
                </a:cubicBezTo>
                <a:lnTo>
                  <a:pt x="0" y="7144"/>
                </a:lnTo>
                <a:cubicBezTo>
                  <a:pt x="0" y="3198"/>
                  <a:pt x="3198" y="0"/>
                  <a:pt x="7144" y="0"/>
                </a:cubicBezTo>
                <a:lnTo>
                  <a:pt x="42863" y="0"/>
                </a:lnTo>
                <a:cubicBezTo>
                  <a:pt x="58644" y="0"/>
                  <a:pt x="71438" y="12793"/>
                  <a:pt x="71438" y="28575"/>
                </a:cubicBezTo>
                <a:cubicBezTo>
                  <a:pt x="71438" y="12793"/>
                  <a:pt x="84231" y="0"/>
                  <a:pt x="100013" y="0"/>
                </a:cubicBezTo>
                <a:lnTo>
                  <a:pt x="135731" y="0"/>
                </a:lnTo>
                <a:cubicBezTo>
                  <a:pt x="139677" y="0"/>
                  <a:pt x="142875" y="3198"/>
                  <a:pt x="142875" y="7144"/>
                </a:cubicBezTo>
                <a:lnTo>
                  <a:pt x="142875" y="100013"/>
                </a:lnTo>
                <a:cubicBezTo>
                  <a:pt x="142875" y="103958"/>
                  <a:pt x="139677" y="107156"/>
                  <a:pt x="135731" y="107156"/>
                </a:cubicBezTo>
                <a:lnTo>
                  <a:pt x="92869" y="107156"/>
                </a:lnTo>
                <a:cubicBezTo>
                  <a:pt x="81033" y="107156"/>
                  <a:pt x="71438" y="116751"/>
                  <a:pt x="71438" y="128588"/>
                </a:cubicBezTo>
                <a:cubicBezTo>
                  <a:pt x="71438" y="116751"/>
                  <a:pt x="61842" y="107156"/>
                  <a:pt x="50006" y="107156"/>
                </a:cubicBezTo>
                <a:close/>
              </a:path>
            </a:pathLst>
          </a:custGeom>
          <a:noFill/>
          <a:ln w="12859" cap="rnd">
            <a:solidFill>
              <a:srgbClr val="B0AAFF"/>
            </a:solidFill>
            <a:round/>
          </a:ln>
        </p:spPr>
      </p:sp>
      <p:sp>
        <p:nvSpPr>
          <p:cNvPr id="82" name="Text Knowledge"/>
          <p:cNvSpPr txBox="1"/>
          <p:nvPr/>
        </p:nvSpPr>
        <p:spPr>
          <a:xfrm>
            <a:off x="9124950" y="2819400"/>
            <a:ext cx="731639"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Knowledge</a:t>
            </a:r>
            <a:endParaRPr lang="en-US" sz="1088" dirty="0"/>
          </a:p>
        </p:txBody>
      </p:sp>
      <p:sp>
        <p:nvSpPr>
          <p:cNvPr id="83" name="dg i-wrench"/>
          <p:cNvSpPr/>
          <p:nvPr/>
        </p:nvSpPr>
        <p:spPr>
          <a:xfrm>
            <a:off x="8878192" y="3039668"/>
            <a:ext cx="140789" cy="140789"/>
          </a:xfrm>
          <a:custGeom>
            <a:avLst/>
            <a:gdLst/>
            <a:ahLst/>
            <a:cxnLst/>
            <a:rect l="l" t="t" r="r" b="b"/>
            <a:pathLst>
              <a:path w="140789" h="140789">
                <a:moveTo>
                  <a:pt x="85071" y="34287"/>
                </a:moveTo>
                <a:cubicBezTo>
                  <a:pt x="82348" y="37065"/>
                  <a:pt x="82348" y="41511"/>
                  <a:pt x="85071" y="44288"/>
                </a:cubicBezTo>
                <a:lnTo>
                  <a:pt x="96501" y="55718"/>
                </a:lnTo>
                <a:cubicBezTo>
                  <a:pt x="99279" y="58441"/>
                  <a:pt x="103724" y="58441"/>
                  <a:pt x="106502" y="55718"/>
                </a:cubicBezTo>
                <a:lnTo>
                  <a:pt x="133434" y="28786"/>
                </a:lnTo>
                <a:cubicBezTo>
                  <a:pt x="140789" y="45040"/>
                  <a:pt x="137307" y="64151"/>
                  <a:pt x="124692" y="76766"/>
                </a:cubicBezTo>
                <a:cubicBezTo>
                  <a:pt x="112077" y="89381"/>
                  <a:pt x="92967" y="92863"/>
                  <a:pt x="76713" y="85508"/>
                </a:cubicBezTo>
                <a:lnTo>
                  <a:pt x="27349" y="134871"/>
                </a:lnTo>
                <a:cubicBezTo>
                  <a:pt x="21431" y="140789"/>
                  <a:pt x="11836" y="140789"/>
                  <a:pt x="5918" y="134871"/>
                </a:cubicBezTo>
                <a:cubicBezTo>
                  <a:pt x="0" y="128953"/>
                  <a:pt x="0" y="119358"/>
                  <a:pt x="5918" y="113440"/>
                </a:cubicBezTo>
                <a:lnTo>
                  <a:pt x="55281" y="64077"/>
                </a:lnTo>
                <a:cubicBezTo>
                  <a:pt x="47926" y="47823"/>
                  <a:pt x="51408" y="28712"/>
                  <a:pt x="64023" y="16097"/>
                </a:cubicBezTo>
                <a:cubicBezTo>
                  <a:pt x="76639" y="3482"/>
                  <a:pt x="95749" y="0"/>
                  <a:pt x="112003" y="7355"/>
                </a:cubicBezTo>
                <a:lnTo>
                  <a:pt x="85142" y="34216"/>
                </a:lnTo>
                <a:close/>
              </a:path>
            </a:pathLst>
          </a:custGeom>
          <a:noFill/>
          <a:ln w="12859" cap="rnd">
            <a:solidFill>
              <a:srgbClr val="B0AAFF"/>
            </a:solidFill>
            <a:round/>
          </a:ln>
        </p:spPr>
      </p:sp>
      <p:sp>
        <p:nvSpPr>
          <p:cNvPr id="84" name="Text Tools"/>
          <p:cNvSpPr txBox="1"/>
          <p:nvPr/>
        </p:nvSpPr>
        <p:spPr>
          <a:xfrm>
            <a:off x="9124950" y="3048000"/>
            <a:ext cx="380851"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Tools</a:t>
            </a:r>
            <a:endParaRPr lang="en-US" sz="1088" dirty="0"/>
          </a:p>
        </p:txBody>
      </p:sp>
      <p:sp>
        <p:nvSpPr>
          <p:cNvPr id="85" name="dg rect"/>
          <p:cNvSpPr/>
          <p:nvPr/>
        </p:nvSpPr>
        <p:spPr>
          <a:xfrm>
            <a:off x="9001125" y="3543300"/>
            <a:ext cx="800100" cy="323850"/>
          </a:xfrm>
          <a:prstGeom prst="roundRect">
            <a:avLst>
              <a:gd name="adj" fmla="val 38462"/>
            </a:avLst>
          </a:prstGeom>
          <a:solidFill>
            <a:srgbClr val="337EFF">
              <a:alpha val="22000"/>
            </a:srgbClr>
          </a:solidFill>
          <a:ln w="13335" cap="flat">
            <a:solidFill>
              <a:srgbClr val="337EFF"/>
            </a:solidFill>
            <a:miter lim="800000"/>
          </a:ln>
        </p:spPr>
      </p:sp>
      <p:sp>
        <p:nvSpPr>
          <p:cNvPr id="86" name="dg i-cloud"/>
          <p:cNvSpPr/>
          <p:nvPr/>
        </p:nvSpPr>
        <p:spPr>
          <a:xfrm>
            <a:off x="9108429" y="36512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87" name="Text MCP"/>
          <p:cNvSpPr txBox="1"/>
          <p:nvPr/>
        </p:nvSpPr>
        <p:spPr>
          <a:xfrm>
            <a:off x="9324975" y="3652838"/>
            <a:ext cx="306884"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MCP</a:t>
            </a:r>
            <a:endParaRPr lang="en-US" sz="938" dirty="0"/>
          </a:p>
        </p:txBody>
      </p:sp>
      <p:sp>
        <p:nvSpPr>
          <p:cNvPr id="88" name="dg path"/>
          <p:cNvSpPr/>
          <p:nvPr/>
        </p:nvSpPr>
        <p:spPr>
          <a:xfrm>
            <a:off x="9401175" y="3324225"/>
            <a:ext cx="0" cy="209550"/>
          </a:xfrm>
          <a:prstGeom prst="line">
            <a:avLst/>
          </a:prstGeom>
          <a:noFill/>
          <a:ln w="17145" cap="rnd">
            <a:solidFill>
              <a:srgbClr val="337EFF">
                <a:alpha val="90000"/>
              </a:srgbClr>
            </a:solidFill>
            <a:custDash>
              <a:ds d="222222" sp="277778"/>
            </a:custDash>
            <a:miter lim="800000"/>
          </a:ln>
        </p:spPr>
      </p:sp>
      <p:sp>
        <p:nvSpPr>
          <p:cNvPr id="89" name="dg circle"/>
          <p:cNvSpPr/>
          <p:nvPr/>
        </p:nvSpPr>
        <p:spPr>
          <a:xfrm>
            <a:off x="9367838" y="3290888"/>
            <a:ext cx="66675" cy="66675"/>
          </a:xfrm>
          <a:prstGeom prst="ellipse">
            <a:avLst/>
          </a:prstGeom>
          <a:solidFill>
            <a:srgbClr val="337EFF"/>
          </a:solidFill>
          <a:ln>
            <a:noFill/>
          </a:ln>
        </p:spPr>
      </p:sp>
      <p:sp>
        <p:nvSpPr>
          <p:cNvPr id="90" name="dg path"/>
          <p:cNvSpPr/>
          <p:nvPr/>
        </p:nvSpPr>
        <p:spPr>
          <a:xfrm>
            <a:off x="7800975" y="2581275"/>
            <a:ext cx="238125" cy="0"/>
          </a:xfrm>
          <a:prstGeom prst="line">
            <a:avLst/>
          </a:prstGeom>
          <a:noFill/>
          <a:ln w="28575" cap="rnd">
            <a:solidFill>
              <a:srgbClr val="B0AAFF"/>
            </a:solidFill>
            <a:miter lim="800000"/>
          </a:ln>
        </p:spPr>
      </p:sp>
      <p:sp>
        <p:nvSpPr>
          <p:cNvPr id="91" name="Text"/>
          <p:cNvSpPr txBox="1"/>
          <p:nvPr/>
        </p:nvSpPr>
        <p:spPr>
          <a:xfrm>
            <a:off x="8068866" y="2457450"/>
            <a:ext cx="245269" cy="323850"/>
          </a:xfrm>
          <a:prstGeom prst="rect">
            <a:avLst/>
          </a:prstGeom>
          <a:noFill/>
          <a:ln/>
        </p:spPr>
        <p:txBody>
          <a:bodyPr wrap="none" lIns="0" tIns="0" rIns="0" bIns="0" rtlCol="0" anchor="ctr"/>
          <a:lstStyle/>
          <a:p>
            <a:pPr algn="ctr" indent="0" marL="0">
              <a:buNone/>
            </a:pPr>
            <a:r>
              <a:rPr lang="en-US" sz="2100" b="1" dirty="0">
                <a:solidFill>
                  <a:srgbClr val="B0AAFF"/>
                </a:solidFill>
                <a:latin typeface="Scotia" pitchFamily="34" charset="0"/>
                <a:ea typeface="Scotia" pitchFamily="34" charset="-122"/>
                <a:cs typeface="Scotia" pitchFamily="34" charset="-120"/>
              </a:rPr>
              <a:t>···</a:t>
            </a:r>
            <a:endParaRPr lang="en-US" sz="2100" dirty="0"/>
          </a:p>
        </p:txBody>
      </p:sp>
      <p:sp>
        <p:nvSpPr>
          <p:cNvPr id="92" name="dg path"/>
          <p:cNvSpPr/>
          <p:nvPr/>
        </p:nvSpPr>
        <p:spPr>
          <a:xfrm>
            <a:off x="8343900" y="2581275"/>
            <a:ext cx="226695" cy="0"/>
          </a:xfrm>
          <a:prstGeom prst="line">
            <a:avLst/>
          </a:prstGeom>
          <a:noFill/>
          <a:ln w="28575" cap="rnd">
            <a:solidFill>
              <a:srgbClr val="B0AAFF"/>
            </a:solidFill>
            <a:miter lim="800000"/>
            <a:tailEnd type="triangle" w="med" len="med"/>
          </a:ln>
        </p:spPr>
      </p:sp>
      <p:sp>
        <p:nvSpPr>
          <p:cNvPr id="93" name="dg path"/>
          <p:cNvSpPr/>
          <p:nvPr/>
        </p:nvSpPr>
        <p:spPr>
          <a:xfrm>
            <a:off x="10506075" y="2581275"/>
            <a:ext cx="179070" cy="0"/>
          </a:xfrm>
          <a:prstGeom prst="line">
            <a:avLst/>
          </a:prstGeom>
          <a:noFill/>
          <a:ln w="28575" cap="rnd">
            <a:solidFill>
              <a:srgbClr val="B0AAFF"/>
            </a:solidFill>
            <a:miter lim="800000"/>
            <a:tailEnd type="triangle" w="med" len="med"/>
          </a:ln>
        </p:spPr>
      </p:sp>
      <p:sp>
        <p:nvSpPr>
          <p:cNvPr id="94" name="dg polygon"/>
          <p:cNvSpPr/>
          <p:nvPr/>
        </p:nvSpPr>
        <p:spPr>
          <a:xfrm>
            <a:off x="10725150" y="2276475"/>
            <a:ext cx="1066800" cy="609600"/>
          </a:xfrm>
          <a:custGeom>
            <a:avLst/>
            <a:gdLst/>
            <a:ahLst/>
            <a:cxnLst/>
            <a:rect l="l" t="t" r="r" b="b"/>
            <a:pathLst>
              <a:path w="1066800" h="609600">
                <a:moveTo>
                  <a:pt x="133350" y="0"/>
                </a:moveTo>
                <a:lnTo>
                  <a:pt x="1066800" y="0"/>
                </a:lnTo>
                <a:lnTo>
                  <a:pt x="933450" y="609600"/>
                </a:lnTo>
                <a:lnTo>
                  <a:pt x="0" y="609600"/>
                </a:lnTo>
                <a:close/>
              </a:path>
            </a:pathLst>
          </a:custGeom>
          <a:noFill/>
          <a:ln w="13335" cap="flat">
            <a:solidFill>
              <a:srgbClr val="2FBF71"/>
            </a:solidFill>
            <a:miter lim="800000"/>
          </a:ln>
        </p:spPr>
      </p:sp>
      <p:sp>
        <p:nvSpPr>
          <p:cNvPr id="95" name="Text Result"/>
          <p:cNvSpPr txBox="1"/>
          <p:nvPr/>
        </p:nvSpPr>
        <p:spPr>
          <a:xfrm>
            <a:off x="10997505" y="2428875"/>
            <a:ext cx="522089" cy="200025"/>
          </a:xfrm>
          <a:prstGeom prst="rect">
            <a:avLst/>
          </a:prstGeom>
          <a:noFill/>
          <a:ln/>
        </p:spPr>
        <p:txBody>
          <a:bodyPr wrap="none" lIns="0" tIns="0" rIns="0" bIns="0" rtlCol="0" anchor="ctr"/>
          <a:lstStyle/>
          <a:p>
            <a:pPr algn="ctr" indent="0" marL="0">
              <a:buNone/>
            </a:pPr>
            <a:r>
              <a:rPr lang="en-US" sz="1275" b="1" dirty="0">
                <a:solidFill>
                  <a:srgbClr val="2FBF71"/>
                </a:solidFill>
                <a:latin typeface="Scotia" pitchFamily="34" charset="0"/>
                <a:ea typeface="Scotia" pitchFamily="34" charset="-122"/>
                <a:cs typeface="Scotia" pitchFamily="34" charset="-120"/>
              </a:rPr>
              <a:t>Result</a:t>
            </a:r>
            <a:endParaRPr lang="en-US" sz="1275" dirty="0"/>
          </a:p>
        </p:txBody>
      </p:sp>
      <p:sp>
        <p:nvSpPr>
          <p:cNvPr id="96" name="Text final output"/>
          <p:cNvSpPr txBox="1"/>
          <p:nvPr/>
        </p:nvSpPr>
        <p:spPr>
          <a:xfrm>
            <a:off x="10873234" y="2647950"/>
            <a:ext cx="770632" cy="152400"/>
          </a:xfrm>
          <a:prstGeom prst="rect">
            <a:avLst/>
          </a:prstGeom>
          <a:noFill/>
          <a:ln/>
        </p:spPr>
        <p:txBody>
          <a:bodyPr wrap="none" lIns="0" tIns="0" rIns="0" bIns="0" rtlCol="0" anchor="ctr"/>
          <a:lstStyle/>
          <a:p>
            <a:pPr algn="ctr" indent="0" marL="0">
              <a:buNone/>
            </a:pPr>
            <a:r>
              <a:rPr lang="en-US" sz="1050" dirty="0">
                <a:solidFill>
                  <a:srgbClr val="FFFFFF"/>
                </a:solidFill>
                <a:latin typeface="Scotia Serif" pitchFamily="34" charset="0"/>
                <a:ea typeface="Scotia Serif" pitchFamily="34" charset="-122"/>
                <a:cs typeface="Scotia Serif" pitchFamily="34" charset="-120"/>
              </a:rPr>
              <a:t>final output</a:t>
            </a:r>
            <a:endParaRPr lang="en-US" sz="1050" dirty="0"/>
          </a:p>
        </p:txBody>
      </p:sp>
      <p:sp>
        <p:nvSpPr>
          <p:cNvPr id="97" name="dg circle"/>
          <p:cNvSpPr/>
          <p:nvPr/>
        </p:nvSpPr>
        <p:spPr>
          <a:xfrm>
            <a:off x="8210550" y="4819650"/>
            <a:ext cx="266700" cy="266700"/>
          </a:xfrm>
          <a:prstGeom prst="ellipse">
            <a:avLst/>
          </a:prstGeom>
          <a:solidFill>
            <a:srgbClr val="6551FF"/>
          </a:solidFill>
          <a:ln>
            <a:noFill/>
          </a:ln>
        </p:spPr>
      </p:sp>
      <p:sp>
        <p:nvSpPr>
          <p:cNvPr id="98" name="Text 3"/>
          <p:cNvSpPr txBox="1"/>
          <p:nvPr/>
        </p:nvSpPr>
        <p:spPr>
          <a:xfrm>
            <a:off x="8279011" y="4896231"/>
            <a:ext cx="129778" cy="152400"/>
          </a:xfrm>
          <a:prstGeom prst="rect">
            <a:avLst/>
          </a:prstGeom>
          <a:noFill/>
          <a:ln/>
        </p:spPr>
        <p:txBody>
          <a:bodyPr wrap="none" lIns="0" tIns="0" rIns="0" bIns="0" rtlCol="0" anchor="ctr"/>
          <a:lstStyle/>
          <a:p>
            <a:pPr algn="ctr" indent="0" marL="0">
              <a:buNone/>
            </a:pPr>
            <a:r>
              <a:rPr lang="en-US" sz="1050" b="1" dirty="0">
                <a:solidFill>
                  <a:srgbClr val="FFFFFF"/>
                </a:solidFill>
                <a:latin typeface="Scotia" pitchFamily="34" charset="0"/>
                <a:ea typeface="Scotia" pitchFamily="34" charset="-122"/>
                <a:cs typeface="Scotia" pitchFamily="34" charset="-120"/>
              </a:rPr>
              <a:t>3</a:t>
            </a:r>
            <a:endParaRPr lang="en-US" sz="1050" dirty="0"/>
          </a:p>
        </p:txBody>
      </p:sp>
      <p:sp>
        <p:nvSpPr>
          <p:cNvPr id="99" name="Text The last output is the result"/>
          <p:cNvSpPr txBox="1"/>
          <p:nvPr/>
        </p:nvSpPr>
        <p:spPr>
          <a:xfrm>
            <a:off x="8591550" y="4886325"/>
            <a:ext cx="2024509"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The last output is the result</a:t>
            </a:r>
            <a:endParaRPr lang="en-US" sz="1238" dirty="0"/>
          </a:p>
        </p:txBody>
      </p:sp>
      <p:sp>
        <p:nvSpPr>
          <p:cNvPr id="100" name="Text Order is fixed up front: routi"/>
          <p:cNvSpPr txBox="1"/>
          <p:nvPr/>
        </p:nvSpPr>
        <p:spPr>
          <a:xfrm>
            <a:off x="8591550" y="5114925"/>
            <a:ext cx="1934914"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Order is fixed up front: routing</a:t>
            </a:r>
            <a:endParaRPr lang="en-US" sz="1050" dirty="0"/>
          </a:p>
        </p:txBody>
      </p:sp>
      <p:sp>
        <p:nvSpPr>
          <p:cNvPr id="101" name="Text is deterministic."/>
          <p:cNvSpPr txBox="1"/>
          <p:nvPr/>
        </p:nvSpPr>
        <p:spPr>
          <a:xfrm>
            <a:off x="8591550" y="5295900"/>
            <a:ext cx="1035248"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is deterministic.</a:t>
            </a:r>
            <a:endParaRPr lang="en-US" sz="1050" dirty="0"/>
          </a:p>
        </p:txBody>
      </p:sp>
      <p:sp>
        <p:nvSpPr>
          <p:cNvPr id="102" name="dg rect"/>
          <p:cNvSpPr/>
          <p:nvPr/>
        </p:nvSpPr>
        <p:spPr>
          <a:xfrm>
            <a:off x="1733550" y="4171950"/>
            <a:ext cx="8724900" cy="400050"/>
          </a:xfrm>
          <a:prstGeom prst="roundRect">
            <a:avLst>
              <a:gd name="adj" fmla="val 50000"/>
            </a:avLst>
          </a:prstGeom>
          <a:noFill/>
          <a:ln w="14288" cap="flat">
            <a:solidFill>
              <a:srgbClr val="B0AAFF"/>
            </a:solidFill>
            <a:custDash>
              <a:ds d="400000" sp="400000"/>
            </a:custDash>
            <a:miter lim="800000"/>
          </a:ln>
        </p:spPr>
      </p:sp>
      <p:sp>
        <p:nvSpPr>
          <p:cNvPr id="103" name="dg i-database"/>
          <p:cNvSpPr/>
          <p:nvPr/>
        </p:nvSpPr>
        <p:spPr>
          <a:xfrm>
            <a:off x="1952625" y="4276725"/>
            <a:ext cx="171450" cy="190500"/>
          </a:xfrm>
          <a:custGeom>
            <a:avLst/>
            <a:gdLst/>
            <a:ahLst/>
            <a:cxnLst/>
            <a:rect l="l" t="t" r="r" b="b"/>
            <a:pathLst>
              <a:path w="171450" h="190500">
                <a:moveTo>
                  <a:pt x="171450" y="28575"/>
                </a:moveTo>
                <a:cubicBezTo>
                  <a:pt x="171450" y="44357"/>
                  <a:pt x="133070" y="57150"/>
                  <a:pt x="85725" y="57150"/>
                </a:cubicBezTo>
                <a:cubicBezTo>
                  <a:pt x="38380" y="57150"/>
                  <a:pt x="0" y="44357"/>
                  <a:pt x="0" y="28575"/>
                </a:cubicBezTo>
                <a:cubicBezTo>
                  <a:pt x="0" y="12793"/>
                  <a:pt x="38380" y="0"/>
                  <a:pt x="85725" y="0"/>
                </a:cubicBezTo>
                <a:cubicBezTo>
                  <a:pt x="133070" y="0"/>
                  <a:pt x="171450" y="12793"/>
                  <a:pt x="171450" y="28575"/>
                </a:cubicBezTo>
                <a:close/>
                <a:moveTo>
                  <a:pt x="0" y="28575"/>
                </a:moveTo>
                <a:lnTo>
                  <a:pt x="0" y="161925"/>
                </a:lnTo>
                <a:cubicBezTo>
                  <a:pt x="0" y="177707"/>
                  <a:pt x="38380" y="190500"/>
                  <a:pt x="85725" y="190500"/>
                </a:cubicBezTo>
                <a:cubicBezTo>
                  <a:pt x="133070" y="190500"/>
                  <a:pt x="171450" y="177707"/>
                  <a:pt x="171450" y="161925"/>
                </a:cubicBezTo>
                <a:lnTo>
                  <a:pt x="171450" y="28575"/>
                </a:lnTo>
                <a:moveTo>
                  <a:pt x="0" y="95250"/>
                </a:moveTo>
                <a:cubicBezTo>
                  <a:pt x="0" y="111032"/>
                  <a:pt x="38380" y="123825"/>
                  <a:pt x="85725" y="123825"/>
                </a:cubicBezTo>
                <a:cubicBezTo>
                  <a:pt x="133070" y="123825"/>
                  <a:pt x="171450" y="111032"/>
                  <a:pt x="171450" y="95250"/>
                </a:cubicBezTo>
              </a:path>
            </a:pathLst>
          </a:custGeom>
          <a:noFill/>
          <a:ln w="17145" cap="rnd">
            <a:solidFill>
              <a:srgbClr val="B0AAFF"/>
            </a:solidFill>
            <a:round/>
          </a:ln>
        </p:spPr>
      </p:sp>
      <p:sp>
        <p:nvSpPr>
          <p:cNvPr id="104" name="Text Common state"/>
          <p:cNvSpPr txBox="1"/>
          <p:nvPr/>
        </p:nvSpPr>
        <p:spPr>
          <a:xfrm>
            <a:off x="2266950" y="4295775"/>
            <a:ext cx="1082129" cy="180975"/>
          </a:xfrm>
          <a:prstGeom prst="rect">
            <a:avLst/>
          </a:prstGeom>
          <a:noFill/>
          <a:ln/>
        </p:spPr>
        <p:txBody>
          <a:bodyPr wrap="none" lIns="0" tIns="0" rIns="0" bIns="0" rtlCol="0" anchor="ctr"/>
          <a:lstStyle/>
          <a:p>
            <a:pPr algn="l" indent="0" marL="0">
              <a:buNone/>
            </a:pPr>
            <a:r>
              <a:rPr lang="en-US" sz="1200" b="1" dirty="0">
                <a:solidFill>
                  <a:srgbClr val="FFFFFF"/>
                </a:solidFill>
                <a:latin typeface="Scotia" pitchFamily="34" charset="0"/>
                <a:ea typeface="Scotia" pitchFamily="34" charset="-122"/>
                <a:cs typeface="Scotia" pitchFamily="34" charset="-120"/>
              </a:rPr>
              <a:t>Common state</a:t>
            </a:r>
            <a:endParaRPr lang="en-US" sz="1200" dirty="0"/>
          </a:p>
        </p:txBody>
      </p:sp>
      <p:sp>
        <p:nvSpPr>
          <p:cNvPr id="105" name="Text Shared context across every"/>
          <p:cNvSpPr txBox="1"/>
          <p:nvPr/>
        </p:nvSpPr>
        <p:spPr>
          <a:xfrm>
            <a:off x="3467100" y="4314825"/>
            <a:ext cx="3218706"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 Shared context across every agent in the pipeline</a:t>
            </a:r>
            <a:endParaRPr lang="en-US" sz="1050" dirty="0"/>
          </a:p>
        </p:txBody>
      </p:sp>
      <p:sp>
        <p:nvSpPr>
          <p:cNvPr id="106" name="dg path"/>
          <p:cNvSpPr/>
          <p:nvPr/>
        </p:nvSpPr>
        <p:spPr>
          <a:xfrm>
            <a:off x="3333750" y="3333750"/>
            <a:ext cx="0" cy="809625"/>
          </a:xfrm>
          <a:prstGeom prst="line">
            <a:avLst/>
          </a:prstGeom>
          <a:noFill/>
          <a:ln w="15240" cap="rnd">
            <a:solidFill>
              <a:srgbClr val="B0AAFF">
                <a:alpha val="80000"/>
              </a:srgbClr>
            </a:solidFill>
            <a:custDash>
              <a:ds d="187500" sp="312500"/>
            </a:custDash>
            <a:miter lim="800000"/>
          </a:ln>
        </p:spPr>
      </p:sp>
      <p:sp>
        <p:nvSpPr>
          <p:cNvPr id="107" name="dg path"/>
          <p:cNvSpPr/>
          <p:nvPr/>
        </p:nvSpPr>
        <p:spPr>
          <a:xfrm>
            <a:off x="5429250" y="3333750"/>
            <a:ext cx="0" cy="809625"/>
          </a:xfrm>
          <a:prstGeom prst="line">
            <a:avLst/>
          </a:prstGeom>
          <a:noFill/>
          <a:ln w="15240" cap="rnd">
            <a:solidFill>
              <a:srgbClr val="B0AAFF">
                <a:alpha val="80000"/>
              </a:srgbClr>
            </a:solidFill>
            <a:custDash>
              <a:ds d="187500" sp="312500"/>
            </a:custDash>
            <a:miter lim="800000"/>
          </a:ln>
        </p:spPr>
      </p:sp>
      <p:sp>
        <p:nvSpPr>
          <p:cNvPr id="108" name="dg path"/>
          <p:cNvSpPr/>
          <p:nvPr/>
        </p:nvSpPr>
        <p:spPr>
          <a:xfrm>
            <a:off x="7524750" y="3333750"/>
            <a:ext cx="0" cy="809625"/>
          </a:xfrm>
          <a:prstGeom prst="line">
            <a:avLst/>
          </a:prstGeom>
          <a:noFill/>
          <a:ln w="15240" cap="rnd">
            <a:solidFill>
              <a:srgbClr val="B0AAFF">
                <a:alpha val="80000"/>
              </a:srgbClr>
            </a:solidFill>
            <a:custDash>
              <a:ds d="187500" sp="312500"/>
            </a:custDash>
            <a:miter lim="800000"/>
          </a:ln>
        </p:spPr>
      </p:sp>
      <p:sp>
        <p:nvSpPr>
          <p:cNvPr id="109" name="dg path"/>
          <p:cNvSpPr/>
          <p:nvPr/>
        </p:nvSpPr>
        <p:spPr>
          <a:xfrm>
            <a:off x="10229850" y="3333750"/>
            <a:ext cx="0" cy="809625"/>
          </a:xfrm>
          <a:prstGeom prst="line">
            <a:avLst/>
          </a:prstGeom>
          <a:noFill/>
          <a:ln w="15240" cap="rnd">
            <a:solidFill>
              <a:srgbClr val="B0AAFF">
                <a:alpha val="80000"/>
              </a:srgbClr>
            </a:solidFill>
            <a:custDash>
              <a:ds d="187500" sp="312500"/>
            </a:custDash>
            <a:miter lim="800000"/>
          </a:ln>
        </p:spPr>
      </p:sp>
      <p:sp>
        <p:nvSpPr>
          <p:cNvPr id="110" name="dg line"/>
          <p:cNvSpPr/>
          <p:nvPr/>
        </p:nvSpPr>
        <p:spPr>
          <a:xfrm>
            <a:off x="400050" y="5676900"/>
            <a:ext cx="11391900" cy="0"/>
          </a:xfrm>
          <a:prstGeom prst="line">
            <a:avLst/>
          </a:prstGeom>
          <a:noFill/>
          <a:ln w="9525" cap="flat">
            <a:solidFill>
              <a:srgbClr val="BDC2EF">
                <a:alpha val="22000"/>
              </a:srgbClr>
            </a:solidFill>
            <a:miter lim="800000"/>
          </a:ln>
        </p:spPr>
      </p:sp>
      <p:sp>
        <p:nvSpPr>
          <p:cNvPr id="111" name="Text BEST FOR"/>
          <p:cNvSpPr txBox="1"/>
          <p:nvPr/>
        </p:nvSpPr>
        <p:spPr>
          <a:xfrm>
            <a:off x="400050" y="5819775"/>
            <a:ext cx="718840"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BEST FOR</a:t>
            </a:r>
            <a:endParaRPr lang="en-US" sz="863" dirty="0"/>
          </a:p>
        </p:txBody>
      </p:sp>
      <p:sp>
        <p:nvSpPr>
          <p:cNvPr id="112" name="Text WATCH OUT FOR"/>
          <p:cNvSpPr txBox="1"/>
          <p:nvPr/>
        </p:nvSpPr>
        <p:spPr>
          <a:xfrm>
            <a:off x="6286500" y="5819775"/>
            <a:ext cx="1193155"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WATCH OUT FOR</a:t>
            </a:r>
            <a:endParaRPr lang="en-US" sz="863" dirty="0"/>
          </a:p>
        </p:txBody>
      </p:sp>
      <p:sp>
        <p:nvSpPr>
          <p:cNvPr id="113" name="Text Clear linear dependencies and"/>
          <p:cNvSpPr txBox="1"/>
          <p:nvPr/>
        </p:nvSpPr>
        <p:spPr>
          <a:xfrm>
            <a:off x="400050" y="6000750"/>
            <a:ext cx="4023420"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Clear linear dependencies and step-by-step refinement.</a:t>
            </a:r>
            <a:endParaRPr lang="en-US" sz="1238" dirty="0"/>
          </a:p>
        </p:txBody>
      </p:sp>
      <p:sp>
        <p:nvSpPr>
          <p:cNvPr id="114" name="Text Early errors flow downstream"/>
          <p:cNvSpPr txBox="1"/>
          <p:nvPr/>
        </p:nvSpPr>
        <p:spPr>
          <a:xfrm>
            <a:off x="6286500" y="6000750"/>
            <a:ext cx="4208413"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Early errors flow downstream, and there is no parallelism.</a:t>
            </a:r>
            <a:endParaRPr lang="en-US" sz="1238" dirty="0"/>
          </a:p>
        </p:txBody>
      </p:sp>
      <p:sp>
        <p:nvSpPr>
          <p:cNvPr id="115" name="Text Sequential Orchestration"/>
          <p:cNvSpPr txBox="1"/>
          <p:nvPr/>
        </p:nvSpPr>
        <p:spPr>
          <a:xfrm>
            <a:off x="400050" y="475926"/>
            <a:ext cx="4619625"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Sequential Orchestration</a:t>
            </a:r>
            <a:endParaRPr lang="en-US" sz="3067" dirty="0"/>
          </a:p>
        </p:txBody>
      </p:sp>
      <p:sp>
        <p:nvSpPr>
          <p:cNvPr id="116" name="Text Agents are chained in a predef"/>
          <p:cNvSpPr txBox="1"/>
          <p:nvPr/>
        </p:nvSpPr>
        <p:spPr>
          <a:xfrm>
            <a:off x="400050" y="1025625"/>
            <a:ext cx="7657207"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Agents are chained in a predefined order. Each one processes the previous agent’s output.</a:t>
            </a:r>
            <a:endParaRPr lang="en-US" sz="1467" dirty="0"/>
          </a:p>
        </p:txBody>
      </p:sp>
      <p:sp>
        <p:nvSpPr>
          <p:cNvPr id="117"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118" name="Text 11"/>
          <p:cNvSpPr txBox="1"/>
          <p:nvPr/>
        </p:nvSpPr>
        <p:spPr>
          <a:xfrm>
            <a:off x="11642229" y="6306483"/>
            <a:ext cx="140196"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0" y="0"/>
            <a:ext cx="228600" cy="6858000"/>
          </a:xfrm>
          <a:prstGeom prst="rect">
            <a:avLst/>
          </a:prstGeom>
          <a:solidFill>
            <a:srgbClr val="22D3C5"/>
          </a:solidFill>
          <a:ln>
            <a:noFill/>
          </a:ln>
        </p:spPr>
      </p:sp>
      <p:sp>
        <p:nvSpPr>
          <p:cNvPr id="3" name="dg rect"/>
          <p:cNvSpPr/>
          <p:nvPr/>
        </p:nvSpPr>
        <p:spPr>
          <a:xfrm>
            <a:off x="10348340" y="533400"/>
            <a:ext cx="1443609" cy="266700"/>
          </a:xfrm>
          <a:prstGeom prst="roundRect">
            <a:avLst>
              <a:gd name="adj" fmla="val 50000"/>
            </a:avLst>
          </a:prstGeom>
          <a:solidFill>
            <a:srgbClr val="22D3C5"/>
          </a:solidFill>
          <a:ln>
            <a:noFill/>
          </a:ln>
        </p:spPr>
      </p:sp>
      <p:sp>
        <p:nvSpPr>
          <p:cNvPr id="4" name="Text WORKED EXAMPLE"/>
          <p:cNvSpPr txBox="1"/>
          <p:nvPr/>
        </p:nvSpPr>
        <p:spPr>
          <a:xfrm>
            <a:off x="10381815" y="612646"/>
            <a:ext cx="1376660" cy="142875"/>
          </a:xfrm>
          <a:prstGeom prst="rect">
            <a:avLst/>
          </a:prstGeom>
          <a:noFill/>
          <a:ln/>
        </p:spPr>
        <p:txBody>
          <a:bodyPr wrap="none" lIns="0" tIns="0" rIns="0" bIns="0" rtlCol="0" anchor="ctr"/>
          <a:lstStyle/>
          <a:p>
            <a:pPr algn="ctr" indent="0" marL="0">
              <a:buNone/>
            </a:pPr>
            <a:r>
              <a:rPr lang="en-US" sz="900" b="1" spc="165" kern="0" dirty="0">
                <a:solidFill>
                  <a:srgbClr val="0B0823"/>
                </a:solidFill>
                <a:latin typeface="Scotia" pitchFamily="34" charset="0"/>
                <a:ea typeface="Scotia" pitchFamily="34" charset="-122"/>
                <a:cs typeface="Scotia" pitchFamily="34" charset="-120"/>
              </a:rPr>
              <a:t>WORKED EXAMPLE</a:t>
            </a:r>
            <a:endParaRPr lang="en-US" sz="900" dirty="0"/>
          </a:p>
        </p:txBody>
      </p:sp>
      <p:sp>
        <p:nvSpPr>
          <p:cNvPr id="5" name="Text STEP"/>
          <p:cNvSpPr txBox="1"/>
          <p:nvPr/>
        </p:nvSpPr>
        <p:spPr>
          <a:xfrm>
            <a:off x="800100" y="1647825"/>
            <a:ext cx="378321"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STEP</a:t>
            </a:r>
            <a:endParaRPr lang="en-US" sz="825" dirty="0"/>
          </a:p>
        </p:txBody>
      </p:sp>
      <p:sp>
        <p:nvSpPr>
          <p:cNvPr id="6" name="Text AGENT"/>
          <p:cNvSpPr txBox="1"/>
          <p:nvPr/>
        </p:nvSpPr>
        <p:spPr>
          <a:xfrm>
            <a:off x="1676400" y="1647825"/>
            <a:ext cx="493514"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AGENT</a:t>
            </a:r>
            <a:endParaRPr lang="en-US" sz="825" dirty="0"/>
          </a:p>
        </p:txBody>
      </p:sp>
      <p:sp>
        <p:nvSpPr>
          <p:cNvPr id="7" name="Text MCP SERVER"/>
          <p:cNvSpPr txBox="1"/>
          <p:nvPr/>
        </p:nvSpPr>
        <p:spPr>
          <a:xfrm>
            <a:off x="4095750" y="1647825"/>
            <a:ext cx="870942"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MCP SERVER</a:t>
            </a:r>
            <a:endParaRPr lang="en-US" sz="825" dirty="0"/>
          </a:p>
        </p:txBody>
      </p:sp>
      <p:sp>
        <p:nvSpPr>
          <p:cNvPr id="8" name="Text OUTPUT PASSED ON"/>
          <p:cNvSpPr txBox="1"/>
          <p:nvPr/>
        </p:nvSpPr>
        <p:spPr>
          <a:xfrm>
            <a:off x="6667500" y="1647825"/>
            <a:ext cx="1364456"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OUTPUT PASSED ON</a:t>
            </a:r>
            <a:endParaRPr lang="en-US" sz="825" dirty="0"/>
          </a:p>
        </p:txBody>
      </p:sp>
      <p:sp>
        <p:nvSpPr>
          <p:cNvPr id="9" name="dg rect"/>
          <p:cNvSpPr/>
          <p:nvPr/>
        </p:nvSpPr>
        <p:spPr>
          <a:xfrm>
            <a:off x="400050" y="1866900"/>
            <a:ext cx="11391900" cy="609600"/>
          </a:xfrm>
          <a:prstGeom prst="roundRect">
            <a:avLst>
              <a:gd name="adj" fmla="val 21875"/>
            </a:avLst>
          </a:prstGeom>
          <a:solidFill>
            <a:srgbClr val="FFFFFF">
              <a:alpha val="5000"/>
            </a:srgbClr>
          </a:solidFill>
          <a:ln w="13335" cap="flat">
            <a:solidFill>
              <a:srgbClr val="22D3C5">
                <a:alpha val="35000"/>
              </a:srgbClr>
            </a:solidFill>
            <a:miter lim="800000"/>
          </a:ln>
        </p:spPr>
      </p:sp>
      <p:sp>
        <p:nvSpPr>
          <p:cNvPr id="10" name="dg circle"/>
          <p:cNvSpPr/>
          <p:nvPr/>
        </p:nvSpPr>
        <p:spPr>
          <a:xfrm>
            <a:off x="638175" y="2009775"/>
            <a:ext cx="323850" cy="323850"/>
          </a:xfrm>
          <a:prstGeom prst="ellipse">
            <a:avLst/>
          </a:prstGeom>
          <a:solidFill>
            <a:srgbClr val="22D3C5"/>
          </a:solidFill>
          <a:ln>
            <a:noFill/>
          </a:ln>
        </p:spPr>
      </p:sp>
      <p:sp>
        <p:nvSpPr>
          <p:cNvPr id="11" name="Text 1"/>
          <p:cNvSpPr txBox="1"/>
          <p:nvPr/>
        </p:nvSpPr>
        <p:spPr>
          <a:xfrm>
            <a:off x="736997" y="2100263"/>
            <a:ext cx="126206" cy="180975"/>
          </a:xfrm>
          <a:prstGeom prst="rect">
            <a:avLst/>
          </a:prstGeom>
          <a:noFill/>
          <a:ln/>
        </p:spPr>
        <p:txBody>
          <a:bodyPr wrap="none" lIns="0" tIns="0" rIns="0" bIns="0" rtlCol="0" anchor="ctr"/>
          <a:lstStyle/>
          <a:p>
            <a:pPr algn="ctr" indent="0" marL="0">
              <a:buNone/>
            </a:pPr>
            <a:r>
              <a:rPr lang="en-US" sz="1200" b="1" dirty="0">
                <a:solidFill>
                  <a:srgbClr val="0B0823"/>
                </a:solidFill>
                <a:latin typeface="Scotia" pitchFamily="34" charset="0"/>
                <a:ea typeface="Scotia" pitchFamily="34" charset="-122"/>
                <a:cs typeface="Scotia" pitchFamily="34" charset="-120"/>
              </a:rPr>
              <a:t>1</a:t>
            </a:r>
            <a:endParaRPr lang="en-US" sz="1200" dirty="0"/>
          </a:p>
        </p:txBody>
      </p:sp>
      <p:sp>
        <p:nvSpPr>
          <p:cNvPr id="12" name="Text Triage agent"/>
          <p:cNvSpPr txBox="1"/>
          <p:nvPr/>
        </p:nvSpPr>
        <p:spPr>
          <a:xfrm>
            <a:off x="1676400" y="1981200"/>
            <a:ext cx="1019621"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Triage agent</a:t>
            </a:r>
            <a:endParaRPr lang="en-US" sz="1350" dirty="0"/>
          </a:p>
        </p:txBody>
      </p:sp>
      <p:sp>
        <p:nvSpPr>
          <p:cNvPr id="13" name="Text Reads the alert and analyzes s"/>
          <p:cNvSpPr txBox="1"/>
          <p:nvPr/>
        </p:nvSpPr>
        <p:spPr>
          <a:xfrm>
            <a:off x="1676400" y="2209800"/>
            <a:ext cx="2311152"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Reads the alert and analyzes stack trace</a:t>
            </a:r>
            <a:endParaRPr lang="en-US" sz="975" dirty="0"/>
          </a:p>
        </p:txBody>
      </p:sp>
      <p:sp>
        <p:nvSpPr>
          <p:cNvPr id="14" name="dg rect"/>
          <p:cNvSpPr/>
          <p:nvPr/>
        </p:nvSpPr>
        <p:spPr>
          <a:xfrm>
            <a:off x="4095750" y="2038350"/>
            <a:ext cx="2000250" cy="266700"/>
          </a:xfrm>
          <a:prstGeom prst="roundRect">
            <a:avLst>
              <a:gd name="adj" fmla="val 50000"/>
            </a:avLst>
          </a:prstGeom>
          <a:solidFill>
            <a:srgbClr val="337EFF">
              <a:alpha val="20000"/>
            </a:srgbClr>
          </a:solidFill>
          <a:ln w="12383" cap="flat">
            <a:solidFill>
              <a:srgbClr val="337EFF"/>
            </a:solidFill>
            <a:miter lim="800000"/>
          </a:ln>
        </p:spPr>
      </p:sp>
      <p:sp>
        <p:nvSpPr>
          <p:cNvPr id="15" name="dg i-cloud"/>
          <p:cNvSpPr/>
          <p:nvPr/>
        </p:nvSpPr>
        <p:spPr>
          <a:xfrm>
            <a:off x="4203054" y="211768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16" name="Text Sentry MCP"/>
          <p:cNvSpPr txBox="1"/>
          <p:nvPr/>
        </p:nvSpPr>
        <p:spPr>
          <a:xfrm>
            <a:off x="4419600" y="2119313"/>
            <a:ext cx="696516"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Sentry MCP</a:t>
            </a:r>
            <a:endParaRPr lang="en-US" sz="938" dirty="0"/>
          </a:p>
        </p:txBody>
      </p:sp>
      <p:sp>
        <p:nvSpPr>
          <p:cNvPr id="17" name="Text"/>
          <p:cNvSpPr txBox="1"/>
          <p:nvPr/>
        </p:nvSpPr>
        <p:spPr>
          <a:xfrm>
            <a:off x="6238875" y="2066925"/>
            <a:ext cx="247650" cy="228600"/>
          </a:xfrm>
          <a:prstGeom prst="rect">
            <a:avLst/>
          </a:prstGeom>
          <a:noFill/>
          <a:ln/>
        </p:spPr>
        <p:txBody>
          <a:bodyPr wrap="none" lIns="0" tIns="0" rIns="0" bIns="0" rtlCol="0" anchor="ctr"/>
          <a:lstStyle/>
          <a:p>
            <a:pPr algn="ctr" indent="0" marL="0">
              <a:buNone/>
            </a:pPr>
            <a:r>
              <a:rPr lang="en-US" sz="1500" b="1" dirty="0">
                <a:solidFill>
                  <a:srgbClr val="22D3C5"/>
                </a:solidFill>
                <a:latin typeface="Scotia" pitchFamily="34" charset="0"/>
                <a:ea typeface="Scotia" pitchFamily="34" charset="-122"/>
                <a:cs typeface="Scotia" pitchFamily="34" charset="-120"/>
              </a:rPr>
              <a:t>→</a:t>
            </a:r>
            <a:endParaRPr lang="en-US" sz="1500" dirty="0"/>
          </a:p>
        </p:txBody>
      </p:sp>
      <p:sp>
        <p:nvSpPr>
          <p:cNvPr id="18" name="Text Root cause: cart total is null"/>
          <p:cNvSpPr txBox="1"/>
          <p:nvPr/>
        </p:nvSpPr>
        <p:spPr>
          <a:xfrm>
            <a:off x="6667500" y="2105025"/>
            <a:ext cx="3026122"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Root cause: cart total is null in applyDiscount()</a:t>
            </a:r>
            <a:endParaRPr lang="en-US" sz="1088" dirty="0"/>
          </a:p>
        </p:txBody>
      </p:sp>
      <p:sp>
        <p:nvSpPr>
          <p:cNvPr id="19" name="dg path"/>
          <p:cNvSpPr/>
          <p:nvPr/>
        </p:nvSpPr>
        <p:spPr>
          <a:xfrm>
            <a:off x="800100" y="2495550"/>
            <a:ext cx="0" cy="93345"/>
          </a:xfrm>
          <a:prstGeom prst="line">
            <a:avLst/>
          </a:prstGeom>
          <a:noFill/>
          <a:ln w="22860" cap="rnd">
            <a:solidFill>
              <a:srgbClr val="22D3C5"/>
            </a:solidFill>
            <a:miter lim="800000"/>
            <a:tailEnd type="triangle" w="lg" len="lg"/>
          </a:ln>
        </p:spPr>
      </p:sp>
      <p:sp>
        <p:nvSpPr>
          <p:cNvPr id="20" name="dg rect"/>
          <p:cNvSpPr/>
          <p:nvPr/>
        </p:nvSpPr>
        <p:spPr>
          <a:xfrm>
            <a:off x="400050" y="2609850"/>
            <a:ext cx="11391900" cy="609600"/>
          </a:xfrm>
          <a:prstGeom prst="roundRect">
            <a:avLst>
              <a:gd name="adj" fmla="val 21875"/>
            </a:avLst>
          </a:prstGeom>
          <a:solidFill>
            <a:srgbClr val="FFFFFF">
              <a:alpha val="5000"/>
            </a:srgbClr>
          </a:solidFill>
          <a:ln w="13335" cap="flat">
            <a:solidFill>
              <a:srgbClr val="22D3C5">
                <a:alpha val="35000"/>
              </a:srgbClr>
            </a:solidFill>
            <a:miter lim="800000"/>
          </a:ln>
        </p:spPr>
      </p:sp>
      <p:sp>
        <p:nvSpPr>
          <p:cNvPr id="21" name="dg circle"/>
          <p:cNvSpPr/>
          <p:nvPr/>
        </p:nvSpPr>
        <p:spPr>
          <a:xfrm>
            <a:off x="638175" y="2752725"/>
            <a:ext cx="323850" cy="323850"/>
          </a:xfrm>
          <a:prstGeom prst="ellipse">
            <a:avLst/>
          </a:prstGeom>
          <a:solidFill>
            <a:srgbClr val="22D3C5"/>
          </a:solidFill>
          <a:ln>
            <a:noFill/>
          </a:ln>
        </p:spPr>
      </p:sp>
      <p:sp>
        <p:nvSpPr>
          <p:cNvPr id="22" name="Text 2"/>
          <p:cNvSpPr txBox="1"/>
          <p:nvPr/>
        </p:nvSpPr>
        <p:spPr>
          <a:xfrm>
            <a:off x="729555" y="2843213"/>
            <a:ext cx="141089" cy="180975"/>
          </a:xfrm>
          <a:prstGeom prst="rect">
            <a:avLst/>
          </a:prstGeom>
          <a:noFill/>
          <a:ln/>
        </p:spPr>
        <p:txBody>
          <a:bodyPr wrap="none" lIns="0" tIns="0" rIns="0" bIns="0" rtlCol="0" anchor="ctr"/>
          <a:lstStyle/>
          <a:p>
            <a:pPr algn="ctr" indent="0" marL="0">
              <a:buNone/>
            </a:pPr>
            <a:r>
              <a:rPr lang="en-US" sz="1200" b="1" dirty="0">
                <a:solidFill>
                  <a:srgbClr val="0B0823"/>
                </a:solidFill>
                <a:latin typeface="Scotia" pitchFamily="34" charset="0"/>
                <a:ea typeface="Scotia" pitchFamily="34" charset="-122"/>
                <a:cs typeface="Scotia" pitchFamily="34" charset="-120"/>
              </a:rPr>
              <a:t>2</a:t>
            </a:r>
            <a:endParaRPr lang="en-US" sz="1200" dirty="0"/>
          </a:p>
        </p:txBody>
      </p:sp>
      <p:sp>
        <p:nvSpPr>
          <p:cNvPr id="23" name="Text Diagnose agent"/>
          <p:cNvSpPr txBox="1"/>
          <p:nvPr/>
        </p:nvSpPr>
        <p:spPr>
          <a:xfrm>
            <a:off x="1676400" y="2724150"/>
            <a:ext cx="1263551"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Diagnose agent</a:t>
            </a:r>
            <a:endParaRPr lang="en-US" sz="1350" dirty="0"/>
          </a:p>
        </p:txBody>
      </p:sp>
      <p:sp>
        <p:nvSpPr>
          <p:cNvPr id="24" name="Text Finds the code and the commit"/>
          <p:cNvSpPr txBox="1"/>
          <p:nvPr/>
        </p:nvSpPr>
        <p:spPr>
          <a:xfrm>
            <a:off x="1676400" y="2952750"/>
            <a:ext cx="1801564"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Finds the code and the commit</a:t>
            </a:r>
            <a:endParaRPr lang="en-US" sz="975" dirty="0"/>
          </a:p>
        </p:txBody>
      </p:sp>
      <p:sp>
        <p:nvSpPr>
          <p:cNvPr id="25" name="dg rect"/>
          <p:cNvSpPr/>
          <p:nvPr/>
        </p:nvSpPr>
        <p:spPr>
          <a:xfrm>
            <a:off x="4095750" y="2781300"/>
            <a:ext cx="2000250" cy="266700"/>
          </a:xfrm>
          <a:prstGeom prst="roundRect">
            <a:avLst>
              <a:gd name="adj" fmla="val 50000"/>
            </a:avLst>
          </a:prstGeom>
          <a:solidFill>
            <a:srgbClr val="337EFF">
              <a:alpha val="20000"/>
            </a:srgbClr>
          </a:solidFill>
          <a:ln w="12383" cap="flat">
            <a:solidFill>
              <a:srgbClr val="337EFF"/>
            </a:solidFill>
            <a:miter lim="800000"/>
          </a:ln>
        </p:spPr>
      </p:sp>
      <p:sp>
        <p:nvSpPr>
          <p:cNvPr id="26" name="dg i-cloud"/>
          <p:cNvSpPr/>
          <p:nvPr/>
        </p:nvSpPr>
        <p:spPr>
          <a:xfrm>
            <a:off x="4203054" y="28606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27" name="Text GitHub MCP"/>
          <p:cNvSpPr txBox="1"/>
          <p:nvPr/>
        </p:nvSpPr>
        <p:spPr>
          <a:xfrm>
            <a:off x="4419600" y="2862263"/>
            <a:ext cx="724942"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MCP</a:t>
            </a:r>
            <a:endParaRPr lang="en-US" sz="938" dirty="0"/>
          </a:p>
        </p:txBody>
      </p:sp>
      <p:sp>
        <p:nvSpPr>
          <p:cNvPr id="28" name="Text"/>
          <p:cNvSpPr txBox="1"/>
          <p:nvPr/>
        </p:nvSpPr>
        <p:spPr>
          <a:xfrm>
            <a:off x="6238875" y="2809875"/>
            <a:ext cx="247650" cy="228600"/>
          </a:xfrm>
          <a:prstGeom prst="rect">
            <a:avLst/>
          </a:prstGeom>
          <a:noFill/>
          <a:ln/>
        </p:spPr>
        <p:txBody>
          <a:bodyPr wrap="none" lIns="0" tIns="0" rIns="0" bIns="0" rtlCol="0" anchor="ctr"/>
          <a:lstStyle/>
          <a:p>
            <a:pPr algn="ctr" indent="0" marL="0">
              <a:buNone/>
            </a:pPr>
            <a:r>
              <a:rPr lang="en-US" sz="1500" b="1" dirty="0">
                <a:solidFill>
                  <a:srgbClr val="22D3C5"/>
                </a:solidFill>
                <a:latin typeface="Scotia" pitchFamily="34" charset="0"/>
                <a:ea typeface="Scotia" pitchFamily="34" charset="-122"/>
                <a:cs typeface="Scotia" pitchFamily="34" charset="-120"/>
              </a:rPr>
              <a:t>→</a:t>
            </a:r>
            <a:endParaRPr lang="en-US" sz="1500" dirty="0"/>
          </a:p>
        </p:txBody>
      </p:sp>
      <p:sp>
        <p:nvSpPr>
          <p:cNvPr id="29" name="Text Regression in src cart discoun"/>
          <p:cNvSpPr txBox="1"/>
          <p:nvPr/>
        </p:nvSpPr>
        <p:spPr>
          <a:xfrm>
            <a:off x="6667500" y="2847975"/>
            <a:ext cx="3288804"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Regression in src/cart/discount.ts, commit a1b2c3d</a:t>
            </a:r>
            <a:endParaRPr lang="en-US" sz="1088" dirty="0"/>
          </a:p>
        </p:txBody>
      </p:sp>
      <p:sp>
        <p:nvSpPr>
          <p:cNvPr id="30" name="dg path"/>
          <p:cNvSpPr/>
          <p:nvPr/>
        </p:nvSpPr>
        <p:spPr>
          <a:xfrm>
            <a:off x="800100" y="3238500"/>
            <a:ext cx="0" cy="93345"/>
          </a:xfrm>
          <a:prstGeom prst="line">
            <a:avLst/>
          </a:prstGeom>
          <a:noFill/>
          <a:ln w="22860" cap="rnd">
            <a:solidFill>
              <a:srgbClr val="22D3C5"/>
            </a:solidFill>
            <a:miter lim="800000"/>
            <a:tailEnd type="triangle" w="lg" len="lg"/>
          </a:ln>
        </p:spPr>
      </p:sp>
      <p:sp>
        <p:nvSpPr>
          <p:cNvPr id="31" name="dg rect"/>
          <p:cNvSpPr/>
          <p:nvPr/>
        </p:nvSpPr>
        <p:spPr>
          <a:xfrm>
            <a:off x="400050" y="3352800"/>
            <a:ext cx="11391900" cy="609600"/>
          </a:xfrm>
          <a:prstGeom prst="roundRect">
            <a:avLst>
              <a:gd name="adj" fmla="val 21875"/>
            </a:avLst>
          </a:prstGeom>
          <a:solidFill>
            <a:srgbClr val="FFFFFF">
              <a:alpha val="5000"/>
            </a:srgbClr>
          </a:solidFill>
          <a:ln w="13335" cap="flat">
            <a:solidFill>
              <a:srgbClr val="22D3C5">
                <a:alpha val="35000"/>
              </a:srgbClr>
            </a:solidFill>
            <a:miter lim="800000"/>
          </a:ln>
        </p:spPr>
      </p:sp>
      <p:sp>
        <p:nvSpPr>
          <p:cNvPr id="32" name="dg circle"/>
          <p:cNvSpPr/>
          <p:nvPr/>
        </p:nvSpPr>
        <p:spPr>
          <a:xfrm>
            <a:off x="638175" y="3495675"/>
            <a:ext cx="323850" cy="323850"/>
          </a:xfrm>
          <a:prstGeom prst="ellipse">
            <a:avLst/>
          </a:prstGeom>
          <a:solidFill>
            <a:srgbClr val="22D3C5"/>
          </a:solidFill>
          <a:ln>
            <a:noFill/>
          </a:ln>
        </p:spPr>
      </p:sp>
      <p:sp>
        <p:nvSpPr>
          <p:cNvPr id="33" name="Text 3"/>
          <p:cNvSpPr txBox="1"/>
          <p:nvPr/>
        </p:nvSpPr>
        <p:spPr>
          <a:xfrm>
            <a:off x="730002" y="3586163"/>
            <a:ext cx="140196" cy="180975"/>
          </a:xfrm>
          <a:prstGeom prst="rect">
            <a:avLst/>
          </a:prstGeom>
          <a:noFill/>
          <a:ln/>
        </p:spPr>
        <p:txBody>
          <a:bodyPr wrap="none" lIns="0" tIns="0" rIns="0" bIns="0" rtlCol="0" anchor="ctr"/>
          <a:lstStyle/>
          <a:p>
            <a:pPr algn="ctr" indent="0" marL="0">
              <a:buNone/>
            </a:pPr>
            <a:r>
              <a:rPr lang="en-US" sz="1200" b="1" dirty="0">
                <a:solidFill>
                  <a:srgbClr val="0B0823"/>
                </a:solidFill>
                <a:latin typeface="Scotia" pitchFamily="34" charset="0"/>
                <a:ea typeface="Scotia" pitchFamily="34" charset="-122"/>
                <a:cs typeface="Scotia" pitchFamily="34" charset="-120"/>
              </a:rPr>
              <a:t>3</a:t>
            </a:r>
            <a:endParaRPr lang="en-US" sz="1200" dirty="0"/>
          </a:p>
        </p:txBody>
      </p:sp>
      <p:sp>
        <p:nvSpPr>
          <p:cNvPr id="34" name="Text Fix agent"/>
          <p:cNvSpPr txBox="1"/>
          <p:nvPr/>
        </p:nvSpPr>
        <p:spPr>
          <a:xfrm>
            <a:off x="1676400" y="3467100"/>
            <a:ext cx="765721"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Fix agent</a:t>
            </a:r>
            <a:endParaRPr lang="en-US" sz="1350" dirty="0"/>
          </a:p>
        </p:txBody>
      </p:sp>
      <p:sp>
        <p:nvSpPr>
          <p:cNvPr id="35" name="Text Writes the patch and a test"/>
          <p:cNvSpPr txBox="1"/>
          <p:nvPr/>
        </p:nvSpPr>
        <p:spPr>
          <a:xfrm>
            <a:off x="1676400" y="3695700"/>
            <a:ext cx="1584127"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Writes the patch and a test</a:t>
            </a:r>
            <a:endParaRPr lang="en-US" sz="975" dirty="0"/>
          </a:p>
        </p:txBody>
      </p:sp>
      <p:sp>
        <p:nvSpPr>
          <p:cNvPr id="36" name="Text"/>
          <p:cNvSpPr txBox="1"/>
          <p:nvPr/>
        </p:nvSpPr>
        <p:spPr>
          <a:xfrm>
            <a:off x="6238875" y="3552825"/>
            <a:ext cx="247650" cy="228600"/>
          </a:xfrm>
          <a:prstGeom prst="rect">
            <a:avLst/>
          </a:prstGeom>
          <a:noFill/>
          <a:ln/>
        </p:spPr>
        <p:txBody>
          <a:bodyPr wrap="none" lIns="0" tIns="0" rIns="0" bIns="0" rtlCol="0" anchor="ctr"/>
          <a:lstStyle/>
          <a:p>
            <a:pPr algn="ctr" indent="0" marL="0">
              <a:buNone/>
            </a:pPr>
            <a:r>
              <a:rPr lang="en-US" sz="1500" b="1" dirty="0">
                <a:solidFill>
                  <a:srgbClr val="22D3C5"/>
                </a:solidFill>
                <a:latin typeface="Scotia" pitchFamily="34" charset="0"/>
                <a:ea typeface="Scotia" pitchFamily="34" charset="-122"/>
                <a:cs typeface="Scotia" pitchFamily="34" charset="-120"/>
              </a:rPr>
              <a:t>→</a:t>
            </a:r>
            <a:endParaRPr lang="en-US" sz="1500" dirty="0"/>
          </a:p>
        </p:txBody>
      </p:sp>
      <p:sp>
        <p:nvSpPr>
          <p:cNvPr id="37" name="Text Patch plus regression test as"/>
          <p:cNvSpPr txBox="1"/>
          <p:nvPr/>
        </p:nvSpPr>
        <p:spPr>
          <a:xfrm>
            <a:off x="6667500" y="3590925"/>
            <a:ext cx="2236149"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Patch plus regression test, as a diff</a:t>
            </a:r>
            <a:endParaRPr lang="en-US" sz="1088" dirty="0"/>
          </a:p>
        </p:txBody>
      </p:sp>
      <p:sp>
        <p:nvSpPr>
          <p:cNvPr id="38" name="dg path"/>
          <p:cNvSpPr/>
          <p:nvPr/>
        </p:nvSpPr>
        <p:spPr>
          <a:xfrm>
            <a:off x="800100" y="3981450"/>
            <a:ext cx="0" cy="93345"/>
          </a:xfrm>
          <a:prstGeom prst="line">
            <a:avLst/>
          </a:prstGeom>
          <a:noFill/>
          <a:ln w="22860" cap="rnd">
            <a:solidFill>
              <a:srgbClr val="22D3C5"/>
            </a:solidFill>
            <a:miter lim="800000"/>
            <a:tailEnd type="triangle" w="lg" len="lg"/>
          </a:ln>
        </p:spPr>
      </p:sp>
      <p:sp>
        <p:nvSpPr>
          <p:cNvPr id="39" name="dg rect"/>
          <p:cNvSpPr/>
          <p:nvPr/>
        </p:nvSpPr>
        <p:spPr>
          <a:xfrm>
            <a:off x="400050" y="4095750"/>
            <a:ext cx="11391900" cy="609600"/>
          </a:xfrm>
          <a:prstGeom prst="roundRect">
            <a:avLst>
              <a:gd name="adj" fmla="val 21875"/>
            </a:avLst>
          </a:prstGeom>
          <a:solidFill>
            <a:srgbClr val="FFFFFF">
              <a:alpha val="5000"/>
            </a:srgbClr>
          </a:solidFill>
          <a:ln w="13335" cap="flat">
            <a:solidFill>
              <a:srgbClr val="22D3C5">
                <a:alpha val="35000"/>
              </a:srgbClr>
            </a:solidFill>
            <a:miter lim="800000"/>
          </a:ln>
        </p:spPr>
      </p:sp>
      <p:sp>
        <p:nvSpPr>
          <p:cNvPr id="40" name="dg circle"/>
          <p:cNvSpPr/>
          <p:nvPr/>
        </p:nvSpPr>
        <p:spPr>
          <a:xfrm>
            <a:off x="638175" y="4238625"/>
            <a:ext cx="323850" cy="323850"/>
          </a:xfrm>
          <a:prstGeom prst="ellipse">
            <a:avLst/>
          </a:prstGeom>
          <a:solidFill>
            <a:srgbClr val="22D3C5"/>
          </a:solidFill>
          <a:ln>
            <a:noFill/>
          </a:ln>
        </p:spPr>
      </p:sp>
      <p:sp>
        <p:nvSpPr>
          <p:cNvPr id="41" name="Text 4"/>
          <p:cNvSpPr txBox="1"/>
          <p:nvPr/>
        </p:nvSpPr>
        <p:spPr>
          <a:xfrm>
            <a:off x="725984" y="4329113"/>
            <a:ext cx="148233" cy="180975"/>
          </a:xfrm>
          <a:prstGeom prst="rect">
            <a:avLst/>
          </a:prstGeom>
          <a:noFill/>
          <a:ln/>
        </p:spPr>
        <p:txBody>
          <a:bodyPr wrap="none" lIns="0" tIns="0" rIns="0" bIns="0" rtlCol="0" anchor="ctr"/>
          <a:lstStyle/>
          <a:p>
            <a:pPr algn="ctr" indent="0" marL="0">
              <a:buNone/>
            </a:pPr>
            <a:r>
              <a:rPr lang="en-US" sz="1200" b="1" dirty="0">
                <a:solidFill>
                  <a:srgbClr val="0B0823"/>
                </a:solidFill>
                <a:latin typeface="Scotia" pitchFamily="34" charset="0"/>
                <a:ea typeface="Scotia" pitchFamily="34" charset="-122"/>
                <a:cs typeface="Scotia" pitchFamily="34" charset="-120"/>
              </a:rPr>
              <a:t>4</a:t>
            </a:r>
            <a:endParaRPr lang="en-US" sz="1200" dirty="0"/>
          </a:p>
        </p:txBody>
      </p:sp>
      <p:sp>
        <p:nvSpPr>
          <p:cNvPr id="42" name="Text Report agent"/>
          <p:cNvSpPr txBox="1"/>
          <p:nvPr/>
        </p:nvSpPr>
        <p:spPr>
          <a:xfrm>
            <a:off x="1676400" y="4210050"/>
            <a:ext cx="1080492"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Report agent</a:t>
            </a:r>
            <a:endParaRPr lang="en-US" sz="1350" dirty="0"/>
          </a:p>
        </p:txBody>
      </p:sp>
      <p:sp>
        <p:nvSpPr>
          <p:cNvPr id="43" name="Text Opens the PR files the ticket"/>
          <p:cNvSpPr txBox="1"/>
          <p:nvPr/>
        </p:nvSpPr>
        <p:spPr>
          <a:xfrm>
            <a:off x="1676400" y="4438650"/>
            <a:ext cx="1679525"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Opens the PR, files the ticket</a:t>
            </a:r>
            <a:endParaRPr lang="en-US" sz="975" dirty="0"/>
          </a:p>
        </p:txBody>
      </p:sp>
      <p:sp>
        <p:nvSpPr>
          <p:cNvPr id="44" name="dg rect"/>
          <p:cNvSpPr/>
          <p:nvPr/>
        </p:nvSpPr>
        <p:spPr>
          <a:xfrm>
            <a:off x="4095750" y="4267200"/>
            <a:ext cx="2000250" cy="266700"/>
          </a:xfrm>
          <a:prstGeom prst="roundRect">
            <a:avLst>
              <a:gd name="adj" fmla="val 50000"/>
            </a:avLst>
          </a:prstGeom>
          <a:solidFill>
            <a:srgbClr val="337EFF">
              <a:alpha val="20000"/>
            </a:srgbClr>
          </a:solidFill>
          <a:ln w="12383" cap="flat">
            <a:solidFill>
              <a:srgbClr val="337EFF"/>
            </a:solidFill>
            <a:miter lim="800000"/>
          </a:ln>
        </p:spPr>
      </p:sp>
      <p:sp>
        <p:nvSpPr>
          <p:cNvPr id="45" name="dg i-cloud"/>
          <p:cNvSpPr/>
          <p:nvPr/>
        </p:nvSpPr>
        <p:spPr>
          <a:xfrm>
            <a:off x="4203054" y="43465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6" name="Text GitHub Jira MCP"/>
          <p:cNvSpPr txBox="1"/>
          <p:nvPr/>
        </p:nvSpPr>
        <p:spPr>
          <a:xfrm>
            <a:off x="4419600" y="4348163"/>
            <a:ext cx="1055191"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 Jira MCP</a:t>
            </a:r>
            <a:endParaRPr lang="en-US" sz="938" dirty="0"/>
          </a:p>
        </p:txBody>
      </p:sp>
      <p:sp>
        <p:nvSpPr>
          <p:cNvPr id="47" name="Text"/>
          <p:cNvSpPr txBox="1"/>
          <p:nvPr/>
        </p:nvSpPr>
        <p:spPr>
          <a:xfrm>
            <a:off x="6238875" y="4295775"/>
            <a:ext cx="247650" cy="228600"/>
          </a:xfrm>
          <a:prstGeom prst="rect">
            <a:avLst/>
          </a:prstGeom>
          <a:noFill/>
          <a:ln/>
        </p:spPr>
        <p:txBody>
          <a:bodyPr wrap="none" lIns="0" tIns="0" rIns="0" bIns="0" rtlCol="0" anchor="ctr"/>
          <a:lstStyle/>
          <a:p>
            <a:pPr algn="ctr" indent="0" marL="0">
              <a:buNone/>
            </a:pPr>
            <a:r>
              <a:rPr lang="en-US" sz="1500" b="1" dirty="0">
                <a:solidFill>
                  <a:srgbClr val="22D3C5"/>
                </a:solidFill>
                <a:latin typeface="Scotia" pitchFamily="34" charset="0"/>
                <a:ea typeface="Scotia" pitchFamily="34" charset="-122"/>
                <a:cs typeface="Scotia" pitchFamily="34" charset="-120"/>
              </a:rPr>
              <a:t>→</a:t>
            </a:r>
            <a:endParaRPr lang="en-US" sz="1500" dirty="0"/>
          </a:p>
        </p:txBody>
      </p:sp>
      <p:sp>
        <p:nvSpPr>
          <p:cNvPr id="48" name="Text PR 482 opened ticket ENG-104"/>
          <p:cNvSpPr txBox="1"/>
          <p:nvPr/>
        </p:nvSpPr>
        <p:spPr>
          <a:xfrm>
            <a:off x="6667500" y="4333875"/>
            <a:ext cx="2633067"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PR #482 opened, ticket ENG-1043 linked</a:t>
            </a:r>
            <a:endParaRPr lang="en-US" sz="1088" dirty="0"/>
          </a:p>
        </p:txBody>
      </p:sp>
      <p:sp>
        <p:nvSpPr>
          <p:cNvPr id="49" name="dg rect"/>
          <p:cNvSpPr/>
          <p:nvPr/>
        </p:nvSpPr>
        <p:spPr>
          <a:xfrm>
            <a:off x="400050" y="4857750"/>
            <a:ext cx="11391900" cy="438150"/>
          </a:xfrm>
          <a:prstGeom prst="roundRect">
            <a:avLst>
              <a:gd name="adj" fmla="val 30435"/>
            </a:avLst>
          </a:prstGeom>
          <a:solidFill>
            <a:srgbClr val="22D3C5">
              <a:alpha val="14000"/>
            </a:srgbClr>
          </a:solidFill>
          <a:ln w="15240" cap="flat">
            <a:solidFill>
              <a:srgbClr val="22D3C5"/>
            </a:solidFill>
            <a:miter lim="800000"/>
          </a:ln>
        </p:spPr>
      </p:sp>
      <p:sp>
        <p:nvSpPr>
          <p:cNvPr id="50" name="dg i-circle-check"/>
          <p:cNvSpPr/>
          <p:nvPr/>
        </p:nvSpPr>
        <p:spPr>
          <a:xfrm>
            <a:off x="571500" y="4981575"/>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9050" cap="rnd">
            <a:solidFill>
              <a:srgbClr val="22D3C5"/>
            </a:solidFill>
            <a:round/>
          </a:ln>
        </p:spPr>
      </p:sp>
      <p:sp>
        <p:nvSpPr>
          <p:cNvPr id="51" name="Text RESULT"/>
          <p:cNvSpPr txBox="1"/>
          <p:nvPr/>
        </p:nvSpPr>
        <p:spPr>
          <a:xfrm>
            <a:off x="895350" y="5048250"/>
            <a:ext cx="558701" cy="123825"/>
          </a:xfrm>
          <a:prstGeom prst="rect">
            <a:avLst/>
          </a:prstGeom>
          <a:noFill/>
          <a:ln/>
        </p:spPr>
        <p:txBody>
          <a:bodyPr wrap="none" lIns="0" tIns="0" rIns="0" bIns="0" rtlCol="0" anchor="ctr"/>
          <a:lstStyle/>
          <a:p>
            <a:pPr algn="l" indent="0" marL="0">
              <a:buNone/>
            </a:pPr>
            <a:r>
              <a:rPr lang="en-US" sz="863" b="1" spc="150" kern="0" dirty="0">
                <a:solidFill>
                  <a:srgbClr val="22D3C5"/>
                </a:solidFill>
                <a:latin typeface="Scotia" pitchFamily="34" charset="0"/>
                <a:ea typeface="Scotia" pitchFamily="34" charset="-122"/>
                <a:cs typeface="Scotia" pitchFamily="34" charset="-120"/>
              </a:rPr>
              <a:t>RESULT</a:t>
            </a:r>
            <a:endParaRPr lang="en-US" sz="863" dirty="0"/>
          </a:p>
        </p:txBody>
      </p:sp>
      <p:sp>
        <p:nvSpPr>
          <p:cNvPr id="52" name="Text Fix ready: PR 482 with a pass"/>
          <p:cNvSpPr txBox="1"/>
          <p:nvPr/>
        </p:nvSpPr>
        <p:spPr>
          <a:xfrm>
            <a:off x="1638300" y="5010150"/>
            <a:ext cx="5421362"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Fix ready: PR #482 with a passing regression test, linked to Jira ticket ENG-1043.</a:t>
            </a:r>
            <a:endParaRPr lang="en-US" sz="1163" dirty="0"/>
          </a:p>
        </p:txBody>
      </p:sp>
      <p:sp>
        <p:nvSpPr>
          <p:cNvPr id="53" name="dg line"/>
          <p:cNvSpPr/>
          <p:nvPr/>
        </p:nvSpPr>
        <p:spPr>
          <a:xfrm>
            <a:off x="400050" y="5676900"/>
            <a:ext cx="11391900" cy="0"/>
          </a:xfrm>
          <a:prstGeom prst="line">
            <a:avLst/>
          </a:prstGeom>
          <a:noFill/>
          <a:ln w="9525" cap="flat">
            <a:solidFill>
              <a:srgbClr val="BDC2EF">
                <a:alpha val="22000"/>
              </a:srgbClr>
            </a:solidFill>
            <a:miter lim="800000"/>
          </a:ln>
        </p:spPr>
      </p:sp>
      <p:sp>
        <p:nvSpPr>
          <p:cNvPr id="54" name="Text WHY SEQUENTIAL FITS"/>
          <p:cNvSpPr txBox="1"/>
          <p:nvPr/>
        </p:nvSpPr>
        <p:spPr>
          <a:xfrm>
            <a:off x="400050" y="5819775"/>
            <a:ext cx="1638746" cy="123825"/>
          </a:xfrm>
          <a:prstGeom prst="rect">
            <a:avLst/>
          </a:prstGeom>
          <a:noFill/>
          <a:ln/>
        </p:spPr>
        <p:txBody>
          <a:bodyPr wrap="none" lIns="0" tIns="0" rIns="0" bIns="0" rtlCol="0" anchor="ctr"/>
          <a:lstStyle/>
          <a:p>
            <a:pPr algn="l" indent="0" marL="0">
              <a:buNone/>
            </a:pPr>
            <a:r>
              <a:rPr lang="en-US" sz="863" b="1" spc="165" kern="0" dirty="0">
                <a:solidFill>
                  <a:srgbClr val="22D3C5"/>
                </a:solidFill>
                <a:latin typeface="Scotia" pitchFamily="34" charset="0"/>
                <a:ea typeface="Scotia" pitchFamily="34" charset="-122"/>
                <a:cs typeface="Scotia" pitchFamily="34" charset="-120"/>
              </a:rPr>
              <a:t>WHY SEQUENTIAL FITS</a:t>
            </a:r>
            <a:endParaRPr lang="en-US" sz="863" dirty="0"/>
          </a:p>
        </p:txBody>
      </p:sp>
      <p:sp>
        <p:nvSpPr>
          <p:cNvPr id="55" name="Text MCP IN THIS FLOW"/>
          <p:cNvSpPr txBox="1"/>
          <p:nvPr/>
        </p:nvSpPr>
        <p:spPr>
          <a:xfrm>
            <a:off x="6286500" y="5819775"/>
            <a:ext cx="1345555" cy="123825"/>
          </a:xfrm>
          <a:prstGeom prst="rect">
            <a:avLst/>
          </a:prstGeom>
          <a:noFill/>
          <a:ln/>
        </p:spPr>
        <p:txBody>
          <a:bodyPr wrap="none" lIns="0" tIns="0" rIns="0" bIns="0" rtlCol="0" anchor="ctr"/>
          <a:lstStyle/>
          <a:p>
            <a:pPr algn="l" indent="0" marL="0">
              <a:buNone/>
            </a:pPr>
            <a:r>
              <a:rPr lang="en-US" sz="863" b="1" spc="165" kern="0" dirty="0">
                <a:solidFill>
                  <a:srgbClr val="8FB4FF"/>
                </a:solidFill>
                <a:latin typeface="Scotia" pitchFamily="34" charset="0"/>
                <a:ea typeface="Scotia" pitchFamily="34" charset="-122"/>
                <a:cs typeface="Scotia" pitchFamily="34" charset="-120"/>
              </a:rPr>
              <a:t>MCP IN THIS FLOW</a:t>
            </a:r>
            <a:endParaRPr lang="en-US" sz="863" dirty="0"/>
          </a:p>
        </p:txBody>
      </p:sp>
      <p:sp>
        <p:nvSpPr>
          <p:cNvPr id="56" name="Text Each step needs the previous s"/>
          <p:cNvSpPr txBox="1"/>
          <p:nvPr/>
        </p:nvSpPr>
        <p:spPr>
          <a:xfrm>
            <a:off x="400050" y="6000750"/>
            <a:ext cx="4617541"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Each step needs the previous step's output, so the order is fixed.</a:t>
            </a:r>
            <a:endParaRPr lang="en-US" sz="1238" dirty="0"/>
          </a:p>
        </p:txBody>
      </p:sp>
      <p:sp>
        <p:nvSpPr>
          <p:cNvPr id="57" name="Text Only agents that need outside"/>
          <p:cNvSpPr txBox="1"/>
          <p:nvPr/>
        </p:nvSpPr>
        <p:spPr>
          <a:xfrm>
            <a:off x="6286500" y="6000750"/>
            <a:ext cx="4343698"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Only agents that need outside data connect to MCP servers.</a:t>
            </a:r>
            <a:endParaRPr lang="en-US" sz="1238" dirty="0"/>
          </a:p>
        </p:txBody>
      </p:sp>
      <p:sp>
        <p:nvSpPr>
          <p:cNvPr id="58" name="Text Bug Triage to Pull Request"/>
          <p:cNvSpPr txBox="1"/>
          <p:nvPr/>
        </p:nvSpPr>
        <p:spPr>
          <a:xfrm>
            <a:off x="400050" y="475926"/>
            <a:ext cx="4812804"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Bug Triage to Pull Request</a:t>
            </a:r>
            <a:endParaRPr lang="en-US" sz="3067" dirty="0"/>
          </a:p>
        </p:txBody>
      </p:sp>
      <p:sp>
        <p:nvSpPr>
          <p:cNvPr id="59" name="Text Trigger: an e-commerce store s"/>
          <p:cNvSpPr txBox="1"/>
          <p:nvPr/>
        </p:nvSpPr>
        <p:spPr>
          <a:xfrm>
            <a:off x="400050" y="1025625"/>
            <a:ext cx="9787384"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Trigger: an e-commerce store's checkout fails with HTTP 500 errors after release 2.14.1, and Sentry raises an alert.</a:t>
            </a:r>
            <a:endParaRPr lang="en-US" sz="1467" dirty="0"/>
          </a:p>
        </p:txBody>
      </p:sp>
      <p:sp>
        <p:nvSpPr>
          <p:cNvPr id="60"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61" name="Text 12"/>
          <p:cNvSpPr txBox="1"/>
          <p:nvPr/>
        </p:nvSpPr>
        <p:spPr>
          <a:xfrm>
            <a:off x="11628686" y="6306483"/>
            <a:ext cx="153739"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823"/>
        </a:solidFill>
      </p:bgPr>
    </p:bg>
    <p:spTree>
      <p:nvGrpSpPr>
        <p:cNvPr id="1" name=""/>
        <p:cNvGrpSpPr/>
        <p:nvPr/>
      </p:nvGrpSpPr>
      <p:grpSpPr>
        <a:xfrm>
          <a:off x="0" y="0"/>
          <a:ext cx="0" cy="0"/>
          <a:chOff x="0" y="0"/>
          <a:chExt cx="0" cy="0"/>
        </a:xfrm>
      </p:grpSpPr>
      <p:sp>
        <p:nvSpPr>
          <p:cNvPr id="2" name="dg circle"/>
          <p:cNvSpPr/>
          <p:nvPr/>
        </p:nvSpPr>
        <p:spPr>
          <a:xfrm>
            <a:off x="10910888" y="623888"/>
            <a:ext cx="85725" cy="85725"/>
          </a:xfrm>
          <a:prstGeom prst="ellipse">
            <a:avLst/>
          </a:prstGeom>
          <a:noFill/>
          <a:ln w="14288" cap="flat">
            <a:solidFill>
              <a:srgbClr val="B0AAFF"/>
            </a:solidFill>
            <a:miter lim="800000"/>
          </a:ln>
        </p:spPr>
      </p:sp>
      <p:sp>
        <p:nvSpPr>
          <p:cNvPr id="3" name="dg circle"/>
          <p:cNvSpPr/>
          <p:nvPr/>
        </p:nvSpPr>
        <p:spPr>
          <a:xfrm>
            <a:off x="11106150" y="609600"/>
            <a:ext cx="114300" cy="114300"/>
          </a:xfrm>
          <a:prstGeom prst="ellipse">
            <a:avLst/>
          </a:prstGeom>
          <a:solidFill>
            <a:srgbClr val="6551FF"/>
          </a:solidFill>
          <a:ln w="14288" cap="flat">
            <a:solidFill>
              <a:srgbClr val="6551FF"/>
            </a:solidFill>
            <a:miter lim="800000"/>
          </a:ln>
        </p:spPr>
      </p:sp>
      <p:sp>
        <p:nvSpPr>
          <p:cNvPr id="4" name="dg circle"/>
          <p:cNvSpPr/>
          <p:nvPr/>
        </p:nvSpPr>
        <p:spPr>
          <a:xfrm>
            <a:off x="11329988" y="623888"/>
            <a:ext cx="85725" cy="85725"/>
          </a:xfrm>
          <a:prstGeom prst="ellipse">
            <a:avLst/>
          </a:prstGeom>
          <a:noFill/>
          <a:ln w="14288" cap="flat">
            <a:solidFill>
              <a:srgbClr val="B0AAFF"/>
            </a:solidFill>
            <a:miter lim="800000"/>
          </a:ln>
        </p:spPr>
      </p:sp>
      <p:sp>
        <p:nvSpPr>
          <p:cNvPr id="5" name="dg circle"/>
          <p:cNvSpPr/>
          <p:nvPr/>
        </p:nvSpPr>
        <p:spPr>
          <a:xfrm>
            <a:off x="11539538" y="623888"/>
            <a:ext cx="85725" cy="85725"/>
          </a:xfrm>
          <a:prstGeom prst="ellipse">
            <a:avLst/>
          </a:prstGeom>
          <a:noFill/>
          <a:ln w="14288" cap="flat">
            <a:solidFill>
              <a:srgbClr val="B0AAFF"/>
            </a:solidFill>
            <a:miter lim="800000"/>
          </a:ln>
        </p:spPr>
      </p:sp>
      <p:sp>
        <p:nvSpPr>
          <p:cNvPr id="6" name="dg circle"/>
          <p:cNvSpPr/>
          <p:nvPr/>
        </p:nvSpPr>
        <p:spPr>
          <a:xfrm>
            <a:off x="11749088" y="623888"/>
            <a:ext cx="85725" cy="85725"/>
          </a:xfrm>
          <a:prstGeom prst="ellipse">
            <a:avLst/>
          </a:prstGeom>
          <a:noFill/>
          <a:ln w="14288" cap="flat">
            <a:solidFill>
              <a:srgbClr val="B0AAFF"/>
            </a:solidFill>
            <a:miter lim="800000"/>
          </a:ln>
        </p:spPr>
      </p:sp>
      <p:sp>
        <p:nvSpPr>
          <p:cNvPr id="7" name="dg polygon"/>
          <p:cNvSpPr/>
          <p:nvPr/>
        </p:nvSpPr>
        <p:spPr>
          <a:xfrm>
            <a:off x="400050" y="2914650"/>
            <a:ext cx="1066800" cy="609600"/>
          </a:xfrm>
          <a:custGeom>
            <a:avLst/>
            <a:gdLst/>
            <a:ahLst/>
            <a:cxnLst/>
            <a:rect l="l" t="t" r="r" b="b"/>
            <a:pathLst>
              <a:path w="1066800" h="609600">
                <a:moveTo>
                  <a:pt x="133350" y="0"/>
                </a:moveTo>
                <a:lnTo>
                  <a:pt x="1066800" y="0"/>
                </a:lnTo>
                <a:lnTo>
                  <a:pt x="933450" y="609600"/>
                </a:lnTo>
                <a:lnTo>
                  <a:pt x="0" y="609600"/>
                </a:lnTo>
                <a:close/>
              </a:path>
            </a:pathLst>
          </a:custGeom>
          <a:gradFill rotWithShape="1">
            <a:gsLst>
              <a:gs pos="0">
                <a:srgbClr val="7B69FF"/>
              </a:gs>
              <a:gs pos="100000">
                <a:srgbClr val="5141D3"/>
              </a:gs>
            </a:gsLst>
            <a:lin ang="2700000" scaled="1"/>
          </a:gradFill>
          <a:ln>
            <a:noFill/>
          </a:ln>
        </p:spPr>
      </p:sp>
      <p:sp>
        <p:nvSpPr>
          <p:cNvPr id="8" name="Text Input"/>
          <p:cNvSpPr txBox="1"/>
          <p:nvPr/>
        </p:nvSpPr>
        <p:spPr>
          <a:xfrm>
            <a:off x="702320" y="3067050"/>
            <a:ext cx="462260"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Input</a:t>
            </a:r>
            <a:endParaRPr lang="en-US" sz="1275" dirty="0"/>
          </a:p>
        </p:txBody>
      </p:sp>
      <p:sp>
        <p:nvSpPr>
          <p:cNvPr id="9" name="Text task"/>
          <p:cNvSpPr txBox="1"/>
          <p:nvPr/>
        </p:nvSpPr>
        <p:spPr>
          <a:xfrm>
            <a:off x="777404" y="3286125"/>
            <a:ext cx="312093" cy="152400"/>
          </a:xfrm>
          <a:prstGeom prst="rect">
            <a:avLst/>
          </a:prstGeom>
          <a:noFill/>
          <a:ln/>
        </p:spPr>
        <p:txBody>
          <a:bodyPr wrap="none" lIns="0" tIns="0" rIns="0" bIns="0" rtlCol="0" anchor="ctr"/>
          <a:lstStyle/>
          <a:p>
            <a:pPr algn="ctr" indent="0" marL="0">
              <a:buNone/>
            </a:pPr>
            <a:r>
              <a:rPr lang="en-US" sz="1050" dirty="0">
                <a:solidFill>
                  <a:srgbClr val="FFFFFF"/>
                </a:solidFill>
                <a:latin typeface="Scotia Serif" pitchFamily="34" charset="0"/>
                <a:ea typeface="Scotia Serif" pitchFamily="34" charset="-122"/>
                <a:cs typeface="Scotia Serif" pitchFamily="34" charset="-120"/>
              </a:rPr>
              <a:t>task</a:t>
            </a:r>
            <a:endParaRPr lang="en-US" sz="1050" dirty="0"/>
          </a:p>
        </p:txBody>
      </p:sp>
      <p:sp>
        <p:nvSpPr>
          <p:cNvPr id="10" name="dg rect"/>
          <p:cNvSpPr/>
          <p:nvPr/>
        </p:nvSpPr>
        <p:spPr>
          <a:xfrm>
            <a:off x="1866900" y="2724150"/>
            <a:ext cx="1333500" cy="990600"/>
          </a:xfrm>
          <a:prstGeom prst="roundRect">
            <a:avLst>
              <a:gd name="adj" fmla="val 17308"/>
            </a:avLst>
          </a:prstGeom>
          <a:gradFill rotWithShape="1">
            <a:gsLst>
              <a:gs pos="0">
                <a:srgbClr val="7B69FF"/>
              </a:gs>
              <a:gs pos="100000">
                <a:srgbClr val="5141D3"/>
              </a:gs>
            </a:gsLst>
            <a:lin ang="2700000" scaled="1"/>
          </a:gradFill>
          <a:ln w="13335" cap="flat">
            <a:solidFill>
              <a:srgbClr val="B0AAFF"/>
            </a:solidFill>
            <a:miter lim="800000"/>
          </a:ln>
        </p:spPr>
      </p:sp>
      <p:sp>
        <p:nvSpPr>
          <p:cNvPr id="11" name="dg circle"/>
          <p:cNvSpPr/>
          <p:nvPr/>
        </p:nvSpPr>
        <p:spPr>
          <a:xfrm>
            <a:off x="2324100" y="2838450"/>
            <a:ext cx="419100" cy="419100"/>
          </a:xfrm>
          <a:prstGeom prst="ellipse">
            <a:avLst/>
          </a:prstGeom>
          <a:solidFill>
            <a:srgbClr val="FFFFFF">
              <a:alpha val="19000"/>
            </a:srgbClr>
          </a:solidFill>
          <a:ln>
            <a:noFill/>
          </a:ln>
        </p:spPr>
      </p:sp>
      <p:sp>
        <p:nvSpPr>
          <p:cNvPr id="12" name="dg i-split"/>
          <p:cNvSpPr/>
          <p:nvPr/>
        </p:nvSpPr>
        <p:spPr>
          <a:xfrm>
            <a:off x="2455069" y="2969419"/>
            <a:ext cx="157163" cy="165894"/>
          </a:xfrm>
          <a:custGeom>
            <a:avLst/>
            <a:gdLst/>
            <a:ahLst/>
            <a:cxnLst/>
            <a:rect l="l" t="t" r="r" b="b"/>
            <a:pathLst>
              <a:path w="157163" h="165894">
                <a:moveTo>
                  <a:pt x="113506" y="0"/>
                </a:moveTo>
                <a:lnTo>
                  <a:pt x="157163" y="0"/>
                </a:lnTo>
                <a:lnTo>
                  <a:pt x="157163" y="43656"/>
                </a:lnTo>
                <a:moveTo>
                  <a:pt x="43656" y="0"/>
                </a:moveTo>
                <a:lnTo>
                  <a:pt x="0" y="0"/>
                </a:lnTo>
                <a:lnTo>
                  <a:pt x="0" y="43656"/>
                </a:lnTo>
                <a:moveTo>
                  <a:pt x="78581" y="165894"/>
                </a:moveTo>
                <a:lnTo>
                  <a:pt x="78581" y="93424"/>
                </a:lnTo>
                <a:cubicBezTo>
                  <a:pt x="78682" y="84029"/>
                  <a:pt x="74993" y="74990"/>
                  <a:pt x="68348" y="68348"/>
                </a:cubicBezTo>
                <a:lnTo>
                  <a:pt x="0" y="0"/>
                </a:lnTo>
                <a:moveTo>
                  <a:pt x="104775" y="52388"/>
                </a:moveTo>
                <a:lnTo>
                  <a:pt x="157163" y="0"/>
                </a:lnTo>
              </a:path>
            </a:pathLst>
          </a:custGeom>
          <a:noFill/>
          <a:ln w="15716" cap="rnd">
            <a:solidFill>
              <a:srgbClr val="FFFFFF"/>
            </a:solidFill>
            <a:round/>
          </a:ln>
        </p:spPr>
      </p:sp>
      <p:sp>
        <p:nvSpPr>
          <p:cNvPr id="13" name="Text Initiator"/>
          <p:cNvSpPr txBox="1"/>
          <p:nvPr/>
        </p:nvSpPr>
        <p:spPr>
          <a:xfrm>
            <a:off x="2203847" y="3295650"/>
            <a:ext cx="660320"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Initiator</a:t>
            </a:r>
            <a:endParaRPr lang="en-US" sz="1275" dirty="0"/>
          </a:p>
        </p:txBody>
      </p:sp>
      <p:sp>
        <p:nvSpPr>
          <p:cNvPr id="14" name="Text same input to all"/>
          <p:cNvSpPr txBox="1"/>
          <p:nvPr/>
        </p:nvSpPr>
        <p:spPr>
          <a:xfrm>
            <a:off x="2053530" y="3505200"/>
            <a:ext cx="960239" cy="142875"/>
          </a:xfrm>
          <a:prstGeom prst="rect">
            <a:avLst/>
          </a:prstGeom>
          <a:noFill/>
          <a:ln/>
        </p:spPr>
        <p:txBody>
          <a:bodyPr wrap="none" lIns="0" tIns="0" rIns="0" bIns="0" rtlCol="0" anchor="ctr"/>
          <a:lstStyle/>
          <a:p>
            <a:pPr algn="ctr" indent="0" marL="0">
              <a:buNone/>
            </a:pPr>
            <a:r>
              <a:rPr lang="en-US" sz="938" dirty="0">
                <a:solidFill>
                  <a:srgbClr val="FFFFFF"/>
                </a:solidFill>
                <a:latin typeface="Scotia Serif" pitchFamily="34" charset="0"/>
                <a:ea typeface="Scotia Serif" pitchFamily="34" charset="-122"/>
                <a:cs typeface="Scotia Serif" pitchFamily="34" charset="-120"/>
              </a:rPr>
              <a:t>same input to all</a:t>
            </a:r>
            <a:endParaRPr lang="en-US" sz="938" dirty="0"/>
          </a:p>
        </p:txBody>
      </p:sp>
      <p:sp>
        <p:nvSpPr>
          <p:cNvPr id="15" name="dg path"/>
          <p:cNvSpPr/>
          <p:nvPr/>
        </p:nvSpPr>
        <p:spPr>
          <a:xfrm>
            <a:off x="1524000" y="3219450"/>
            <a:ext cx="293370" cy="0"/>
          </a:xfrm>
          <a:prstGeom prst="line">
            <a:avLst/>
          </a:prstGeom>
          <a:noFill/>
          <a:ln w="28575" cap="rnd">
            <a:solidFill>
              <a:srgbClr val="B0AAFF"/>
            </a:solidFill>
            <a:miter lim="800000"/>
            <a:tailEnd type="triangle" w="med" len="med"/>
          </a:ln>
        </p:spPr>
      </p:sp>
      <p:sp>
        <p:nvSpPr>
          <p:cNvPr id="16" name="dg circle"/>
          <p:cNvSpPr/>
          <p:nvPr/>
        </p:nvSpPr>
        <p:spPr>
          <a:xfrm>
            <a:off x="1866900" y="1609725"/>
            <a:ext cx="209550" cy="209550"/>
          </a:xfrm>
          <a:prstGeom prst="ellipse">
            <a:avLst/>
          </a:prstGeom>
          <a:solidFill>
            <a:srgbClr val="6551FF"/>
          </a:solidFill>
          <a:ln>
            <a:noFill/>
          </a:ln>
        </p:spPr>
      </p:sp>
      <p:sp>
        <p:nvSpPr>
          <p:cNvPr id="17" name="Text 1"/>
          <p:cNvSpPr txBox="1"/>
          <p:nvPr/>
        </p:nvSpPr>
        <p:spPr>
          <a:xfrm>
            <a:off x="1917204" y="1660401"/>
            <a:ext cx="108942" cy="142875"/>
          </a:xfrm>
          <a:prstGeom prst="rect">
            <a:avLst/>
          </a:prstGeom>
          <a:noFill/>
          <a:ln/>
        </p:spPr>
        <p:txBody>
          <a:bodyPr wrap="none" lIns="0" tIns="0" rIns="0" bIns="0" rtlCol="0" anchor="ctr"/>
          <a:lstStyle/>
          <a:p>
            <a:pPr algn="ctr" indent="0" marL="0">
              <a:buNone/>
            </a:pPr>
            <a:r>
              <a:rPr lang="en-US" sz="900" b="1" dirty="0">
                <a:solidFill>
                  <a:srgbClr val="FFFFFF"/>
                </a:solidFill>
                <a:latin typeface="Scotia" pitchFamily="34" charset="0"/>
                <a:ea typeface="Scotia" pitchFamily="34" charset="-122"/>
                <a:cs typeface="Scotia" pitchFamily="34" charset="-120"/>
              </a:rPr>
              <a:t>1</a:t>
            </a:r>
            <a:endParaRPr lang="en-US" sz="900" dirty="0"/>
          </a:p>
        </p:txBody>
      </p:sp>
      <p:sp>
        <p:nvSpPr>
          <p:cNvPr id="18" name="Text BROADCAST"/>
          <p:cNvSpPr txBox="1"/>
          <p:nvPr/>
        </p:nvSpPr>
        <p:spPr>
          <a:xfrm>
            <a:off x="2152650" y="1666875"/>
            <a:ext cx="872133" cy="123825"/>
          </a:xfrm>
          <a:prstGeom prst="rect">
            <a:avLst/>
          </a:prstGeom>
          <a:noFill/>
          <a:ln/>
        </p:spPr>
        <p:txBody>
          <a:bodyPr wrap="none" lIns="0" tIns="0" rIns="0" bIns="0" rtlCol="0" anchor="ctr"/>
          <a:lstStyle/>
          <a:p>
            <a:pPr algn="l" indent="0" marL="0">
              <a:buNone/>
            </a:pPr>
            <a:r>
              <a:rPr lang="en-US" sz="863" b="1" spc="150" kern="0" dirty="0">
                <a:solidFill>
                  <a:srgbClr val="B0AAFF"/>
                </a:solidFill>
                <a:latin typeface="Scotia" pitchFamily="34" charset="0"/>
                <a:ea typeface="Scotia" pitchFamily="34" charset="-122"/>
                <a:cs typeface="Scotia" pitchFamily="34" charset="-120"/>
              </a:rPr>
              <a:t>BROADCAST</a:t>
            </a:r>
            <a:endParaRPr lang="en-US" sz="863" dirty="0"/>
          </a:p>
        </p:txBody>
      </p:sp>
      <p:sp>
        <p:nvSpPr>
          <p:cNvPr id="19" name="dg rect"/>
          <p:cNvSpPr/>
          <p:nvPr/>
        </p:nvSpPr>
        <p:spPr>
          <a:xfrm>
            <a:off x="4152900" y="1847850"/>
            <a:ext cx="3409950" cy="2743200"/>
          </a:xfrm>
          <a:prstGeom prst="roundRect">
            <a:avLst>
              <a:gd name="adj" fmla="val 6944"/>
            </a:avLst>
          </a:prstGeom>
          <a:noFill/>
          <a:ln w="15240" cap="flat">
            <a:solidFill>
              <a:srgbClr val="337EFF"/>
            </a:solidFill>
            <a:custDash>
              <a:ds d="375000" sp="375000"/>
            </a:custDash>
            <a:miter lim="800000"/>
          </a:ln>
        </p:spPr>
      </p:sp>
      <p:sp>
        <p:nvSpPr>
          <p:cNvPr id="20" name="dg rect"/>
          <p:cNvSpPr/>
          <p:nvPr/>
        </p:nvSpPr>
        <p:spPr>
          <a:xfrm>
            <a:off x="4238625" y="1924050"/>
            <a:ext cx="3238500" cy="590550"/>
          </a:xfrm>
          <a:prstGeom prst="roundRect">
            <a:avLst>
              <a:gd name="adj" fmla="val 22581"/>
            </a:avLst>
          </a:prstGeom>
          <a:gradFill rotWithShape="1">
            <a:gsLst>
              <a:gs pos="0">
                <a:srgbClr val="1A1550"/>
              </a:gs>
              <a:gs pos="100000">
                <a:srgbClr val="120E36"/>
              </a:gs>
            </a:gsLst>
            <a:lin ang="5400000" scaled="1"/>
          </a:gradFill>
          <a:ln w="13335" cap="flat">
            <a:solidFill>
              <a:srgbClr val="3B3392"/>
            </a:solidFill>
            <a:miter lim="800000"/>
          </a:ln>
        </p:spPr>
      </p:sp>
      <p:sp>
        <p:nvSpPr>
          <p:cNvPr id="21" name="dg circle"/>
          <p:cNvSpPr/>
          <p:nvPr/>
        </p:nvSpPr>
        <p:spPr>
          <a:xfrm>
            <a:off x="4371975" y="2028825"/>
            <a:ext cx="342900" cy="342900"/>
          </a:xfrm>
          <a:prstGeom prst="ellipse">
            <a:avLst/>
          </a:prstGeom>
          <a:solidFill>
            <a:srgbClr val="6551FF"/>
          </a:solidFill>
          <a:ln>
            <a:noFill/>
          </a:ln>
        </p:spPr>
      </p:sp>
      <p:sp>
        <p:nvSpPr>
          <p:cNvPr id="22" name="dg i-bot"/>
          <p:cNvSpPr/>
          <p:nvPr/>
        </p:nvSpPr>
        <p:spPr>
          <a:xfrm>
            <a:off x="4471988" y="2143125"/>
            <a:ext cx="142875" cy="114300"/>
          </a:xfrm>
          <a:custGeom>
            <a:avLst/>
            <a:gdLst/>
            <a:ahLst/>
            <a:cxnLst/>
            <a:rect l="l" t="t" r="r" b="b"/>
            <a:pathLst>
              <a:path w="142875" h="114300">
                <a:moveTo>
                  <a:pt x="71438" y="28575"/>
                </a:moveTo>
                <a:lnTo>
                  <a:pt x="71438" y="0"/>
                </a:lnTo>
                <a:lnTo>
                  <a:pt x="42863" y="0"/>
                </a:lnTo>
                <a:moveTo>
                  <a:pt x="28575" y="28575"/>
                </a:moveTo>
                <a:lnTo>
                  <a:pt x="114300" y="28575"/>
                </a:lnTo>
                <a:cubicBezTo>
                  <a:pt x="122191" y="28575"/>
                  <a:pt x="128588" y="34972"/>
                  <a:pt x="128588" y="42863"/>
                </a:cubicBezTo>
                <a:lnTo>
                  <a:pt x="128588" y="100013"/>
                </a:lnTo>
                <a:cubicBezTo>
                  <a:pt x="128588" y="107903"/>
                  <a:pt x="122191" y="114300"/>
                  <a:pt x="114300" y="114300"/>
                </a:cubicBezTo>
                <a:lnTo>
                  <a:pt x="28575" y="114300"/>
                </a:lnTo>
                <a:cubicBezTo>
                  <a:pt x="20684" y="114300"/>
                  <a:pt x="14288" y="107903"/>
                  <a:pt x="14288" y="100013"/>
                </a:cubicBezTo>
                <a:lnTo>
                  <a:pt x="14288" y="42863"/>
                </a:lnTo>
                <a:cubicBezTo>
                  <a:pt x="14288" y="34972"/>
                  <a:pt x="20684" y="28575"/>
                  <a:pt x="28575" y="28575"/>
                </a:cubicBezTo>
                <a:close/>
                <a:moveTo>
                  <a:pt x="0" y="71438"/>
                </a:moveTo>
                <a:lnTo>
                  <a:pt x="14288" y="71438"/>
                </a:lnTo>
                <a:moveTo>
                  <a:pt x="128588" y="71438"/>
                </a:moveTo>
                <a:lnTo>
                  <a:pt x="142875" y="71438"/>
                </a:lnTo>
                <a:moveTo>
                  <a:pt x="92869" y="64294"/>
                </a:moveTo>
                <a:lnTo>
                  <a:pt x="92869" y="78581"/>
                </a:lnTo>
                <a:moveTo>
                  <a:pt x="50006" y="64294"/>
                </a:moveTo>
                <a:lnTo>
                  <a:pt x="50006" y="78581"/>
                </a:lnTo>
              </a:path>
            </a:pathLst>
          </a:custGeom>
          <a:noFill/>
          <a:ln w="12859" cap="rnd">
            <a:solidFill>
              <a:srgbClr val="FFFFFF"/>
            </a:solidFill>
            <a:round/>
          </a:ln>
        </p:spPr>
      </p:sp>
      <p:sp>
        <p:nvSpPr>
          <p:cNvPr id="23" name="Text Agent 1"/>
          <p:cNvSpPr txBox="1"/>
          <p:nvPr/>
        </p:nvSpPr>
        <p:spPr>
          <a:xfrm>
            <a:off x="4829175" y="2038350"/>
            <a:ext cx="610046"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Agent 1</a:t>
            </a:r>
            <a:endParaRPr lang="en-US" sz="1275" dirty="0"/>
          </a:p>
        </p:txBody>
      </p:sp>
      <p:sp>
        <p:nvSpPr>
          <p:cNvPr id="24" name="Text Model Knowledge Tools"/>
          <p:cNvSpPr txBox="1"/>
          <p:nvPr/>
        </p:nvSpPr>
        <p:spPr>
          <a:xfrm>
            <a:off x="4829175" y="223837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25" name="dg rect"/>
          <p:cNvSpPr/>
          <p:nvPr/>
        </p:nvSpPr>
        <p:spPr>
          <a:xfrm>
            <a:off x="6372606" y="2028825"/>
            <a:ext cx="875538" cy="209550"/>
          </a:xfrm>
          <a:prstGeom prst="roundRect">
            <a:avLst>
              <a:gd name="adj" fmla="val 50000"/>
            </a:avLst>
          </a:prstGeom>
          <a:solidFill>
            <a:srgbClr val="FFFFFF">
              <a:alpha val="6300"/>
            </a:srgbClr>
          </a:solidFill>
          <a:ln w="12383" cap="flat">
            <a:solidFill>
              <a:srgbClr val="B0AAFF"/>
            </a:solidFill>
            <a:miter lim="800000"/>
          </a:ln>
        </p:spPr>
      </p:sp>
      <p:sp>
        <p:nvSpPr>
          <p:cNvPr id="26" name="Text sub-agents"/>
          <p:cNvSpPr txBox="1"/>
          <p:nvPr/>
        </p:nvSpPr>
        <p:spPr>
          <a:xfrm>
            <a:off x="6452667" y="2085594"/>
            <a:ext cx="715417" cy="123825"/>
          </a:xfrm>
          <a:prstGeom prst="rect">
            <a:avLst/>
          </a:prstGeom>
          <a:noFill/>
          <a:ln/>
        </p:spPr>
        <p:txBody>
          <a:bodyPr wrap="none" lIns="0" tIns="0" rIns="0" bIns="0" rtlCol="0" anchor="ctr"/>
          <a:lstStyle/>
          <a:p>
            <a:pPr algn="ctr" indent="0" marL="0">
              <a:buNone/>
            </a:pPr>
            <a:r>
              <a:rPr lang="en-US" sz="825" b="1" spc="22" kern="0" dirty="0">
                <a:solidFill>
                  <a:srgbClr val="B0AAFF"/>
                </a:solidFill>
                <a:latin typeface="Scotia" pitchFamily="34" charset="0"/>
                <a:ea typeface="Scotia" pitchFamily="34" charset="-122"/>
                <a:cs typeface="Scotia" pitchFamily="34" charset="-120"/>
              </a:rPr>
              <a:t>+ sub-agents</a:t>
            </a:r>
            <a:endParaRPr lang="en-US" sz="825" dirty="0"/>
          </a:p>
        </p:txBody>
      </p:sp>
      <p:sp>
        <p:nvSpPr>
          <p:cNvPr id="27" name="dg rect"/>
          <p:cNvSpPr/>
          <p:nvPr/>
        </p:nvSpPr>
        <p:spPr>
          <a:xfrm>
            <a:off x="4829175" y="2409825"/>
            <a:ext cx="2438400" cy="47625"/>
          </a:xfrm>
          <a:prstGeom prst="roundRect">
            <a:avLst>
              <a:gd name="adj" fmla="val 50000"/>
            </a:avLst>
          </a:prstGeom>
          <a:solidFill>
            <a:srgbClr val="FFFFFF">
              <a:alpha val="9400"/>
            </a:srgbClr>
          </a:solidFill>
          <a:ln>
            <a:noFill/>
          </a:ln>
        </p:spPr>
      </p:sp>
      <p:sp>
        <p:nvSpPr>
          <p:cNvPr id="28" name="dg rect"/>
          <p:cNvSpPr/>
          <p:nvPr/>
        </p:nvSpPr>
        <p:spPr>
          <a:xfrm>
            <a:off x="4829175" y="2409825"/>
            <a:ext cx="1511808" cy="47625"/>
          </a:xfrm>
          <a:prstGeom prst="roundRect">
            <a:avLst>
              <a:gd name="adj" fmla="val 50000"/>
            </a:avLst>
          </a:prstGeom>
          <a:solidFill>
            <a:srgbClr val="6551FF"/>
          </a:solidFill>
          <a:ln>
            <a:noFill/>
          </a:ln>
        </p:spPr>
      </p:sp>
      <p:sp>
        <p:nvSpPr>
          <p:cNvPr id="29" name="dg path"/>
          <p:cNvSpPr/>
          <p:nvPr/>
        </p:nvSpPr>
        <p:spPr>
          <a:xfrm>
            <a:off x="3238500" y="2220661"/>
            <a:ext cx="865290" cy="998789"/>
          </a:xfrm>
          <a:custGeom>
            <a:avLst/>
            <a:gdLst/>
            <a:ahLst/>
            <a:cxnLst/>
            <a:rect l="l" t="t" r="r" b="b"/>
            <a:pathLst>
              <a:path w="865290" h="998789">
                <a:moveTo>
                  <a:pt x="0" y="998789"/>
                </a:moveTo>
                <a:cubicBezTo>
                  <a:pt x="628650" y="998789"/>
                  <a:pt x="420053" y="253934"/>
                  <a:pt x="865290" y="0"/>
                </a:cubicBezTo>
              </a:path>
            </a:pathLst>
          </a:custGeom>
          <a:noFill/>
          <a:ln w="22860" cap="rnd">
            <a:solidFill>
              <a:srgbClr val="B0AAFF"/>
            </a:solidFill>
            <a:miter lim="800000"/>
            <a:tailEnd type="triangle" w="lg" len="lg"/>
          </a:ln>
        </p:spPr>
      </p:sp>
      <p:sp>
        <p:nvSpPr>
          <p:cNvPr id="30" name="dg rect"/>
          <p:cNvSpPr/>
          <p:nvPr/>
        </p:nvSpPr>
        <p:spPr>
          <a:xfrm>
            <a:off x="4238625" y="2590800"/>
            <a:ext cx="3238500" cy="590550"/>
          </a:xfrm>
          <a:prstGeom prst="roundRect">
            <a:avLst>
              <a:gd name="adj" fmla="val 22581"/>
            </a:avLst>
          </a:prstGeom>
          <a:gradFill rotWithShape="1">
            <a:gsLst>
              <a:gs pos="0">
                <a:srgbClr val="1A1550"/>
              </a:gs>
              <a:gs pos="100000">
                <a:srgbClr val="120E36"/>
              </a:gs>
            </a:gsLst>
            <a:lin ang="5400000" scaled="1"/>
          </a:gradFill>
          <a:ln w="13335" cap="flat">
            <a:solidFill>
              <a:srgbClr val="3B3392"/>
            </a:solidFill>
            <a:miter lim="800000"/>
          </a:ln>
        </p:spPr>
      </p:sp>
      <p:sp>
        <p:nvSpPr>
          <p:cNvPr id="31" name="dg circle"/>
          <p:cNvSpPr/>
          <p:nvPr/>
        </p:nvSpPr>
        <p:spPr>
          <a:xfrm>
            <a:off x="4371975" y="2695575"/>
            <a:ext cx="342900" cy="342900"/>
          </a:xfrm>
          <a:prstGeom prst="ellipse">
            <a:avLst/>
          </a:prstGeom>
          <a:solidFill>
            <a:srgbClr val="6551FF"/>
          </a:solidFill>
          <a:ln>
            <a:noFill/>
          </a:ln>
        </p:spPr>
      </p:sp>
      <p:sp>
        <p:nvSpPr>
          <p:cNvPr id="32" name="dg i-bot"/>
          <p:cNvSpPr/>
          <p:nvPr/>
        </p:nvSpPr>
        <p:spPr>
          <a:xfrm>
            <a:off x="4471988" y="2809875"/>
            <a:ext cx="142875" cy="114300"/>
          </a:xfrm>
          <a:custGeom>
            <a:avLst/>
            <a:gdLst/>
            <a:ahLst/>
            <a:cxnLst/>
            <a:rect l="l" t="t" r="r" b="b"/>
            <a:pathLst>
              <a:path w="142875" h="114300">
                <a:moveTo>
                  <a:pt x="71438" y="28575"/>
                </a:moveTo>
                <a:lnTo>
                  <a:pt x="71438" y="0"/>
                </a:lnTo>
                <a:lnTo>
                  <a:pt x="42863" y="0"/>
                </a:lnTo>
                <a:moveTo>
                  <a:pt x="28575" y="28575"/>
                </a:moveTo>
                <a:lnTo>
                  <a:pt x="114300" y="28575"/>
                </a:lnTo>
                <a:cubicBezTo>
                  <a:pt x="122191" y="28575"/>
                  <a:pt x="128588" y="34972"/>
                  <a:pt x="128588" y="42863"/>
                </a:cubicBezTo>
                <a:lnTo>
                  <a:pt x="128588" y="100013"/>
                </a:lnTo>
                <a:cubicBezTo>
                  <a:pt x="128588" y="107903"/>
                  <a:pt x="122191" y="114300"/>
                  <a:pt x="114300" y="114300"/>
                </a:cubicBezTo>
                <a:lnTo>
                  <a:pt x="28575" y="114300"/>
                </a:lnTo>
                <a:cubicBezTo>
                  <a:pt x="20684" y="114300"/>
                  <a:pt x="14288" y="107903"/>
                  <a:pt x="14288" y="100013"/>
                </a:cubicBezTo>
                <a:lnTo>
                  <a:pt x="14288" y="42863"/>
                </a:lnTo>
                <a:cubicBezTo>
                  <a:pt x="14288" y="34972"/>
                  <a:pt x="20684" y="28575"/>
                  <a:pt x="28575" y="28575"/>
                </a:cubicBezTo>
                <a:close/>
                <a:moveTo>
                  <a:pt x="0" y="71438"/>
                </a:moveTo>
                <a:lnTo>
                  <a:pt x="14288" y="71438"/>
                </a:lnTo>
                <a:moveTo>
                  <a:pt x="128588" y="71438"/>
                </a:moveTo>
                <a:lnTo>
                  <a:pt x="142875" y="71438"/>
                </a:lnTo>
                <a:moveTo>
                  <a:pt x="92869" y="64294"/>
                </a:moveTo>
                <a:lnTo>
                  <a:pt x="92869" y="78581"/>
                </a:lnTo>
                <a:moveTo>
                  <a:pt x="50006" y="64294"/>
                </a:moveTo>
                <a:lnTo>
                  <a:pt x="50006" y="78581"/>
                </a:lnTo>
              </a:path>
            </a:pathLst>
          </a:custGeom>
          <a:noFill/>
          <a:ln w="12859" cap="rnd">
            <a:solidFill>
              <a:srgbClr val="FFFFFF"/>
            </a:solidFill>
            <a:round/>
          </a:ln>
        </p:spPr>
      </p:sp>
      <p:sp>
        <p:nvSpPr>
          <p:cNvPr id="33" name="Text Agent 2"/>
          <p:cNvSpPr txBox="1"/>
          <p:nvPr/>
        </p:nvSpPr>
        <p:spPr>
          <a:xfrm>
            <a:off x="4829175" y="2705100"/>
            <a:ext cx="625673"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Agent 2</a:t>
            </a:r>
            <a:endParaRPr lang="en-US" sz="1275" dirty="0"/>
          </a:p>
        </p:txBody>
      </p:sp>
      <p:sp>
        <p:nvSpPr>
          <p:cNvPr id="34" name="Text Model Knowledge Tools"/>
          <p:cNvSpPr txBox="1"/>
          <p:nvPr/>
        </p:nvSpPr>
        <p:spPr>
          <a:xfrm>
            <a:off x="4829175" y="290512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35" name="dg rect"/>
          <p:cNvSpPr/>
          <p:nvPr/>
        </p:nvSpPr>
        <p:spPr>
          <a:xfrm>
            <a:off x="4829175" y="3076575"/>
            <a:ext cx="2438400" cy="47625"/>
          </a:xfrm>
          <a:prstGeom prst="roundRect">
            <a:avLst>
              <a:gd name="adj" fmla="val 50000"/>
            </a:avLst>
          </a:prstGeom>
          <a:solidFill>
            <a:srgbClr val="FFFFFF">
              <a:alpha val="9400"/>
            </a:srgbClr>
          </a:solidFill>
          <a:ln>
            <a:noFill/>
          </a:ln>
        </p:spPr>
      </p:sp>
      <p:sp>
        <p:nvSpPr>
          <p:cNvPr id="36" name="dg rect"/>
          <p:cNvSpPr/>
          <p:nvPr/>
        </p:nvSpPr>
        <p:spPr>
          <a:xfrm>
            <a:off x="4829175" y="3076575"/>
            <a:ext cx="1024128" cy="47625"/>
          </a:xfrm>
          <a:prstGeom prst="roundRect">
            <a:avLst>
              <a:gd name="adj" fmla="val 50000"/>
            </a:avLst>
          </a:prstGeom>
          <a:solidFill>
            <a:srgbClr val="6551FF"/>
          </a:solidFill>
          <a:ln>
            <a:noFill/>
          </a:ln>
        </p:spPr>
      </p:sp>
      <p:sp>
        <p:nvSpPr>
          <p:cNvPr id="37" name="dg path"/>
          <p:cNvSpPr/>
          <p:nvPr/>
        </p:nvSpPr>
        <p:spPr>
          <a:xfrm>
            <a:off x="3238500" y="2886863"/>
            <a:ext cx="864761" cy="332587"/>
          </a:xfrm>
          <a:custGeom>
            <a:avLst/>
            <a:gdLst/>
            <a:ahLst/>
            <a:cxnLst/>
            <a:rect l="l" t="t" r="r" b="b"/>
            <a:pathLst>
              <a:path w="864761" h="332587">
                <a:moveTo>
                  <a:pt x="0" y="332587"/>
                </a:moveTo>
                <a:cubicBezTo>
                  <a:pt x="628650" y="332587"/>
                  <a:pt x="364808" y="111607"/>
                  <a:pt x="864761" y="0"/>
                </a:cubicBezTo>
              </a:path>
            </a:pathLst>
          </a:custGeom>
          <a:noFill/>
          <a:ln w="22860" cap="rnd">
            <a:solidFill>
              <a:srgbClr val="B0AAFF"/>
            </a:solidFill>
            <a:miter lim="800000"/>
            <a:tailEnd type="triangle" w="lg" len="lg"/>
          </a:ln>
        </p:spPr>
      </p:sp>
      <p:sp>
        <p:nvSpPr>
          <p:cNvPr id="38" name="dg rect"/>
          <p:cNvSpPr/>
          <p:nvPr/>
        </p:nvSpPr>
        <p:spPr>
          <a:xfrm>
            <a:off x="4238625" y="3257550"/>
            <a:ext cx="3238500" cy="590550"/>
          </a:xfrm>
          <a:prstGeom prst="roundRect">
            <a:avLst>
              <a:gd name="adj" fmla="val 22581"/>
            </a:avLst>
          </a:prstGeom>
          <a:gradFill rotWithShape="1">
            <a:gsLst>
              <a:gs pos="0">
                <a:srgbClr val="1A1550"/>
              </a:gs>
              <a:gs pos="100000">
                <a:srgbClr val="120E36"/>
              </a:gs>
            </a:gsLst>
            <a:lin ang="5400000" scaled="1"/>
          </a:gradFill>
          <a:ln w="17145" cap="flat">
            <a:solidFill>
              <a:srgbClr val="B0AAFF"/>
            </a:solidFill>
            <a:miter lim="800000"/>
          </a:ln>
        </p:spPr>
      </p:sp>
      <p:sp>
        <p:nvSpPr>
          <p:cNvPr id="39" name="dg circle"/>
          <p:cNvSpPr/>
          <p:nvPr/>
        </p:nvSpPr>
        <p:spPr>
          <a:xfrm>
            <a:off x="4371975" y="3362325"/>
            <a:ext cx="342900" cy="342900"/>
          </a:xfrm>
          <a:prstGeom prst="ellipse">
            <a:avLst/>
          </a:prstGeom>
          <a:solidFill>
            <a:srgbClr val="6551FF"/>
          </a:solidFill>
          <a:ln>
            <a:noFill/>
          </a:ln>
        </p:spPr>
      </p:sp>
      <p:sp>
        <p:nvSpPr>
          <p:cNvPr id="40" name="dg i-bot"/>
          <p:cNvSpPr/>
          <p:nvPr/>
        </p:nvSpPr>
        <p:spPr>
          <a:xfrm>
            <a:off x="4471988" y="3476625"/>
            <a:ext cx="142875" cy="114300"/>
          </a:xfrm>
          <a:custGeom>
            <a:avLst/>
            <a:gdLst/>
            <a:ahLst/>
            <a:cxnLst/>
            <a:rect l="l" t="t" r="r" b="b"/>
            <a:pathLst>
              <a:path w="142875" h="114300">
                <a:moveTo>
                  <a:pt x="71438" y="28575"/>
                </a:moveTo>
                <a:lnTo>
                  <a:pt x="71438" y="0"/>
                </a:lnTo>
                <a:lnTo>
                  <a:pt x="42863" y="0"/>
                </a:lnTo>
                <a:moveTo>
                  <a:pt x="28575" y="28575"/>
                </a:moveTo>
                <a:lnTo>
                  <a:pt x="114300" y="28575"/>
                </a:lnTo>
                <a:cubicBezTo>
                  <a:pt x="122191" y="28575"/>
                  <a:pt x="128588" y="34972"/>
                  <a:pt x="128588" y="42863"/>
                </a:cubicBezTo>
                <a:lnTo>
                  <a:pt x="128588" y="100013"/>
                </a:lnTo>
                <a:cubicBezTo>
                  <a:pt x="128588" y="107903"/>
                  <a:pt x="122191" y="114300"/>
                  <a:pt x="114300" y="114300"/>
                </a:cubicBezTo>
                <a:lnTo>
                  <a:pt x="28575" y="114300"/>
                </a:lnTo>
                <a:cubicBezTo>
                  <a:pt x="20684" y="114300"/>
                  <a:pt x="14288" y="107903"/>
                  <a:pt x="14288" y="100013"/>
                </a:cubicBezTo>
                <a:lnTo>
                  <a:pt x="14288" y="42863"/>
                </a:lnTo>
                <a:cubicBezTo>
                  <a:pt x="14288" y="34972"/>
                  <a:pt x="20684" y="28575"/>
                  <a:pt x="28575" y="28575"/>
                </a:cubicBezTo>
                <a:close/>
                <a:moveTo>
                  <a:pt x="0" y="71438"/>
                </a:moveTo>
                <a:lnTo>
                  <a:pt x="14288" y="71438"/>
                </a:lnTo>
                <a:moveTo>
                  <a:pt x="128588" y="71438"/>
                </a:moveTo>
                <a:lnTo>
                  <a:pt x="142875" y="71438"/>
                </a:lnTo>
                <a:moveTo>
                  <a:pt x="92869" y="64294"/>
                </a:moveTo>
                <a:lnTo>
                  <a:pt x="92869" y="78581"/>
                </a:lnTo>
                <a:moveTo>
                  <a:pt x="50006" y="64294"/>
                </a:moveTo>
                <a:lnTo>
                  <a:pt x="50006" y="78581"/>
                </a:lnTo>
              </a:path>
            </a:pathLst>
          </a:custGeom>
          <a:noFill/>
          <a:ln w="12859" cap="rnd">
            <a:solidFill>
              <a:srgbClr val="FFFFFF"/>
            </a:solidFill>
            <a:round/>
          </a:ln>
        </p:spPr>
      </p:sp>
      <p:sp>
        <p:nvSpPr>
          <p:cNvPr id="41" name="Text Agent 3"/>
          <p:cNvSpPr txBox="1"/>
          <p:nvPr/>
        </p:nvSpPr>
        <p:spPr>
          <a:xfrm>
            <a:off x="4829175" y="3371850"/>
            <a:ext cx="624780"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Agent 3</a:t>
            </a:r>
            <a:endParaRPr lang="en-US" sz="1275" dirty="0"/>
          </a:p>
        </p:txBody>
      </p:sp>
      <p:sp>
        <p:nvSpPr>
          <p:cNvPr id="42" name="Text Model Knowledge Tools"/>
          <p:cNvSpPr txBox="1"/>
          <p:nvPr/>
        </p:nvSpPr>
        <p:spPr>
          <a:xfrm>
            <a:off x="4829175" y="357187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43" name="dg rect"/>
          <p:cNvSpPr/>
          <p:nvPr/>
        </p:nvSpPr>
        <p:spPr>
          <a:xfrm>
            <a:off x="4829175" y="3743325"/>
            <a:ext cx="2438400" cy="47625"/>
          </a:xfrm>
          <a:prstGeom prst="roundRect">
            <a:avLst>
              <a:gd name="adj" fmla="val 50000"/>
            </a:avLst>
          </a:prstGeom>
          <a:solidFill>
            <a:srgbClr val="FFFFFF">
              <a:alpha val="9400"/>
            </a:srgbClr>
          </a:solidFill>
          <a:ln>
            <a:noFill/>
          </a:ln>
        </p:spPr>
      </p:sp>
      <p:sp>
        <p:nvSpPr>
          <p:cNvPr id="44" name="dg rect"/>
          <p:cNvSpPr/>
          <p:nvPr/>
        </p:nvSpPr>
        <p:spPr>
          <a:xfrm>
            <a:off x="4829175" y="3743325"/>
            <a:ext cx="1950720" cy="47625"/>
          </a:xfrm>
          <a:prstGeom prst="roundRect">
            <a:avLst>
              <a:gd name="adj" fmla="val 50000"/>
            </a:avLst>
          </a:prstGeom>
          <a:solidFill>
            <a:srgbClr val="B0AAFF"/>
          </a:solidFill>
          <a:ln>
            <a:noFill/>
          </a:ln>
        </p:spPr>
      </p:sp>
      <p:sp>
        <p:nvSpPr>
          <p:cNvPr id="45" name="Text slowest"/>
          <p:cNvSpPr txBox="1"/>
          <p:nvPr/>
        </p:nvSpPr>
        <p:spPr>
          <a:xfrm>
            <a:off x="6856095" y="3714750"/>
            <a:ext cx="483394" cy="123825"/>
          </a:xfrm>
          <a:prstGeom prst="rect">
            <a:avLst/>
          </a:prstGeom>
          <a:noFill/>
          <a:ln/>
        </p:spPr>
        <p:txBody>
          <a:bodyPr wrap="none" lIns="0" tIns="0" rIns="0" bIns="0" rtlCol="0" anchor="ctr"/>
          <a:lstStyle/>
          <a:p>
            <a:pPr algn="l" indent="0" marL="0">
              <a:buNone/>
            </a:pPr>
            <a:r>
              <a:rPr lang="en-US" sz="825" b="1" spc="75" kern="0" dirty="0">
                <a:solidFill>
                  <a:srgbClr val="B0AAFF"/>
                </a:solidFill>
                <a:latin typeface="Scotia" pitchFamily="34" charset="0"/>
                <a:ea typeface="Scotia" pitchFamily="34" charset="-122"/>
                <a:cs typeface="Scotia" pitchFamily="34" charset="-120"/>
              </a:rPr>
              <a:t>slowest</a:t>
            </a:r>
            <a:endParaRPr lang="en-US" sz="825" dirty="0"/>
          </a:p>
        </p:txBody>
      </p:sp>
      <p:sp>
        <p:nvSpPr>
          <p:cNvPr id="46" name="dg path"/>
          <p:cNvSpPr/>
          <p:nvPr/>
        </p:nvSpPr>
        <p:spPr>
          <a:xfrm>
            <a:off x="3238500" y="3219450"/>
            <a:ext cx="864761" cy="332587"/>
          </a:xfrm>
          <a:custGeom>
            <a:avLst/>
            <a:gdLst/>
            <a:ahLst/>
            <a:cxnLst/>
            <a:rect l="l" t="t" r="r" b="b"/>
            <a:pathLst>
              <a:path w="864761" h="332587">
                <a:moveTo>
                  <a:pt x="0" y="0"/>
                </a:moveTo>
                <a:cubicBezTo>
                  <a:pt x="628650" y="0"/>
                  <a:pt x="364808" y="220980"/>
                  <a:pt x="864761" y="332587"/>
                </a:cubicBezTo>
              </a:path>
            </a:pathLst>
          </a:custGeom>
          <a:noFill/>
          <a:ln w="22860" cap="rnd">
            <a:solidFill>
              <a:srgbClr val="B0AAFF"/>
            </a:solidFill>
            <a:miter lim="800000"/>
            <a:tailEnd type="triangle" w="lg" len="lg"/>
          </a:ln>
        </p:spPr>
      </p:sp>
      <p:sp>
        <p:nvSpPr>
          <p:cNvPr id="47" name="dg rect"/>
          <p:cNvSpPr/>
          <p:nvPr/>
        </p:nvSpPr>
        <p:spPr>
          <a:xfrm>
            <a:off x="4238625" y="3924300"/>
            <a:ext cx="3238500" cy="590550"/>
          </a:xfrm>
          <a:prstGeom prst="roundRect">
            <a:avLst>
              <a:gd name="adj" fmla="val 22581"/>
            </a:avLst>
          </a:prstGeom>
          <a:gradFill rotWithShape="1">
            <a:gsLst>
              <a:gs pos="0">
                <a:srgbClr val="1A1550"/>
              </a:gs>
              <a:gs pos="100000">
                <a:srgbClr val="120E36"/>
              </a:gs>
            </a:gsLst>
            <a:lin ang="5400000" scaled="1"/>
          </a:gradFill>
          <a:ln w="13335" cap="flat">
            <a:solidFill>
              <a:srgbClr val="3B3392"/>
            </a:solidFill>
            <a:miter lim="800000"/>
          </a:ln>
        </p:spPr>
      </p:sp>
      <p:sp>
        <p:nvSpPr>
          <p:cNvPr id="48" name="dg circle"/>
          <p:cNvSpPr/>
          <p:nvPr/>
        </p:nvSpPr>
        <p:spPr>
          <a:xfrm>
            <a:off x="4371975" y="4029075"/>
            <a:ext cx="342900" cy="342900"/>
          </a:xfrm>
          <a:prstGeom prst="ellipse">
            <a:avLst/>
          </a:prstGeom>
          <a:solidFill>
            <a:srgbClr val="6551FF"/>
          </a:solidFill>
          <a:ln>
            <a:noFill/>
          </a:ln>
        </p:spPr>
      </p:sp>
      <p:sp>
        <p:nvSpPr>
          <p:cNvPr id="49" name="dg i-bot"/>
          <p:cNvSpPr/>
          <p:nvPr/>
        </p:nvSpPr>
        <p:spPr>
          <a:xfrm>
            <a:off x="4471988" y="4143375"/>
            <a:ext cx="142875" cy="114300"/>
          </a:xfrm>
          <a:custGeom>
            <a:avLst/>
            <a:gdLst/>
            <a:ahLst/>
            <a:cxnLst/>
            <a:rect l="l" t="t" r="r" b="b"/>
            <a:pathLst>
              <a:path w="142875" h="114300">
                <a:moveTo>
                  <a:pt x="71438" y="28575"/>
                </a:moveTo>
                <a:lnTo>
                  <a:pt x="71438" y="0"/>
                </a:lnTo>
                <a:lnTo>
                  <a:pt x="42863" y="0"/>
                </a:lnTo>
                <a:moveTo>
                  <a:pt x="28575" y="28575"/>
                </a:moveTo>
                <a:lnTo>
                  <a:pt x="114300" y="28575"/>
                </a:lnTo>
                <a:cubicBezTo>
                  <a:pt x="122191" y="28575"/>
                  <a:pt x="128588" y="34972"/>
                  <a:pt x="128588" y="42863"/>
                </a:cubicBezTo>
                <a:lnTo>
                  <a:pt x="128588" y="100013"/>
                </a:lnTo>
                <a:cubicBezTo>
                  <a:pt x="128588" y="107903"/>
                  <a:pt x="122191" y="114300"/>
                  <a:pt x="114300" y="114300"/>
                </a:cubicBezTo>
                <a:lnTo>
                  <a:pt x="28575" y="114300"/>
                </a:lnTo>
                <a:cubicBezTo>
                  <a:pt x="20684" y="114300"/>
                  <a:pt x="14288" y="107903"/>
                  <a:pt x="14288" y="100013"/>
                </a:cubicBezTo>
                <a:lnTo>
                  <a:pt x="14288" y="42863"/>
                </a:lnTo>
                <a:cubicBezTo>
                  <a:pt x="14288" y="34972"/>
                  <a:pt x="20684" y="28575"/>
                  <a:pt x="28575" y="28575"/>
                </a:cubicBezTo>
                <a:close/>
                <a:moveTo>
                  <a:pt x="0" y="71438"/>
                </a:moveTo>
                <a:lnTo>
                  <a:pt x="14288" y="71438"/>
                </a:lnTo>
                <a:moveTo>
                  <a:pt x="128588" y="71438"/>
                </a:moveTo>
                <a:lnTo>
                  <a:pt x="142875" y="71438"/>
                </a:lnTo>
                <a:moveTo>
                  <a:pt x="92869" y="64294"/>
                </a:moveTo>
                <a:lnTo>
                  <a:pt x="92869" y="78581"/>
                </a:lnTo>
                <a:moveTo>
                  <a:pt x="50006" y="64294"/>
                </a:moveTo>
                <a:lnTo>
                  <a:pt x="50006" y="78581"/>
                </a:lnTo>
              </a:path>
            </a:pathLst>
          </a:custGeom>
          <a:noFill/>
          <a:ln w="12859" cap="rnd">
            <a:solidFill>
              <a:srgbClr val="FFFFFF"/>
            </a:solidFill>
            <a:round/>
          </a:ln>
        </p:spPr>
      </p:sp>
      <p:sp>
        <p:nvSpPr>
          <p:cNvPr id="50" name="Text Agent n"/>
          <p:cNvSpPr txBox="1"/>
          <p:nvPr/>
        </p:nvSpPr>
        <p:spPr>
          <a:xfrm>
            <a:off x="4829175" y="4038600"/>
            <a:ext cx="634305"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Agent n</a:t>
            </a:r>
            <a:endParaRPr lang="en-US" sz="1275" dirty="0"/>
          </a:p>
        </p:txBody>
      </p:sp>
      <p:sp>
        <p:nvSpPr>
          <p:cNvPr id="51" name="Text Model Knowledge Tools"/>
          <p:cNvSpPr txBox="1"/>
          <p:nvPr/>
        </p:nvSpPr>
        <p:spPr>
          <a:xfrm>
            <a:off x="4829175" y="423862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52" name="dg rect"/>
          <p:cNvSpPr/>
          <p:nvPr/>
        </p:nvSpPr>
        <p:spPr>
          <a:xfrm>
            <a:off x="4829175" y="4410075"/>
            <a:ext cx="2438400" cy="47625"/>
          </a:xfrm>
          <a:prstGeom prst="roundRect">
            <a:avLst>
              <a:gd name="adj" fmla="val 50000"/>
            </a:avLst>
          </a:prstGeom>
          <a:solidFill>
            <a:srgbClr val="FFFFFF">
              <a:alpha val="9400"/>
            </a:srgbClr>
          </a:solidFill>
          <a:ln>
            <a:noFill/>
          </a:ln>
        </p:spPr>
      </p:sp>
      <p:sp>
        <p:nvSpPr>
          <p:cNvPr id="53" name="dg rect"/>
          <p:cNvSpPr/>
          <p:nvPr/>
        </p:nvSpPr>
        <p:spPr>
          <a:xfrm>
            <a:off x="4829175" y="4410075"/>
            <a:ext cx="1341120" cy="47625"/>
          </a:xfrm>
          <a:prstGeom prst="roundRect">
            <a:avLst>
              <a:gd name="adj" fmla="val 50000"/>
            </a:avLst>
          </a:prstGeom>
          <a:solidFill>
            <a:srgbClr val="6551FF"/>
          </a:solidFill>
          <a:ln>
            <a:noFill/>
          </a:ln>
        </p:spPr>
      </p:sp>
      <p:sp>
        <p:nvSpPr>
          <p:cNvPr id="54" name="dg path"/>
          <p:cNvSpPr/>
          <p:nvPr/>
        </p:nvSpPr>
        <p:spPr>
          <a:xfrm>
            <a:off x="3238500" y="3219450"/>
            <a:ext cx="865290" cy="998789"/>
          </a:xfrm>
          <a:custGeom>
            <a:avLst/>
            <a:gdLst/>
            <a:ahLst/>
            <a:cxnLst/>
            <a:rect l="l" t="t" r="r" b="b"/>
            <a:pathLst>
              <a:path w="865290" h="998789">
                <a:moveTo>
                  <a:pt x="0" y="0"/>
                </a:moveTo>
                <a:cubicBezTo>
                  <a:pt x="628650" y="0"/>
                  <a:pt x="420053" y="744855"/>
                  <a:pt x="865290" y="998789"/>
                </a:cubicBezTo>
              </a:path>
            </a:pathLst>
          </a:custGeom>
          <a:noFill/>
          <a:ln w="22860" cap="rnd">
            <a:solidFill>
              <a:srgbClr val="B0AAFF"/>
            </a:solidFill>
            <a:miter lim="800000"/>
            <a:tailEnd type="triangle" w="lg" len="lg"/>
          </a:ln>
        </p:spPr>
      </p:sp>
      <p:sp>
        <p:nvSpPr>
          <p:cNvPr id="55" name="dg circle"/>
          <p:cNvSpPr/>
          <p:nvPr/>
        </p:nvSpPr>
        <p:spPr>
          <a:xfrm>
            <a:off x="4238625" y="1609725"/>
            <a:ext cx="209550" cy="209550"/>
          </a:xfrm>
          <a:prstGeom prst="ellipse">
            <a:avLst/>
          </a:prstGeom>
          <a:solidFill>
            <a:srgbClr val="6551FF"/>
          </a:solidFill>
          <a:ln>
            <a:noFill/>
          </a:ln>
        </p:spPr>
      </p:sp>
      <p:sp>
        <p:nvSpPr>
          <p:cNvPr id="56" name="Text 2"/>
          <p:cNvSpPr txBox="1"/>
          <p:nvPr/>
        </p:nvSpPr>
        <p:spPr>
          <a:xfrm>
            <a:off x="4283348" y="1660401"/>
            <a:ext cx="120104" cy="142875"/>
          </a:xfrm>
          <a:prstGeom prst="rect">
            <a:avLst/>
          </a:prstGeom>
          <a:noFill/>
          <a:ln/>
        </p:spPr>
        <p:txBody>
          <a:bodyPr wrap="none" lIns="0" tIns="0" rIns="0" bIns="0" rtlCol="0" anchor="ctr"/>
          <a:lstStyle/>
          <a:p>
            <a:pPr algn="ctr" indent="0" marL="0">
              <a:buNone/>
            </a:pPr>
            <a:r>
              <a:rPr lang="en-US" sz="900" b="1" dirty="0">
                <a:solidFill>
                  <a:srgbClr val="FFFFFF"/>
                </a:solidFill>
                <a:latin typeface="Scotia" pitchFamily="34" charset="0"/>
                <a:ea typeface="Scotia" pitchFamily="34" charset="-122"/>
                <a:cs typeface="Scotia" pitchFamily="34" charset="-120"/>
              </a:rPr>
              <a:t>2</a:t>
            </a:r>
            <a:endParaRPr lang="en-US" sz="900" dirty="0"/>
          </a:p>
        </p:txBody>
      </p:sp>
      <p:sp>
        <p:nvSpPr>
          <p:cNvPr id="57" name="Text RUN INDEPENDENTLY IN PARALLEL"/>
          <p:cNvSpPr txBox="1"/>
          <p:nvPr/>
        </p:nvSpPr>
        <p:spPr>
          <a:xfrm>
            <a:off x="4524375" y="1666875"/>
            <a:ext cx="2430066" cy="123825"/>
          </a:xfrm>
          <a:prstGeom prst="rect">
            <a:avLst/>
          </a:prstGeom>
          <a:noFill/>
          <a:ln/>
        </p:spPr>
        <p:txBody>
          <a:bodyPr wrap="none" lIns="0" tIns="0" rIns="0" bIns="0" rtlCol="0" anchor="ctr"/>
          <a:lstStyle/>
          <a:p>
            <a:pPr algn="l" indent="0" marL="0">
              <a:buNone/>
            </a:pPr>
            <a:r>
              <a:rPr lang="en-US" sz="863" b="1" spc="150" kern="0" dirty="0">
                <a:solidFill>
                  <a:srgbClr val="B0AAFF"/>
                </a:solidFill>
                <a:latin typeface="Scotia" pitchFamily="34" charset="0"/>
                <a:ea typeface="Scotia" pitchFamily="34" charset="-122"/>
                <a:cs typeface="Scotia" pitchFamily="34" charset="-120"/>
              </a:rPr>
              <a:t>RUN INDEPENDENTLY, IN PARALLEL</a:t>
            </a:r>
            <a:endParaRPr lang="en-US" sz="863" dirty="0"/>
          </a:p>
        </p:txBody>
      </p:sp>
      <p:sp>
        <p:nvSpPr>
          <p:cNvPr id="58" name="dg path"/>
          <p:cNvSpPr/>
          <p:nvPr/>
        </p:nvSpPr>
        <p:spPr>
          <a:xfrm>
            <a:off x="5857875" y="4600575"/>
            <a:ext cx="0" cy="142875"/>
          </a:xfrm>
          <a:prstGeom prst="line">
            <a:avLst/>
          </a:prstGeom>
          <a:noFill/>
          <a:ln w="17145" cap="rnd">
            <a:solidFill>
              <a:srgbClr val="337EFF">
                <a:alpha val="90000"/>
              </a:srgbClr>
            </a:solidFill>
            <a:custDash>
              <a:ds d="222222" sp="277778"/>
            </a:custDash>
            <a:miter lim="800000"/>
          </a:ln>
        </p:spPr>
      </p:sp>
      <p:sp>
        <p:nvSpPr>
          <p:cNvPr id="59" name="dg rect"/>
          <p:cNvSpPr/>
          <p:nvPr/>
        </p:nvSpPr>
        <p:spPr>
          <a:xfrm>
            <a:off x="4152900" y="4743450"/>
            <a:ext cx="3409950" cy="247650"/>
          </a:xfrm>
          <a:prstGeom prst="roundRect">
            <a:avLst>
              <a:gd name="adj" fmla="val 38462"/>
            </a:avLst>
          </a:prstGeom>
          <a:solidFill>
            <a:srgbClr val="337EFF">
              <a:alpha val="22000"/>
            </a:srgbClr>
          </a:solidFill>
          <a:ln w="13335" cap="flat">
            <a:solidFill>
              <a:srgbClr val="337EFF"/>
            </a:solidFill>
            <a:miter lim="800000"/>
          </a:ln>
        </p:spPr>
      </p:sp>
      <p:sp>
        <p:nvSpPr>
          <p:cNvPr id="60" name="dg i-cloud"/>
          <p:cNvSpPr/>
          <p:nvPr/>
        </p:nvSpPr>
        <p:spPr>
          <a:xfrm>
            <a:off x="4260204" y="481325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61" name="Text Each agent calls MCP tools in"/>
          <p:cNvSpPr txBox="1"/>
          <p:nvPr/>
        </p:nvSpPr>
        <p:spPr>
          <a:xfrm>
            <a:off x="4476750" y="4814888"/>
            <a:ext cx="1970633" cy="142875"/>
          </a:xfrm>
          <a:prstGeom prst="rect">
            <a:avLst/>
          </a:prstGeom>
          <a:noFill/>
          <a:ln/>
        </p:spPr>
        <p:txBody>
          <a:bodyPr wrap="none" lIns="0" tIns="0" rIns="0" bIns="0" rtlCol="0" anchor="ctr"/>
          <a:lstStyle/>
          <a:p>
            <a:pPr algn="l" indent="0" marL="0">
              <a:buNone/>
            </a:pPr>
            <a:r>
              <a:rPr lang="en-US" sz="900" b="1" dirty="0">
                <a:solidFill>
                  <a:srgbClr val="DCE8FF"/>
                </a:solidFill>
                <a:latin typeface="Scotia" pitchFamily="34" charset="0"/>
                <a:ea typeface="Scotia" pitchFamily="34" charset="-122"/>
                <a:cs typeface="Scotia" pitchFamily="34" charset="-120"/>
              </a:rPr>
              <a:t>Each agent calls MCP tools in parallel</a:t>
            </a:r>
            <a:endParaRPr lang="en-US" sz="900" dirty="0"/>
          </a:p>
        </p:txBody>
      </p:sp>
      <p:sp>
        <p:nvSpPr>
          <p:cNvPr id="62" name="Text MCP LAYER"/>
          <p:cNvSpPr txBox="1"/>
          <p:nvPr/>
        </p:nvSpPr>
        <p:spPr>
          <a:xfrm>
            <a:off x="4152900" y="5076825"/>
            <a:ext cx="807541" cy="123825"/>
          </a:xfrm>
          <a:prstGeom prst="rect">
            <a:avLst/>
          </a:prstGeom>
          <a:noFill/>
          <a:ln/>
        </p:spPr>
        <p:txBody>
          <a:bodyPr wrap="none" lIns="0" tIns="0" rIns="0" bIns="0" rtlCol="0" anchor="ctr"/>
          <a:lstStyle/>
          <a:p>
            <a:pPr algn="l" indent="0" marL="0">
              <a:buNone/>
            </a:pPr>
            <a:r>
              <a:rPr lang="en-US" sz="863" b="1" spc="150" kern="0" dirty="0">
                <a:solidFill>
                  <a:srgbClr val="8FB4FF"/>
                </a:solidFill>
                <a:latin typeface="Scotia" pitchFamily="34" charset="0"/>
                <a:ea typeface="Scotia" pitchFamily="34" charset="-122"/>
                <a:cs typeface="Scotia" pitchFamily="34" charset="-120"/>
              </a:rPr>
              <a:t>MCP LAYER</a:t>
            </a:r>
            <a:endParaRPr lang="en-US" sz="863" dirty="0"/>
          </a:p>
        </p:txBody>
      </p:sp>
      <p:sp>
        <p:nvSpPr>
          <p:cNvPr id="63" name="Text Use same servers at once: watc"/>
          <p:cNvSpPr txBox="1"/>
          <p:nvPr/>
        </p:nvSpPr>
        <p:spPr>
          <a:xfrm>
            <a:off x="4152900" y="5248275"/>
            <a:ext cx="2574131"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Use same servers at once: watch rate limits</a:t>
            </a:r>
            <a:endParaRPr lang="en-US" sz="1013" dirty="0"/>
          </a:p>
        </p:txBody>
      </p:sp>
      <p:sp>
        <p:nvSpPr>
          <p:cNvPr id="64" name="Text and write conflicts. Prefer re"/>
          <p:cNvSpPr txBox="1"/>
          <p:nvPr/>
        </p:nvSpPr>
        <p:spPr>
          <a:xfrm>
            <a:off x="4152900" y="5419725"/>
            <a:ext cx="2532459"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and write conflicts. Prefer read-only tools.</a:t>
            </a:r>
            <a:endParaRPr lang="en-US" sz="1013" dirty="0"/>
          </a:p>
        </p:txBody>
      </p:sp>
      <p:sp>
        <p:nvSpPr>
          <p:cNvPr id="65" name="dg path"/>
          <p:cNvSpPr/>
          <p:nvPr/>
        </p:nvSpPr>
        <p:spPr>
          <a:xfrm>
            <a:off x="7600950" y="2219325"/>
            <a:ext cx="922208" cy="999405"/>
          </a:xfrm>
          <a:custGeom>
            <a:avLst/>
            <a:gdLst/>
            <a:ahLst/>
            <a:cxnLst/>
            <a:rect l="l" t="t" r="r" b="b"/>
            <a:pathLst>
              <a:path w="922208" h="999405">
                <a:moveTo>
                  <a:pt x="0" y="0"/>
                </a:moveTo>
                <a:cubicBezTo>
                  <a:pt x="409575" y="0"/>
                  <a:pt x="505778" y="771525"/>
                  <a:pt x="922208" y="999405"/>
                </a:cubicBezTo>
              </a:path>
            </a:pathLst>
          </a:custGeom>
          <a:noFill/>
          <a:ln w="22860" cap="rnd">
            <a:solidFill>
              <a:srgbClr val="B0AAFF"/>
            </a:solidFill>
            <a:miter lim="800000"/>
            <a:tailEnd type="triangle" w="lg" len="lg"/>
          </a:ln>
        </p:spPr>
      </p:sp>
      <p:sp>
        <p:nvSpPr>
          <p:cNvPr id="66" name="dg path"/>
          <p:cNvSpPr/>
          <p:nvPr/>
        </p:nvSpPr>
        <p:spPr>
          <a:xfrm>
            <a:off x="7600950" y="2886075"/>
            <a:ext cx="922144" cy="332463"/>
          </a:xfrm>
          <a:custGeom>
            <a:avLst/>
            <a:gdLst/>
            <a:ahLst/>
            <a:cxnLst/>
            <a:rect l="l" t="t" r="r" b="b"/>
            <a:pathLst>
              <a:path w="922144" h="332463">
                <a:moveTo>
                  <a:pt x="0" y="0"/>
                </a:moveTo>
                <a:cubicBezTo>
                  <a:pt x="409575" y="0"/>
                  <a:pt x="458153" y="235267"/>
                  <a:pt x="922144" y="332463"/>
                </a:cubicBezTo>
              </a:path>
            </a:pathLst>
          </a:custGeom>
          <a:noFill/>
          <a:ln w="22860" cap="rnd">
            <a:solidFill>
              <a:srgbClr val="B0AAFF"/>
            </a:solidFill>
            <a:miter lim="800000"/>
            <a:tailEnd type="triangle" w="lg" len="lg"/>
          </a:ln>
        </p:spPr>
      </p:sp>
      <p:sp>
        <p:nvSpPr>
          <p:cNvPr id="67" name="dg path"/>
          <p:cNvSpPr/>
          <p:nvPr/>
        </p:nvSpPr>
        <p:spPr>
          <a:xfrm>
            <a:off x="7600950" y="3220362"/>
            <a:ext cx="922144" cy="332463"/>
          </a:xfrm>
          <a:custGeom>
            <a:avLst/>
            <a:gdLst/>
            <a:ahLst/>
            <a:cxnLst/>
            <a:rect l="l" t="t" r="r" b="b"/>
            <a:pathLst>
              <a:path w="922144" h="332463">
                <a:moveTo>
                  <a:pt x="0" y="332463"/>
                </a:moveTo>
                <a:cubicBezTo>
                  <a:pt x="409575" y="332463"/>
                  <a:pt x="458153" y="97195"/>
                  <a:pt x="922144" y="0"/>
                </a:cubicBezTo>
              </a:path>
            </a:pathLst>
          </a:custGeom>
          <a:noFill/>
          <a:ln w="22860" cap="rnd">
            <a:solidFill>
              <a:srgbClr val="B0AAFF"/>
            </a:solidFill>
            <a:miter lim="800000"/>
            <a:tailEnd type="triangle" w="lg" len="lg"/>
          </a:ln>
        </p:spPr>
      </p:sp>
      <p:sp>
        <p:nvSpPr>
          <p:cNvPr id="68" name="dg path"/>
          <p:cNvSpPr/>
          <p:nvPr/>
        </p:nvSpPr>
        <p:spPr>
          <a:xfrm>
            <a:off x="7600950" y="3220170"/>
            <a:ext cx="922208" cy="999405"/>
          </a:xfrm>
          <a:custGeom>
            <a:avLst/>
            <a:gdLst/>
            <a:ahLst/>
            <a:cxnLst/>
            <a:rect l="l" t="t" r="r" b="b"/>
            <a:pathLst>
              <a:path w="922208" h="999405">
                <a:moveTo>
                  <a:pt x="0" y="999405"/>
                </a:moveTo>
                <a:cubicBezTo>
                  <a:pt x="409575" y="999405"/>
                  <a:pt x="505778" y="227880"/>
                  <a:pt x="922208" y="0"/>
                </a:cubicBezTo>
              </a:path>
            </a:pathLst>
          </a:custGeom>
          <a:noFill/>
          <a:ln w="22860" cap="rnd">
            <a:solidFill>
              <a:srgbClr val="B0AAFF"/>
            </a:solidFill>
            <a:miter lim="800000"/>
            <a:tailEnd type="triangle" w="lg" len="lg"/>
          </a:ln>
        </p:spPr>
      </p:sp>
      <p:sp>
        <p:nvSpPr>
          <p:cNvPr id="69" name="dg rect"/>
          <p:cNvSpPr/>
          <p:nvPr/>
        </p:nvSpPr>
        <p:spPr>
          <a:xfrm>
            <a:off x="8572500" y="2724150"/>
            <a:ext cx="1428750" cy="990600"/>
          </a:xfrm>
          <a:prstGeom prst="roundRect">
            <a:avLst>
              <a:gd name="adj" fmla="val 17308"/>
            </a:avLst>
          </a:prstGeom>
          <a:gradFill rotWithShape="1">
            <a:gsLst>
              <a:gs pos="0">
                <a:srgbClr val="7B69FF"/>
              </a:gs>
              <a:gs pos="100000">
                <a:srgbClr val="5141D3"/>
              </a:gs>
            </a:gsLst>
            <a:lin ang="2700000" scaled="1"/>
          </a:gradFill>
          <a:ln w="13335" cap="flat">
            <a:solidFill>
              <a:srgbClr val="B0AAFF"/>
            </a:solidFill>
            <a:miter lim="800000"/>
          </a:ln>
        </p:spPr>
      </p:sp>
      <p:sp>
        <p:nvSpPr>
          <p:cNvPr id="70" name="dg circle"/>
          <p:cNvSpPr/>
          <p:nvPr/>
        </p:nvSpPr>
        <p:spPr>
          <a:xfrm>
            <a:off x="9077325" y="2838450"/>
            <a:ext cx="419100" cy="419100"/>
          </a:xfrm>
          <a:prstGeom prst="ellipse">
            <a:avLst/>
          </a:prstGeom>
          <a:solidFill>
            <a:srgbClr val="FFFFFF">
              <a:alpha val="19000"/>
            </a:srgbClr>
          </a:solidFill>
          <a:ln>
            <a:noFill/>
          </a:ln>
        </p:spPr>
      </p:sp>
      <p:sp>
        <p:nvSpPr>
          <p:cNvPr id="71" name="dg i-merge"/>
          <p:cNvSpPr/>
          <p:nvPr/>
        </p:nvSpPr>
        <p:spPr>
          <a:xfrm>
            <a:off x="9217025" y="2960688"/>
            <a:ext cx="139700" cy="174625"/>
          </a:xfrm>
          <a:custGeom>
            <a:avLst/>
            <a:gdLst/>
            <a:ahLst/>
            <a:cxnLst/>
            <a:rect l="l" t="t" r="r" b="b"/>
            <a:pathLst>
              <a:path w="139700" h="174625">
                <a:moveTo>
                  <a:pt x="34925" y="34925"/>
                </a:moveTo>
                <a:lnTo>
                  <a:pt x="69850" y="0"/>
                </a:lnTo>
                <a:lnTo>
                  <a:pt x="104775" y="34925"/>
                </a:lnTo>
                <a:moveTo>
                  <a:pt x="69850" y="0"/>
                </a:moveTo>
                <a:lnTo>
                  <a:pt x="69850" y="89932"/>
                </a:lnTo>
                <a:cubicBezTo>
                  <a:pt x="69951" y="99327"/>
                  <a:pt x="66262" y="108366"/>
                  <a:pt x="59617" y="115008"/>
                </a:cubicBezTo>
                <a:lnTo>
                  <a:pt x="0" y="174625"/>
                </a:lnTo>
                <a:moveTo>
                  <a:pt x="139700" y="174625"/>
                </a:moveTo>
                <a:lnTo>
                  <a:pt x="96044" y="130969"/>
                </a:lnTo>
              </a:path>
            </a:pathLst>
          </a:custGeom>
          <a:noFill/>
          <a:ln w="15716" cap="rnd">
            <a:solidFill>
              <a:srgbClr val="FFFFFF"/>
            </a:solidFill>
            <a:round/>
          </a:ln>
        </p:spPr>
      </p:sp>
      <p:sp>
        <p:nvSpPr>
          <p:cNvPr id="72" name="Text Collector"/>
          <p:cNvSpPr txBox="1"/>
          <p:nvPr/>
        </p:nvSpPr>
        <p:spPr>
          <a:xfrm>
            <a:off x="8921130" y="3295650"/>
            <a:ext cx="732215"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Collector</a:t>
            </a:r>
            <a:endParaRPr lang="en-US" sz="1275" dirty="0"/>
          </a:p>
        </p:txBody>
      </p:sp>
      <p:sp>
        <p:nvSpPr>
          <p:cNvPr id="73" name="Text gathers all results"/>
          <p:cNvSpPr txBox="1"/>
          <p:nvPr/>
        </p:nvSpPr>
        <p:spPr>
          <a:xfrm>
            <a:off x="8776395" y="3505200"/>
            <a:ext cx="1020961" cy="142875"/>
          </a:xfrm>
          <a:prstGeom prst="rect">
            <a:avLst/>
          </a:prstGeom>
          <a:noFill/>
          <a:ln/>
        </p:spPr>
        <p:txBody>
          <a:bodyPr wrap="none" lIns="0" tIns="0" rIns="0" bIns="0" rtlCol="0" anchor="ctr"/>
          <a:lstStyle/>
          <a:p>
            <a:pPr algn="ctr" indent="0" marL="0">
              <a:buNone/>
            </a:pPr>
            <a:r>
              <a:rPr lang="en-US" sz="938" dirty="0">
                <a:solidFill>
                  <a:srgbClr val="FFFFFF"/>
                </a:solidFill>
                <a:latin typeface="Scotia Serif" pitchFamily="34" charset="0"/>
                <a:ea typeface="Scotia Serif" pitchFamily="34" charset="-122"/>
                <a:cs typeface="Scotia Serif" pitchFamily="34" charset="-120"/>
              </a:rPr>
              <a:t>gathers all results</a:t>
            </a:r>
            <a:endParaRPr lang="en-US" sz="938" dirty="0"/>
          </a:p>
        </p:txBody>
      </p:sp>
      <p:sp>
        <p:nvSpPr>
          <p:cNvPr id="74" name="dg path"/>
          <p:cNvSpPr/>
          <p:nvPr/>
        </p:nvSpPr>
        <p:spPr>
          <a:xfrm>
            <a:off x="9286875" y="3724275"/>
            <a:ext cx="0" cy="66675"/>
          </a:xfrm>
          <a:prstGeom prst="line">
            <a:avLst/>
          </a:prstGeom>
          <a:noFill/>
          <a:ln w="17145" cap="rnd">
            <a:solidFill>
              <a:srgbClr val="B0AAFF"/>
            </a:solidFill>
            <a:miter lim="800000"/>
          </a:ln>
        </p:spPr>
      </p:sp>
      <p:sp>
        <p:nvSpPr>
          <p:cNvPr id="75" name="Text AGGREGATES BY"/>
          <p:cNvSpPr txBox="1"/>
          <p:nvPr/>
        </p:nvSpPr>
        <p:spPr>
          <a:xfrm>
            <a:off x="8726165" y="3857625"/>
            <a:ext cx="1121420" cy="123825"/>
          </a:xfrm>
          <a:prstGeom prst="rect">
            <a:avLst/>
          </a:prstGeom>
          <a:noFill/>
          <a:ln/>
        </p:spPr>
        <p:txBody>
          <a:bodyPr wrap="none" lIns="0" tIns="0" rIns="0" bIns="0" rtlCol="0" anchor="ctr"/>
          <a:lstStyle/>
          <a:p>
            <a:pPr algn="ctr" indent="0" marL="0">
              <a:buNone/>
            </a:pPr>
            <a:r>
              <a:rPr lang="en-US" sz="825" b="1" spc="150" kern="0" dirty="0">
                <a:solidFill>
                  <a:srgbClr val="B0AAFF"/>
                </a:solidFill>
                <a:latin typeface="Scotia" pitchFamily="34" charset="0"/>
                <a:ea typeface="Scotia" pitchFamily="34" charset="-122"/>
                <a:cs typeface="Scotia" pitchFamily="34" charset="-120"/>
              </a:rPr>
              <a:t>AGGREGATES BY</a:t>
            </a:r>
            <a:endParaRPr lang="en-US" sz="825" dirty="0"/>
          </a:p>
        </p:txBody>
      </p:sp>
      <p:sp>
        <p:nvSpPr>
          <p:cNvPr id="76" name="dg rect"/>
          <p:cNvSpPr/>
          <p:nvPr/>
        </p:nvSpPr>
        <p:spPr>
          <a:xfrm>
            <a:off x="8945499" y="4095750"/>
            <a:ext cx="682752" cy="228600"/>
          </a:xfrm>
          <a:prstGeom prst="roundRect">
            <a:avLst>
              <a:gd name="adj" fmla="val 50000"/>
            </a:avLst>
          </a:prstGeom>
          <a:solidFill>
            <a:srgbClr val="FFFFFF">
              <a:alpha val="7000"/>
            </a:srgbClr>
          </a:solidFill>
          <a:ln w="12383" cap="flat">
            <a:solidFill>
              <a:srgbClr val="3B3392"/>
            </a:solidFill>
            <a:miter lim="800000"/>
          </a:ln>
        </p:spPr>
      </p:sp>
      <p:sp>
        <p:nvSpPr>
          <p:cNvPr id="77" name="Text Voting"/>
          <p:cNvSpPr txBox="1"/>
          <p:nvPr/>
        </p:nvSpPr>
        <p:spPr>
          <a:xfrm>
            <a:off x="9064005" y="4149849"/>
            <a:ext cx="445740" cy="152400"/>
          </a:xfrm>
          <a:prstGeom prst="rect">
            <a:avLst/>
          </a:prstGeom>
          <a:noFill/>
          <a:ln/>
        </p:spPr>
        <p:txBody>
          <a:bodyPr wrap="none" lIns="0" tIns="0" rIns="0" bIns="0" rtlCol="0" anchor="ctr"/>
          <a:lstStyle/>
          <a:p>
            <a:pPr algn="ctr" indent="0" marL="0">
              <a:buNone/>
            </a:pPr>
            <a:r>
              <a:rPr lang="en-US" sz="975" b="1" spc="22" kern="0" dirty="0">
                <a:solidFill>
                  <a:srgbClr val="BDC2EF"/>
                </a:solidFill>
                <a:latin typeface="Scotia" pitchFamily="34" charset="0"/>
                <a:ea typeface="Scotia" pitchFamily="34" charset="-122"/>
                <a:cs typeface="Scotia" pitchFamily="34" charset="-120"/>
              </a:rPr>
              <a:t>Voting</a:t>
            </a:r>
            <a:endParaRPr lang="en-US" sz="975" dirty="0"/>
          </a:p>
        </p:txBody>
      </p:sp>
      <p:sp>
        <p:nvSpPr>
          <p:cNvPr id="78" name="dg rect"/>
          <p:cNvSpPr/>
          <p:nvPr/>
        </p:nvSpPr>
        <p:spPr>
          <a:xfrm>
            <a:off x="8668131" y="4381500"/>
            <a:ext cx="1237488" cy="228600"/>
          </a:xfrm>
          <a:prstGeom prst="roundRect">
            <a:avLst>
              <a:gd name="adj" fmla="val 50000"/>
            </a:avLst>
          </a:prstGeom>
          <a:solidFill>
            <a:srgbClr val="FFFFFF">
              <a:alpha val="7000"/>
            </a:srgbClr>
          </a:solidFill>
          <a:ln w="12383" cap="flat">
            <a:solidFill>
              <a:srgbClr val="3B3392"/>
            </a:solidFill>
            <a:miter lim="800000"/>
          </a:ln>
        </p:spPr>
      </p:sp>
      <p:sp>
        <p:nvSpPr>
          <p:cNvPr id="79" name="Text Weighted merge"/>
          <p:cNvSpPr txBox="1"/>
          <p:nvPr/>
        </p:nvSpPr>
        <p:spPr>
          <a:xfrm>
            <a:off x="8773641" y="4435599"/>
            <a:ext cx="1026468" cy="152400"/>
          </a:xfrm>
          <a:prstGeom prst="rect">
            <a:avLst/>
          </a:prstGeom>
          <a:noFill/>
          <a:ln/>
        </p:spPr>
        <p:txBody>
          <a:bodyPr wrap="none" lIns="0" tIns="0" rIns="0" bIns="0" rtlCol="0" anchor="ctr"/>
          <a:lstStyle/>
          <a:p>
            <a:pPr algn="ctr" indent="0" marL="0">
              <a:buNone/>
            </a:pPr>
            <a:r>
              <a:rPr lang="en-US" sz="975" b="1" spc="22" kern="0" dirty="0">
                <a:solidFill>
                  <a:srgbClr val="BDC2EF"/>
                </a:solidFill>
                <a:latin typeface="Scotia" pitchFamily="34" charset="0"/>
                <a:ea typeface="Scotia" pitchFamily="34" charset="-122"/>
                <a:cs typeface="Scotia" pitchFamily="34" charset="-120"/>
              </a:rPr>
              <a:t>Weighted merge</a:t>
            </a:r>
            <a:endParaRPr lang="en-US" sz="975" dirty="0"/>
          </a:p>
        </p:txBody>
      </p:sp>
      <p:sp>
        <p:nvSpPr>
          <p:cNvPr id="80" name="dg rect"/>
          <p:cNvSpPr/>
          <p:nvPr/>
        </p:nvSpPr>
        <p:spPr>
          <a:xfrm>
            <a:off x="8702802" y="4667250"/>
            <a:ext cx="1168146" cy="228600"/>
          </a:xfrm>
          <a:prstGeom prst="roundRect">
            <a:avLst>
              <a:gd name="adj" fmla="val 50000"/>
            </a:avLst>
          </a:prstGeom>
          <a:solidFill>
            <a:srgbClr val="FFFFFF">
              <a:alpha val="7000"/>
            </a:srgbClr>
          </a:solidFill>
          <a:ln w="12383" cap="flat">
            <a:solidFill>
              <a:srgbClr val="3B3392"/>
            </a:solidFill>
            <a:miter lim="800000"/>
          </a:ln>
        </p:spPr>
      </p:sp>
      <p:sp>
        <p:nvSpPr>
          <p:cNvPr id="81" name="Text LLM synthesis"/>
          <p:cNvSpPr txBox="1"/>
          <p:nvPr/>
        </p:nvSpPr>
        <p:spPr>
          <a:xfrm>
            <a:off x="8842028" y="4721349"/>
            <a:ext cx="889695" cy="152400"/>
          </a:xfrm>
          <a:prstGeom prst="rect">
            <a:avLst/>
          </a:prstGeom>
          <a:noFill/>
          <a:ln/>
        </p:spPr>
        <p:txBody>
          <a:bodyPr wrap="none" lIns="0" tIns="0" rIns="0" bIns="0" rtlCol="0" anchor="ctr"/>
          <a:lstStyle/>
          <a:p>
            <a:pPr algn="ctr" indent="0" marL="0">
              <a:buNone/>
            </a:pPr>
            <a:r>
              <a:rPr lang="en-US" sz="975" b="1" spc="22" kern="0" dirty="0">
                <a:solidFill>
                  <a:srgbClr val="BDC2EF"/>
                </a:solidFill>
                <a:latin typeface="Scotia" pitchFamily="34" charset="0"/>
                <a:ea typeface="Scotia" pitchFamily="34" charset="-122"/>
                <a:cs typeface="Scotia" pitchFamily="34" charset="-120"/>
              </a:rPr>
              <a:t>LLM synthesis</a:t>
            </a:r>
            <a:endParaRPr lang="en-US" sz="975" dirty="0"/>
          </a:p>
        </p:txBody>
      </p:sp>
      <p:sp>
        <p:nvSpPr>
          <p:cNvPr id="82" name="dg circle"/>
          <p:cNvSpPr/>
          <p:nvPr/>
        </p:nvSpPr>
        <p:spPr>
          <a:xfrm>
            <a:off x="8572500" y="1609725"/>
            <a:ext cx="209550" cy="209550"/>
          </a:xfrm>
          <a:prstGeom prst="ellipse">
            <a:avLst/>
          </a:prstGeom>
          <a:solidFill>
            <a:srgbClr val="6551FF"/>
          </a:solidFill>
          <a:ln>
            <a:noFill/>
          </a:ln>
        </p:spPr>
      </p:sp>
      <p:sp>
        <p:nvSpPr>
          <p:cNvPr id="83" name="Text 3"/>
          <p:cNvSpPr txBox="1"/>
          <p:nvPr/>
        </p:nvSpPr>
        <p:spPr>
          <a:xfrm>
            <a:off x="8617595" y="1660401"/>
            <a:ext cx="119360" cy="142875"/>
          </a:xfrm>
          <a:prstGeom prst="rect">
            <a:avLst/>
          </a:prstGeom>
          <a:noFill/>
          <a:ln/>
        </p:spPr>
        <p:txBody>
          <a:bodyPr wrap="none" lIns="0" tIns="0" rIns="0" bIns="0" rtlCol="0" anchor="ctr"/>
          <a:lstStyle/>
          <a:p>
            <a:pPr algn="ctr" indent="0" marL="0">
              <a:buNone/>
            </a:pPr>
            <a:r>
              <a:rPr lang="en-US" sz="900" b="1" dirty="0">
                <a:solidFill>
                  <a:srgbClr val="FFFFFF"/>
                </a:solidFill>
                <a:latin typeface="Scotia" pitchFamily="34" charset="0"/>
                <a:ea typeface="Scotia" pitchFamily="34" charset="-122"/>
                <a:cs typeface="Scotia" pitchFamily="34" charset="-120"/>
              </a:rPr>
              <a:t>3</a:t>
            </a:r>
            <a:endParaRPr lang="en-US" sz="900" dirty="0"/>
          </a:p>
        </p:txBody>
      </p:sp>
      <p:sp>
        <p:nvSpPr>
          <p:cNvPr id="84" name="Text AGGREGATE"/>
          <p:cNvSpPr txBox="1"/>
          <p:nvPr/>
        </p:nvSpPr>
        <p:spPr>
          <a:xfrm>
            <a:off x="8858250" y="1666875"/>
            <a:ext cx="859482" cy="123825"/>
          </a:xfrm>
          <a:prstGeom prst="rect">
            <a:avLst/>
          </a:prstGeom>
          <a:noFill/>
          <a:ln/>
        </p:spPr>
        <p:txBody>
          <a:bodyPr wrap="none" lIns="0" tIns="0" rIns="0" bIns="0" rtlCol="0" anchor="ctr"/>
          <a:lstStyle/>
          <a:p>
            <a:pPr algn="l" indent="0" marL="0">
              <a:buNone/>
            </a:pPr>
            <a:r>
              <a:rPr lang="en-US" sz="863" b="1" spc="150" kern="0" dirty="0">
                <a:solidFill>
                  <a:srgbClr val="B0AAFF"/>
                </a:solidFill>
                <a:latin typeface="Scotia" pitchFamily="34" charset="0"/>
                <a:ea typeface="Scotia" pitchFamily="34" charset="-122"/>
                <a:cs typeface="Scotia" pitchFamily="34" charset="-120"/>
              </a:rPr>
              <a:t>AGGREGATE</a:t>
            </a:r>
            <a:endParaRPr lang="en-US" sz="863" dirty="0"/>
          </a:p>
        </p:txBody>
      </p:sp>
      <p:sp>
        <p:nvSpPr>
          <p:cNvPr id="85" name="dg path"/>
          <p:cNvSpPr/>
          <p:nvPr/>
        </p:nvSpPr>
        <p:spPr>
          <a:xfrm>
            <a:off x="10039350" y="3219450"/>
            <a:ext cx="379095" cy="0"/>
          </a:xfrm>
          <a:prstGeom prst="line">
            <a:avLst/>
          </a:prstGeom>
          <a:noFill/>
          <a:ln w="28575" cap="rnd">
            <a:solidFill>
              <a:srgbClr val="B0AAFF"/>
            </a:solidFill>
            <a:miter lim="800000"/>
            <a:tailEnd type="triangle" w="med" len="med"/>
          </a:ln>
        </p:spPr>
      </p:sp>
      <p:sp>
        <p:nvSpPr>
          <p:cNvPr id="86" name="dg polygon"/>
          <p:cNvSpPr/>
          <p:nvPr/>
        </p:nvSpPr>
        <p:spPr>
          <a:xfrm>
            <a:off x="10458450" y="2914650"/>
            <a:ext cx="1333500" cy="609600"/>
          </a:xfrm>
          <a:custGeom>
            <a:avLst/>
            <a:gdLst/>
            <a:ahLst/>
            <a:cxnLst/>
            <a:rect l="l" t="t" r="r" b="b"/>
            <a:pathLst>
              <a:path w="1333500" h="609600">
                <a:moveTo>
                  <a:pt x="133350" y="0"/>
                </a:moveTo>
                <a:lnTo>
                  <a:pt x="1333500" y="0"/>
                </a:lnTo>
                <a:lnTo>
                  <a:pt x="1200150" y="609600"/>
                </a:lnTo>
                <a:lnTo>
                  <a:pt x="0" y="609600"/>
                </a:lnTo>
                <a:close/>
              </a:path>
            </a:pathLst>
          </a:custGeom>
          <a:noFill/>
          <a:ln w="13335" cap="flat">
            <a:solidFill>
              <a:srgbClr val="2FBF71"/>
            </a:solidFill>
            <a:miter lim="800000"/>
          </a:ln>
        </p:spPr>
      </p:sp>
      <p:sp>
        <p:nvSpPr>
          <p:cNvPr id="87" name="Text Result"/>
          <p:cNvSpPr txBox="1"/>
          <p:nvPr/>
        </p:nvSpPr>
        <p:spPr>
          <a:xfrm>
            <a:off x="10864155" y="3067050"/>
            <a:ext cx="522089" cy="200025"/>
          </a:xfrm>
          <a:prstGeom prst="rect">
            <a:avLst/>
          </a:prstGeom>
          <a:noFill/>
          <a:ln/>
        </p:spPr>
        <p:txBody>
          <a:bodyPr wrap="none" lIns="0" tIns="0" rIns="0" bIns="0" rtlCol="0" anchor="ctr"/>
          <a:lstStyle/>
          <a:p>
            <a:pPr algn="ctr" indent="0" marL="0">
              <a:buNone/>
            </a:pPr>
            <a:r>
              <a:rPr lang="en-US" sz="1275" b="1" dirty="0">
                <a:solidFill>
                  <a:srgbClr val="2FBF71"/>
                </a:solidFill>
                <a:latin typeface="Scotia" pitchFamily="34" charset="0"/>
                <a:ea typeface="Scotia" pitchFamily="34" charset="-122"/>
                <a:cs typeface="Scotia" pitchFamily="34" charset="-120"/>
              </a:rPr>
              <a:t>Result</a:t>
            </a:r>
            <a:endParaRPr lang="en-US" sz="1275" dirty="0"/>
          </a:p>
        </p:txBody>
      </p:sp>
      <p:sp>
        <p:nvSpPr>
          <p:cNvPr id="88" name="Text final output"/>
          <p:cNvSpPr txBox="1"/>
          <p:nvPr/>
        </p:nvSpPr>
        <p:spPr>
          <a:xfrm>
            <a:off x="10739884" y="3286125"/>
            <a:ext cx="770632" cy="152400"/>
          </a:xfrm>
          <a:prstGeom prst="rect">
            <a:avLst/>
          </a:prstGeom>
          <a:noFill/>
          <a:ln/>
        </p:spPr>
        <p:txBody>
          <a:bodyPr wrap="none" lIns="0" tIns="0" rIns="0" bIns="0" rtlCol="0" anchor="ctr"/>
          <a:lstStyle/>
          <a:p>
            <a:pPr algn="ctr" indent="0" marL="0">
              <a:buNone/>
            </a:pPr>
            <a:r>
              <a:rPr lang="en-US" sz="1050" dirty="0">
                <a:solidFill>
                  <a:srgbClr val="FFFFFF"/>
                </a:solidFill>
                <a:latin typeface="Scotia Serif" pitchFamily="34" charset="0"/>
                <a:ea typeface="Scotia Serif" pitchFamily="34" charset="-122"/>
                <a:cs typeface="Scotia Serif" pitchFamily="34" charset="-120"/>
              </a:rPr>
              <a:t>final output</a:t>
            </a:r>
            <a:endParaRPr lang="en-US" sz="1050" dirty="0"/>
          </a:p>
        </p:txBody>
      </p:sp>
      <p:sp>
        <p:nvSpPr>
          <p:cNvPr id="89" name="Text Total time the slowest"/>
          <p:cNvSpPr txBox="1"/>
          <p:nvPr/>
        </p:nvSpPr>
        <p:spPr>
          <a:xfrm>
            <a:off x="8486031" y="5105400"/>
            <a:ext cx="1601688" cy="171450"/>
          </a:xfrm>
          <a:prstGeom prst="rect">
            <a:avLst/>
          </a:prstGeom>
          <a:noFill/>
          <a:ln/>
        </p:spPr>
        <p:txBody>
          <a:bodyPr wrap="none" lIns="0" tIns="0" rIns="0" bIns="0" rtlCol="0" anchor="ctr"/>
          <a:lstStyle/>
          <a:p>
            <a:pPr algn="ctr" indent="0" marL="0">
              <a:buNone/>
            </a:pPr>
            <a:r>
              <a:rPr lang="en-US" sz="1125" b="1" dirty="0">
                <a:solidFill>
                  <a:srgbClr val="B0AAFF"/>
                </a:solidFill>
                <a:latin typeface="Scotia" pitchFamily="34" charset="0"/>
                <a:ea typeface="Scotia" pitchFamily="34" charset="-122"/>
                <a:cs typeface="Scotia" pitchFamily="34" charset="-120"/>
              </a:rPr>
              <a:t>Total time = the slowest</a:t>
            </a:r>
            <a:endParaRPr lang="en-US" sz="1125" dirty="0"/>
          </a:p>
        </p:txBody>
      </p:sp>
      <p:sp>
        <p:nvSpPr>
          <p:cNvPr id="90" name="Text agent not the sum"/>
          <p:cNvSpPr txBox="1"/>
          <p:nvPr/>
        </p:nvSpPr>
        <p:spPr>
          <a:xfrm>
            <a:off x="8649221" y="5295900"/>
            <a:ext cx="1275308" cy="171450"/>
          </a:xfrm>
          <a:prstGeom prst="rect">
            <a:avLst/>
          </a:prstGeom>
          <a:noFill/>
          <a:ln/>
        </p:spPr>
        <p:txBody>
          <a:bodyPr wrap="none" lIns="0" tIns="0" rIns="0" bIns="0" rtlCol="0" anchor="ctr"/>
          <a:lstStyle/>
          <a:p>
            <a:pPr algn="ctr" indent="0" marL="0">
              <a:buNone/>
            </a:pPr>
            <a:r>
              <a:rPr lang="en-US" sz="1125" b="1" dirty="0">
                <a:solidFill>
                  <a:srgbClr val="B0AAFF"/>
                </a:solidFill>
                <a:latin typeface="Scotia" pitchFamily="34" charset="0"/>
                <a:ea typeface="Scotia" pitchFamily="34" charset="-122"/>
                <a:cs typeface="Scotia" pitchFamily="34" charset="-120"/>
              </a:rPr>
              <a:t>agent, not the sum</a:t>
            </a:r>
            <a:endParaRPr lang="en-US" sz="1125" dirty="0"/>
          </a:p>
        </p:txBody>
      </p:sp>
      <p:sp>
        <p:nvSpPr>
          <p:cNvPr id="91" name="dg line"/>
          <p:cNvSpPr/>
          <p:nvPr/>
        </p:nvSpPr>
        <p:spPr>
          <a:xfrm>
            <a:off x="400050" y="5676900"/>
            <a:ext cx="11391900" cy="0"/>
          </a:xfrm>
          <a:prstGeom prst="line">
            <a:avLst/>
          </a:prstGeom>
          <a:noFill/>
          <a:ln w="9525" cap="flat">
            <a:solidFill>
              <a:srgbClr val="BDC2EF">
                <a:alpha val="22000"/>
              </a:srgbClr>
            </a:solidFill>
            <a:miter lim="800000"/>
          </a:ln>
        </p:spPr>
      </p:sp>
      <p:sp>
        <p:nvSpPr>
          <p:cNvPr id="92" name="Text BEST FOR"/>
          <p:cNvSpPr txBox="1"/>
          <p:nvPr/>
        </p:nvSpPr>
        <p:spPr>
          <a:xfrm>
            <a:off x="400050" y="5819775"/>
            <a:ext cx="718840"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BEST FOR</a:t>
            </a:r>
            <a:endParaRPr lang="en-US" sz="863" dirty="0"/>
          </a:p>
        </p:txBody>
      </p:sp>
      <p:sp>
        <p:nvSpPr>
          <p:cNvPr id="93" name="Text WATCH OUT FOR"/>
          <p:cNvSpPr txBox="1"/>
          <p:nvPr/>
        </p:nvSpPr>
        <p:spPr>
          <a:xfrm>
            <a:off x="6286500" y="5819775"/>
            <a:ext cx="1193155"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WATCH OUT FOR</a:t>
            </a:r>
            <a:endParaRPr lang="en-US" sz="863" dirty="0"/>
          </a:p>
        </p:txBody>
      </p:sp>
      <p:sp>
        <p:nvSpPr>
          <p:cNvPr id="94" name="Text Independent perspectives and t"/>
          <p:cNvSpPr txBox="1"/>
          <p:nvPr/>
        </p:nvSpPr>
        <p:spPr>
          <a:xfrm>
            <a:off x="400050" y="6000750"/>
            <a:ext cx="3723977"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Independent perspectives and time-sensitive work.</a:t>
            </a:r>
            <a:endParaRPr lang="en-US" sz="1238" dirty="0"/>
          </a:p>
        </p:txBody>
      </p:sp>
      <p:sp>
        <p:nvSpPr>
          <p:cNvPr id="95" name="Text Conflicting results cost mult"/>
          <p:cNvSpPr txBox="1"/>
          <p:nvPr/>
        </p:nvSpPr>
        <p:spPr>
          <a:xfrm>
            <a:off x="6286500" y="6000750"/>
            <a:ext cx="4629150"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Conflicting results, cost multiplied by N, and shared-state races.</a:t>
            </a:r>
            <a:endParaRPr lang="en-US" sz="1238" dirty="0"/>
          </a:p>
        </p:txBody>
      </p:sp>
      <p:sp>
        <p:nvSpPr>
          <p:cNvPr id="96" name="Text Concurrent Orchestration"/>
          <p:cNvSpPr txBox="1"/>
          <p:nvPr/>
        </p:nvSpPr>
        <p:spPr>
          <a:xfrm>
            <a:off x="400050" y="475926"/>
            <a:ext cx="4697909"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Concurrent Orchestration</a:t>
            </a:r>
            <a:endParaRPr lang="en-US" sz="3067" dirty="0"/>
          </a:p>
        </p:txBody>
      </p:sp>
      <p:sp>
        <p:nvSpPr>
          <p:cNvPr id="97" name="Text Agents work on the same input"/>
          <p:cNvSpPr txBox="1"/>
          <p:nvPr/>
        </p:nvSpPr>
        <p:spPr>
          <a:xfrm>
            <a:off x="400050" y="1025625"/>
            <a:ext cx="7173069"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Agents work on the same input at the same time. A collector combines their results.</a:t>
            </a:r>
            <a:endParaRPr lang="en-US" sz="1467" dirty="0"/>
          </a:p>
        </p:txBody>
      </p:sp>
      <p:sp>
        <p:nvSpPr>
          <p:cNvPr id="98"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99" name="Text 13"/>
          <p:cNvSpPr txBox="1"/>
          <p:nvPr/>
        </p:nvSpPr>
        <p:spPr>
          <a:xfrm>
            <a:off x="11628983" y="6306483"/>
            <a:ext cx="153442"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0" y="0"/>
            <a:ext cx="228600" cy="6858000"/>
          </a:xfrm>
          <a:prstGeom prst="rect">
            <a:avLst/>
          </a:prstGeom>
          <a:solidFill>
            <a:srgbClr val="22D3C5"/>
          </a:solidFill>
          <a:ln>
            <a:noFill/>
          </a:ln>
        </p:spPr>
      </p:sp>
      <p:sp>
        <p:nvSpPr>
          <p:cNvPr id="3" name="dg rect"/>
          <p:cNvSpPr/>
          <p:nvPr/>
        </p:nvSpPr>
        <p:spPr>
          <a:xfrm>
            <a:off x="10348340" y="533400"/>
            <a:ext cx="1443609" cy="266700"/>
          </a:xfrm>
          <a:prstGeom prst="roundRect">
            <a:avLst>
              <a:gd name="adj" fmla="val 50000"/>
            </a:avLst>
          </a:prstGeom>
          <a:solidFill>
            <a:srgbClr val="22D3C5"/>
          </a:solidFill>
          <a:ln>
            <a:noFill/>
          </a:ln>
        </p:spPr>
      </p:sp>
      <p:sp>
        <p:nvSpPr>
          <p:cNvPr id="4" name="Text WORKED EXAMPLE"/>
          <p:cNvSpPr txBox="1"/>
          <p:nvPr/>
        </p:nvSpPr>
        <p:spPr>
          <a:xfrm>
            <a:off x="10381815" y="612651"/>
            <a:ext cx="1376660" cy="142875"/>
          </a:xfrm>
          <a:prstGeom prst="rect">
            <a:avLst/>
          </a:prstGeom>
          <a:noFill/>
          <a:ln/>
        </p:spPr>
        <p:txBody>
          <a:bodyPr wrap="none" lIns="0" tIns="0" rIns="0" bIns="0" rtlCol="0" anchor="ctr"/>
          <a:lstStyle/>
          <a:p>
            <a:pPr algn="ctr" indent="0" marL="0">
              <a:buNone/>
            </a:pPr>
            <a:r>
              <a:rPr lang="en-US" sz="900" b="1" spc="165" kern="0" dirty="0">
                <a:solidFill>
                  <a:srgbClr val="0B0823"/>
                </a:solidFill>
                <a:latin typeface="Scotia" pitchFamily="34" charset="0"/>
                <a:ea typeface="Scotia" pitchFamily="34" charset="-122"/>
                <a:cs typeface="Scotia" pitchFamily="34" charset="-120"/>
              </a:rPr>
              <a:t>WORKED EXAMPLE</a:t>
            </a:r>
            <a:endParaRPr lang="en-US" sz="900" dirty="0"/>
          </a:p>
        </p:txBody>
      </p:sp>
      <p:sp>
        <p:nvSpPr>
          <p:cNvPr id="5" name="dg rect"/>
          <p:cNvSpPr/>
          <p:nvPr/>
        </p:nvSpPr>
        <p:spPr>
          <a:xfrm>
            <a:off x="400050" y="2533650"/>
            <a:ext cx="1866900" cy="990600"/>
          </a:xfrm>
          <a:prstGeom prst="roundRect">
            <a:avLst>
              <a:gd name="adj" fmla="val 15385"/>
            </a:avLst>
          </a:prstGeom>
          <a:solidFill>
            <a:srgbClr val="FFFFFF">
              <a:alpha val="7000"/>
            </a:srgbClr>
          </a:solidFill>
          <a:ln w="15240" cap="flat">
            <a:solidFill>
              <a:srgbClr val="22D3C5">
                <a:alpha val="60000"/>
              </a:srgbClr>
            </a:solidFill>
            <a:miter lim="800000"/>
          </a:ln>
        </p:spPr>
      </p:sp>
      <p:sp>
        <p:nvSpPr>
          <p:cNvPr id="6" name="Text INPUT"/>
          <p:cNvSpPr txBox="1"/>
          <p:nvPr/>
        </p:nvSpPr>
        <p:spPr>
          <a:xfrm>
            <a:off x="571500" y="2695575"/>
            <a:ext cx="460325"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INPUT</a:t>
            </a:r>
            <a:endParaRPr lang="en-US" sz="825" dirty="0"/>
          </a:p>
        </p:txBody>
      </p:sp>
      <p:sp>
        <p:nvSpPr>
          <p:cNvPr id="7" name="Text Pull request 482"/>
          <p:cNvSpPr txBox="1"/>
          <p:nvPr/>
        </p:nvSpPr>
        <p:spPr>
          <a:xfrm>
            <a:off x="571500" y="2895600"/>
            <a:ext cx="1350913"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Pull request #482</a:t>
            </a:r>
            <a:endParaRPr lang="en-US" sz="1275" dirty="0"/>
          </a:p>
        </p:txBody>
      </p:sp>
      <p:sp>
        <p:nvSpPr>
          <p:cNvPr id="8" name="Text diff description"/>
          <p:cNvSpPr txBox="1"/>
          <p:nvPr/>
        </p:nvSpPr>
        <p:spPr>
          <a:xfrm>
            <a:off x="571500" y="3133725"/>
            <a:ext cx="1065312"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diff + description</a:t>
            </a:r>
            <a:endParaRPr lang="en-US" sz="1013" dirty="0"/>
          </a:p>
        </p:txBody>
      </p:sp>
      <p:sp>
        <p:nvSpPr>
          <p:cNvPr id="9" name="Text ALL FOUR START AT ONCE"/>
          <p:cNvSpPr txBox="1"/>
          <p:nvPr/>
        </p:nvSpPr>
        <p:spPr>
          <a:xfrm>
            <a:off x="2971800" y="1590675"/>
            <a:ext cx="1752154"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ALL FOUR START AT ONCE</a:t>
            </a:r>
            <a:endParaRPr lang="en-US" sz="825" dirty="0"/>
          </a:p>
        </p:txBody>
      </p:sp>
      <p:sp>
        <p:nvSpPr>
          <p:cNvPr id="10" name="dg rect"/>
          <p:cNvSpPr/>
          <p:nvPr/>
        </p:nvSpPr>
        <p:spPr>
          <a:xfrm>
            <a:off x="2971800" y="1809750"/>
            <a:ext cx="4762500" cy="590550"/>
          </a:xfrm>
          <a:prstGeom prst="roundRect">
            <a:avLst>
              <a:gd name="adj" fmla="val 22581"/>
            </a:avLst>
          </a:prstGeom>
          <a:solidFill>
            <a:srgbClr val="FFFFFF">
              <a:alpha val="5000"/>
            </a:srgbClr>
          </a:solidFill>
          <a:ln w="13335" cap="flat">
            <a:solidFill>
              <a:srgbClr val="22D3C5">
                <a:alpha val="35000"/>
              </a:srgbClr>
            </a:solidFill>
            <a:miter lim="800000"/>
          </a:ln>
        </p:spPr>
      </p:sp>
      <p:sp>
        <p:nvSpPr>
          <p:cNvPr id="11" name="Text Security reviewer"/>
          <p:cNvSpPr txBox="1"/>
          <p:nvPr/>
        </p:nvSpPr>
        <p:spPr>
          <a:xfrm>
            <a:off x="3162300" y="1933575"/>
            <a:ext cx="1344453"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Security reviewer</a:t>
            </a:r>
            <a:endParaRPr lang="en-US" sz="1275" dirty="0"/>
          </a:p>
        </p:txBody>
      </p:sp>
      <p:sp>
        <p:nvSpPr>
          <p:cNvPr id="12" name="Text Scans the diff for vulnerabili"/>
          <p:cNvSpPr txBox="1"/>
          <p:nvPr/>
        </p:nvSpPr>
        <p:spPr>
          <a:xfrm>
            <a:off x="3162300" y="2162175"/>
            <a:ext cx="1867495"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Scans the diff for vulnerabilities</a:t>
            </a:r>
            <a:endParaRPr lang="en-US" sz="975" dirty="0"/>
          </a:p>
        </p:txBody>
      </p:sp>
      <p:sp>
        <p:nvSpPr>
          <p:cNvPr id="13" name="dg rect"/>
          <p:cNvSpPr/>
          <p:nvPr/>
        </p:nvSpPr>
        <p:spPr>
          <a:xfrm>
            <a:off x="5829300" y="1971675"/>
            <a:ext cx="1752600" cy="266700"/>
          </a:xfrm>
          <a:prstGeom prst="roundRect">
            <a:avLst>
              <a:gd name="adj" fmla="val 50000"/>
            </a:avLst>
          </a:prstGeom>
          <a:solidFill>
            <a:srgbClr val="337EFF">
              <a:alpha val="20000"/>
            </a:srgbClr>
          </a:solidFill>
          <a:ln w="12383" cap="flat">
            <a:solidFill>
              <a:srgbClr val="337EFF"/>
            </a:solidFill>
            <a:miter lim="800000"/>
          </a:ln>
        </p:spPr>
      </p:sp>
      <p:sp>
        <p:nvSpPr>
          <p:cNvPr id="14" name="dg i-cloud"/>
          <p:cNvSpPr/>
          <p:nvPr/>
        </p:nvSpPr>
        <p:spPr>
          <a:xfrm>
            <a:off x="5936604" y="20510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15" name="Text Semgrep MCP"/>
          <p:cNvSpPr txBox="1"/>
          <p:nvPr/>
        </p:nvSpPr>
        <p:spPr>
          <a:xfrm>
            <a:off x="6153150" y="2052637"/>
            <a:ext cx="819448"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Semgrep MCP</a:t>
            </a:r>
            <a:endParaRPr lang="en-US" sz="938" dirty="0"/>
          </a:p>
        </p:txBody>
      </p:sp>
      <p:sp>
        <p:nvSpPr>
          <p:cNvPr id="16" name="dg path"/>
          <p:cNvSpPr/>
          <p:nvPr/>
        </p:nvSpPr>
        <p:spPr>
          <a:xfrm>
            <a:off x="2305050" y="2106146"/>
            <a:ext cx="608207" cy="922804"/>
          </a:xfrm>
          <a:custGeom>
            <a:avLst/>
            <a:gdLst/>
            <a:ahLst/>
            <a:cxnLst/>
            <a:rect l="l" t="t" r="r" b="b"/>
            <a:pathLst>
              <a:path w="608207" h="922804">
                <a:moveTo>
                  <a:pt x="0" y="922804"/>
                </a:moveTo>
                <a:cubicBezTo>
                  <a:pt x="266700" y="922804"/>
                  <a:pt x="350520" y="176997"/>
                  <a:pt x="608207" y="0"/>
                </a:cubicBezTo>
              </a:path>
            </a:pathLst>
          </a:custGeom>
          <a:noFill/>
          <a:ln w="20955" cap="rnd">
            <a:solidFill>
              <a:srgbClr val="22D3C5"/>
            </a:solidFill>
            <a:miter lim="800000"/>
            <a:tailEnd type="triangle" w="lg" len="lg"/>
          </a:ln>
        </p:spPr>
      </p:sp>
      <p:sp>
        <p:nvSpPr>
          <p:cNvPr id="17" name="dg rect"/>
          <p:cNvSpPr/>
          <p:nvPr/>
        </p:nvSpPr>
        <p:spPr>
          <a:xfrm>
            <a:off x="2971800" y="2514600"/>
            <a:ext cx="4762500" cy="590550"/>
          </a:xfrm>
          <a:prstGeom prst="roundRect">
            <a:avLst>
              <a:gd name="adj" fmla="val 22581"/>
            </a:avLst>
          </a:prstGeom>
          <a:solidFill>
            <a:srgbClr val="FFFFFF">
              <a:alpha val="5000"/>
            </a:srgbClr>
          </a:solidFill>
          <a:ln w="13335" cap="flat">
            <a:solidFill>
              <a:srgbClr val="22D3C5">
                <a:alpha val="35000"/>
              </a:srgbClr>
            </a:solidFill>
            <a:miter lim="800000"/>
          </a:ln>
        </p:spPr>
      </p:sp>
      <p:sp>
        <p:nvSpPr>
          <p:cNvPr id="18" name="Text Performance reviewer"/>
          <p:cNvSpPr txBox="1"/>
          <p:nvPr/>
        </p:nvSpPr>
        <p:spPr>
          <a:xfrm>
            <a:off x="3162300" y="2638425"/>
            <a:ext cx="1686762"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Performance reviewer</a:t>
            </a:r>
            <a:endParaRPr lang="en-US" sz="1275" dirty="0"/>
          </a:p>
        </p:txBody>
      </p:sp>
      <p:sp>
        <p:nvSpPr>
          <p:cNvPr id="19" name="Text Looks for hot paths and N 1 qu"/>
          <p:cNvSpPr txBox="1"/>
          <p:nvPr/>
        </p:nvSpPr>
        <p:spPr>
          <a:xfrm>
            <a:off x="3162300" y="2867025"/>
            <a:ext cx="2095054"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Looks for hot paths and N+1 queries</a:t>
            </a:r>
            <a:endParaRPr lang="en-US" sz="975" dirty="0"/>
          </a:p>
        </p:txBody>
      </p:sp>
      <p:sp>
        <p:nvSpPr>
          <p:cNvPr id="20" name="dg path"/>
          <p:cNvSpPr/>
          <p:nvPr/>
        </p:nvSpPr>
        <p:spPr>
          <a:xfrm>
            <a:off x="2305050" y="2810863"/>
            <a:ext cx="607835" cy="218087"/>
          </a:xfrm>
          <a:custGeom>
            <a:avLst/>
            <a:gdLst/>
            <a:ahLst/>
            <a:cxnLst/>
            <a:rect l="l" t="t" r="r" b="b"/>
            <a:pathLst>
              <a:path w="607835" h="218087">
                <a:moveTo>
                  <a:pt x="0" y="218087"/>
                </a:moveTo>
                <a:cubicBezTo>
                  <a:pt x="266700" y="218087"/>
                  <a:pt x="301942" y="63782"/>
                  <a:pt x="607835" y="0"/>
                </a:cubicBezTo>
              </a:path>
            </a:pathLst>
          </a:custGeom>
          <a:noFill/>
          <a:ln w="20955" cap="rnd">
            <a:solidFill>
              <a:srgbClr val="22D3C5"/>
            </a:solidFill>
            <a:miter lim="800000"/>
            <a:tailEnd type="triangle" w="lg" len="lg"/>
          </a:ln>
        </p:spPr>
      </p:sp>
      <p:sp>
        <p:nvSpPr>
          <p:cNvPr id="21" name="dg rect"/>
          <p:cNvSpPr/>
          <p:nvPr/>
        </p:nvSpPr>
        <p:spPr>
          <a:xfrm>
            <a:off x="2971800" y="3219450"/>
            <a:ext cx="4762500" cy="590550"/>
          </a:xfrm>
          <a:prstGeom prst="roundRect">
            <a:avLst>
              <a:gd name="adj" fmla="val 22581"/>
            </a:avLst>
          </a:prstGeom>
          <a:solidFill>
            <a:srgbClr val="FFFFFF">
              <a:alpha val="5000"/>
            </a:srgbClr>
          </a:solidFill>
          <a:ln w="13335" cap="flat">
            <a:solidFill>
              <a:srgbClr val="22D3C5">
                <a:alpha val="35000"/>
              </a:srgbClr>
            </a:solidFill>
            <a:miter lim="800000"/>
          </a:ln>
        </p:spPr>
      </p:sp>
      <p:sp>
        <p:nvSpPr>
          <p:cNvPr id="22" name="Text Test coverage reviewer"/>
          <p:cNvSpPr txBox="1"/>
          <p:nvPr/>
        </p:nvSpPr>
        <p:spPr>
          <a:xfrm>
            <a:off x="3162300" y="3343275"/>
            <a:ext cx="1734530"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Test coverage reviewer</a:t>
            </a:r>
            <a:endParaRPr lang="en-US" sz="1275" dirty="0"/>
          </a:p>
        </p:txBody>
      </p:sp>
      <p:sp>
        <p:nvSpPr>
          <p:cNvPr id="23" name="Text Finds changed lines with no te"/>
          <p:cNvSpPr txBox="1"/>
          <p:nvPr/>
        </p:nvSpPr>
        <p:spPr>
          <a:xfrm>
            <a:off x="3162300" y="3571875"/>
            <a:ext cx="1934170"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Finds changed lines with no tests</a:t>
            </a:r>
            <a:endParaRPr lang="en-US" sz="975" dirty="0"/>
          </a:p>
        </p:txBody>
      </p:sp>
      <p:sp>
        <p:nvSpPr>
          <p:cNvPr id="24" name="dg rect"/>
          <p:cNvSpPr/>
          <p:nvPr/>
        </p:nvSpPr>
        <p:spPr>
          <a:xfrm>
            <a:off x="5829300" y="3381375"/>
            <a:ext cx="1752600" cy="266700"/>
          </a:xfrm>
          <a:prstGeom prst="roundRect">
            <a:avLst>
              <a:gd name="adj" fmla="val 50000"/>
            </a:avLst>
          </a:prstGeom>
          <a:solidFill>
            <a:srgbClr val="337EFF">
              <a:alpha val="20000"/>
            </a:srgbClr>
          </a:solidFill>
          <a:ln w="12383" cap="flat">
            <a:solidFill>
              <a:srgbClr val="337EFF"/>
            </a:solidFill>
            <a:miter lim="800000"/>
          </a:ln>
        </p:spPr>
      </p:sp>
      <p:sp>
        <p:nvSpPr>
          <p:cNvPr id="25" name="dg i-cloud"/>
          <p:cNvSpPr/>
          <p:nvPr/>
        </p:nvSpPr>
        <p:spPr>
          <a:xfrm>
            <a:off x="5936604" y="34607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26" name="Text GitHub MCP"/>
          <p:cNvSpPr txBox="1"/>
          <p:nvPr/>
        </p:nvSpPr>
        <p:spPr>
          <a:xfrm>
            <a:off x="6153150" y="3462338"/>
            <a:ext cx="724942"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MCP</a:t>
            </a:r>
            <a:endParaRPr lang="en-US" sz="938" dirty="0"/>
          </a:p>
        </p:txBody>
      </p:sp>
      <p:sp>
        <p:nvSpPr>
          <p:cNvPr id="27" name="dg path"/>
          <p:cNvSpPr/>
          <p:nvPr/>
        </p:nvSpPr>
        <p:spPr>
          <a:xfrm>
            <a:off x="2305050" y="3028950"/>
            <a:ext cx="607621" cy="484419"/>
          </a:xfrm>
          <a:custGeom>
            <a:avLst/>
            <a:gdLst/>
            <a:ahLst/>
            <a:cxnLst/>
            <a:rect l="l" t="t" r="r" b="b"/>
            <a:pathLst>
              <a:path w="607621" h="484419">
                <a:moveTo>
                  <a:pt x="0" y="0"/>
                </a:moveTo>
                <a:cubicBezTo>
                  <a:pt x="266700" y="0"/>
                  <a:pt x="320992" y="361950"/>
                  <a:pt x="607621" y="484419"/>
                </a:cubicBezTo>
              </a:path>
            </a:pathLst>
          </a:custGeom>
          <a:noFill/>
          <a:ln w="20955" cap="rnd">
            <a:solidFill>
              <a:srgbClr val="22D3C5"/>
            </a:solidFill>
            <a:miter lim="800000"/>
            <a:tailEnd type="triangle" w="lg" len="lg"/>
          </a:ln>
        </p:spPr>
      </p:sp>
      <p:sp>
        <p:nvSpPr>
          <p:cNvPr id="28" name="dg rect"/>
          <p:cNvSpPr/>
          <p:nvPr/>
        </p:nvSpPr>
        <p:spPr>
          <a:xfrm>
            <a:off x="2971800" y="3924300"/>
            <a:ext cx="4762500" cy="590550"/>
          </a:xfrm>
          <a:prstGeom prst="roundRect">
            <a:avLst>
              <a:gd name="adj" fmla="val 22581"/>
            </a:avLst>
          </a:prstGeom>
          <a:solidFill>
            <a:srgbClr val="FFFFFF">
              <a:alpha val="5000"/>
            </a:srgbClr>
          </a:solidFill>
          <a:ln w="13335" cap="flat">
            <a:solidFill>
              <a:srgbClr val="22D3C5">
                <a:alpha val="35000"/>
              </a:srgbClr>
            </a:solidFill>
            <a:miter lim="800000"/>
          </a:ln>
        </p:spPr>
      </p:sp>
      <p:sp>
        <p:nvSpPr>
          <p:cNvPr id="29" name="Text Docs and style reviewer"/>
          <p:cNvSpPr txBox="1"/>
          <p:nvPr/>
        </p:nvSpPr>
        <p:spPr>
          <a:xfrm>
            <a:off x="3162300" y="4048125"/>
            <a:ext cx="1801243"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Docs and style reviewer</a:t>
            </a:r>
            <a:endParaRPr lang="en-US" sz="1275" dirty="0"/>
          </a:p>
        </p:txBody>
      </p:sp>
      <p:sp>
        <p:nvSpPr>
          <p:cNvPr id="30" name="Text Checks API docs and naming"/>
          <p:cNvSpPr txBox="1"/>
          <p:nvPr/>
        </p:nvSpPr>
        <p:spPr>
          <a:xfrm>
            <a:off x="3162300" y="4276725"/>
            <a:ext cx="1701552"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Checks API docs and naming</a:t>
            </a:r>
            <a:endParaRPr lang="en-US" sz="975" dirty="0"/>
          </a:p>
        </p:txBody>
      </p:sp>
      <p:sp>
        <p:nvSpPr>
          <p:cNvPr id="31" name="dg path"/>
          <p:cNvSpPr/>
          <p:nvPr/>
        </p:nvSpPr>
        <p:spPr>
          <a:xfrm>
            <a:off x="2305050" y="3028950"/>
            <a:ext cx="607663" cy="1189348"/>
          </a:xfrm>
          <a:custGeom>
            <a:avLst/>
            <a:gdLst/>
            <a:ahLst/>
            <a:cxnLst/>
            <a:rect l="l" t="t" r="r" b="b"/>
            <a:pathLst>
              <a:path w="607663" h="1189348">
                <a:moveTo>
                  <a:pt x="0" y="0"/>
                </a:moveTo>
                <a:cubicBezTo>
                  <a:pt x="266700" y="0"/>
                  <a:pt x="362903" y="995363"/>
                  <a:pt x="607663" y="1189348"/>
                </a:cubicBezTo>
              </a:path>
            </a:pathLst>
          </a:custGeom>
          <a:noFill/>
          <a:ln w="20955" cap="rnd">
            <a:solidFill>
              <a:srgbClr val="22D3C5"/>
            </a:solidFill>
            <a:miter lim="800000"/>
            <a:tailEnd type="triangle" w="lg" len="lg"/>
          </a:ln>
        </p:spPr>
      </p:sp>
      <p:sp>
        <p:nvSpPr>
          <p:cNvPr id="32" name="dg path"/>
          <p:cNvSpPr/>
          <p:nvPr/>
        </p:nvSpPr>
        <p:spPr>
          <a:xfrm>
            <a:off x="7772400" y="2105025"/>
            <a:ext cx="608247" cy="922745"/>
          </a:xfrm>
          <a:custGeom>
            <a:avLst/>
            <a:gdLst/>
            <a:ahLst/>
            <a:cxnLst/>
            <a:rect l="l" t="t" r="r" b="b"/>
            <a:pathLst>
              <a:path w="608247" h="922745">
                <a:moveTo>
                  <a:pt x="0" y="0"/>
                </a:moveTo>
                <a:cubicBezTo>
                  <a:pt x="342900" y="0"/>
                  <a:pt x="287655" y="702945"/>
                  <a:pt x="608247" y="922745"/>
                </a:cubicBezTo>
              </a:path>
            </a:pathLst>
          </a:custGeom>
          <a:noFill/>
          <a:ln w="20955" cap="rnd">
            <a:solidFill>
              <a:srgbClr val="22D3C5"/>
            </a:solidFill>
            <a:miter lim="800000"/>
            <a:tailEnd type="triangle" w="lg" len="lg"/>
          </a:ln>
        </p:spPr>
      </p:sp>
      <p:sp>
        <p:nvSpPr>
          <p:cNvPr id="33" name="dg path"/>
          <p:cNvSpPr/>
          <p:nvPr/>
        </p:nvSpPr>
        <p:spPr>
          <a:xfrm>
            <a:off x="7772400" y="2809875"/>
            <a:ext cx="607849" cy="218021"/>
          </a:xfrm>
          <a:custGeom>
            <a:avLst/>
            <a:gdLst/>
            <a:ahLst/>
            <a:cxnLst/>
            <a:rect l="l" t="t" r="r" b="b"/>
            <a:pathLst>
              <a:path w="607849" h="218021">
                <a:moveTo>
                  <a:pt x="0" y="0"/>
                </a:moveTo>
                <a:cubicBezTo>
                  <a:pt x="342900" y="0"/>
                  <a:pt x="227647" y="139065"/>
                  <a:pt x="607849" y="218021"/>
                </a:cubicBezTo>
              </a:path>
            </a:pathLst>
          </a:custGeom>
          <a:noFill/>
          <a:ln w="20955" cap="rnd">
            <a:solidFill>
              <a:srgbClr val="22D3C5"/>
            </a:solidFill>
            <a:miter lim="800000"/>
            <a:tailEnd type="triangle" w="lg" len="lg"/>
          </a:ln>
        </p:spPr>
      </p:sp>
      <p:sp>
        <p:nvSpPr>
          <p:cNvPr id="34" name="dg path"/>
          <p:cNvSpPr/>
          <p:nvPr/>
        </p:nvSpPr>
        <p:spPr>
          <a:xfrm>
            <a:off x="7772400" y="3030222"/>
            <a:ext cx="607585" cy="484503"/>
          </a:xfrm>
          <a:custGeom>
            <a:avLst/>
            <a:gdLst/>
            <a:ahLst/>
            <a:cxnLst/>
            <a:rect l="l" t="t" r="r" b="b"/>
            <a:pathLst>
              <a:path w="607585" h="484503">
                <a:moveTo>
                  <a:pt x="0" y="484503"/>
                </a:moveTo>
                <a:cubicBezTo>
                  <a:pt x="342900" y="484503"/>
                  <a:pt x="250507" y="153033"/>
                  <a:pt x="607585" y="0"/>
                </a:cubicBezTo>
              </a:path>
            </a:pathLst>
          </a:custGeom>
          <a:noFill/>
          <a:ln w="20955" cap="rnd">
            <a:solidFill>
              <a:srgbClr val="22D3C5"/>
            </a:solidFill>
            <a:miter lim="800000"/>
            <a:tailEnd type="triangle" w="lg" len="lg"/>
          </a:ln>
        </p:spPr>
      </p:sp>
      <p:sp>
        <p:nvSpPr>
          <p:cNvPr id="35" name="dg path"/>
          <p:cNvSpPr/>
          <p:nvPr/>
        </p:nvSpPr>
        <p:spPr>
          <a:xfrm>
            <a:off x="7772400" y="3030088"/>
            <a:ext cx="607553" cy="1189487"/>
          </a:xfrm>
          <a:custGeom>
            <a:avLst/>
            <a:gdLst/>
            <a:ahLst/>
            <a:cxnLst/>
            <a:rect l="l" t="t" r="r" b="b"/>
            <a:pathLst>
              <a:path w="607553" h="1189487">
                <a:moveTo>
                  <a:pt x="0" y="1189487"/>
                </a:moveTo>
                <a:cubicBezTo>
                  <a:pt x="342900" y="1189487"/>
                  <a:pt x="303847" y="241749"/>
                  <a:pt x="607553" y="0"/>
                </a:cubicBezTo>
              </a:path>
            </a:pathLst>
          </a:custGeom>
          <a:noFill/>
          <a:ln w="20955" cap="rnd">
            <a:solidFill>
              <a:srgbClr val="22D3C5"/>
            </a:solidFill>
            <a:miter lim="800000"/>
            <a:tailEnd type="triangle" w="lg" len="lg"/>
          </a:ln>
        </p:spPr>
      </p:sp>
      <p:sp>
        <p:nvSpPr>
          <p:cNvPr id="36" name="dg rect"/>
          <p:cNvSpPr/>
          <p:nvPr/>
        </p:nvSpPr>
        <p:spPr>
          <a:xfrm>
            <a:off x="8477250" y="2457450"/>
            <a:ext cx="3314700" cy="1143000"/>
          </a:xfrm>
          <a:prstGeom prst="roundRect">
            <a:avLst>
              <a:gd name="adj" fmla="val 13333"/>
            </a:avLst>
          </a:prstGeom>
          <a:solidFill>
            <a:srgbClr val="FFFFFF">
              <a:alpha val="7000"/>
            </a:srgbClr>
          </a:solidFill>
          <a:ln w="15240" cap="flat">
            <a:solidFill>
              <a:srgbClr val="22D3C5">
                <a:alpha val="60000"/>
              </a:srgbClr>
            </a:solidFill>
            <a:miter lim="800000"/>
          </a:ln>
        </p:spPr>
      </p:sp>
      <p:sp>
        <p:nvSpPr>
          <p:cNvPr id="37" name="Text COLLECTOR"/>
          <p:cNvSpPr txBox="1"/>
          <p:nvPr/>
        </p:nvSpPr>
        <p:spPr>
          <a:xfrm>
            <a:off x="8648700" y="2619375"/>
            <a:ext cx="822573"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COLLECTOR</a:t>
            </a:r>
            <a:endParaRPr lang="en-US" sz="825" dirty="0"/>
          </a:p>
        </p:txBody>
      </p:sp>
      <p:sp>
        <p:nvSpPr>
          <p:cNvPr id="38" name="Text Collector agent"/>
          <p:cNvSpPr txBox="1"/>
          <p:nvPr/>
        </p:nvSpPr>
        <p:spPr>
          <a:xfrm>
            <a:off x="8648700" y="2819400"/>
            <a:ext cx="1184225"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Collector agent</a:t>
            </a:r>
            <a:endParaRPr lang="en-US" sz="1275" dirty="0"/>
          </a:p>
        </p:txBody>
      </p:sp>
      <p:sp>
        <p:nvSpPr>
          <p:cNvPr id="39" name="Text Merges four reviews into one"/>
          <p:cNvSpPr txBox="1"/>
          <p:nvPr/>
        </p:nvSpPr>
        <p:spPr>
          <a:xfrm>
            <a:off x="8648700" y="3057525"/>
            <a:ext cx="1734741"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Merges four reviews into one,</a:t>
            </a:r>
            <a:endParaRPr lang="en-US" sz="975" dirty="0"/>
          </a:p>
        </p:txBody>
      </p:sp>
      <p:sp>
        <p:nvSpPr>
          <p:cNvPr id="40" name="Text ranked by severity"/>
          <p:cNvSpPr txBox="1"/>
          <p:nvPr/>
        </p:nvSpPr>
        <p:spPr>
          <a:xfrm>
            <a:off x="8648700" y="3228975"/>
            <a:ext cx="1106835"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ranked by severity</a:t>
            </a:r>
            <a:endParaRPr lang="en-US" sz="975" dirty="0"/>
          </a:p>
        </p:txBody>
      </p:sp>
      <p:sp>
        <p:nvSpPr>
          <p:cNvPr id="41" name="dg rect"/>
          <p:cNvSpPr/>
          <p:nvPr/>
        </p:nvSpPr>
        <p:spPr>
          <a:xfrm>
            <a:off x="8648700" y="3657600"/>
            <a:ext cx="2971800" cy="266700"/>
          </a:xfrm>
          <a:prstGeom prst="roundRect">
            <a:avLst>
              <a:gd name="adj" fmla="val 50000"/>
            </a:avLst>
          </a:prstGeom>
          <a:solidFill>
            <a:srgbClr val="337EFF">
              <a:alpha val="20000"/>
            </a:srgbClr>
          </a:solidFill>
          <a:ln w="12383" cap="flat">
            <a:solidFill>
              <a:srgbClr val="337EFF"/>
            </a:solidFill>
            <a:miter lim="800000"/>
          </a:ln>
        </p:spPr>
      </p:sp>
      <p:sp>
        <p:nvSpPr>
          <p:cNvPr id="42" name="dg i-cloud"/>
          <p:cNvSpPr/>
          <p:nvPr/>
        </p:nvSpPr>
        <p:spPr>
          <a:xfrm>
            <a:off x="8756004" y="37369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3" name="Text GitHub MCP posts the review"/>
          <p:cNvSpPr txBox="1"/>
          <p:nvPr/>
        </p:nvSpPr>
        <p:spPr>
          <a:xfrm>
            <a:off x="8972550" y="3738563"/>
            <a:ext cx="1691878"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MCP · posts the review</a:t>
            </a:r>
            <a:endParaRPr lang="en-US" sz="938" dirty="0"/>
          </a:p>
        </p:txBody>
      </p:sp>
      <p:sp>
        <p:nvSpPr>
          <p:cNvPr id="44" name="dg rect"/>
          <p:cNvSpPr/>
          <p:nvPr/>
        </p:nvSpPr>
        <p:spPr>
          <a:xfrm>
            <a:off x="400050" y="4800600"/>
            <a:ext cx="11391900" cy="438150"/>
          </a:xfrm>
          <a:prstGeom prst="roundRect">
            <a:avLst>
              <a:gd name="adj" fmla="val 30435"/>
            </a:avLst>
          </a:prstGeom>
          <a:solidFill>
            <a:srgbClr val="22D3C5">
              <a:alpha val="14000"/>
            </a:srgbClr>
          </a:solidFill>
          <a:ln w="15240" cap="flat">
            <a:solidFill>
              <a:srgbClr val="22D3C5"/>
            </a:solidFill>
            <a:miter lim="800000"/>
          </a:ln>
        </p:spPr>
      </p:sp>
      <p:sp>
        <p:nvSpPr>
          <p:cNvPr id="45" name="dg i-circle-check"/>
          <p:cNvSpPr/>
          <p:nvPr/>
        </p:nvSpPr>
        <p:spPr>
          <a:xfrm>
            <a:off x="571500" y="4924425"/>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9050" cap="rnd">
            <a:solidFill>
              <a:srgbClr val="22D3C5"/>
            </a:solidFill>
            <a:round/>
          </a:ln>
        </p:spPr>
      </p:sp>
      <p:sp>
        <p:nvSpPr>
          <p:cNvPr id="46" name="Text RESULT"/>
          <p:cNvSpPr txBox="1"/>
          <p:nvPr/>
        </p:nvSpPr>
        <p:spPr>
          <a:xfrm>
            <a:off x="895350" y="4991100"/>
            <a:ext cx="558701" cy="123825"/>
          </a:xfrm>
          <a:prstGeom prst="rect">
            <a:avLst/>
          </a:prstGeom>
          <a:noFill/>
          <a:ln/>
        </p:spPr>
        <p:txBody>
          <a:bodyPr wrap="none" lIns="0" tIns="0" rIns="0" bIns="0" rtlCol="0" anchor="ctr"/>
          <a:lstStyle/>
          <a:p>
            <a:pPr algn="l" indent="0" marL="0">
              <a:buNone/>
            </a:pPr>
            <a:r>
              <a:rPr lang="en-US" sz="863" b="1" spc="150" kern="0" dirty="0">
                <a:solidFill>
                  <a:srgbClr val="22D3C5"/>
                </a:solidFill>
                <a:latin typeface="Scotia" pitchFamily="34" charset="0"/>
                <a:ea typeface="Scotia" pitchFamily="34" charset="-122"/>
                <a:cs typeface="Scotia" pitchFamily="34" charset="-120"/>
              </a:rPr>
              <a:t>RESULT</a:t>
            </a:r>
            <a:endParaRPr lang="en-US" sz="863" dirty="0"/>
          </a:p>
        </p:txBody>
      </p:sp>
      <p:sp>
        <p:nvSpPr>
          <p:cNvPr id="47" name="Text One review comment posted on P"/>
          <p:cNvSpPr txBox="1"/>
          <p:nvPr/>
        </p:nvSpPr>
        <p:spPr>
          <a:xfrm>
            <a:off x="1638300" y="4953000"/>
            <a:ext cx="5036046"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One review comment posted on PR #482, with findings ranked by severity.</a:t>
            </a:r>
            <a:endParaRPr lang="en-US" sz="1163" dirty="0"/>
          </a:p>
        </p:txBody>
      </p:sp>
      <p:sp>
        <p:nvSpPr>
          <p:cNvPr id="48" name="dg line"/>
          <p:cNvSpPr/>
          <p:nvPr/>
        </p:nvSpPr>
        <p:spPr>
          <a:xfrm>
            <a:off x="400050" y="5676900"/>
            <a:ext cx="11391900" cy="0"/>
          </a:xfrm>
          <a:prstGeom prst="line">
            <a:avLst/>
          </a:prstGeom>
          <a:noFill/>
          <a:ln w="9525" cap="flat">
            <a:solidFill>
              <a:srgbClr val="BDC2EF">
                <a:alpha val="22000"/>
              </a:srgbClr>
            </a:solidFill>
            <a:miter lim="800000"/>
          </a:ln>
        </p:spPr>
      </p:sp>
      <p:sp>
        <p:nvSpPr>
          <p:cNvPr id="49" name="Text WHY CONCURRENT FITS"/>
          <p:cNvSpPr txBox="1"/>
          <p:nvPr/>
        </p:nvSpPr>
        <p:spPr>
          <a:xfrm>
            <a:off x="400050" y="5819775"/>
            <a:ext cx="1706166" cy="123825"/>
          </a:xfrm>
          <a:prstGeom prst="rect">
            <a:avLst/>
          </a:prstGeom>
          <a:noFill/>
          <a:ln/>
        </p:spPr>
        <p:txBody>
          <a:bodyPr wrap="none" lIns="0" tIns="0" rIns="0" bIns="0" rtlCol="0" anchor="ctr"/>
          <a:lstStyle/>
          <a:p>
            <a:pPr algn="l" indent="0" marL="0">
              <a:buNone/>
            </a:pPr>
            <a:r>
              <a:rPr lang="en-US" sz="863" b="1" spc="165" kern="0" dirty="0">
                <a:solidFill>
                  <a:srgbClr val="22D3C5"/>
                </a:solidFill>
                <a:latin typeface="Scotia" pitchFamily="34" charset="0"/>
                <a:ea typeface="Scotia" pitchFamily="34" charset="-122"/>
                <a:cs typeface="Scotia" pitchFamily="34" charset="-120"/>
              </a:rPr>
              <a:t>WHY CONCURRENT FITS</a:t>
            </a:r>
            <a:endParaRPr lang="en-US" sz="863" dirty="0"/>
          </a:p>
        </p:txBody>
      </p:sp>
      <p:sp>
        <p:nvSpPr>
          <p:cNvPr id="50" name="Text MCP IN THIS FLOW"/>
          <p:cNvSpPr txBox="1"/>
          <p:nvPr/>
        </p:nvSpPr>
        <p:spPr>
          <a:xfrm>
            <a:off x="6286500" y="5819775"/>
            <a:ext cx="1345555" cy="123825"/>
          </a:xfrm>
          <a:prstGeom prst="rect">
            <a:avLst/>
          </a:prstGeom>
          <a:noFill/>
          <a:ln/>
        </p:spPr>
        <p:txBody>
          <a:bodyPr wrap="none" lIns="0" tIns="0" rIns="0" bIns="0" rtlCol="0" anchor="ctr"/>
          <a:lstStyle/>
          <a:p>
            <a:pPr algn="l" indent="0" marL="0">
              <a:buNone/>
            </a:pPr>
            <a:r>
              <a:rPr lang="en-US" sz="863" b="1" spc="165" kern="0" dirty="0">
                <a:solidFill>
                  <a:srgbClr val="8FB4FF"/>
                </a:solidFill>
                <a:latin typeface="Scotia" pitchFamily="34" charset="0"/>
                <a:ea typeface="Scotia" pitchFamily="34" charset="-122"/>
                <a:cs typeface="Scotia" pitchFamily="34" charset="-120"/>
              </a:rPr>
              <a:t>MCP IN THIS FLOW</a:t>
            </a:r>
            <a:endParaRPr lang="en-US" sz="863" dirty="0"/>
          </a:p>
        </p:txBody>
      </p:sp>
      <p:sp>
        <p:nvSpPr>
          <p:cNvPr id="51" name="Text The four reviews are independe"/>
          <p:cNvSpPr txBox="1"/>
          <p:nvPr/>
        </p:nvSpPr>
        <p:spPr>
          <a:xfrm>
            <a:off x="400050" y="6000750"/>
            <a:ext cx="4783782"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The four reviews are independent, so total time is the slowest one.</a:t>
            </a:r>
            <a:endParaRPr lang="en-US" sz="1238" dirty="0"/>
          </a:p>
        </p:txBody>
      </p:sp>
      <p:sp>
        <p:nvSpPr>
          <p:cNvPr id="52" name="Text Only reviewers that need outsi"/>
          <p:cNvSpPr txBox="1"/>
          <p:nvPr/>
        </p:nvSpPr>
        <p:spPr>
          <a:xfrm>
            <a:off x="6286500" y="6000750"/>
            <a:ext cx="5144095"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Only reviewers that need outside data connect; the others read the diff.</a:t>
            </a:r>
            <a:endParaRPr lang="en-US" sz="1238" dirty="0"/>
          </a:p>
        </p:txBody>
      </p:sp>
      <p:sp>
        <p:nvSpPr>
          <p:cNvPr id="53" name="Text Parallel Pull Request Review"/>
          <p:cNvSpPr txBox="1"/>
          <p:nvPr/>
        </p:nvSpPr>
        <p:spPr>
          <a:xfrm>
            <a:off x="400050" y="475926"/>
            <a:ext cx="5163294"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Parallel Pull Request Review</a:t>
            </a:r>
            <a:endParaRPr lang="en-US" sz="3067" dirty="0"/>
          </a:p>
        </p:txBody>
      </p:sp>
      <p:sp>
        <p:nvSpPr>
          <p:cNvPr id="54" name="Text Trigger: a pull request is ope"/>
          <p:cNvSpPr txBox="1"/>
          <p:nvPr/>
        </p:nvSpPr>
        <p:spPr>
          <a:xfrm>
            <a:off x="400050" y="1025625"/>
            <a:ext cx="6208365"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Trigger: a pull request is opened and needs a review from several angles.</a:t>
            </a:r>
            <a:endParaRPr lang="en-US" sz="1467" dirty="0"/>
          </a:p>
        </p:txBody>
      </p:sp>
      <p:sp>
        <p:nvSpPr>
          <p:cNvPr id="55"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56" name="Text 14"/>
          <p:cNvSpPr txBox="1"/>
          <p:nvPr/>
        </p:nvSpPr>
        <p:spPr>
          <a:xfrm>
            <a:off x="11625560" y="6306483"/>
            <a:ext cx="156865"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823"/>
        </a:solidFill>
      </p:bgPr>
    </p:bg>
    <p:spTree>
      <p:nvGrpSpPr>
        <p:cNvPr id="1" name=""/>
        <p:cNvGrpSpPr/>
        <p:nvPr/>
      </p:nvGrpSpPr>
      <p:grpSpPr>
        <a:xfrm>
          <a:off x="0" y="0"/>
          <a:ext cx="0" cy="0"/>
          <a:chOff x="0" y="0"/>
          <a:chExt cx="0" cy="0"/>
        </a:xfrm>
      </p:grpSpPr>
      <p:sp>
        <p:nvSpPr>
          <p:cNvPr id="2" name="dg circle"/>
          <p:cNvSpPr/>
          <p:nvPr/>
        </p:nvSpPr>
        <p:spPr>
          <a:xfrm>
            <a:off x="10910888" y="623888"/>
            <a:ext cx="85725" cy="85725"/>
          </a:xfrm>
          <a:prstGeom prst="ellipse">
            <a:avLst/>
          </a:prstGeom>
          <a:noFill/>
          <a:ln w="14288" cap="flat">
            <a:solidFill>
              <a:srgbClr val="B0AAFF"/>
            </a:solidFill>
            <a:miter lim="800000"/>
          </a:ln>
        </p:spPr>
      </p:sp>
      <p:sp>
        <p:nvSpPr>
          <p:cNvPr id="3" name="dg circle"/>
          <p:cNvSpPr/>
          <p:nvPr/>
        </p:nvSpPr>
        <p:spPr>
          <a:xfrm>
            <a:off x="11120438" y="623888"/>
            <a:ext cx="85725" cy="85725"/>
          </a:xfrm>
          <a:prstGeom prst="ellipse">
            <a:avLst/>
          </a:prstGeom>
          <a:noFill/>
          <a:ln w="14288" cap="flat">
            <a:solidFill>
              <a:srgbClr val="B0AAFF"/>
            </a:solidFill>
            <a:miter lim="800000"/>
          </a:ln>
        </p:spPr>
      </p:sp>
      <p:sp>
        <p:nvSpPr>
          <p:cNvPr id="4" name="dg circle"/>
          <p:cNvSpPr/>
          <p:nvPr/>
        </p:nvSpPr>
        <p:spPr>
          <a:xfrm>
            <a:off x="11315700" y="609600"/>
            <a:ext cx="114300" cy="114300"/>
          </a:xfrm>
          <a:prstGeom prst="ellipse">
            <a:avLst/>
          </a:prstGeom>
          <a:solidFill>
            <a:srgbClr val="6551FF"/>
          </a:solidFill>
          <a:ln w="14288" cap="flat">
            <a:solidFill>
              <a:srgbClr val="6551FF"/>
            </a:solidFill>
            <a:miter lim="800000"/>
          </a:ln>
        </p:spPr>
      </p:sp>
      <p:sp>
        <p:nvSpPr>
          <p:cNvPr id="5" name="dg circle"/>
          <p:cNvSpPr/>
          <p:nvPr/>
        </p:nvSpPr>
        <p:spPr>
          <a:xfrm>
            <a:off x="11539538" y="623888"/>
            <a:ext cx="85725" cy="85725"/>
          </a:xfrm>
          <a:prstGeom prst="ellipse">
            <a:avLst/>
          </a:prstGeom>
          <a:noFill/>
          <a:ln w="14288" cap="flat">
            <a:solidFill>
              <a:srgbClr val="B0AAFF"/>
            </a:solidFill>
            <a:miter lim="800000"/>
          </a:ln>
        </p:spPr>
      </p:sp>
      <p:sp>
        <p:nvSpPr>
          <p:cNvPr id="6" name="dg circle"/>
          <p:cNvSpPr/>
          <p:nvPr/>
        </p:nvSpPr>
        <p:spPr>
          <a:xfrm>
            <a:off x="11749088" y="623888"/>
            <a:ext cx="85725" cy="85725"/>
          </a:xfrm>
          <a:prstGeom prst="ellipse">
            <a:avLst/>
          </a:prstGeom>
          <a:noFill/>
          <a:ln w="14288" cap="flat">
            <a:solidFill>
              <a:srgbClr val="B0AAFF"/>
            </a:solidFill>
            <a:miter lim="800000"/>
          </a:ln>
        </p:spPr>
      </p:sp>
      <p:sp>
        <p:nvSpPr>
          <p:cNvPr id="7" name="dg rect"/>
          <p:cNvSpPr/>
          <p:nvPr/>
        </p:nvSpPr>
        <p:spPr>
          <a:xfrm>
            <a:off x="400050" y="1809750"/>
            <a:ext cx="2381250" cy="1066800"/>
          </a:xfrm>
          <a:prstGeom prst="roundRect">
            <a:avLst>
              <a:gd name="adj" fmla="val 16071"/>
            </a:avLst>
          </a:prstGeom>
          <a:gradFill rotWithShape="1">
            <a:gsLst>
              <a:gs pos="0">
                <a:srgbClr val="7B69FF"/>
              </a:gs>
              <a:gs pos="100000">
                <a:srgbClr val="5141D3"/>
              </a:gs>
            </a:gsLst>
            <a:lin ang="2700000" scaled="1"/>
          </a:gradFill>
          <a:ln w="13335" cap="flat">
            <a:solidFill>
              <a:srgbClr val="B0AAFF"/>
            </a:solidFill>
            <a:miter lim="800000"/>
          </a:ln>
        </p:spPr>
      </p:sp>
      <p:sp>
        <p:nvSpPr>
          <p:cNvPr id="8" name="dg circle"/>
          <p:cNvSpPr/>
          <p:nvPr/>
        </p:nvSpPr>
        <p:spPr>
          <a:xfrm>
            <a:off x="552450" y="1962150"/>
            <a:ext cx="457200" cy="457200"/>
          </a:xfrm>
          <a:prstGeom prst="ellipse">
            <a:avLst/>
          </a:prstGeom>
          <a:solidFill>
            <a:srgbClr val="FFFFFF">
              <a:alpha val="19000"/>
            </a:srgbClr>
          </a:solidFill>
          <a:ln>
            <a:noFill/>
          </a:ln>
        </p:spPr>
      </p:sp>
      <p:sp>
        <p:nvSpPr>
          <p:cNvPr id="9" name="dg i-users"/>
          <p:cNvSpPr/>
          <p:nvPr/>
        </p:nvSpPr>
        <p:spPr>
          <a:xfrm>
            <a:off x="685800" y="2105025"/>
            <a:ext cx="190500" cy="171450"/>
          </a:xfrm>
          <a:custGeom>
            <a:avLst/>
            <a:gdLst/>
            <a:ahLst/>
            <a:cxnLst/>
            <a:rect l="l" t="t" r="r" b="b"/>
            <a:pathLst>
              <a:path w="190500" h="171450">
                <a:moveTo>
                  <a:pt x="133350" y="171450"/>
                </a:moveTo>
                <a:lnTo>
                  <a:pt x="133350" y="152400"/>
                </a:lnTo>
                <a:cubicBezTo>
                  <a:pt x="133350" y="131358"/>
                  <a:pt x="116292" y="114300"/>
                  <a:pt x="95250" y="114300"/>
                </a:cubicBezTo>
                <a:lnTo>
                  <a:pt x="38100" y="114300"/>
                </a:lnTo>
                <a:cubicBezTo>
                  <a:pt x="17058" y="114300"/>
                  <a:pt x="0" y="131358"/>
                  <a:pt x="0" y="152400"/>
                </a:cubicBezTo>
                <a:lnTo>
                  <a:pt x="0" y="171450"/>
                </a:lnTo>
                <a:moveTo>
                  <a:pt x="104775" y="38100"/>
                </a:moveTo>
                <a:cubicBezTo>
                  <a:pt x="104775" y="59142"/>
                  <a:pt x="87717" y="76200"/>
                  <a:pt x="66675" y="76200"/>
                </a:cubicBezTo>
                <a:cubicBezTo>
                  <a:pt x="45633" y="76200"/>
                  <a:pt x="28575" y="59142"/>
                  <a:pt x="28575" y="38100"/>
                </a:cubicBezTo>
                <a:cubicBezTo>
                  <a:pt x="28575" y="17058"/>
                  <a:pt x="45633" y="0"/>
                  <a:pt x="66675" y="0"/>
                </a:cubicBezTo>
                <a:cubicBezTo>
                  <a:pt x="87717" y="0"/>
                  <a:pt x="104775" y="17058"/>
                  <a:pt x="104775" y="38100"/>
                </a:cubicBezTo>
                <a:close/>
                <a:moveTo>
                  <a:pt x="190500" y="171450"/>
                </a:moveTo>
                <a:lnTo>
                  <a:pt x="190500" y="152400"/>
                </a:lnTo>
                <a:cubicBezTo>
                  <a:pt x="190487" y="135037"/>
                  <a:pt x="178737" y="119879"/>
                  <a:pt x="161925" y="115538"/>
                </a:cubicBezTo>
                <a:moveTo>
                  <a:pt x="133350" y="1238"/>
                </a:moveTo>
                <a:cubicBezTo>
                  <a:pt x="150208" y="5555"/>
                  <a:pt x="162000" y="20745"/>
                  <a:pt x="162000" y="38148"/>
                </a:cubicBezTo>
                <a:cubicBezTo>
                  <a:pt x="162000" y="55550"/>
                  <a:pt x="150208" y="70741"/>
                  <a:pt x="133350" y="75057"/>
                </a:cubicBezTo>
              </a:path>
            </a:pathLst>
          </a:custGeom>
          <a:noFill/>
          <a:ln w="17145" cap="rnd">
            <a:solidFill>
              <a:srgbClr val="FFFFFF"/>
            </a:solidFill>
            <a:round/>
          </a:ln>
        </p:spPr>
      </p:sp>
      <p:sp>
        <p:nvSpPr>
          <p:cNvPr id="10" name="Text Group chat"/>
          <p:cNvSpPr txBox="1"/>
          <p:nvPr/>
        </p:nvSpPr>
        <p:spPr>
          <a:xfrm>
            <a:off x="1143000" y="2019300"/>
            <a:ext cx="982712" cy="209550"/>
          </a:xfrm>
          <a:prstGeom prst="rect">
            <a:avLst/>
          </a:prstGeom>
          <a:noFill/>
          <a:ln/>
        </p:spPr>
        <p:txBody>
          <a:bodyPr wrap="none" lIns="0" tIns="0" rIns="0" bIns="0" rtlCol="0" anchor="ctr"/>
          <a:lstStyle/>
          <a:p>
            <a:pPr algn="l" indent="0" marL="0">
              <a:buNone/>
            </a:pPr>
            <a:r>
              <a:rPr lang="en-US" sz="1425" b="1" dirty="0">
                <a:solidFill>
                  <a:srgbClr val="FFFFFF"/>
                </a:solidFill>
                <a:latin typeface="Scotia" pitchFamily="34" charset="0"/>
                <a:ea typeface="Scotia" pitchFamily="34" charset="-122"/>
                <a:cs typeface="Scotia" pitchFamily="34" charset="-120"/>
              </a:rPr>
              <a:t>Group chat</a:t>
            </a:r>
            <a:endParaRPr lang="en-US" sz="1425" dirty="0"/>
          </a:p>
        </p:txBody>
      </p:sp>
      <p:sp>
        <p:nvSpPr>
          <p:cNvPr id="11" name="Text manager"/>
          <p:cNvSpPr txBox="1"/>
          <p:nvPr/>
        </p:nvSpPr>
        <p:spPr>
          <a:xfrm>
            <a:off x="1143000" y="2228850"/>
            <a:ext cx="793537" cy="209550"/>
          </a:xfrm>
          <a:prstGeom prst="rect">
            <a:avLst/>
          </a:prstGeom>
          <a:noFill/>
          <a:ln/>
        </p:spPr>
        <p:txBody>
          <a:bodyPr wrap="none" lIns="0" tIns="0" rIns="0" bIns="0" rtlCol="0" anchor="ctr"/>
          <a:lstStyle/>
          <a:p>
            <a:pPr algn="l" indent="0" marL="0">
              <a:buNone/>
            </a:pPr>
            <a:r>
              <a:rPr lang="en-US" sz="1425" b="1" dirty="0">
                <a:solidFill>
                  <a:srgbClr val="FFFFFF"/>
                </a:solidFill>
                <a:latin typeface="Scotia" pitchFamily="34" charset="0"/>
                <a:ea typeface="Scotia" pitchFamily="34" charset="-122"/>
                <a:cs typeface="Scotia" pitchFamily="34" charset="-120"/>
              </a:rPr>
              <a:t>manager</a:t>
            </a:r>
            <a:endParaRPr lang="en-US" sz="1425" dirty="0"/>
          </a:p>
        </p:txBody>
      </p:sp>
      <p:sp>
        <p:nvSpPr>
          <p:cNvPr id="12" name="Text Chooses who speaks next"/>
          <p:cNvSpPr txBox="1"/>
          <p:nvPr/>
        </p:nvSpPr>
        <p:spPr>
          <a:xfrm>
            <a:off x="628650" y="2543175"/>
            <a:ext cx="1599754" cy="152400"/>
          </a:xfrm>
          <a:prstGeom prst="rect">
            <a:avLst/>
          </a:prstGeom>
          <a:noFill/>
          <a:ln/>
        </p:spPr>
        <p:txBody>
          <a:bodyPr wrap="none" lIns="0" tIns="0" rIns="0" bIns="0" rtlCol="0" anchor="ctr"/>
          <a:lstStyle/>
          <a:p>
            <a:pPr algn="l" indent="0" marL="0">
              <a:buNone/>
            </a:pPr>
            <a:r>
              <a:rPr lang="en-US" sz="1050" dirty="0">
                <a:solidFill>
                  <a:srgbClr val="FFFFFF"/>
                </a:solidFill>
                <a:latin typeface="Scotia Serif" pitchFamily="34" charset="0"/>
                <a:ea typeface="Scotia Serif" pitchFamily="34" charset="-122"/>
                <a:cs typeface="Scotia Serif" pitchFamily="34" charset="-120"/>
              </a:rPr>
              <a:t>Chooses who speaks next</a:t>
            </a:r>
            <a:endParaRPr lang="en-US" sz="1050" dirty="0"/>
          </a:p>
        </p:txBody>
      </p:sp>
      <p:sp>
        <p:nvSpPr>
          <p:cNvPr id="13" name="Text Judges when to stop"/>
          <p:cNvSpPr txBox="1"/>
          <p:nvPr/>
        </p:nvSpPr>
        <p:spPr>
          <a:xfrm>
            <a:off x="628650" y="2724150"/>
            <a:ext cx="1302990" cy="152400"/>
          </a:xfrm>
          <a:prstGeom prst="rect">
            <a:avLst/>
          </a:prstGeom>
          <a:noFill/>
          <a:ln/>
        </p:spPr>
        <p:txBody>
          <a:bodyPr wrap="none" lIns="0" tIns="0" rIns="0" bIns="0" rtlCol="0" anchor="ctr"/>
          <a:lstStyle/>
          <a:p>
            <a:pPr algn="l" indent="0" marL="0">
              <a:buNone/>
            </a:pPr>
            <a:r>
              <a:rPr lang="en-US" sz="1050" dirty="0">
                <a:solidFill>
                  <a:srgbClr val="FFFFFF"/>
                </a:solidFill>
                <a:latin typeface="Scotia Serif" pitchFamily="34" charset="0"/>
                <a:ea typeface="Scotia Serif" pitchFamily="34" charset="-122"/>
                <a:cs typeface="Scotia Serif" pitchFamily="34" charset="-120"/>
              </a:rPr>
              <a:t>Judges when to stop</a:t>
            </a:r>
            <a:endParaRPr lang="en-US" sz="1050" dirty="0"/>
          </a:p>
        </p:txBody>
      </p:sp>
      <p:sp>
        <p:nvSpPr>
          <p:cNvPr id="14" name="Text HOW IT RUNS"/>
          <p:cNvSpPr txBox="1"/>
          <p:nvPr/>
        </p:nvSpPr>
        <p:spPr>
          <a:xfrm>
            <a:off x="400050" y="3076575"/>
            <a:ext cx="967234" cy="123825"/>
          </a:xfrm>
          <a:prstGeom prst="rect">
            <a:avLst/>
          </a:prstGeom>
          <a:noFill/>
          <a:ln/>
        </p:spPr>
        <p:txBody>
          <a:bodyPr wrap="none" lIns="0" tIns="0" rIns="0" bIns="0" rtlCol="0" anchor="ctr"/>
          <a:lstStyle/>
          <a:p>
            <a:pPr algn="l" indent="0" marL="0">
              <a:buNone/>
            </a:pPr>
            <a:r>
              <a:rPr lang="en-US" sz="863" b="1" spc="150" kern="0" dirty="0">
                <a:solidFill>
                  <a:srgbClr val="B0AAFF"/>
                </a:solidFill>
                <a:latin typeface="Scotia" pitchFamily="34" charset="0"/>
                <a:ea typeface="Scotia" pitchFamily="34" charset="-122"/>
                <a:cs typeface="Scotia" pitchFamily="34" charset="-120"/>
              </a:rPr>
              <a:t>HOW IT RUNS</a:t>
            </a:r>
            <a:endParaRPr lang="en-US" sz="863" dirty="0"/>
          </a:p>
        </p:txBody>
      </p:sp>
      <p:sp>
        <p:nvSpPr>
          <p:cNvPr id="15" name="dg circle"/>
          <p:cNvSpPr/>
          <p:nvPr/>
        </p:nvSpPr>
        <p:spPr>
          <a:xfrm>
            <a:off x="409575" y="3276600"/>
            <a:ext cx="228600" cy="228600"/>
          </a:xfrm>
          <a:prstGeom prst="ellipse">
            <a:avLst/>
          </a:prstGeom>
          <a:solidFill>
            <a:srgbClr val="6551FF"/>
          </a:solidFill>
          <a:ln>
            <a:noFill/>
          </a:ln>
        </p:spPr>
      </p:sp>
      <p:sp>
        <p:nvSpPr>
          <p:cNvPr id="16" name="Text 1"/>
          <p:cNvSpPr txBox="1"/>
          <p:nvPr/>
        </p:nvSpPr>
        <p:spPr>
          <a:xfrm>
            <a:off x="467246" y="3330699"/>
            <a:ext cx="11325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1</a:t>
            </a:r>
            <a:endParaRPr lang="en-US" sz="975" dirty="0"/>
          </a:p>
        </p:txBody>
      </p:sp>
      <p:sp>
        <p:nvSpPr>
          <p:cNvPr id="17" name="Text Seeds the thread with the inpu"/>
          <p:cNvSpPr txBox="1"/>
          <p:nvPr/>
        </p:nvSpPr>
        <p:spPr>
          <a:xfrm>
            <a:off x="742950" y="3324225"/>
            <a:ext cx="2046387"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Seeds the thread with the input</a:t>
            </a:r>
            <a:endParaRPr lang="en-US" sz="1088" dirty="0"/>
          </a:p>
        </p:txBody>
      </p:sp>
      <p:sp>
        <p:nvSpPr>
          <p:cNvPr id="18" name="dg rect"/>
          <p:cNvSpPr/>
          <p:nvPr/>
        </p:nvSpPr>
        <p:spPr>
          <a:xfrm>
            <a:off x="3733800" y="1771650"/>
            <a:ext cx="5143500" cy="2590800"/>
          </a:xfrm>
          <a:prstGeom prst="roundRect">
            <a:avLst>
              <a:gd name="adj" fmla="val 8088"/>
            </a:avLst>
          </a:prstGeom>
          <a:gradFill rotWithShape="1">
            <a:gsLst>
              <a:gs pos="0">
                <a:srgbClr val="1A1550"/>
              </a:gs>
              <a:gs pos="100000">
                <a:srgbClr val="120E36"/>
              </a:gs>
            </a:gsLst>
            <a:lin ang="5400000" scaled="1"/>
          </a:gradFill>
          <a:ln w="15240" cap="flat">
            <a:solidFill>
              <a:srgbClr val="B0AAFF"/>
            </a:solidFill>
            <a:miter lim="800000"/>
          </a:ln>
        </p:spPr>
      </p:sp>
      <p:sp>
        <p:nvSpPr>
          <p:cNvPr id="19" name="dg i-messages-square"/>
          <p:cNvSpPr/>
          <p:nvPr/>
        </p:nvSpPr>
        <p:spPr>
          <a:xfrm>
            <a:off x="3981450" y="1924050"/>
            <a:ext cx="190500" cy="190500"/>
          </a:xfrm>
          <a:custGeom>
            <a:avLst/>
            <a:gdLst/>
            <a:ahLst/>
            <a:cxnLst/>
            <a:rect l="l" t="t" r="r" b="b"/>
            <a:pathLst>
              <a:path w="190500" h="190500">
                <a:moveTo>
                  <a:pt x="114300" y="66675"/>
                </a:moveTo>
                <a:cubicBezTo>
                  <a:pt x="114300" y="77196"/>
                  <a:pt x="105771" y="85725"/>
                  <a:pt x="95250" y="85725"/>
                </a:cubicBezTo>
                <a:lnTo>
                  <a:pt x="38100" y="85725"/>
                </a:lnTo>
                <a:lnTo>
                  <a:pt x="0" y="123825"/>
                </a:lnTo>
                <a:lnTo>
                  <a:pt x="0" y="19050"/>
                </a:lnTo>
                <a:cubicBezTo>
                  <a:pt x="0" y="8529"/>
                  <a:pt x="8529" y="0"/>
                  <a:pt x="19050" y="0"/>
                </a:cubicBezTo>
                <a:lnTo>
                  <a:pt x="95250" y="0"/>
                </a:lnTo>
                <a:cubicBezTo>
                  <a:pt x="105771" y="0"/>
                  <a:pt x="114300" y="8529"/>
                  <a:pt x="114300" y="19050"/>
                </a:cubicBezTo>
                <a:close/>
                <a:moveTo>
                  <a:pt x="152400" y="66675"/>
                </a:moveTo>
                <a:lnTo>
                  <a:pt x="171450" y="66675"/>
                </a:lnTo>
                <a:cubicBezTo>
                  <a:pt x="181971" y="66675"/>
                  <a:pt x="190500" y="75204"/>
                  <a:pt x="190500" y="85725"/>
                </a:cubicBezTo>
                <a:lnTo>
                  <a:pt x="190500" y="190500"/>
                </a:lnTo>
                <a:lnTo>
                  <a:pt x="152400" y="152400"/>
                </a:lnTo>
                <a:lnTo>
                  <a:pt x="95250" y="152400"/>
                </a:lnTo>
                <a:cubicBezTo>
                  <a:pt x="84729" y="152400"/>
                  <a:pt x="76200" y="143871"/>
                  <a:pt x="76200" y="133350"/>
                </a:cubicBezTo>
                <a:lnTo>
                  <a:pt x="76200" y="123825"/>
                </a:lnTo>
              </a:path>
            </a:pathLst>
          </a:custGeom>
          <a:noFill/>
          <a:ln w="17145" cap="rnd">
            <a:solidFill>
              <a:srgbClr val="B0AAFF"/>
            </a:solidFill>
            <a:round/>
          </a:ln>
        </p:spPr>
      </p:sp>
      <p:sp>
        <p:nvSpPr>
          <p:cNvPr id="20" name="Text Shared chat thread"/>
          <p:cNvSpPr txBox="1"/>
          <p:nvPr/>
        </p:nvSpPr>
        <p:spPr>
          <a:xfrm>
            <a:off x="4286250" y="1952625"/>
            <a:ext cx="1478161"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Shared chat thread</a:t>
            </a:r>
            <a:endParaRPr lang="en-US" sz="1275" dirty="0"/>
          </a:p>
        </p:txBody>
      </p:sp>
      <p:sp>
        <p:nvSpPr>
          <p:cNvPr id="21" name="dg circle"/>
          <p:cNvSpPr/>
          <p:nvPr/>
        </p:nvSpPr>
        <p:spPr>
          <a:xfrm>
            <a:off x="409575" y="3657600"/>
            <a:ext cx="228600" cy="228600"/>
          </a:xfrm>
          <a:prstGeom prst="ellipse">
            <a:avLst/>
          </a:prstGeom>
          <a:solidFill>
            <a:srgbClr val="6551FF"/>
          </a:solidFill>
          <a:ln>
            <a:noFill/>
          </a:ln>
        </p:spPr>
      </p:sp>
      <p:sp>
        <p:nvSpPr>
          <p:cNvPr id="22" name="Text 2"/>
          <p:cNvSpPr txBox="1"/>
          <p:nvPr/>
        </p:nvSpPr>
        <p:spPr>
          <a:xfrm>
            <a:off x="461218" y="3711699"/>
            <a:ext cx="125313"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2</a:t>
            </a:r>
            <a:endParaRPr lang="en-US" sz="975" dirty="0"/>
          </a:p>
        </p:txBody>
      </p:sp>
      <p:sp>
        <p:nvSpPr>
          <p:cNvPr id="23" name="Text Invokes the next agent"/>
          <p:cNvSpPr txBox="1"/>
          <p:nvPr/>
        </p:nvSpPr>
        <p:spPr>
          <a:xfrm>
            <a:off x="742950" y="3705225"/>
            <a:ext cx="1481733"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Invokes the next agent</a:t>
            </a:r>
            <a:endParaRPr lang="en-US" sz="1088" dirty="0"/>
          </a:p>
        </p:txBody>
      </p:sp>
      <p:sp>
        <p:nvSpPr>
          <p:cNvPr id="24" name="dg path"/>
          <p:cNvSpPr/>
          <p:nvPr/>
        </p:nvSpPr>
        <p:spPr>
          <a:xfrm>
            <a:off x="2819400" y="2247900"/>
            <a:ext cx="864870" cy="0"/>
          </a:xfrm>
          <a:prstGeom prst="line">
            <a:avLst/>
          </a:prstGeom>
          <a:noFill/>
          <a:ln w="28575" cap="rnd">
            <a:solidFill>
              <a:srgbClr val="B0AAFF"/>
            </a:solidFill>
            <a:miter lim="800000"/>
            <a:tailEnd type="triangle" w="med" len="med"/>
          </a:ln>
        </p:spPr>
      </p:sp>
      <p:sp>
        <p:nvSpPr>
          <p:cNvPr id="25" name="dg rect"/>
          <p:cNvSpPr/>
          <p:nvPr/>
        </p:nvSpPr>
        <p:spPr>
          <a:xfrm>
            <a:off x="2874264" y="1933575"/>
            <a:ext cx="766572" cy="209550"/>
          </a:xfrm>
          <a:prstGeom prst="roundRect">
            <a:avLst>
              <a:gd name="adj" fmla="val 50000"/>
            </a:avLst>
          </a:prstGeom>
          <a:solidFill>
            <a:srgbClr val="6551FF"/>
          </a:solidFill>
          <a:ln>
            <a:noFill/>
          </a:ln>
        </p:spPr>
      </p:sp>
      <p:sp>
        <p:nvSpPr>
          <p:cNvPr id="26" name="Text next turn"/>
          <p:cNvSpPr txBox="1"/>
          <p:nvPr/>
        </p:nvSpPr>
        <p:spPr>
          <a:xfrm>
            <a:off x="2973958" y="1984251"/>
            <a:ext cx="567184" cy="142875"/>
          </a:xfrm>
          <a:prstGeom prst="rect">
            <a:avLst/>
          </a:prstGeom>
          <a:noFill/>
          <a:ln/>
        </p:spPr>
        <p:txBody>
          <a:bodyPr wrap="none" lIns="0" tIns="0" rIns="0" bIns="0" rtlCol="0" anchor="ctr"/>
          <a:lstStyle/>
          <a:p>
            <a:pPr algn="ctr" indent="0" marL="0">
              <a:buNone/>
            </a:pPr>
            <a:r>
              <a:rPr lang="en-US" sz="900" b="1" spc="22" kern="0" dirty="0">
                <a:solidFill>
                  <a:srgbClr val="FFFFFF"/>
                </a:solidFill>
                <a:latin typeface="Scotia" pitchFamily="34" charset="0"/>
                <a:ea typeface="Scotia" pitchFamily="34" charset="-122"/>
                <a:cs typeface="Scotia" pitchFamily="34" charset="-120"/>
              </a:rPr>
              <a:t>next turn</a:t>
            </a:r>
            <a:endParaRPr lang="en-US" sz="900" dirty="0"/>
          </a:p>
        </p:txBody>
      </p:sp>
      <p:sp>
        <p:nvSpPr>
          <p:cNvPr id="27" name="dg rect"/>
          <p:cNvSpPr/>
          <p:nvPr/>
        </p:nvSpPr>
        <p:spPr>
          <a:xfrm>
            <a:off x="9258300" y="1809750"/>
            <a:ext cx="2533650" cy="552450"/>
          </a:xfrm>
          <a:prstGeom prst="roundRect">
            <a:avLst>
              <a:gd name="adj" fmla="val 24138"/>
            </a:avLst>
          </a:prstGeom>
          <a:gradFill rotWithShape="1">
            <a:gsLst>
              <a:gs pos="0">
                <a:srgbClr val="1A1550"/>
              </a:gs>
              <a:gs pos="100000">
                <a:srgbClr val="120E36"/>
              </a:gs>
            </a:gsLst>
            <a:lin ang="5400000" scaled="1"/>
          </a:gradFill>
          <a:ln w="15240" cap="flat">
            <a:solidFill>
              <a:srgbClr val="FDB913"/>
            </a:solidFill>
            <a:custDash>
              <a:ds d="437500" sp="375000"/>
            </a:custDash>
            <a:miter lim="800000"/>
          </a:ln>
        </p:spPr>
      </p:sp>
      <p:sp>
        <p:nvSpPr>
          <p:cNvPr id="28" name="dg circle"/>
          <p:cNvSpPr/>
          <p:nvPr/>
        </p:nvSpPr>
        <p:spPr>
          <a:xfrm>
            <a:off x="9401175" y="1924050"/>
            <a:ext cx="323850" cy="323850"/>
          </a:xfrm>
          <a:prstGeom prst="ellipse">
            <a:avLst/>
          </a:prstGeom>
          <a:solidFill>
            <a:srgbClr val="FDB913"/>
          </a:solidFill>
          <a:ln>
            <a:noFill/>
          </a:ln>
        </p:spPr>
      </p:sp>
      <p:sp>
        <p:nvSpPr>
          <p:cNvPr id="29" name="dg i-user"/>
          <p:cNvSpPr/>
          <p:nvPr/>
        </p:nvSpPr>
        <p:spPr>
          <a:xfrm>
            <a:off x="9515872" y="2025253"/>
            <a:ext cx="94456" cy="121444"/>
          </a:xfrm>
          <a:custGeom>
            <a:avLst/>
            <a:gdLst/>
            <a:ahLst/>
            <a:cxnLst/>
            <a:rect l="l" t="t" r="r" b="b"/>
            <a:pathLst>
              <a:path w="94456" h="121444">
                <a:moveTo>
                  <a:pt x="94456" y="121444"/>
                </a:moveTo>
                <a:lnTo>
                  <a:pt x="94456" y="107950"/>
                </a:lnTo>
                <a:cubicBezTo>
                  <a:pt x="94456" y="93045"/>
                  <a:pt x="82374" y="80962"/>
                  <a:pt x="67469" y="80962"/>
                </a:cubicBezTo>
                <a:lnTo>
                  <a:pt x="26987" y="80962"/>
                </a:lnTo>
                <a:cubicBezTo>
                  <a:pt x="12083" y="80962"/>
                  <a:pt x="0" y="93045"/>
                  <a:pt x="0" y="107950"/>
                </a:cubicBezTo>
                <a:lnTo>
                  <a:pt x="0" y="121444"/>
                </a:lnTo>
                <a:moveTo>
                  <a:pt x="74216" y="26987"/>
                </a:moveTo>
                <a:cubicBezTo>
                  <a:pt x="74216" y="41892"/>
                  <a:pt x="62133" y="53975"/>
                  <a:pt x="47228" y="53975"/>
                </a:cubicBezTo>
                <a:cubicBezTo>
                  <a:pt x="32323" y="53975"/>
                  <a:pt x="20241" y="41892"/>
                  <a:pt x="20241" y="26987"/>
                </a:cubicBezTo>
                <a:cubicBezTo>
                  <a:pt x="20241" y="12083"/>
                  <a:pt x="32323" y="0"/>
                  <a:pt x="47228" y="0"/>
                </a:cubicBezTo>
                <a:cubicBezTo>
                  <a:pt x="62133" y="0"/>
                  <a:pt x="74216" y="12083"/>
                  <a:pt x="74216" y="26987"/>
                </a:cubicBezTo>
                <a:close/>
              </a:path>
            </a:pathLst>
          </a:custGeom>
          <a:noFill/>
          <a:ln w="12144" cap="rnd">
            <a:solidFill>
              <a:srgbClr val="0B0823"/>
            </a:solidFill>
            <a:round/>
          </a:ln>
        </p:spPr>
      </p:sp>
      <p:sp>
        <p:nvSpPr>
          <p:cNvPr id="30" name="Text Human participant"/>
          <p:cNvSpPr txBox="1"/>
          <p:nvPr/>
        </p:nvSpPr>
        <p:spPr>
          <a:xfrm>
            <a:off x="9848850" y="1924050"/>
            <a:ext cx="1383060" cy="180975"/>
          </a:xfrm>
          <a:prstGeom prst="rect">
            <a:avLst/>
          </a:prstGeom>
          <a:noFill/>
          <a:ln/>
        </p:spPr>
        <p:txBody>
          <a:bodyPr wrap="none" lIns="0" tIns="0" rIns="0" bIns="0" rtlCol="0" anchor="ctr"/>
          <a:lstStyle/>
          <a:p>
            <a:pPr algn="l" indent="0" marL="0">
              <a:buNone/>
            </a:pPr>
            <a:r>
              <a:rPr lang="en-US" sz="1200" b="1" dirty="0">
                <a:solidFill>
                  <a:srgbClr val="FFFFFF"/>
                </a:solidFill>
                <a:latin typeface="Scotia" pitchFamily="34" charset="0"/>
                <a:ea typeface="Scotia" pitchFamily="34" charset="-122"/>
                <a:cs typeface="Scotia" pitchFamily="34" charset="-120"/>
              </a:rPr>
              <a:t>Human participant</a:t>
            </a:r>
            <a:endParaRPr lang="en-US" sz="1200" dirty="0"/>
          </a:p>
        </p:txBody>
      </p:sp>
      <p:sp>
        <p:nvSpPr>
          <p:cNvPr id="31" name="Text Optional observes adds inpu"/>
          <p:cNvSpPr txBox="1"/>
          <p:nvPr/>
        </p:nvSpPr>
        <p:spPr>
          <a:xfrm>
            <a:off x="9848850" y="2133600"/>
            <a:ext cx="1667917" cy="142875"/>
          </a:xfrm>
          <a:prstGeom prst="rect">
            <a:avLst/>
          </a:prstGeom>
          <a:noFill/>
          <a:ln/>
        </p:spPr>
        <p:txBody>
          <a:bodyPr wrap="none" lIns="0" tIns="0" rIns="0" bIns="0" rtlCol="0" anchor="ctr"/>
          <a:lstStyle/>
          <a:p>
            <a:pPr algn="l" indent="0" marL="0">
              <a:buNone/>
            </a:pPr>
            <a:r>
              <a:rPr lang="en-US" sz="900" dirty="0">
                <a:solidFill>
                  <a:srgbClr val="BDC2EF"/>
                </a:solidFill>
                <a:latin typeface="Scotia Serif" pitchFamily="34" charset="0"/>
                <a:ea typeface="Scotia Serif" pitchFamily="34" charset="-122"/>
                <a:cs typeface="Scotia Serif" pitchFamily="34" charset="-120"/>
              </a:rPr>
              <a:t>Optional · observes, adds input</a:t>
            </a:r>
            <a:endParaRPr lang="en-US" sz="900" dirty="0"/>
          </a:p>
        </p:txBody>
      </p:sp>
      <p:sp>
        <p:nvSpPr>
          <p:cNvPr id="32" name="dg path"/>
          <p:cNvSpPr/>
          <p:nvPr/>
        </p:nvSpPr>
        <p:spPr>
          <a:xfrm flipH="1">
            <a:off x="8936355" y="2085975"/>
            <a:ext cx="281940" cy="0"/>
          </a:xfrm>
          <a:prstGeom prst="line">
            <a:avLst/>
          </a:prstGeom>
          <a:noFill/>
          <a:ln w="20955" cap="rnd">
            <a:solidFill>
              <a:srgbClr val="FDB913">
                <a:alpha val="90000"/>
              </a:srgbClr>
            </a:solidFill>
            <a:miter lim="800000"/>
            <a:headEnd type="triangle" w="lg" len="lg"/>
            <a:tailEnd type="triangle" w="lg" len="lg"/>
          </a:ln>
        </p:spPr>
      </p:sp>
      <p:sp>
        <p:nvSpPr>
          <p:cNvPr id="33" name="dg rect"/>
          <p:cNvSpPr/>
          <p:nvPr/>
        </p:nvSpPr>
        <p:spPr>
          <a:xfrm>
            <a:off x="9258300" y="2438400"/>
            <a:ext cx="2533650" cy="552450"/>
          </a:xfrm>
          <a:prstGeom prst="roundRect">
            <a:avLst>
              <a:gd name="adj" fmla="val 24138"/>
            </a:avLst>
          </a:prstGeom>
          <a:gradFill rotWithShape="1">
            <a:gsLst>
              <a:gs pos="0">
                <a:srgbClr val="1A1550"/>
              </a:gs>
              <a:gs pos="100000">
                <a:srgbClr val="120E36"/>
              </a:gs>
            </a:gsLst>
            <a:lin ang="5400000" scaled="1"/>
          </a:gradFill>
          <a:ln w="13335" cap="flat">
            <a:solidFill>
              <a:srgbClr val="3B3392"/>
            </a:solidFill>
            <a:miter lim="800000"/>
          </a:ln>
        </p:spPr>
      </p:sp>
      <p:sp>
        <p:nvSpPr>
          <p:cNvPr id="34" name="dg circle"/>
          <p:cNvSpPr/>
          <p:nvPr/>
        </p:nvSpPr>
        <p:spPr>
          <a:xfrm>
            <a:off x="9401175" y="2552700"/>
            <a:ext cx="323850" cy="323850"/>
          </a:xfrm>
          <a:prstGeom prst="ellipse">
            <a:avLst/>
          </a:prstGeom>
          <a:solidFill>
            <a:srgbClr val="6551FF"/>
          </a:solidFill>
          <a:ln>
            <a:noFill/>
          </a:ln>
        </p:spPr>
      </p:sp>
      <p:sp>
        <p:nvSpPr>
          <p:cNvPr id="35" name="dg i-bot"/>
          <p:cNvSpPr/>
          <p:nvPr/>
        </p:nvSpPr>
        <p:spPr>
          <a:xfrm>
            <a:off x="9495631" y="2660650"/>
            <a:ext cx="134937" cy="107950"/>
          </a:xfrm>
          <a:custGeom>
            <a:avLst/>
            <a:gdLst/>
            <a:ahLst/>
            <a:cxnLst/>
            <a:rect l="l" t="t" r="r" b="b"/>
            <a:pathLst>
              <a:path w="134937" h="107950">
                <a:moveTo>
                  <a:pt x="67469" y="26987"/>
                </a:moveTo>
                <a:lnTo>
                  <a:pt x="67469" y="0"/>
                </a:lnTo>
                <a:lnTo>
                  <a:pt x="40481" y="0"/>
                </a:lnTo>
                <a:moveTo>
                  <a:pt x="26987" y="26987"/>
                </a:moveTo>
                <a:lnTo>
                  <a:pt x="107950" y="26987"/>
                </a:lnTo>
                <a:cubicBezTo>
                  <a:pt x="115402" y="26987"/>
                  <a:pt x="121444" y="33029"/>
                  <a:pt x="121444" y="40481"/>
                </a:cubicBezTo>
                <a:lnTo>
                  <a:pt x="121444" y="94456"/>
                </a:lnTo>
                <a:cubicBezTo>
                  <a:pt x="121444" y="101909"/>
                  <a:pt x="115402" y="107950"/>
                  <a:pt x="107950" y="107950"/>
                </a:cubicBezTo>
                <a:lnTo>
                  <a:pt x="26987" y="107950"/>
                </a:lnTo>
                <a:cubicBezTo>
                  <a:pt x="19535" y="107950"/>
                  <a:pt x="13494" y="101909"/>
                  <a:pt x="13494" y="94456"/>
                </a:cubicBezTo>
                <a:lnTo>
                  <a:pt x="13494" y="40481"/>
                </a:lnTo>
                <a:cubicBezTo>
                  <a:pt x="13494" y="33029"/>
                  <a:pt x="19535" y="26987"/>
                  <a:pt x="26987" y="26987"/>
                </a:cubicBezTo>
                <a:close/>
                <a:moveTo>
                  <a:pt x="0" y="67469"/>
                </a:moveTo>
                <a:lnTo>
                  <a:pt x="13494" y="67469"/>
                </a:lnTo>
                <a:moveTo>
                  <a:pt x="121444" y="67469"/>
                </a:moveTo>
                <a:lnTo>
                  <a:pt x="134937" y="67469"/>
                </a:lnTo>
                <a:moveTo>
                  <a:pt x="87709" y="60722"/>
                </a:moveTo>
                <a:lnTo>
                  <a:pt x="87709" y="74216"/>
                </a:lnTo>
                <a:moveTo>
                  <a:pt x="47228" y="60722"/>
                </a:moveTo>
                <a:lnTo>
                  <a:pt x="47228" y="74216"/>
                </a:lnTo>
              </a:path>
            </a:pathLst>
          </a:custGeom>
          <a:noFill/>
          <a:ln w="12144" cap="rnd">
            <a:solidFill>
              <a:srgbClr val="FFFFFF"/>
            </a:solidFill>
            <a:round/>
          </a:ln>
        </p:spPr>
      </p:sp>
      <p:sp>
        <p:nvSpPr>
          <p:cNvPr id="36" name="Text Agent 1"/>
          <p:cNvSpPr txBox="1"/>
          <p:nvPr/>
        </p:nvSpPr>
        <p:spPr>
          <a:xfrm>
            <a:off x="9848850" y="2552700"/>
            <a:ext cx="577453" cy="180975"/>
          </a:xfrm>
          <a:prstGeom prst="rect">
            <a:avLst/>
          </a:prstGeom>
          <a:noFill/>
          <a:ln/>
        </p:spPr>
        <p:txBody>
          <a:bodyPr wrap="none" lIns="0" tIns="0" rIns="0" bIns="0" rtlCol="0" anchor="ctr"/>
          <a:lstStyle/>
          <a:p>
            <a:pPr algn="l" indent="0" marL="0">
              <a:buNone/>
            </a:pPr>
            <a:r>
              <a:rPr lang="en-US" sz="1200" b="1" dirty="0">
                <a:solidFill>
                  <a:srgbClr val="FFFFFF"/>
                </a:solidFill>
                <a:latin typeface="Scotia" pitchFamily="34" charset="0"/>
                <a:ea typeface="Scotia" pitchFamily="34" charset="-122"/>
                <a:cs typeface="Scotia" pitchFamily="34" charset="-120"/>
              </a:rPr>
              <a:t>Agent 1</a:t>
            </a:r>
            <a:endParaRPr lang="en-US" sz="1200" dirty="0"/>
          </a:p>
        </p:txBody>
      </p:sp>
      <p:sp>
        <p:nvSpPr>
          <p:cNvPr id="37" name="Text Model Knowledge Tools"/>
          <p:cNvSpPr txBox="1"/>
          <p:nvPr/>
        </p:nvSpPr>
        <p:spPr>
          <a:xfrm>
            <a:off x="9848850" y="2762250"/>
            <a:ext cx="1419374" cy="142875"/>
          </a:xfrm>
          <a:prstGeom prst="rect">
            <a:avLst/>
          </a:prstGeom>
          <a:noFill/>
          <a:ln/>
        </p:spPr>
        <p:txBody>
          <a:bodyPr wrap="none" lIns="0" tIns="0" rIns="0" bIns="0" rtlCol="0" anchor="ctr"/>
          <a:lstStyle/>
          <a:p>
            <a:pPr algn="l" indent="0" marL="0">
              <a:buNone/>
            </a:pPr>
            <a:r>
              <a:rPr lang="en-US" sz="900" dirty="0">
                <a:solidFill>
                  <a:srgbClr val="BDC2EF"/>
                </a:solidFill>
                <a:latin typeface="Scotia Serif" pitchFamily="34" charset="0"/>
                <a:ea typeface="Scotia Serif" pitchFamily="34" charset="-122"/>
                <a:cs typeface="Scotia Serif" pitchFamily="34" charset="-120"/>
              </a:rPr>
              <a:t>Model · Knowledge · Tools</a:t>
            </a:r>
            <a:endParaRPr lang="en-US" sz="900" dirty="0"/>
          </a:p>
        </p:txBody>
      </p:sp>
      <p:sp>
        <p:nvSpPr>
          <p:cNvPr id="38" name="dg path"/>
          <p:cNvSpPr/>
          <p:nvPr/>
        </p:nvSpPr>
        <p:spPr>
          <a:xfrm flipH="1">
            <a:off x="8936355" y="2714625"/>
            <a:ext cx="281940" cy="0"/>
          </a:xfrm>
          <a:prstGeom prst="line">
            <a:avLst/>
          </a:prstGeom>
          <a:noFill/>
          <a:ln w="20955" cap="rnd">
            <a:solidFill>
              <a:srgbClr val="6551FF">
                <a:alpha val="90000"/>
              </a:srgbClr>
            </a:solidFill>
            <a:miter lim="800000"/>
            <a:headEnd type="triangle" w="lg" len="lg"/>
            <a:tailEnd type="triangle" w="lg" len="lg"/>
          </a:ln>
        </p:spPr>
      </p:sp>
      <p:sp>
        <p:nvSpPr>
          <p:cNvPr id="39" name="dg rect"/>
          <p:cNvSpPr/>
          <p:nvPr/>
        </p:nvSpPr>
        <p:spPr>
          <a:xfrm>
            <a:off x="9258300" y="3067050"/>
            <a:ext cx="2533650" cy="552450"/>
          </a:xfrm>
          <a:prstGeom prst="roundRect">
            <a:avLst>
              <a:gd name="adj" fmla="val 24138"/>
            </a:avLst>
          </a:prstGeom>
          <a:gradFill rotWithShape="1">
            <a:gsLst>
              <a:gs pos="0">
                <a:srgbClr val="1A1550"/>
              </a:gs>
              <a:gs pos="100000">
                <a:srgbClr val="120E36"/>
              </a:gs>
            </a:gsLst>
            <a:lin ang="5400000" scaled="1"/>
          </a:gradFill>
          <a:ln w="13335" cap="flat">
            <a:solidFill>
              <a:srgbClr val="3B3392"/>
            </a:solidFill>
            <a:miter lim="800000"/>
          </a:ln>
        </p:spPr>
      </p:sp>
      <p:sp>
        <p:nvSpPr>
          <p:cNvPr id="40" name="dg circle"/>
          <p:cNvSpPr/>
          <p:nvPr/>
        </p:nvSpPr>
        <p:spPr>
          <a:xfrm>
            <a:off x="9401175" y="3181350"/>
            <a:ext cx="323850" cy="323850"/>
          </a:xfrm>
          <a:prstGeom prst="ellipse">
            <a:avLst/>
          </a:prstGeom>
          <a:solidFill>
            <a:srgbClr val="B0AAFF"/>
          </a:solidFill>
          <a:ln>
            <a:noFill/>
          </a:ln>
        </p:spPr>
      </p:sp>
      <p:sp>
        <p:nvSpPr>
          <p:cNvPr id="41" name="dg i-bot"/>
          <p:cNvSpPr/>
          <p:nvPr/>
        </p:nvSpPr>
        <p:spPr>
          <a:xfrm>
            <a:off x="9495631" y="3289300"/>
            <a:ext cx="134937" cy="107950"/>
          </a:xfrm>
          <a:custGeom>
            <a:avLst/>
            <a:gdLst/>
            <a:ahLst/>
            <a:cxnLst/>
            <a:rect l="l" t="t" r="r" b="b"/>
            <a:pathLst>
              <a:path w="134937" h="107950">
                <a:moveTo>
                  <a:pt x="67469" y="26987"/>
                </a:moveTo>
                <a:lnTo>
                  <a:pt x="67469" y="0"/>
                </a:lnTo>
                <a:lnTo>
                  <a:pt x="40481" y="0"/>
                </a:lnTo>
                <a:moveTo>
                  <a:pt x="26987" y="26987"/>
                </a:moveTo>
                <a:lnTo>
                  <a:pt x="107950" y="26987"/>
                </a:lnTo>
                <a:cubicBezTo>
                  <a:pt x="115402" y="26987"/>
                  <a:pt x="121444" y="33029"/>
                  <a:pt x="121444" y="40481"/>
                </a:cubicBezTo>
                <a:lnTo>
                  <a:pt x="121444" y="94456"/>
                </a:lnTo>
                <a:cubicBezTo>
                  <a:pt x="121444" y="101909"/>
                  <a:pt x="115402" y="107950"/>
                  <a:pt x="107950" y="107950"/>
                </a:cubicBezTo>
                <a:lnTo>
                  <a:pt x="26987" y="107950"/>
                </a:lnTo>
                <a:cubicBezTo>
                  <a:pt x="19535" y="107950"/>
                  <a:pt x="13494" y="101909"/>
                  <a:pt x="13494" y="94456"/>
                </a:cubicBezTo>
                <a:lnTo>
                  <a:pt x="13494" y="40481"/>
                </a:lnTo>
                <a:cubicBezTo>
                  <a:pt x="13494" y="33029"/>
                  <a:pt x="19535" y="26987"/>
                  <a:pt x="26987" y="26987"/>
                </a:cubicBezTo>
                <a:close/>
                <a:moveTo>
                  <a:pt x="0" y="67469"/>
                </a:moveTo>
                <a:lnTo>
                  <a:pt x="13494" y="67469"/>
                </a:lnTo>
                <a:moveTo>
                  <a:pt x="121444" y="67469"/>
                </a:moveTo>
                <a:lnTo>
                  <a:pt x="134937" y="67469"/>
                </a:lnTo>
                <a:moveTo>
                  <a:pt x="87709" y="60722"/>
                </a:moveTo>
                <a:lnTo>
                  <a:pt x="87709" y="74216"/>
                </a:lnTo>
                <a:moveTo>
                  <a:pt x="47228" y="60722"/>
                </a:moveTo>
                <a:lnTo>
                  <a:pt x="47228" y="74216"/>
                </a:lnTo>
              </a:path>
            </a:pathLst>
          </a:custGeom>
          <a:noFill/>
          <a:ln w="12144" cap="rnd">
            <a:solidFill>
              <a:srgbClr val="0B0823"/>
            </a:solidFill>
            <a:round/>
          </a:ln>
        </p:spPr>
      </p:sp>
      <p:sp>
        <p:nvSpPr>
          <p:cNvPr id="42" name="Text Agent 2"/>
          <p:cNvSpPr txBox="1"/>
          <p:nvPr/>
        </p:nvSpPr>
        <p:spPr>
          <a:xfrm>
            <a:off x="9848850" y="3181350"/>
            <a:ext cx="592336" cy="180975"/>
          </a:xfrm>
          <a:prstGeom prst="rect">
            <a:avLst/>
          </a:prstGeom>
          <a:noFill/>
          <a:ln/>
        </p:spPr>
        <p:txBody>
          <a:bodyPr wrap="none" lIns="0" tIns="0" rIns="0" bIns="0" rtlCol="0" anchor="ctr"/>
          <a:lstStyle/>
          <a:p>
            <a:pPr algn="l" indent="0" marL="0">
              <a:buNone/>
            </a:pPr>
            <a:r>
              <a:rPr lang="en-US" sz="1200" b="1" dirty="0">
                <a:solidFill>
                  <a:srgbClr val="FFFFFF"/>
                </a:solidFill>
                <a:latin typeface="Scotia" pitchFamily="34" charset="0"/>
                <a:ea typeface="Scotia" pitchFamily="34" charset="-122"/>
                <a:cs typeface="Scotia" pitchFamily="34" charset="-120"/>
              </a:rPr>
              <a:t>Agent 2</a:t>
            </a:r>
            <a:endParaRPr lang="en-US" sz="1200" dirty="0"/>
          </a:p>
        </p:txBody>
      </p:sp>
      <p:sp>
        <p:nvSpPr>
          <p:cNvPr id="43" name="Text Model Knowledge Tools"/>
          <p:cNvSpPr txBox="1"/>
          <p:nvPr/>
        </p:nvSpPr>
        <p:spPr>
          <a:xfrm>
            <a:off x="9848850" y="3390900"/>
            <a:ext cx="1419374" cy="142875"/>
          </a:xfrm>
          <a:prstGeom prst="rect">
            <a:avLst/>
          </a:prstGeom>
          <a:noFill/>
          <a:ln/>
        </p:spPr>
        <p:txBody>
          <a:bodyPr wrap="none" lIns="0" tIns="0" rIns="0" bIns="0" rtlCol="0" anchor="ctr"/>
          <a:lstStyle/>
          <a:p>
            <a:pPr algn="l" indent="0" marL="0">
              <a:buNone/>
            </a:pPr>
            <a:r>
              <a:rPr lang="en-US" sz="900" dirty="0">
                <a:solidFill>
                  <a:srgbClr val="BDC2EF"/>
                </a:solidFill>
                <a:latin typeface="Scotia Serif" pitchFamily="34" charset="0"/>
                <a:ea typeface="Scotia Serif" pitchFamily="34" charset="-122"/>
                <a:cs typeface="Scotia Serif" pitchFamily="34" charset="-120"/>
              </a:rPr>
              <a:t>Model · Knowledge · Tools</a:t>
            </a:r>
            <a:endParaRPr lang="en-US" sz="900" dirty="0"/>
          </a:p>
        </p:txBody>
      </p:sp>
      <p:sp>
        <p:nvSpPr>
          <p:cNvPr id="44" name="dg path"/>
          <p:cNvSpPr/>
          <p:nvPr/>
        </p:nvSpPr>
        <p:spPr>
          <a:xfrm flipH="1">
            <a:off x="8936355" y="3343275"/>
            <a:ext cx="281940" cy="0"/>
          </a:xfrm>
          <a:prstGeom prst="line">
            <a:avLst/>
          </a:prstGeom>
          <a:noFill/>
          <a:ln w="20955" cap="rnd">
            <a:solidFill>
              <a:srgbClr val="B0AAFF">
                <a:alpha val="90000"/>
              </a:srgbClr>
            </a:solidFill>
            <a:miter lim="800000"/>
            <a:headEnd type="triangle" w="lg" len="lg"/>
            <a:tailEnd type="triangle" w="lg" len="lg"/>
          </a:ln>
        </p:spPr>
      </p:sp>
      <p:sp>
        <p:nvSpPr>
          <p:cNvPr id="45" name="dg rect"/>
          <p:cNvSpPr/>
          <p:nvPr/>
        </p:nvSpPr>
        <p:spPr>
          <a:xfrm>
            <a:off x="9258300" y="3695700"/>
            <a:ext cx="2533650" cy="552450"/>
          </a:xfrm>
          <a:prstGeom prst="roundRect">
            <a:avLst>
              <a:gd name="adj" fmla="val 24138"/>
            </a:avLst>
          </a:prstGeom>
          <a:gradFill rotWithShape="1">
            <a:gsLst>
              <a:gs pos="0">
                <a:srgbClr val="1A1550"/>
              </a:gs>
              <a:gs pos="100000">
                <a:srgbClr val="120E36"/>
              </a:gs>
            </a:gsLst>
            <a:lin ang="5400000" scaled="1"/>
          </a:gradFill>
          <a:ln w="13335" cap="flat">
            <a:solidFill>
              <a:srgbClr val="3B3392"/>
            </a:solidFill>
            <a:miter lim="800000"/>
          </a:ln>
        </p:spPr>
      </p:sp>
      <p:sp>
        <p:nvSpPr>
          <p:cNvPr id="46" name="dg circle"/>
          <p:cNvSpPr/>
          <p:nvPr/>
        </p:nvSpPr>
        <p:spPr>
          <a:xfrm>
            <a:off x="9401175" y="3810000"/>
            <a:ext cx="323850" cy="323850"/>
          </a:xfrm>
          <a:prstGeom prst="ellipse">
            <a:avLst/>
          </a:prstGeom>
          <a:solidFill>
            <a:srgbClr val="BDC2EF"/>
          </a:solidFill>
          <a:ln>
            <a:noFill/>
          </a:ln>
        </p:spPr>
      </p:sp>
      <p:sp>
        <p:nvSpPr>
          <p:cNvPr id="47" name="dg i-bot"/>
          <p:cNvSpPr/>
          <p:nvPr/>
        </p:nvSpPr>
        <p:spPr>
          <a:xfrm>
            <a:off x="9495631" y="3917950"/>
            <a:ext cx="134937" cy="107950"/>
          </a:xfrm>
          <a:custGeom>
            <a:avLst/>
            <a:gdLst/>
            <a:ahLst/>
            <a:cxnLst/>
            <a:rect l="l" t="t" r="r" b="b"/>
            <a:pathLst>
              <a:path w="134937" h="107950">
                <a:moveTo>
                  <a:pt x="67469" y="26987"/>
                </a:moveTo>
                <a:lnTo>
                  <a:pt x="67469" y="0"/>
                </a:lnTo>
                <a:lnTo>
                  <a:pt x="40481" y="0"/>
                </a:lnTo>
                <a:moveTo>
                  <a:pt x="26987" y="26987"/>
                </a:moveTo>
                <a:lnTo>
                  <a:pt x="107950" y="26987"/>
                </a:lnTo>
                <a:cubicBezTo>
                  <a:pt x="115402" y="26987"/>
                  <a:pt x="121444" y="33029"/>
                  <a:pt x="121444" y="40481"/>
                </a:cubicBezTo>
                <a:lnTo>
                  <a:pt x="121444" y="94456"/>
                </a:lnTo>
                <a:cubicBezTo>
                  <a:pt x="121444" y="101909"/>
                  <a:pt x="115402" y="107950"/>
                  <a:pt x="107950" y="107950"/>
                </a:cubicBezTo>
                <a:lnTo>
                  <a:pt x="26987" y="107950"/>
                </a:lnTo>
                <a:cubicBezTo>
                  <a:pt x="19535" y="107950"/>
                  <a:pt x="13494" y="101909"/>
                  <a:pt x="13494" y="94456"/>
                </a:cubicBezTo>
                <a:lnTo>
                  <a:pt x="13494" y="40481"/>
                </a:lnTo>
                <a:cubicBezTo>
                  <a:pt x="13494" y="33029"/>
                  <a:pt x="19535" y="26987"/>
                  <a:pt x="26987" y="26987"/>
                </a:cubicBezTo>
                <a:close/>
                <a:moveTo>
                  <a:pt x="0" y="67469"/>
                </a:moveTo>
                <a:lnTo>
                  <a:pt x="13494" y="67469"/>
                </a:lnTo>
                <a:moveTo>
                  <a:pt x="121444" y="67469"/>
                </a:moveTo>
                <a:lnTo>
                  <a:pt x="134937" y="67469"/>
                </a:lnTo>
                <a:moveTo>
                  <a:pt x="87709" y="60722"/>
                </a:moveTo>
                <a:lnTo>
                  <a:pt x="87709" y="74216"/>
                </a:lnTo>
                <a:moveTo>
                  <a:pt x="47228" y="60722"/>
                </a:moveTo>
                <a:lnTo>
                  <a:pt x="47228" y="74216"/>
                </a:lnTo>
              </a:path>
            </a:pathLst>
          </a:custGeom>
          <a:noFill/>
          <a:ln w="12144" cap="rnd">
            <a:solidFill>
              <a:srgbClr val="0B0823"/>
            </a:solidFill>
            <a:round/>
          </a:ln>
        </p:spPr>
      </p:sp>
      <p:sp>
        <p:nvSpPr>
          <p:cNvPr id="48" name="Text Agent n"/>
          <p:cNvSpPr txBox="1"/>
          <p:nvPr/>
        </p:nvSpPr>
        <p:spPr>
          <a:xfrm>
            <a:off x="9848850" y="3810000"/>
            <a:ext cx="600373" cy="180975"/>
          </a:xfrm>
          <a:prstGeom prst="rect">
            <a:avLst/>
          </a:prstGeom>
          <a:noFill/>
          <a:ln/>
        </p:spPr>
        <p:txBody>
          <a:bodyPr wrap="none" lIns="0" tIns="0" rIns="0" bIns="0" rtlCol="0" anchor="ctr"/>
          <a:lstStyle/>
          <a:p>
            <a:pPr algn="l" indent="0" marL="0">
              <a:buNone/>
            </a:pPr>
            <a:r>
              <a:rPr lang="en-US" sz="1200" b="1" dirty="0">
                <a:solidFill>
                  <a:srgbClr val="FFFFFF"/>
                </a:solidFill>
                <a:latin typeface="Scotia" pitchFamily="34" charset="0"/>
                <a:ea typeface="Scotia" pitchFamily="34" charset="-122"/>
                <a:cs typeface="Scotia" pitchFamily="34" charset="-120"/>
              </a:rPr>
              <a:t>Agent n</a:t>
            </a:r>
            <a:endParaRPr lang="en-US" sz="1200" dirty="0"/>
          </a:p>
        </p:txBody>
      </p:sp>
      <p:sp>
        <p:nvSpPr>
          <p:cNvPr id="49" name="Text Model Knowledge Tools"/>
          <p:cNvSpPr txBox="1"/>
          <p:nvPr/>
        </p:nvSpPr>
        <p:spPr>
          <a:xfrm>
            <a:off x="9848850" y="4019550"/>
            <a:ext cx="1419374" cy="142875"/>
          </a:xfrm>
          <a:prstGeom prst="rect">
            <a:avLst/>
          </a:prstGeom>
          <a:noFill/>
          <a:ln/>
        </p:spPr>
        <p:txBody>
          <a:bodyPr wrap="none" lIns="0" tIns="0" rIns="0" bIns="0" rtlCol="0" anchor="ctr"/>
          <a:lstStyle/>
          <a:p>
            <a:pPr algn="l" indent="0" marL="0">
              <a:buNone/>
            </a:pPr>
            <a:r>
              <a:rPr lang="en-US" sz="900" dirty="0">
                <a:solidFill>
                  <a:srgbClr val="BDC2EF"/>
                </a:solidFill>
                <a:latin typeface="Scotia Serif" pitchFamily="34" charset="0"/>
                <a:ea typeface="Scotia Serif" pitchFamily="34" charset="-122"/>
                <a:cs typeface="Scotia Serif" pitchFamily="34" charset="-120"/>
              </a:rPr>
              <a:t>Model · Knowledge · Tools</a:t>
            </a:r>
            <a:endParaRPr lang="en-US" sz="900" dirty="0"/>
          </a:p>
        </p:txBody>
      </p:sp>
      <p:sp>
        <p:nvSpPr>
          <p:cNvPr id="50" name="dg path"/>
          <p:cNvSpPr/>
          <p:nvPr/>
        </p:nvSpPr>
        <p:spPr>
          <a:xfrm flipH="1">
            <a:off x="8936355" y="3971925"/>
            <a:ext cx="281940" cy="0"/>
          </a:xfrm>
          <a:prstGeom prst="line">
            <a:avLst/>
          </a:prstGeom>
          <a:noFill/>
          <a:ln w="20955" cap="rnd">
            <a:solidFill>
              <a:srgbClr val="BDC2EF">
                <a:alpha val="90000"/>
              </a:srgbClr>
            </a:solidFill>
            <a:miter lim="800000"/>
            <a:headEnd type="triangle" w="lg" len="lg"/>
            <a:tailEnd type="triangle" w="lg" len="lg"/>
          </a:ln>
        </p:spPr>
      </p:sp>
      <p:sp>
        <p:nvSpPr>
          <p:cNvPr id="51" name="dg rect"/>
          <p:cNvSpPr/>
          <p:nvPr/>
        </p:nvSpPr>
        <p:spPr>
          <a:xfrm>
            <a:off x="9182100" y="2381250"/>
            <a:ext cx="2609850" cy="1924050"/>
          </a:xfrm>
          <a:prstGeom prst="roundRect">
            <a:avLst>
              <a:gd name="adj" fmla="val 7921"/>
            </a:avLst>
          </a:prstGeom>
          <a:noFill/>
          <a:ln w="15240" cap="flat">
            <a:solidFill>
              <a:srgbClr val="337EFF"/>
            </a:solidFill>
            <a:custDash>
              <a:ds d="375000" sp="375000"/>
            </a:custDash>
            <a:miter lim="800000"/>
          </a:ln>
        </p:spPr>
      </p:sp>
      <p:sp>
        <p:nvSpPr>
          <p:cNvPr id="52" name="dg path"/>
          <p:cNvSpPr/>
          <p:nvPr/>
        </p:nvSpPr>
        <p:spPr>
          <a:xfrm>
            <a:off x="10487025" y="4314825"/>
            <a:ext cx="0" cy="142875"/>
          </a:xfrm>
          <a:prstGeom prst="line">
            <a:avLst/>
          </a:prstGeom>
          <a:noFill/>
          <a:ln w="17145" cap="rnd">
            <a:solidFill>
              <a:srgbClr val="337EFF">
                <a:alpha val="90000"/>
              </a:srgbClr>
            </a:solidFill>
            <a:custDash>
              <a:ds d="222222" sp="277778"/>
            </a:custDash>
            <a:miter lim="800000"/>
          </a:ln>
        </p:spPr>
      </p:sp>
      <p:sp>
        <p:nvSpPr>
          <p:cNvPr id="53" name="dg rect"/>
          <p:cNvSpPr/>
          <p:nvPr/>
        </p:nvSpPr>
        <p:spPr>
          <a:xfrm>
            <a:off x="9182100" y="4457700"/>
            <a:ext cx="2609850" cy="247650"/>
          </a:xfrm>
          <a:prstGeom prst="roundRect">
            <a:avLst>
              <a:gd name="adj" fmla="val 38462"/>
            </a:avLst>
          </a:prstGeom>
          <a:solidFill>
            <a:srgbClr val="337EFF">
              <a:alpha val="22000"/>
            </a:srgbClr>
          </a:solidFill>
          <a:ln w="13335" cap="flat">
            <a:solidFill>
              <a:srgbClr val="337EFF"/>
            </a:solidFill>
            <a:miter lim="800000"/>
          </a:ln>
        </p:spPr>
      </p:sp>
      <p:sp>
        <p:nvSpPr>
          <p:cNvPr id="54" name="dg i-cloud"/>
          <p:cNvSpPr/>
          <p:nvPr/>
        </p:nvSpPr>
        <p:spPr>
          <a:xfrm>
            <a:off x="9289404" y="45275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55" name="Text Agents call MCP tools on their"/>
          <p:cNvSpPr txBox="1"/>
          <p:nvPr/>
        </p:nvSpPr>
        <p:spPr>
          <a:xfrm>
            <a:off x="9505950" y="4529138"/>
            <a:ext cx="1861393" cy="142875"/>
          </a:xfrm>
          <a:prstGeom prst="rect">
            <a:avLst/>
          </a:prstGeom>
          <a:noFill/>
          <a:ln/>
        </p:spPr>
        <p:txBody>
          <a:bodyPr wrap="none" lIns="0" tIns="0" rIns="0" bIns="0" rtlCol="0" anchor="ctr"/>
          <a:lstStyle/>
          <a:p>
            <a:pPr algn="l" indent="0" marL="0">
              <a:buNone/>
            </a:pPr>
            <a:r>
              <a:rPr lang="en-US" sz="900" b="1" dirty="0">
                <a:solidFill>
                  <a:srgbClr val="DCE8FF"/>
                </a:solidFill>
                <a:latin typeface="Scotia" pitchFamily="34" charset="0"/>
                <a:ea typeface="Scotia" pitchFamily="34" charset="-122"/>
                <a:cs typeface="Scotia" pitchFamily="34" charset="-120"/>
              </a:rPr>
              <a:t>Agents call MCP tools on their turn</a:t>
            </a:r>
            <a:endParaRPr lang="en-US" sz="900" dirty="0"/>
          </a:p>
        </p:txBody>
      </p:sp>
      <p:sp>
        <p:nvSpPr>
          <p:cNvPr id="56" name="Text MCP LAYER"/>
          <p:cNvSpPr txBox="1"/>
          <p:nvPr/>
        </p:nvSpPr>
        <p:spPr>
          <a:xfrm>
            <a:off x="9258300" y="4867275"/>
            <a:ext cx="807541" cy="123825"/>
          </a:xfrm>
          <a:prstGeom prst="rect">
            <a:avLst/>
          </a:prstGeom>
          <a:noFill/>
          <a:ln/>
        </p:spPr>
        <p:txBody>
          <a:bodyPr wrap="none" lIns="0" tIns="0" rIns="0" bIns="0" rtlCol="0" anchor="ctr"/>
          <a:lstStyle/>
          <a:p>
            <a:pPr algn="l" indent="0" marL="0">
              <a:buNone/>
            </a:pPr>
            <a:r>
              <a:rPr lang="en-US" sz="863" b="1" spc="150" kern="0" dirty="0">
                <a:solidFill>
                  <a:srgbClr val="8FB4FF"/>
                </a:solidFill>
                <a:latin typeface="Scotia" pitchFamily="34" charset="0"/>
                <a:ea typeface="Scotia" pitchFamily="34" charset="-122"/>
                <a:cs typeface="Scotia" pitchFamily="34" charset="-120"/>
              </a:rPr>
              <a:t>MCP LAYER</a:t>
            </a:r>
            <a:endParaRPr lang="en-US" sz="863" dirty="0"/>
          </a:p>
        </p:txBody>
      </p:sp>
      <p:sp>
        <p:nvSpPr>
          <p:cNvPr id="57" name="Text Every agent sees tool results"/>
          <p:cNvSpPr txBox="1"/>
          <p:nvPr/>
        </p:nvSpPr>
        <p:spPr>
          <a:xfrm>
            <a:off x="9258300" y="5057775"/>
            <a:ext cx="2548830"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Every agent sees tool results in the thread,</a:t>
            </a:r>
            <a:endParaRPr lang="en-US" sz="1013" dirty="0"/>
          </a:p>
        </p:txBody>
      </p:sp>
      <p:sp>
        <p:nvSpPr>
          <p:cNvPr id="58" name="Text so results are trimmed before"/>
          <p:cNvSpPr txBox="1"/>
          <p:nvPr/>
        </p:nvSpPr>
        <p:spPr>
          <a:xfrm>
            <a:off x="9258300" y="5238750"/>
            <a:ext cx="2288530"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so results are trimmed before posting.</a:t>
            </a:r>
            <a:endParaRPr lang="en-US" sz="1013" dirty="0"/>
          </a:p>
        </p:txBody>
      </p:sp>
      <p:sp>
        <p:nvSpPr>
          <p:cNvPr id="59" name="dg circle"/>
          <p:cNvSpPr/>
          <p:nvPr/>
        </p:nvSpPr>
        <p:spPr>
          <a:xfrm>
            <a:off x="409575" y="4129088"/>
            <a:ext cx="228600" cy="228600"/>
          </a:xfrm>
          <a:prstGeom prst="ellipse">
            <a:avLst/>
          </a:prstGeom>
          <a:solidFill>
            <a:srgbClr val="6551FF"/>
          </a:solidFill>
          <a:ln>
            <a:noFill/>
          </a:ln>
        </p:spPr>
      </p:sp>
      <p:sp>
        <p:nvSpPr>
          <p:cNvPr id="60" name="Text 3"/>
          <p:cNvSpPr txBox="1"/>
          <p:nvPr/>
        </p:nvSpPr>
        <p:spPr>
          <a:xfrm>
            <a:off x="461590" y="4183187"/>
            <a:ext cx="124569"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3</a:t>
            </a:r>
            <a:endParaRPr lang="en-US" sz="975" dirty="0"/>
          </a:p>
        </p:txBody>
      </p:sp>
      <p:sp>
        <p:nvSpPr>
          <p:cNvPr id="61" name="Text The agent reads the whole thre"/>
          <p:cNvSpPr txBox="1"/>
          <p:nvPr/>
        </p:nvSpPr>
        <p:spPr>
          <a:xfrm>
            <a:off x="742950" y="4086225"/>
            <a:ext cx="2165747"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The agent reads the whole thread</a:t>
            </a:r>
            <a:endParaRPr lang="en-US" sz="1088" dirty="0"/>
          </a:p>
        </p:txBody>
      </p:sp>
      <p:sp>
        <p:nvSpPr>
          <p:cNvPr id="62" name="Text and adds its turn"/>
          <p:cNvSpPr txBox="1"/>
          <p:nvPr/>
        </p:nvSpPr>
        <p:spPr>
          <a:xfrm>
            <a:off x="742950" y="4267200"/>
            <a:ext cx="1124099"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and adds its turn</a:t>
            </a:r>
            <a:endParaRPr lang="en-US" sz="1088" dirty="0"/>
          </a:p>
        </p:txBody>
      </p:sp>
      <p:sp>
        <p:nvSpPr>
          <p:cNvPr id="63" name="Text context grows"/>
          <p:cNvSpPr txBox="1"/>
          <p:nvPr/>
        </p:nvSpPr>
        <p:spPr>
          <a:xfrm>
            <a:off x="7461647" y="1990725"/>
            <a:ext cx="825103" cy="142875"/>
          </a:xfrm>
          <a:prstGeom prst="rect">
            <a:avLst/>
          </a:prstGeom>
          <a:noFill/>
          <a:ln/>
        </p:spPr>
        <p:txBody>
          <a:bodyPr wrap="none" lIns="0" tIns="0" rIns="0" bIns="0" rtlCol="0" anchor="ctr"/>
          <a:lstStyle/>
          <a:p>
            <a:pPr algn="r" indent="0" marL="0">
              <a:buNone/>
            </a:pPr>
            <a:r>
              <a:rPr lang="en-US" sz="938" dirty="0">
                <a:solidFill>
                  <a:srgbClr val="BDC2EF"/>
                </a:solidFill>
                <a:latin typeface="Scotia Serif" pitchFamily="34" charset="0"/>
                <a:ea typeface="Scotia Serif" pitchFamily="34" charset="-122"/>
                <a:cs typeface="Scotia Serif" pitchFamily="34" charset="-120"/>
              </a:rPr>
              <a:t>context grows</a:t>
            </a:r>
            <a:endParaRPr lang="en-US" sz="938" dirty="0"/>
          </a:p>
        </p:txBody>
      </p:sp>
      <p:sp>
        <p:nvSpPr>
          <p:cNvPr id="64" name="dg rect"/>
          <p:cNvSpPr/>
          <p:nvPr/>
        </p:nvSpPr>
        <p:spPr>
          <a:xfrm>
            <a:off x="8496300" y="1962150"/>
            <a:ext cx="76200" cy="2209800"/>
          </a:xfrm>
          <a:prstGeom prst="roundRect">
            <a:avLst>
              <a:gd name="adj" fmla="val 50000"/>
            </a:avLst>
          </a:prstGeom>
          <a:gradFill rotWithShape="1">
            <a:gsLst>
              <a:gs pos="0">
                <a:srgbClr val="B0AAFF">
                  <a:alpha val="0"/>
                </a:srgbClr>
              </a:gs>
              <a:gs pos="100000">
                <a:srgbClr val="B0AAFF">
                  <a:alpha val="90000"/>
                </a:srgbClr>
              </a:gs>
            </a:gsLst>
            <a:lin ang="5400000" scaled="1"/>
          </a:gradFill>
          <a:ln>
            <a:noFill/>
          </a:ln>
        </p:spPr>
      </p:sp>
      <p:sp>
        <p:nvSpPr>
          <p:cNvPr id="65" name="Text every agent reads the whole th"/>
          <p:cNvSpPr txBox="1"/>
          <p:nvPr/>
        </p:nvSpPr>
        <p:spPr>
          <a:xfrm>
            <a:off x="4733776" y="4162425"/>
            <a:ext cx="2876848" cy="152400"/>
          </a:xfrm>
          <a:prstGeom prst="rect">
            <a:avLst/>
          </a:prstGeom>
          <a:noFill/>
          <a:ln/>
        </p:spPr>
        <p:txBody>
          <a:bodyPr wrap="none" lIns="0" tIns="0" rIns="0" bIns="0" rtlCol="0" anchor="ctr"/>
          <a:lstStyle/>
          <a:p>
            <a:pPr algn="ctr" indent="0" marL="0">
              <a:buNone/>
            </a:pPr>
            <a:r>
              <a:rPr lang="en-US" sz="975" dirty="0">
                <a:solidFill>
                  <a:srgbClr val="BDC2EF"/>
                </a:solidFill>
                <a:latin typeface="Scotia Serif" pitchFamily="34" charset="0"/>
                <a:ea typeface="Scotia Serif" pitchFamily="34" charset="-122"/>
                <a:cs typeface="Scotia Serif" pitchFamily="34" charset="-120"/>
              </a:rPr>
              <a:t>every agent reads the whole thread, then appends</a:t>
            </a:r>
            <a:endParaRPr lang="en-US" sz="975" dirty="0"/>
          </a:p>
        </p:txBody>
      </p:sp>
      <p:sp>
        <p:nvSpPr>
          <p:cNvPr id="66" name="dg rect"/>
          <p:cNvSpPr/>
          <p:nvPr/>
        </p:nvSpPr>
        <p:spPr>
          <a:xfrm>
            <a:off x="3962400" y="2266950"/>
            <a:ext cx="4191000" cy="400050"/>
          </a:xfrm>
          <a:prstGeom prst="roundRect">
            <a:avLst>
              <a:gd name="adj" fmla="val 28571"/>
            </a:avLst>
          </a:prstGeom>
          <a:solidFill>
            <a:srgbClr val="6551FF">
              <a:alpha val="16000"/>
            </a:srgbClr>
          </a:solidFill>
          <a:ln w="11430" cap="flat">
            <a:solidFill>
              <a:srgbClr val="6551FF">
                <a:alpha val="55000"/>
              </a:srgbClr>
            </a:solidFill>
            <a:miter lim="800000"/>
          </a:ln>
        </p:spPr>
      </p:sp>
      <p:sp>
        <p:nvSpPr>
          <p:cNvPr id="67" name="dg circle"/>
          <p:cNvSpPr/>
          <p:nvPr/>
        </p:nvSpPr>
        <p:spPr>
          <a:xfrm>
            <a:off x="4067175" y="2324100"/>
            <a:ext cx="285750" cy="285750"/>
          </a:xfrm>
          <a:prstGeom prst="ellipse">
            <a:avLst/>
          </a:prstGeom>
          <a:solidFill>
            <a:srgbClr val="6551FF"/>
          </a:solidFill>
          <a:ln>
            <a:noFill/>
          </a:ln>
        </p:spPr>
      </p:sp>
      <p:sp>
        <p:nvSpPr>
          <p:cNvPr id="68" name="dg i-bot"/>
          <p:cNvSpPr/>
          <p:nvPr/>
        </p:nvSpPr>
        <p:spPr>
          <a:xfrm>
            <a:off x="4150519" y="2419350"/>
            <a:ext cx="119063" cy="95250"/>
          </a:xfrm>
          <a:custGeom>
            <a:avLst/>
            <a:gdLst/>
            <a:ahLst/>
            <a:cxnLst/>
            <a:rect l="l" t="t" r="r" b="b"/>
            <a:pathLst>
              <a:path w="119063" h="95250">
                <a:moveTo>
                  <a:pt x="59531" y="23813"/>
                </a:moveTo>
                <a:lnTo>
                  <a:pt x="59531" y="0"/>
                </a:lnTo>
                <a:lnTo>
                  <a:pt x="35719" y="0"/>
                </a:lnTo>
                <a:moveTo>
                  <a:pt x="23813" y="23813"/>
                </a:moveTo>
                <a:lnTo>
                  <a:pt x="95250" y="23813"/>
                </a:lnTo>
                <a:cubicBezTo>
                  <a:pt x="101826" y="23813"/>
                  <a:pt x="107156" y="29143"/>
                  <a:pt x="107156" y="35719"/>
                </a:cubicBezTo>
                <a:lnTo>
                  <a:pt x="107156" y="83344"/>
                </a:lnTo>
                <a:cubicBezTo>
                  <a:pt x="107156" y="89919"/>
                  <a:pt x="101826" y="95250"/>
                  <a:pt x="95250" y="95250"/>
                </a:cubicBezTo>
                <a:lnTo>
                  <a:pt x="23813" y="95250"/>
                </a:lnTo>
                <a:cubicBezTo>
                  <a:pt x="17237" y="95250"/>
                  <a:pt x="11906" y="89919"/>
                  <a:pt x="11906" y="83344"/>
                </a:cubicBezTo>
                <a:lnTo>
                  <a:pt x="11906" y="35719"/>
                </a:lnTo>
                <a:cubicBezTo>
                  <a:pt x="11906" y="29143"/>
                  <a:pt x="17237" y="23813"/>
                  <a:pt x="23813" y="23813"/>
                </a:cubicBezTo>
                <a:close/>
                <a:moveTo>
                  <a:pt x="0" y="59531"/>
                </a:moveTo>
                <a:lnTo>
                  <a:pt x="11906" y="59531"/>
                </a:lnTo>
                <a:moveTo>
                  <a:pt x="107156" y="59531"/>
                </a:moveTo>
                <a:lnTo>
                  <a:pt x="119063" y="59531"/>
                </a:lnTo>
                <a:moveTo>
                  <a:pt x="77391" y="53578"/>
                </a:moveTo>
                <a:lnTo>
                  <a:pt x="77391" y="65484"/>
                </a:lnTo>
                <a:moveTo>
                  <a:pt x="41672" y="53578"/>
                </a:moveTo>
                <a:lnTo>
                  <a:pt x="41672" y="65484"/>
                </a:lnTo>
              </a:path>
            </a:pathLst>
          </a:custGeom>
          <a:noFill/>
          <a:ln w="10716" cap="rnd">
            <a:solidFill>
              <a:srgbClr val="FFFFFF"/>
            </a:solidFill>
            <a:round/>
          </a:ln>
        </p:spPr>
      </p:sp>
      <p:sp>
        <p:nvSpPr>
          <p:cNvPr id="69" name="Text Agent 1"/>
          <p:cNvSpPr txBox="1"/>
          <p:nvPr/>
        </p:nvSpPr>
        <p:spPr>
          <a:xfrm>
            <a:off x="4438650" y="2333625"/>
            <a:ext cx="512415"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Agent 1</a:t>
            </a:r>
            <a:endParaRPr lang="en-US" sz="1050" dirty="0"/>
          </a:p>
        </p:txBody>
      </p:sp>
      <p:sp>
        <p:nvSpPr>
          <p:cNvPr id="70" name="Text Adds its perspective"/>
          <p:cNvSpPr txBox="1"/>
          <p:nvPr/>
        </p:nvSpPr>
        <p:spPr>
          <a:xfrm>
            <a:off x="4438650" y="2495550"/>
            <a:ext cx="1203871" cy="152400"/>
          </a:xfrm>
          <a:prstGeom prst="rect">
            <a:avLst/>
          </a:prstGeom>
          <a:noFill/>
          <a:ln/>
        </p:spPr>
        <p:txBody>
          <a:bodyPr wrap="none" lIns="0" tIns="0" rIns="0" bIns="0" rtlCol="0" anchor="ctr"/>
          <a:lstStyle/>
          <a:p>
            <a:pPr algn="l" indent="0" marL="0">
              <a:buNone/>
            </a:pPr>
            <a:r>
              <a:rPr lang="en-US" sz="975" dirty="0">
                <a:solidFill>
                  <a:srgbClr val="FFFFFF">
                    <a:alpha val="90000"/>
                  </a:srgbClr>
                </a:solidFill>
                <a:latin typeface="Scotia Serif" pitchFamily="34" charset="0"/>
                <a:ea typeface="Scotia Serif" pitchFamily="34" charset="-122"/>
                <a:cs typeface="Scotia Serif" pitchFamily="34" charset="-120"/>
              </a:rPr>
              <a:t>Adds its perspective</a:t>
            </a:r>
            <a:endParaRPr lang="en-US" sz="975" dirty="0"/>
          </a:p>
        </p:txBody>
      </p:sp>
      <p:sp>
        <p:nvSpPr>
          <p:cNvPr id="71" name="dg rect"/>
          <p:cNvSpPr/>
          <p:nvPr/>
        </p:nvSpPr>
        <p:spPr>
          <a:xfrm>
            <a:off x="3962400" y="2743200"/>
            <a:ext cx="4191000" cy="400050"/>
          </a:xfrm>
          <a:prstGeom prst="roundRect">
            <a:avLst>
              <a:gd name="adj" fmla="val 28571"/>
            </a:avLst>
          </a:prstGeom>
          <a:solidFill>
            <a:srgbClr val="B0AAFF">
              <a:alpha val="16000"/>
            </a:srgbClr>
          </a:solidFill>
          <a:ln w="11430" cap="flat">
            <a:solidFill>
              <a:srgbClr val="B0AAFF">
                <a:alpha val="55000"/>
              </a:srgbClr>
            </a:solidFill>
            <a:miter lim="800000"/>
          </a:ln>
        </p:spPr>
      </p:sp>
      <p:sp>
        <p:nvSpPr>
          <p:cNvPr id="72" name="dg circle"/>
          <p:cNvSpPr/>
          <p:nvPr/>
        </p:nvSpPr>
        <p:spPr>
          <a:xfrm>
            <a:off x="4067175" y="2800350"/>
            <a:ext cx="285750" cy="285750"/>
          </a:xfrm>
          <a:prstGeom prst="ellipse">
            <a:avLst/>
          </a:prstGeom>
          <a:solidFill>
            <a:srgbClr val="B0AAFF"/>
          </a:solidFill>
          <a:ln>
            <a:noFill/>
          </a:ln>
        </p:spPr>
      </p:sp>
      <p:sp>
        <p:nvSpPr>
          <p:cNvPr id="73" name="dg i-bot"/>
          <p:cNvSpPr/>
          <p:nvPr/>
        </p:nvSpPr>
        <p:spPr>
          <a:xfrm>
            <a:off x="4150519" y="2895600"/>
            <a:ext cx="119063" cy="95250"/>
          </a:xfrm>
          <a:custGeom>
            <a:avLst/>
            <a:gdLst/>
            <a:ahLst/>
            <a:cxnLst/>
            <a:rect l="l" t="t" r="r" b="b"/>
            <a:pathLst>
              <a:path w="119063" h="95250">
                <a:moveTo>
                  <a:pt x="59531" y="23813"/>
                </a:moveTo>
                <a:lnTo>
                  <a:pt x="59531" y="0"/>
                </a:lnTo>
                <a:lnTo>
                  <a:pt x="35719" y="0"/>
                </a:lnTo>
                <a:moveTo>
                  <a:pt x="23813" y="23813"/>
                </a:moveTo>
                <a:lnTo>
                  <a:pt x="95250" y="23813"/>
                </a:lnTo>
                <a:cubicBezTo>
                  <a:pt x="101826" y="23813"/>
                  <a:pt x="107156" y="29143"/>
                  <a:pt x="107156" y="35719"/>
                </a:cubicBezTo>
                <a:lnTo>
                  <a:pt x="107156" y="83344"/>
                </a:lnTo>
                <a:cubicBezTo>
                  <a:pt x="107156" y="89919"/>
                  <a:pt x="101826" y="95250"/>
                  <a:pt x="95250" y="95250"/>
                </a:cubicBezTo>
                <a:lnTo>
                  <a:pt x="23813" y="95250"/>
                </a:lnTo>
                <a:cubicBezTo>
                  <a:pt x="17237" y="95250"/>
                  <a:pt x="11906" y="89919"/>
                  <a:pt x="11906" y="83344"/>
                </a:cubicBezTo>
                <a:lnTo>
                  <a:pt x="11906" y="35719"/>
                </a:lnTo>
                <a:cubicBezTo>
                  <a:pt x="11906" y="29143"/>
                  <a:pt x="17237" y="23813"/>
                  <a:pt x="23813" y="23813"/>
                </a:cubicBezTo>
                <a:close/>
                <a:moveTo>
                  <a:pt x="0" y="59531"/>
                </a:moveTo>
                <a:lnTo>
                  <a:pt x="11906" y="59531"/>
                </a:lnTo>
                <a:moveTo>
                  <a:pt x="107156" y="59531"/>
                </a:moveTo>
                <a:lnTo>
                  <a:pt x="119063" y="59531"/>
                </a:lnTo>
                <a:moveTo>
                  <a:pt x="77391" y="53578"/>
                </a:moveTo>
                <a:lnTo>
                  <a:pt x="77391" y="65484"/>
                </a:lnTo>
                <a:moveTo>
                  <a:pt x="41672" y="53578"/>
                </a:moveTo>
                <a:lnTo>
                  <a:pt x="41672" y="65484"/>
                </a:lnTo>
              </a:path>
            </a:pathLst>
          </a:custGeom>
          <a:noFill/>
          <a:ln w="10716" cap="rnd">
            <a:solidFill>
              <a:srgbClr val="0B0823"/>
            </a:solidFill>
            <a:round/>
          </a:ln>
        </p:spPr>
      </p:sp>
      <p:sp>
        <p:nvSpPr>
          <p:cNvPr id="74" name="Text Agent 2"/>
          <p:cNvSpPr txBox="1"/>
          <p:nvPr/>
        </p:nvSpPr>
        <p:spPr>
          <a:xfrm>
            <a:off x="4438650" y="2809875"/>
            <a:ext cx="525363"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Agent 2</a:t>
            </a:r>
            <a:endParaRPr lang="en-US" sz="1050" dirty="0"/>
          </a:p>
        </p:txBody>
      </p:sp>
      <p:sp>
        <p:nvSpPr>
          <p:cNvPr id="75" name="Text Builds on or challenges Agen"/>
          <p:cNvSpPr txBox="1"/>
          <p:nvPr/>
        </p:nvSpPr>
        <p:spPr>
          <a:xfrm>
            <a:off x="4438650" y="2971800"/>
            <a:ext cx="1880295" cy="152400"/>
          </a:xfrm>
          <a:prstGeom prst="rect">
            <a:avLst/>
          </a:prstGeom>
          <a:noFill/>
          <a:ln/>
        </p:spPr>
        <p:txBody>
          <a:bodyPr wrap="none" lIns="0" tIns="0" rIns="0" bIns="0" rtlCol="0" anchor="ctr"/>
          <a:lstStyle/>
          <a:p>
            <a:pPr algn="l" indent="0" marL="0">
              <a:buNone/>
            </a:pPr>
            <a:r>
              <a:rPr lang="en-US" sz="975" dirty="0">
                <a:solidFill>
                  <a:srgbClr val="FFFFFF">
                    <a:alpha val="90000"/>
                  </a:srgbClr>
                </a:solidFill>
                <a:latin typeface="Scotia Serif" pitchFamily="34" charset="0"/>
                <a:ea typeface="Scotia Serif" pitchFamily="34" charset="-122"/>
                <a:cs typeface="Scotia Serif" pitchFamily="34" charset="-120"/>
              </a:rPr>
              <a:t>Builds on, or challenges, Agent 1</a:t>
            </a:r>
            <a:endParaRPr lang="en-US" sz="975" dirty="0"/>
          </a:p>
        </p:txBody>
      </p:sp>
      <p:sp>
        <p:nvSpPr>
          <p:cNvPr id="76" name="dg rect"/>
          <p:cNvSpPr/>
          <p:nvPr/>
        </p:nvSpPr>
        <p:spPr>
          <a:xfrm>
            <a:off x="3962400" y="3219450"/>
            <a:ext cx="4191000" cy="400050"/>
          </a:xfrm>
          <a:prstGeom prst="roundRect">
            <a:avLst>
              <a:gd name="adj" fmla="val 28571"/>
            </a:avLst>
          </a:prstGeom>
          <a:solidFill>
            <a:srgbClr val="BDC2EF">
              <a:alpha val="16000"/>
            </a:srgbClr>
          </a:solidFill>
          <a:ln w="11430" cap="flat">
            <a:solidFill>
              <a:srgbClr val="BDC2EF">
                <a:alpha val="55000"/>
              </a:srgbClr>
            </a:solidFill>
            <a:miter lim="800000"/>
          </a:ln>
        </p:spPr>
      </p:sp>
      <p:sp>
        <p:nvSpPr>
          <p:cNvPr id="77" name="dg circle"/>
          <p:cNvSpPr/>
          <p:nvPr/>
        </p:nvSpPr>
        <p:spPr>
          <a:xfrm>
            <a:off x="4067175" y="3276600"/>
            <a:ext cx="285750" cy="285750"/>
          </a:xfrm>
          <a:prstGeom prst="ellipse">
            <a:avLst/>
          </a:prstGeom>
          <a:solidFill>
            <a:srgbClr val="BDC2EF"/>
          </a:solidFill>
          <a:ln>
            <a:noFill/>
          </a:ln>
        </p:spPr>
      </p:sp>
      <p:sp>
        <p:nvSpPr>
          <p:cNvPr id="78" name="dg i-bot"/>
          <p:cNvSpPr/>
          <p:nvPr/>
        </p:nvSpPr>
        <p:spPr>
          <a:xfrm>
            <a:off x="4150519" y="3371850"/>
            <a:ext cx="119063" cy="95250"/>
          </a:xfrm>
          <a:custGeom>
            <a:avLst/>
            <a:gdLst/>
            <a:ahLst/>
            <a:cxnLst/>
            <a:rect l="l" t="t" r="r" b="b"/>
            <a:pathLst>
              <a:path w="119063" h="95250">
                <a:moveTo>
                  <a:pt x="59531" y="23813"/>
                </a:moveTo>
                <a:lnTo>
                  <a:pt x="59531" y="0"/>
                </a:lnTo>
                <a:lnTo>
                  <a:pt x="35719" y="0"/>
                </a:lnTo>
                <a:moveTo>
                  <a:pt x="23813" y="23813"/>
                </a:moveTo>
                <a:lnTo>
                  <a:pt x="95250" y="23813"/>
                </a:lnTo>
                <a:cubicBezTo>
                  <a:pt x="101826" y="23813"/>
                  <a:pt x="107156" y="29143"/>
                  <a:pt x="107156" y="35719"/>
                </a:cubicBezTo>
                <a:lnTo>
                  <a:pt x="107156" y="83344"/>
                </a:lnTo>
                <a:cubicBezTo>
                  <a:pt x="107156" y="89919"/>
                  <a:pt x="101826" y="95250"/>
                  <a:pt x="95250" y="95250"/>
                </a:cubicBezTo>
                <a:lnTo>
                  <a:pt x="23813" y="95250"/>
                </a:lnTo>
                <a:cubicBezTo>
                  <a:pt x="17237" y="95250"/>
                  <a:pt x="11906" y="89919"/>
                  <a:pt x="11906" y="83344"/>
                </a:cubicBezTo>
                <a:lnTo>
                  <a:pt x="11906" y="35719"/>
                </a:lnTo>
                <a:cubicBezTo>
                  <a:pt x="11906" y="29143"/>
                  <a:pt x="17237" y="23813"/>
                  <a:pt x="23813" y="23813"/>
                </a:cubicBezTo>
                <a:close/>
                <a:moveTo>
                  <a:pt x="0" y="59531"/>
                </a:moveTo>
                <a:lnTo>
                  <a:pt x="11906" y="59531"/>
                </a:lnTo>
                <a:moveTo>
                  <a:pt x="107156" y="59531"/>
                </a:moveTo>
                <a:lnTo>
                  <a:pt x="119063" y="59531"/>
                </a:lnTo>
                <a:moveTo>
                  <a:pt x="77391" y="53578"/>
                </a:moveTo>
                <a:lnTo>
                  <a:pt x="77391" y="65484"/>
                </a:lnTo>
                <a:moveTo>
                  <a:pt x="41672" y="53578"/>
                </a:moveTo>
                <a:lnTo>
                  <a:pt x="41672" y="65484"/>
                </a:lnTo>
              </a:path>
            </a:pathLst>
          </a:custGeom>
          <a:noFill/>
          <a:ln w="10716" cap="rnd">
            <a:solidFill>
              <a:srgbClr val="0B0823"/>
            </a:solidFill>
            <a:round/>
          </a:ln>
        </p:spPr>
      </p:sp>
      <p:sp>
        <p:nvSpPr>
          <p:cNvPr id="79" name="Text Agent n"/>
          <p:cNvSpPr txBox="1"/>
          <p:nvPr/>
        </p:nvSpPr>
        <p:spPr>
          <a:xfrm>
            <a:off x="4438650" y="3286125"/>
            <a:ext cx="532507"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Agent n</a:t>
            </a:r>
            <a:endParaRPr lang="en-US" sz="1050" dirty="0"/>
          </a:p>
        </p:txBody>
      </p:sp>
      <p:sp>
        <p:nvSpPr>
          <p:cNvPr id="80" name="Text Contributes expertise and too"/>
          <p:cNvSpPr txBox="1"/>
          <p:nvPr/>
        </p:nvSpPr>
        <p:spPr>
          <a:xfrm>
            <a:off x="4438650" y="3448050"/>
            <a:ext cx="2218432" cy="152400"/>
          </a:xfrm>
          <a:prstGeom prst="rect">
            <a:avLst/>
          </a:prstGeom>
          <a:noFill/>
          <a:ln/>
        </p:spPr>
        <p:txBody>
          <a:bodyPr wrap="none" lIns="0" tIns="0" rIns="0" bIns="0" rtlCol="0" anchor="ctr"/>
          <a:lstStyle/>
          <a:p>
            <a:pPr algn="l" indent="0" marL="0">
              <a:buNone/>
            </a:pPr>
            <a:r>
              <a:rPr lang="en-US" sz="975" dirty="0">
                <a:solidFill>
                  <a:srgbClr val="FFFFFF">
                    <a:alpha val="90000"/>
                  </a:srgbClr>
                </a:solidFill>
                <a:latin typeface="Scotia Serif" pitchFamily="34" charset="0"/>
                <a:ea typeface="Scotia Serif" pitchFamily="34" charset="-122"/>
                <a:cs typeface="Scotia Serif" pitchFamily="34" charset="-120"/>
              </a:rPr>
              <a:t>Contributes expertise, and tool results</a:t>
            </a:r>
            <a:endParaRPr lang="en-US" sz="975" dirty="0"/>
          </a:p>
        </p:txBody>
      </p:sp>
      <p:sp>
        <p:nvSpPr>
          <p:cNvPr id="81" name="dg rect"/>
          <p:cNvSpPr/>
          <p:nvPr/>
        </p:nvSpPr>
        <p:spPr>
          <a:xfrm>
            <a:off x="4305300" y="3695700"/>
            <a:ext cx="4000500" cy="400050"/>
          </a:xfrm>
          <a:prstGeom prst="roundRect">
            <a:avLst>
              <a:gd name="adj" fmla="val 28571"/>
            </a:avLst>
          </a:prstGeom>
          <a:solidFill>
            <a:srgbClr val="FDB913">
              <a:alpha val="14000"/>
            </a:srgbClr>
          </a:solidFill>
          <a:ln w="11430" cap="flat">
            <a:solidFill>
              <a:srgbClr val="FDB913">
                <a:alpha val="55000"/>
              </a:srgbClr>
            </a:solidFill>
            <a:miter lim="800000"/>
          </a:ln>
        </p:spPr>
      </p:sp>
      <p:sp>
        <p:nvSpPr>
          <p:cNvPr id="82" name="dg circle"/>
          <p:cNvSpPr/>
          <p:nvPr/>
        </p:nvSpPr>
        <p:spPr>
          <a:xfrm>
            <a:off x="4410075" y="3752850"/>
            <a:ext cx="285750" cy="285750"/>
          </a:xfrm>
          <a:prstGeom prst="ellipse">
            <a:avLst/>
          </a:prstGeom>
          <a:solidFill>
            <a:srgbClr val="FDB913"/>
          </a:solidFill>
          <a:ln>
            <a:noFill/>
          </a:ln>
        </p:spPr>
      </p:sp>
      <p:sp>
        <p:nvSpPr>
          <p:cNvPr id="83" name="dg i-user"/>
          <p:cNvSpPr/>
          <p:nvPr/>
        </p:nvSpPr>
        <p:spPr>
          <a:xfrm>
            <a:off x="4511278" y="3842147"/>
            <a:ext cx="83344" cy="107156"/>
          </a:xfrm>
          <a:custGeom>
            <a:avLst/>
            <a:gdLst/>
            <a:ahLst/>
            <a:cxnLst/>
            <a:rect l="l" t="t" r="r" b="b"/>
            <a:pathLst>
              <a:path w="83344" h="107156">
                <a:moveTo>
                  <a:pt x="83344" y="107156"/>
                </a:moveTo>
                <a:lnTo>
                  <a:pt x="83344" y="95250"/>
                </a:lnTo>
                <a:cubicBezTo>
                  <a:pt x="83344" y="82099"/>
                  <a:pt x="72683" y="71438"/>
                  <a:pt x="59531" y="71438"/>
                </a:cubicBezTo>
                <a:lnTo>
                  <a:pt x="23813" y="71438"/>
                </a:lnTo>
                <a:cubicBezTo>
                  <a:pt x="10661" y="71438"/>
                  <a:pt x="0" y="82099"/>
                  <a:pt x="0" y="95250"/>
                </a:cubicBezTo>
                <a:lnTo>
                  <a:pt x="0" y="107156"/>
                </a:lnTo>
                <a:moveTo>
                  <a:pt x="65484" y="23813"/>
                </a:moveTo>
                <a:cubicBezTo>
                  <a:pt x="65484" y="36964"/>
                  <a:pt x="54823" y="47625"/>
                  <a:pt x="41672" y="47625"/>
                </a:cubicBezTo>
                <a:cubicBezTo>
                  <a:pt x="28521" y="47625"/>
                  <a:pt x="17859" y="36964"/>
                  <a:pt x="17859" y="23813"/>
                </a:cubicBezTo>
                <a:cubicBezTo>
                  <a:pt x="17859" y="10661"/>
                  <a:pt x="28521" y="0"/>
                  <a:pt x="41672" y="0"/>
                </a:cubicBezTo>
                <a:cubicBezTo>
                  <a:pt x="54823" y="0"/>
                  <a:pt x="65484" y="10661"/>
                  <a:pt x="65484" y="23813"/>
                </a:cubicBezTo>
                <a:close/>
              </a:path>
            </a:pathLst>
          </a:custGeom>
          <a:noFill/>
          <a:ln w="10716" cap="rnd">
            <a:solidFill>
              <a:srgbClr val="0B0823"/>
            </a:solidFill>
            <a:round/>
          </a:ln>
        </p:spPr>
      </p:sp>
      <p:sp>
        <p:nvSpPr>
          <p:cNvPr id="84" name="Text Human"/>
          <p:cNvSpPr txBox="1"/>
          <p:nvPr/>
        </p:nvSpPr>
        <p:spPr>
          <a:xfrm>
            <a:off x="4781550" y="3762375"/>
            <a:ext cx="506462"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Human</a:t>
            </a:r>
            <a:endParaRPr lang="en-US" sz="1050" dirty="0"/>
          </a:p>
        </p:txBody>
      </p:sp>
      <p:sp>
        <p:nvSpPr>
          <p:cNvPr id="85" name="Text Observes and steers optional"/>
          <p:cNvSpPr txBox="1"/>
          <p:nvPr/>
        </p:nvSpPr>
        <p:spPr>
          <a:xfrm>
            <a:off x="4781550" y="3924300"/>
            <a:ext cx="1782217" cy="152400"/>
          </a:xfrm>
          <a:prstGeom prst="rect">
            <a:avLst/>
          </a:prstGeom>
          <a:noFill/>
          <a:ln/>
        </p:spPr>
        <p:txBody>
          <a:bodyPr wrap="none" lIns="0" tIns="0" rIns="0" bIns="0" rtlCol="0" anchor="ctr"/>
          <a:lstStyle/>
          <a:p>
            <a:pPr algn="l" indent="0" marL="0">
              <a:buNone/>
            </a:pPr>
            <a:r>
              <a:rPr lang="en-US" sz="975" dirty="0">
                <a:solidFill>
                  <a:srgbClr val="FFFFFF">
                    <a:alpha val="90000"/>
                  </a:srgbClr>
                </a:solidFill>
                <a:latin typeface="Scotia Serif" pitchFamily="34" charset="0"/>
                <a:ea typeface="Scotia Serif" pitchFamily="34" charset="-122"/>
                <a:cs typeface="Scotia Serif" pitchFamily="34" charset="-120"/>
              </a:rPr>
              <a:t>Observes and steers (optional)</a:t>
            </a:r>
            <a:endParaRPr lang="en-US" sz="975" dirty="0"/>
          </a:p>
        </p:txBody>
      </p:sp>
      <p:sp>
        <p:nvSpPr>
          <p:cNvPr id="86" name="dg circle"/>
          <p:cNvSpPr/>
          <p:nvPr/>
        </p:nvSpPr>
        <p:spPr>
          <a:xfrm>
            <a:off x="409575" y="4691063"/>
            <a:ext cx="228600" cy="228600"/>
          </a:xfrm>
          <a:prstGeom prst="ellipse">
            <a:avLst/>
          </a:prstGeom>
          <a:solidFill>
            <a:srgbClr val="6551FF"/>
          </a:solidFill>
          <a:ln>
            <a:noFill/>
          </a:ln>
        </p:spPr>
      </p:sp>
      <p:sp>
        <p:nvSpPr>
          <p:cNvPr id="87" name="Text 4"/>
          <p:cNvSpPr txBox="1"/>
          <p:nvPr/>
        </p:nvSpPr>
        <p:spPr>
          <a:xfrm>
            <a:off x="458316" y="4745162"/>
            <a:ext cx="13111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4</a:t>
            </a:r>
            <a:endParaRPr lang="en-US" sz="975" dirty="0"/>
          </a:p>
        </p:txBody>
      </p:sp>
      <p:sp>
        <p:nvSpPr>
          <p:cNvPr id="88" name="Text Checks: done If not repeat"/>
          <p:cNvSpPr txBox="1"/>
          <p:nvPr/>
        </p:nvSpPr>
        <p:spPr>
          <a:xfrm>
            <a:off x="742950" y="4648200"/>
            <a:ext cx="1805732"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Checks: done? If not, repeat</a:t>
            </a:r>
            <a:endParaRPr lang="en-US" sz="1088" dirty="0"/>
          </a:p>
        </p:txBody>
      </p:sp>
      <p:sp>
        <p:nvSpPr>
          <p:cNvPr id="89" name="Text from step 2"/>
          <p:cNvSpPr txBox="1"/>
          <p:nvPr/>
        </p:nvSpPr>
        <p:spPr>
          <a:xfrm>
            <a:off x="742950" y="4829175"/>
            <a:ext cx="772864"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from step 2</a:t>
            </a:r>
            <a:endParaRPr lang="en-US" sz="1088" dirty="0"/>
          </a:p>
        </p:txBody>
      </p:sp>
      <p:sp>
        <p:nvSpPr>
          <p:cNvPr id="90" name="dg path"/>
          <p:cNvSpPr/>
          <p:nvPr/>
        </p:nvSpPr>
        <p:spPr>
          <a:xfrm flipH="1">
            <a:off x="2847975" y="2762250"/>
            <a:ext cx="847725" cy="0"/>
          </a:xfrm>
          <a:prstGeom prst="line">
            <a:avLst/>
          </a:prstGeom>
          <a:noFill/>
          <a:ln w="20955" cap="rnd">
            <a:solidFill>
              <a:srgbClr val="A9A6CF"/>
            </a:solidFill>
            <a:custDash>
              <a:ds d="227273" sp="227273"/>
            </a:custDash>
            <a:miter lim="800000"/>
            <a:tailEnd type="triangle" w="lg" len="lg"/>
          </a:ln>
        </p:spPr>
      </p:sp>
      <p:sp>
        <p:nvSpPr>
          <p:cNvPr id="91" name="dg rect"/>
          <p:cNvSpPr/>
          <p:nvPr/>
        </p:nvSpPr>
        <p:spPr>
          <a:xfrm>
            <a:off x="2874264" y="2867025"/>
            <a:ext cx="766572" cy="209550"/>
          </a:xfrm>
          <a:prstGeom prst="roundRect">
            <a:avLst>
              <a:gd name="adj" fmla="val 50000"/>
            </a:avLst>
          </a:prstGeom>
          <a:solidFill>
            <a:srgbClr val="0B0823"/>
          </a:solidFill>
          <a:ln w="12383" cap="flat">
            <a:solidFill>
              <a:srgbClr val="A9A6CF"/>
            </a:solidFill>
            <a:miter lim="800000"/>
          </a:ln>
        </p:spPr>
      </p:sp>
      <p:sp>
        <p:nvSpPr>
          <p:cNvPr id="92" name="Text done yet"/>
          <p:cNvSpPr txBox="1"/>
          <p:nvPr/>
        </p:nvSpPr>
        <p:spPr>
          <a:xfrm>
            <a:off x="2956247" y="2917701"/>
            <a:ext cx="602605" cy="142875"/>
          </a:xfrm>
          <a:prstGeom prst="rect">
            <a:avLst/>
          </a:prstGeom>
          <a:noFill/>
          <a:ln/>
        </p:spPr>
        <p:txBody>
          <a:bodyPr wrap="none" lIns="0" tIns="0" rIns="0" bIns="0" rtlCol="0" anchor="ctr"/>
          <a:lstStyle/>
          <a:p>
            <a:pPr algn="ctr" indent="0" marL="0">
              <a:buNone/>
            </a:pPr>
            <a:r>
              <a:rPr lang="en-US" sz="900" b="1" spc="22" kern="0" dirty="0">
                <a:solidFill>
                  <a:srgbClr val="BDC2EF"/>
                </a:solidFill>
                <a:latin typeface="Scotia" pitchFamily="34" charset="0"/>
                <a:ea typeface="Scotia" pitchFamily="34" charset="-122"/>
                <a:cs typeface="Scotia" pitchFamily="34" charset="-120"/>
              </a:rPr>
              <a:t>done yet?</a:t>
            </a:r>
            <a:endParaRPr lang="en-US" sz="900" dirty="0"/>
          </a:p>
        </p:txBody>
      </p:sp>
      <p:sp>
        <p:nvSpPr>
          <p:cNvPr id="93" name="dg path"/>
          <p:cNvSpPr/>
          <p:nvPr/>
        </p:nvSpPr>
        <p:spPr>
          <a:xfrm>
            <a:off x="6305550" y="4400550"/>
            <a:ext cx="0" cy="636270"/>
          </a:xfrm>
          <a:prstGeom prst="line">
            <a:avLst/>
          </a:prstGeom>
          <a:noFill/>
          <a:ln w="24765" cap="rnd">
            <a:solidFill>
              <a:srgbClr val="2FBF71"/>
            </a:solidFill>
            <a:miter lim="800000"/>
            <a:tailEnd type="triangle" w="lg" len="lg"/>
          </a:ln>
        </p:spPr>
      </p:sp>
      <p:sp>
        <p:nvSpPr>
          <p:cNvPr id="94" name="dg rect"/>
          <p:cNvSpPr/>
          <p:nvPr/>
        </p:nvSpPr>
        <p:spPr>
          <a:xfrm>
            <a:off x="6463284" y="4614863"/>
            <a:ext cx="2046732" cy="209550"/>
          </a:xfrm>
          <a:prstGeom prst="roundRect">
            <a:avLst>
              <a:gd name="adj" fmla="val 50000"/>
            </a:avLst>
          </a:prstGeom>
          <a:solidFill>
            <a:srgbClr val="0B0823"/>
          </a:solidFill>
          <a:ln w="12383" cap="flat">
            <a:solidFill>
              <a:srgbClr val="2FBF71"/>
            </a:solidFill>
            <a:miter lim="800000"/>
          </a:ln>
        </p:spPr>
      </p:sp>
      <p:sp>
        <p:nvSpPr>
          <p:cNvPr id="95" name="Text consensus or quality gate met"/>
          <p:cNvSpPr txBox="1"/>
          <p:nvPr/>
        </p:nvSpPr>
        <p:spPr>
          <a:xfrm>
            <a:off x="6636544" y="4665538"/>
            <a:ext cx="1700213" cy="142875"/>
          </a:xfrm>
          <a:prstGeom prst="rect">
            <a:avLst/>
          </a:prstGeom>
          <a:noFill/>
          <a:ln/>
        </p:spPr>
        <p:txBody>
          <a:bodyPr wrap="none" lIns="0" tIns="0" rIns="0" bIns="0" rtlCol="0" anchor="ctr"/>
          <a:lstStyle/>
          <a:p>
            <a:pPr algn="ctr" indent="0" marL="0">
              <a:buNone/>
            </a:pPr>
            <a:r>
              <a:rPr lang="en-US" sz="900" b="1" spc="22" kern="0" dirty="0">
                <a:solidFill>
                  <a:srgbClr val="FFFFFF"/>
                </a:solidFill>
                <a:latin typeface="Scotia" pitchFamily="34" charset="0"/>
                <a:ea typeface="Scotia" pitchFamily="34" charset="-122"/>
                <a:cs typeface="Scotia" pitchFamily="34" charset="-120"/>
              </a:rPr>
              <a:t>consensus or quality gate met</a:t>
            </a:r>
            <a:endParaRPr lang="en-US" sz="900" dirty="0"/>
          </a:p>
        </p:txBody>
      </p:sp>
      <p:sp>
        <p:nvSpPr>
          <p:cNvPr id="96" name="dg polygon"/>
          <p:cNvSpPr/>
          <p:nvPr/>
        </p:nvSpPr>
        <p:spPr>
          <a:xfrm>
            <a:off x="4305300" y="5057775"/>
            <a:ext cx="4191000" cy="304800"/>
          </a:xfrm>
          <a:custGeom>
            <a:avLst/>
            <a:gdLst/>
            <a:ahLst/>
            <a:cxnLst/>
            <a:rect l="l" t="t" r="r" b="b"/>
            <a:pathLst>
              <a:path w="4191000" h="304800">
                <a:moveTo>
                  <a:pt x="133350" y="0"/>
                </a:moveTo>
                <a:lnTo>
                  <a:pt x="4191000" y="0"/>
                </a:lnTo>
                <a:lnTo>
                  <a:pt x="4057650" y="304800"/>
                </a:lnTo>
                <a:lnTo>
                  <a:pt x="0" y="304800"/>
                </a:lnTo>
                <a:close/>
              </a:path>
            </a:pathLst>
          </a:custGeom>
          <a:noFill/>
          <a:ln w="13335" cap="flat">
            <a:solidFill>
              <a:srgbClr val="2FBF71"/>
            </a:solidFill>
            <a:miter lim="800000"/>
          </a:ln>
        </p:spPr>
      </p:sp>
      <p:sp>
        <p:nvSpPr>
          <p:cNvPr id="97" name="Text Result"/>
          <p:cNvSpPr txBox="1"/>
          <p:nvPr/>
        </p:nvSpPr>
        <p:spPr>
          <a:xfrm>
            <a:off x="6167065" y="5143500"/>
            <a:ext cx="467469" cy="171450"/>
          </a:xfrm>
          <a:prstGeom prst="rect">
            <a:avLst/>
          </a:prstGeom>
          <a:noFill/>
          <a:ln/>
        </p:spPr>
        <p:txBody>
          <a:bodyPr wrap="none" lIns="0" tIns="0" rIns="0" bIns="0" rtlCol="0" anchor="ctr"/>
          <a:lstStyle/>
          <a:p>
            <a:pPr algn="ctr" indent="0" marL="0">
              <a:buNone/>
            </a:pPr>
            <a:r>
              <a:rPr lang="en-US" sz="1125" b="1" dirty="0">
                <a:solidFill>
                  <a:srgbClr val="2FBF71"/>
                </a:solidFill>
                <a:latin typeface="Scotia" pitchFamily="34" charset="0"/>
                <a:ea typeface="Scotia" pitchFamily="34" charset="-122"/>
                <a:cs typeface="Scotia" pitchFamily="34" charset="-120"/>
              </a:rPr>
              <a:t>Result</a:t>
            </a:r>
            <a:endParaRPr lang="en-US" sz="1125" dirty="0"/>
          </a:p>
        </p:txBody>
      </p:sp>
      <p:sp>
        <p:nvSpPr>
          <p:cNvPr id="98" name="dg line"/>
          <p:cNvSpPr/>
          <p:nvPr/>
        </p:nvSpPr>
        <p:spPr>
          <a:xfrm>
            <a:off x="400050" y="5676900"/>
            <a:ext cx="11391900" cy="0"/>
          </a:xfrm>
          <a:prstGeom prst="line">
            <a:avLst/>
          </a:prstGeom>
          <a:noFill/>
          <a:ln w="9525" cap="flat">
            <a:solidFill>
              <a:srgbClr val="BDC2EF">
                <a:alpha val="22000"/>
              </a:srgbClr>
            </a:solidFill>
            <a:miter lim="800000"/>
          </a:ln>
        </p:spPr>
      </p:sp>
      <p:sp>
        <p:nvSpPr>
          <p:cNvPr id="99" name="Text BEST FOR"/>
          <p:cNvSpPr txBox="1"/>
          <p:nvPr/>
        </p:nvSpPr>
        <p:spPr>
          <a:xfrm>
            <a:off x="400050" y="5819775"/>
            <a:ext cx="718840"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BEST FOR</a:t>
            </a:r>
            <a:endParaRPr lang="en-US" sz="863" dirty="0"/>
          </a:p>
        </p:txBody>
      </p:sp>
      <p:sp>
        <p:nvSpPr>
          <p:cNvPr id="100" name="Text WATCH OUT FOR"/>
          <p:cNvSpPr txBox="1"/>
          <p:nvPr/>
        </p:nvSpPr>
        <p:spPr>
          <a:xfrm>
            <a:off x="6286500" y="5819775"/>
            <a:ext cx="1193155"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WATCH OUT FOR</a:t>
            </a:r>
            <a:endParaRPr lang="en-US" sz="863" dirty="0"/>
          </a:p>
        </p:txBody>
      </p:sp>
      <p:sp>
        <p:nvSpPr>
          <p:cNvPr id="101" name="Text Consensus building brainstorm"/>
          <p:cNvSpPr txBox="1"/>
          <p:nvPr/>
        </p:nvSpPr>
        <p:spPr>
          <a:xfrm>
            <a:off x="400050" y="6000750"/>
            <a:ext cx="4588371"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Consensus building, brainstorming, and maker-checker review.</a:t>
            </a:r>
            <a:endParaRPr lang="en-US" sz="1238" dirty="0"/>
          </a:p>
        </p:txBody>
      </p:sp>
      <p:sp>
        <p:nvSpPr>
          <p:cNvPr id="102" name="Text Endless loops growing context"/>
          <p:cNvSpPr txBox="1"/>
          <p:nvPr/>
        </p:nvSpPr>
        <p:spPr>
          <a:xfrm>
            <a:off x="6286500" y="6000750"/>
            <a:ext cx="4507111"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Endless loops, growing context, and control past three agents.</a:t>
            </a:r>
            <a:endParaRPr lang="en-US" sz="1238" dirty="0"/>
          </a:p>
        </p:txBody>
      </p:sp>
      <p:sp>
        <p:nvSpPr>
          <p:cNvPr id="103" name="Text Group Chat Orchestration"/>
          <p:cNvSpPr txBox="1"/>
          <p:nvPr/>
        </p:nvSpPr>
        <p:spPr>
          <a:xfrm>
            <a:off x="400050" y="475926"/>
            <a:ext cx="4775746"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Group Chat Orchestration</a:t>
            </a:r>
            <a:endParaRPr lang="en-US" sz="3067" dirty="0"/>
          </a:p>
        </p:txBody>
      </p:sp>
      <p:sp>
        <p:nvSpPr>
          <p:cNvPr id="104" name="Text Agents discuss in one shared t"/>
          <p:cNvSpPr txBox="1"/>
          <p:nvPr/>
        </p:nvSpPr>
        <p:spPr>
          <a:xfrm>
            <a:off x="400050" y="1025625"/>
            <a:ext cx="7833122"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Agents discuss in one shared thread. A chat manager decides who speaks and when to stop.</a:t>
            </a:r>
            <a:endParaRPr lang="en-US" sz="1467" dirty="0"/>
          </a:p>
        </p:txBody>
      </p:sp>
      <p:sp>
        <p:nvSpPr>
          <p:cNvPr id="105"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106" name="Text 15"/>
          <p:cNvSpPr txBox="1"/>
          <p:nvPr/>
        </p:nvSpPr>
        <p:spPr>
          <a:xfrm>
            <a:off x="11629579" y="6306483"/>
            <a:ext cx="152846"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0" y="0"/>
            <a:ext cx="228600" cy="6858000"/>
          </a:xfrm>
          <a:prstGeom prst="rect">
            <a:avLst/>
          </a:prstGeom>
          <a:solidFill>
            <a:srgbClr val="22D3C5"/>
          </a:solidFill>
          <a:ln>
            <a:noFill/>
          </a:ln>
        </p:spPr>
      </p:sp>
      <p:sp>
        <p:nvSpPr>
          <p:cNvPr id="3" name="dg rect"/>
          <p:cNvSpPr/>
          <p:nvPr/>
        </p:nvSpPr>
        <p:spPr>
          <a:xfrm>
            <a:off x="10348340" y="533400"/>
            <a:ext cx="1443609" cy="266700"/>
          </a:xfrm>
          <a:prstGeom prst="roundRect">
            <a:avLst>
              <a:gd name="adj" fmla="val 50000"/>
            </a:avLst>
          </a:prstGeom>
          <a:solidFill>
            <a:srgbClr val="22D3C5"/>
          </a:solidFill>
          <a:ln>
            <a:noFill/>
          </a:ln>
        </p:spPr>
      </p:sp>
      <p:sp>
        <p:nvSpPr>
          <p:cNvPr id="4" name="Text WORKED EXAMPLE"/>
          <p:cNvSpPr txBox="1"/>
          <p:nvPr/>
        </p:nvSpPr>
        <p:spPr>
          <a:xfrm>
            <a:off x="10381815" y="612651"/>
            <a:ext cx="1376660" cy="142875"/>
          </a:xfrm>
          <a:prstGeom prst="rect">
            <a:avLst/>
          </a:prstGeom>
          <a:noFill/>
          <a:ln/>
        </p:spPr>
        <p:txBody>
          <a:bodyPr wrap="none" lIns="0" tIns="0" rIns="0" bIns="0" rtlCol="0" anchor="ctr"/>
          <a:lstStyle/>
          <a:p>
            <a:pPr algn="ctr" indent="0" marL="0">
              <a:buNone/>
            </a:pPr>
            <a:r>
              <a:rPr lang="en-US" sz="900" b="1" spc="165" kern="0" dirty="0">
                <a:solidFill>
                  <a:srgbClr val="0B0823"/>
                </a:solidFill>
                <a:latin typeface="Scotia" pitchFamily="34" charset="0"/>
                <a:ea typeface="Scotia" pitchFamily="34" charset="-122"/>
                <a:cs typeface="Scotia" pitchFamily="34" charset="-120"/>
              </a:rPr>
              <a:t>WORKED EXAMPLE</a:t>
            </a:r>
            <a:endParaRPr lang="en-US" sz="900" dirty="0"/>
          </a:p>
        </p:txBody>
      </p:sp>
      <p:sp>
        <p:nvSpPr>
          <p:cNvPr id="5" name="dg rect"/>
          <p:cNvSpPr/>
          <p:nvPr/>
        </p:nvSpPr>
        <p:spPr>
          <a:xfrm>
            <a:off x="400050" y="1771650"/>
            <a:ext cx="2381250" cy="1333500"/>
          </a:xfrm>
          <a:prstGeom prst="roundRect">
            <a:avLst>
              <a:gd name="adj" fmla="val 11429"/>
            </a:avLst>
          </a:prstGeom>
          <a:solidFill>
            <a:srgbClr val="FFFFFF">
              <a:alpha val="7000"/>
            </a:srgbClr>
          </a:solidFill>
          <a:ln w="15240" cap="flat">
            <a:solidFill>
              <a:srgbClr val="22D3C5">
                <a:alpha val="60000"/>
              </a:srgbClr>
            </a:solidFill>
            <a:miter lim="800000"/>
          </a:ln>
        </p:spPr>
      </p:sp>
      <p:sp>
        <p:nvSpPr>
          <p:cNvPr id="6" name="dg circle"/>
          <p:cNvSpPr/>
          <p:nvPr/>
        </p:nvSpPr>
        <p:spPr>
          <a:xfrm>
            <a:off x="523875" y="1914525"/>
            <a:ext cx="323850" cy="323850"/>
          </a:xfrm>
          <a:prstGeom prst="ellipse">
            <a:avLst/>
          </a:prstGeom>
          <a:solidFill>
            <a:srgbClr val="22D3C5"/>
          </a:solidFill>
          <a:ln>
            <a:noFill/>
          </a:ln>
        </p:spPr>
      </p:sp>
      <p:sp>
        <p:nvSpPr>
          <p:cNvPr id="7" name="dg i-users"/>
          <p:cNvSpPr/>
          <p:nvPr/>
        </p:nvSpPr>
        <p:spPr>
          <a:xfrm>
            <a:off x="618331" y="2015728"/>
            <a:ext cx="134937" cy="121444"/>
          </a:xfrm>
          <a:custGeom>
            <a:avLst/>
            <a:gdLst/>
            <a:ahLst/>
            <a:cxnLst/>
            <a:rect l="l" t="t" r="r" b="b"/>
            <a:pathLst>
              <a:path w="134937" h="121444">
                <a:moveTo>
                  <a:pt x="94456" y="121444"/>
                </a:moveTo>
                <a:lnTo>
                  <a:pt x="94456" y="107950"/>
                </a:lnTo>
                <a:cubicBezTo>
                  <a:pt x="94456" y="93045"/>
                  <a:pt x="82374" y="80962"/>
                  <a:pt x="67469" y="80962"/>
                </a:cubicBezTo>
                <a:lnTo>
                  <a:pt x="26987" y="80962"/>
                </a:lnTo>
                <a:cubicBezTo>
                  <a:pt x="12083" y="80962"/>
                  <a:pt x="0" y="93045"/>
                  <a:pt x="0" y="107950"/>
                </a:cubicBezTo>
                <a:lnTo>
                  <a:pt x="0" y="121444"/>
                </a:lnTo>
                <a:moveTo>
                  <a:pt x="74216" y="26987"/>
                </a:moveTo>
                <a:cubicBezTo>
                  <a:pt x="74216" y="41892"/>
                  <a:pt x="62133" y="53975"/>
                  <a:pt x="47228" y="53975"/>
                </a:cubicBezTo>
                <a:cubicBezTo>
                  <a:pt x="32323" y="53975"/>
                  <a:pt x="20241" y="41892"/>
                  <a:pt x="20241" y="26987"/>
                </a:cubicBezTo>
                <a:cubicBezTo>
                  <a:pt x="20241" y="12083"/>
                  <a:pt x="32323" y="0"/>
                  <a:pt x="47228" y="0"/>
                </a:cubicBezTo>
                <a:cubicBezTo>
                  <a:pt x="62133" y="0"/>
                  <a:pt x="74216" y="12083"/>
                  <a:pt x="74216" y="26987"/>
                </a:cubicBezTo>
                <a:close/>
                <a:moveTo>
                  <a:pt x="134937" y="121444"/>
                </a:moveTo>
                <a:lnTo>
                  <a:pt x="134937" y="107950"/>
                </a:lnTo>
                <a:cubicBezTo>
                  <a:pt x="134928" y="95651"/>
                  <a:pt x="126605" y="84914"/>
                  <a:pt x="114697" y="81840"/>
                </a:cubicBezTo>
                <a:moveTo>
                  <a:pt x="94456" y="877"/>
                </a:moveTo>
                <a:cubicBezTo>
                  <a:pt x="106398" y="3935"/>
                  <a:pt x="114750" y="14695"/>
                  <a:pt x="114750" y="27021"/>
                </a:cubicBezTo>
                <a:cubicBezTo>
                  <a:pt x="114750" y="39348"/>
                  <a:pt x="106398" y="50108"/>
                  <a:pt x="94456" y="53165"/>
                </a:cubicBezTo>
              </a:path>
            </a:pathLst>
          </a:custGeom>
          <a:noFill/>
          <a:ln w="12144" cap="rnd">
            <a:solidFill>
              <a:srgbClr val="0B0823"/>
            </a:solidFill>
            <a:round/>
          </a:ln>
        </p:spPr>
      </p:sp>
      <p:sp>
        <p:nvSpPr>
          <p:cNvPr id="8" name="Text Chat manager"/>
          <p:cNvSpPr txBox="1"/>
          <p:nvPr/>
        </p:nvSpPr>
        <p:spPr>
          <a:xfrm>
            <a:off x="952500" y="1943100"/>
            <a:ext cx="1101404"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Chat manager</a:t>
            </a:r>
            <a:endParaRPr lang="en-US" sz="1275" dirty="0"/>
          </a:p>
        </p:txBody>
      </p:sp>
      <p:sp>
        <p:nvSpPr>
          <p:cNvPr id="9" name="Text orchestrates only"/>
          <p:cNvSpPr txBox="1"/>
          <p:nvPr/>
        </p:nvSpPr>
        <p:spPr>
          <a:xfrm>
            <a:off x="952500" y="2162175"/>
            <a:ext cx="996553"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orchestrates only</a:t>
            </a:r>
            <a:endParaRPr lang="en-US" sz="938" dirty="0"/>
          </a:p>
        </p:txBody>
      </p:sp>
      <p:sp>
        <p:nvSpPr>
          <p:cNvPr id="10" name="Text Picks who speaks next"/>
          <p:cNvSpPr txBox="1"/>
          <p:nvPr/>
        </p:nvSpPr>
        <p:spPr>
          <a:xfrm>
            <a:off x="571500" y="2486025"/>
            <a:ext cx="1370261"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Picks who speaks next</a:t>
            </a:r>
            <a:endParaRPr lang="en-US" sz="1013" dirty="0"/>
          </a:p>
        </p:txBody>
      </p:sp>
      <p:sp>
        <p:nvSpPr>
          <p:cNvPr id="11" name="Text Stops once the reviewer"/>
          <p:cNvSpPr txBox="1"/>
          <p:nvPr/>
        </p:nvSpPr>
        <p:spPr>
          <a:xfrm>
            <a:off x="571500" y="2676525"/>
            <a:ext cx="1460748"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Stops once the reviewer</a:t>
            </a:r>
            <a:endParaRPr lang="en-US" sz="1013" dirty="0"/>
          </a:p>
        </p:txBody>
      </p:sp>
      <p:sp>
        <p:nvSpPr>
          <p:cNvPr id="12" name="Text approves the plan"/>
          <p:cNvSpPr txBox="1"/>
          <p:nvPr/>
        </p:nvSpPr>
        <p:spPr>
          <a:xfrm>
            <a:off x="571500" y="2867025"/>
            <a:ext cx="1100435"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approves the plan</a:t>
            </a:r>
            <a:endParaRPr lang="en-US" sz="1013" dirty="0"/>
          </a:p>
        </p:txBody>
      </p:sp>
      <p:sp>
        <p:nvSpPr>
          <p:cNvPr id="13" name="Text HOW IT RUNS"/>
          <p:cNvSpPr txBox="1"/>
          <p:nvPr/>
        </p:nvSpPr>
        <p:spPr>
          <a:xfrm>
            <a:off x="400050" y="3362325"/>
            <a:ext cx="936873"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HOW IT RUNS</a:t>
            </a:r>
            <a:endParaRPr lang="en-US" sz="825" dirty="0"/>
          </a:p>
        </p:txBody>
      </p:sp>
      <p:sp>
        <p:nvSpPr>
          <p:cNvPr id="14" name="Text Every agent reads the whole th"/>
          <p:cNvSpPr txBox="1"/>
          <p:nvPr/>
        </p:nvSpPr>
        <p:spPr>
          <a:xfrm>
            <a:off x="400050" y="3571875"/>
            <a:ext cx="2174825"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Every agent reads the whole thread,</a:t>
            </a:r>
            <a:endParaRPr lang="en-US" sz="1013" dirty="0"/>
          </a:p>
        </p:txBody>
      </p:sp>
      <p:sp>
        <p:nvSpPr>
          <p:cNvPr id="15" name="Text then adds its turn. Tool resul"/>
          <p:cNvSpPr txBox="1"/>
          <p:nvPr/>
        </p:nvSpPr>
        <p:spPr>
          <a:xfrm>
            <a:off x="400050" y="3762375"/>
            <a:ext cx="1853208"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then adds its turn. Tool results</a:t>
            </a:r>
            <a:endParaRPr lang="en-US" sz="1013" dirty="0"/>
          </a:p>
        </p:txBody>
      </p:sp>
      <p:sp>
        <p:nvSpPr>
          <p:cNvPr id="16" name="Text are trimmed before they are po"/>
          <p:cNvSpPr txBox="1"/>
          <p:nvPr/>
        </p:nvSpPr>
        <p:spPr>
          <a:xfrm>
            <a:off x="400050" y="3952875"/>
            <a:ext cx="2163961"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are trimmed before they are posted.</a:t>
            </a:r>
            <a:endParaRPr lang="en-US" sz="1013" dirty="0"/>
          </a:p>
        </p:txBody>
      </p:sp>
      <p:sp>
        <p:nvSpPr>
          <p:cNvPr id="17" name="dg rect"/>
          <p:cNvSpPr/>
          <p:nvPr/>
        </p:nvSpPr>
        <p:spPr>
          <a:xfrm>
            <a:off x="3143250" y="1676400"/>
            <a:ext cx="8648700" cy="3238500"/>
          </a:xfrm>
          <a:prstGeom prst="roundRect">
            <a:avLst>
              <a:gd name="adj" fmla="val 5294"/>
            </a:avLst>
          </a:prstGeom>
          <a:solidFill>
            <a:srgbClr val="FFFFFF">
              <a:alpha val="4000"/>
            </a:srgbClr>
          </a:solidFill>
          <a:ln w="15240" cap="flat">
            <a:solidFill>
              <a:srgbClr val="22D3C5">
                <a:alpha val="45000"/>
              </a:srgbClr>
            </a:solidFill>
            <a:miter lim="800000"/>
          </a:ln>
        </p:spPr>
      </p:sp>
      <p:sp>
        <p:nvSpPr>
          <p:cNvPr id="18" name="dg i-messages-square"/>
          <p:cNvSpPr/>
          <p:nvPr/>
        </p:nvSpPr>
        <p:spPr>
          <a:xfrm>
            <a:off x="3352800" y="1828800"/>
            <a:ext cx="190500" cy="190500"/>
          </a:xfrm>
          <a:custGeom>
            <a:avLst/>
            <a:gdLst/>
            <a:ahLst/>
            <a:cxnLst/>
            <a:rect l="l" t="t" r="r" b="b"/>
            <a:pathLst>
              <a:path w="190500" h="190500">
                <a:moveTo>
                  <a:pt x="114300" y="66675"/>
                </a:moveTo>
                <a:cubicBezTo>
                  <a:pt x="114300" y="77196"/>
                  <a:pt x="105771" y="85725"/>
                  <a:pt x="95250" y="85725"/>
                </a:cubicBezTo>
                <a:lnTo>
                  <a:pt x="38100" y="85725"/>
                </a:lnTo>
                <a:lnTo>
                  <a:pt x="0" y="123825"/>
                </a:lnTo>
                <a:lnTo>
                  <a:pt x="0" y="19050"/>
                </a:lnTo>
                <a:cubicBezTo>
                  <a:pt x="0" y="8529"/>
                  <a:pt x="8529" y="0"/>
                  <a:pt x="19050" y="0"/>
                </a:cubicBezTo>
                <a:lnTo>
                  <a:pt x="95250" y="0"/>
                </a:lnTo>
                <a:cubicBezTo>
                  <a:pt x="105771" y="0"/>
                  <a:pt x="114300" y="8529"/>
                  <a:pt x="114300" y="19050"/>
                </a:cubicBezTo>
                <a:close/>
                <a:moveTo>
                  <a:pt x="152400" y="66675"/>
                </a:moveTo>
                <a:lnTo>
                  <a:pt x="171450" y="66675"/>
                </a:lnTo>
                <a:cubicBezTo>
                  <a:pt x="181971" y="66675"/>
                  <a:pt x="190500" y="75204"/>
                  <a:pt x="190500" y="85725"/>
                </a:cubicBezTo>
                <a:lnTo>
                  <a:pt x="190500" y="190500"/>
                </a:lnTo>
                <a:lnTo>
                  <a:pt x="152400" y="152400"/>
                </a:lnTo>
                <a:lnTo>
                  <a:pt x="95250" y="152400"/>
                </a:lnTo>
                <a:cubicBezTo>
                  <a:pt x="84729" y="152400"/>
                  <a:pt x="76200" y="143871"/>
                  <a:pt x="76200" y="133350"/>
                </a:cubicBezTo>
                <a:lnTo>
                  <a:pt x="76200" y="123825"/>
                </a:lnTo>
              </a:path>
            </a:pathLst>
          </a:custGeom>
          <a:noFill/>
          <a:ln w="19050" cap="rnd">
            <a:solidFill>
              <a:srgbClr val="22D3C5"/>
            </a:solidFill>
            <a:round/>
          </a:ln>
        </p:spPr>
      </p:sp>
      <p:sp>
        <p:nvSpPr>
          <p:cNvPr id="19" name="Text Shared thread: review of migra"/>
          <p:cNvSpPr txBox="1"/>
          <p:nvPr/>
        </p:nvSpPr>
        <p:spPr>
          <a:xfrm>
            <a:off x="3657600" y="1857375"/>
            <a:ext cx="3830985"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Shared thread: review of migration 0042_add_status.sql</a:t>
            </a:r>
            <a:endParaRPr lang="en-US" sz="1163" dirty="0"/>
          </a:p>
        </p:txBody>
      </p:sp>
      <p:sp>
        <p:nvSpPr>
          <p:cNvPr id="20" name="dg rect"/>
          <p:cNvSpPr/>
          <p:nvPr/>
        </p:nvSpPr>
        <p:spPr>
          <a:xfrm>
            <a:off x="3333750" y="2152650"/>
            <a:ext cx="8267700" cy="438150"/>
          </a:xfrm>
          <a:prstGeom prst="roundRect">
            <a:avLst>
              <a:gd name="adj" fmla="val 26087"/>
            </a:avLst>
          </a:prstGeom>
          <a:solidFill>
            <a:srgbClr val="FFFFFF">
              <a:alpha val="6000"/>
            </a:srgbClr>
          </a:solidFill>
          <a:ln w="9525" cap="flat">
            <a:solidFill>
              <a:srgbClr val="22D3C5">
                <a:alpha val="25000"/>
              </a:srgbClr>
            </a:solidFill>
            <a:miter lim="800000"/>
          </a:ln>
        </p:spPr>
      </p:sp>
      <p:sp>
        <p:nvSpPr>
          <p:cNvPr id="21" name="dg circle"/>
          <p:cNvSpPr/>
          <p:nvPr/>
        </p:nvSpPr>
        <p:spPr>
          <a:xfrm>
            <a:off x="3457575" y="2247900"/>
            <a:ext cx="247650" cy="247650"/>
          </a:xfrm>
          <a:prstGeom prst="ellipse">
            <a:avLst/>
          </a:prstGeom>
          <a:solidFill>
            <a:srgbClr val="22D3C5"/>
          </a:solidFill>
          <a:ln>
            <a:noFill/>
          </a:ln>
        </p:spPr>
      </p:sp>
      <p:sp>
        <p:nvSpPr>
          <p:cNvPr id="22" name="Text 1"/>
          <p:cNvSpPr txBox="1"/>
          <p:nvPr/>
        </p:nvSpPr>
        <p:spPr>
          <a:xfrm>
            <a:off x="3524771" y="2311524"/>
            <a:ext cx="113258"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1</a:t>
            </a:r>
            <a:endParaRPr lang="en-US" sz="975" dirty="0"/>
          </a:p>
        </p:txBody>
      </p:sp>
      <p:sp>
        <p:nvSpPr>
          <p:cNvPr id="23" name="Text Author agent"/>
          <p:cNvSpPr txBox="1"/>
          <p:nvPr/>
        </p:nvSpPr>
        <p:spPr>
          <a:xfrm>
            <a:off x="3810000" y="2238375"/>
            <a:ext cx="865584"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Author agent</a:t>
            </a:r>
            <a:endParaRPr lang="en-US" sz="1050" dirty="0"/>
          </a:p>
        </p:txBody>
      </p:sp>
      <p:sp>
        <p:nvSpPr>
          <p:cNvPr id="24" name="Text Proposes: add status column wi"/>
          <p:cNvSpPr txBox="1"/>
          <p:nvPr/>
        </p:nvSpPr>
        <p:spPr>
          <a:xfrm>
            <a:off x="3810000" y="2400300"/>
            <a:ext cx="4271367" cy="152400"/>
          </a:xfrm>
          <a:prstGeom prst="rect">
            <a:avLst/>
          </a:prstGeom>
          <a:noFill/>
          <a:ln/>
        </p:spPr>
        <p:txBody>
          <a:bodyPr wrap="none" lIns="0" tIns="0" rIns="0" bIns="0" rtlCol="0" anchor="ctr"/>
          <a:lstStyle/>
          <a:p>
            <a:pPr algn="l" indent="0" marL="0">
              <a:buNone/>
            </a:pPr>
            <a:r>
              <a:rPr lang="en-US" sz="975" dirty="0">
                <a:solidFill>
                  <a:srgbClr val="E7E8FA"/>
                </a:solidFill>
                <a:latin typeface="Scotia Serif" pitchFamily="34" charset="0"/>
                <a:ea typeface="Scotia Serif" pitchFamily="34" charset="-122"/>
                <a:cs typeface="Scotia Serif" pitchFamily="34" charset="-120"/>
              </a:rPr>
              <a:t>Proposes: add status column with constraint NOT NULL, and add an index</a:t>
            </a:r>
            <a:endParaRPr lang="en-US" sz="975" dirty="0"/>
          </a:p>
        </p:txBody>
      </p:sp>
      <p:sp>
        <p:nvSpPr>
          <p:cNvPr id="25" name="dg rect"/>
          <p:cNvSpPr/>
          <p:nvPr/>
        </p:nvSpPr>
        <p:spPr>
          <a:xfrm>
            <a:off x="3333750" y="2686050"/>
            <a:ext cx="8267700" cy="438150"/>
          </a:xfrm>
          <a:prstGeom prst="roundRect">
            <a:avLst>
              <a:gd name="adj" fmla="val 26087"/>
            </a:avLst>
          </a:prstGeom>
          <a:solidFill>
            <a:srgbClr val="FFFFFF">
              <a:alpha val="6000"/>
            </a:srgbClr>
          </a:solidFill>
          <a:ln w="9525" cap="flat">
            <a:solidFill>
              <a:srgbClr val="22D3C5">
                <a:alpha val="25000"/>
              </a:srgbClr>
            </a:solidFill>
            <a:miter lim="800000"/>
          </a:ln>
        </p:spPr>
      </p:sp>
      <p:sp>
        <p:nvSpPr>
          <p:cNvPr id="26" name="dg circle"/>
          <p:cNvSpPr/>
          <p:nvPr/>
        </p:nvSpPr>
        <p:spPr>
          <a:xfrm>
            <a:off x="3457575" y="2781300"/>
            <a:ext cx="247650" cy="247650"/>
          </a:xfrm>
          <a:prstGeom prst="ellipse">
            <a:avLst/>
          </a:prstGeom>
          <a:solidFill>
            <a:srgbClr val="22D3C5"/>
          </a:solidFill>
          <a:ln>
            <a:noFill/>
          </a:ln>
        </p:spPr>
      </p:sp>
      <p:sp>
        <p:nvSpPr>
          <p:cNvPr id="27" name="Text 2"/>
          <p:cNvSpPr txBox="1"/>
          <p:nvPr/>
        </p:nvSpPr>
        <p:spPr>
          <a:xfrm>
            <a:off x="3518743" y="2844924"/>
            <a:ext cx="125313"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2</a:t>
            </a:r>
            <a:endParaRPr lang="en-US" sz="975" dirty="0"/>
          </a:p>
        </p:txBody>
      </p:sp>
      <p:sp>
        <p:nvSpPr>
          <p:cNvPr id="28" name="Text Schema reviewer"/>
          <p:cNvSpPr txBox="1"/>
          <p:nvPr/>
        </p:nvSpPr>
        <p:spPr>
          <a:xfrm>
            <a:off x="3810000" y="2771775"/>
            <a:ext cx="1095812"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Schema reviewer</a:t>
            </a:r>
            <a:endParaRPr lang="en-US" sz="1050" dirty="0"/>
          </a:p>
        </p:txBody>
      </p:sp>
      <p:sp>
        <p:nvSpPr>
          <p:cNvPr id="29" name="Text Adding the NOT NULL constraint"/>
          <p:cNvSpPr txBox="1"/>
          <p:nvPr/>
        </p:nvSpPr>
        <p:spPr>
          <a:xfrm>
            <a:off x="3810000" y="2933700"/>
            <a:ext cx="5033963" cy="152400"/>
          </a:xfrm>
          <a:prstGeom prst="rect">
            <a:avLst/>
          </a:prstGeom>
          <a:noFill/>
          <a:ln/>
        </p:spPr>
        <p:txBody>
          <a:bodyPr wrap="none" lIns="0" tIns="0" rIns="0" bIns="0" rtlCol="0" anchor="ctr"/>
          <a:lstStyle/>
          <a:p>
            <a:pPr algn="l" indent="0" marL="0">
              <a:buNone/>
            </a:pPr>
            <a:r>
              <a:rPr lang="en-US" sz="975" dirty="0">
                <a:solidFill>
                  <a:srgbClr val="E7E8FA"/>
                </a:solidFill>
                <a:latin typeface="Scotia Serif" pitchFamily="34" charset="0"/>
                <a:ea typeface="Scotia Serif" pitchFamily="34" charset="-122"/>
                <a:cs typeface="Scotia Serif" pitchFamily="34" charset="-120"/>
              </a:rPr>
              <a:t>Adding the NOT NULL constraint scans the whole table under a lock that blocks queries</a:t>
            </a:r>
            <a:endParaRPr lang="en-US" sz="975" dirty="0"/>
          </a:p>
        </p:txBody>
      </p:sp>
      <p:sp>
        <p:nvSpPr>
          <p:cNvPr id="30" name="dg rect"/>
          <p:cNvSpPr/>
          <p:nvPr/>
        </p:nvSpPr>
        <p:spPr>
          <a:xfrm>
            <a:off x="9982200" y="2771775"/>
            <a:ext cx="1428750" cy="266700"/>
          </a:xfrm>
          <a:prstGeom prst="roundRect">
            <a:avLst>
              <a:gd name="adj" fmla="val 50000"/>
            </a:avLst>
          </a:prstGeom>
          <a:solidFill>
            <a:srgbClr val="337EFF">
              <a:alpha val="20000"/>
            </a:srgbClr>
          </a:solidFill>
          <a:ln w="12383" cap="flat">
            <a:solidFill>
              <a:srgbClr val="337EFF"/>
            </a:solidFill>
            <a:miter lim="800000"/>
          </a:ln>
        </p:spPr>
      </p:sp>
      <p:sp>
        <p:nvSpPr>
          <p:cNvPr id="31" name="dg i-cloud"/>
          <p:cNvSpPr/>
          <p:nvPr/>
        </p:nvSpPr>
        <p:spPr>
          <a:xfrm>
            <a:off x="10089504" y="28511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32" name="Text Postgres MCP"/>
          <p:cNvSpPr txBox="1"/>
          <p:nvPr/>
        </p:nvSpPr>
        <p:spPr>
          <a:xfrm>
            <a:off x="10306050" y="2852738"/>
            <a:ext cx="802630"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Postgres MCP</a:t>
            </a:r>
            <a:endParaRPr lang="en-US" sz="938" dirty="0"/>
          </a:p>
        </p:txBody>
      </p:sp>
      <p:sp>
        <p:nvSpPr>
          <p:cNvPr id="33" name="dg rect"/>
          <p:cNvSpPr/>
          <p:nvPr/>
        </p:nvSpPr>
        <p:spPr>
          <a:xfrm>
            <a:off x="3333750" y="3219450"/>
            <a:ext cx="8267700" cy="438150"/>
          </a:xfrm>
          <a:prstGeom prst="roundRect">
            <a:avLst>
              <a:gd name="adj" fmla="val 26087"/>
            </a:avLst>
          </a:prstGeom>
          <a:solidFill>
            <a:srgbClr val="FFFFFF">
              <a:alpha val="6000"/>
            </a:srgbClr>
          </a:solidFill>
          <a:ln w="9525" cap="flat">
            <a:solidFill>
              <a:srgbClr val="22D3C5">
                <a:alpha val="25000"/>
              </a:srgbClr>
            </a:solidFill>
            <a:miter lim="800000"/>
          </a:ln>
        </p:spPr>
      </p:sp>
      <p:sp>
        <p:nvSpPr>
          <p:cNvPr id="34" name="dg circle"/>
          <p:cNvSpPr/>
          <p:nvPr/>
        </p:nvSpPr>
        <p:spPr>
          <a:xfrm>
            <a:off x="3457575" y="3314700"/>
            <a:ext cx="247650" cy="247650"/>
          </a:xfrm>
          <a:prstGeom prst="ellipse">
            <a:avLst/>
          </a:prstGeom>
          <a:solidFill>
            <a:srgbClr val="22D3C5"/>
          </a:solidFill>
          <a:ln>
            <a:noFill/>
          </a:ln>
        </p:spPr>
      </p:sp>
      <p:sp>
        <p:nvSpPr>
          <p:cNvPr id="35" name="Text 3"/>
          <p:cNvSpPr txBox="1"/>
          <p:nvPr/>
        </p:nvSpPr>
        <p:spPr>
          <a:xfrm>
            <a:off x="3519115" y="3378324"/>
            <a:ext cx="124569"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3</a:t>
            </a:r>
            <a:endParaRPr lang="en-US" sz="975" dirty="0"/>
          </a:p>
        </p:txBody>
      </p:sp>
      <p:sp>
        <p:nvSpPr>
          <p:cNvPr id="36" name="Text Author agent"/>
          <p:cNvSpPr txBox="1"/>
          <p:nvPr/>
        </p:nvSpPr>
        <p:spPr>
          <a:xfrm>
            <a:off x="3810000" y="3305175"/>
            <a:ext cx="865584"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Author agent</a:t>
            </a:r>
            <a:endParaRPr lang="en-US" sz="1050" dirty="0"/>
          </a:p>
        </p:txBody>
      </p:sp>
      <p:sp>
        <p:nvSpPr>
          <p:cNvPr id="37" name="Text Revises: add a nullable status"/>
          <p:cNvSpPr txBox="1"/>
          <p:nvPr/>
        </p:nvSpPr>
        <p:spPr>
          <a:xfrm>
            <a:off x="3810000" y="3467100"/>
            <a:ext cx="4598938" cy="152400"/>
          </a:xfrm>
          <a:prstGeom prst="rect">
            <a:avLst/>
          </a:prstGeom>
          <a:noFill/>
          <a:ln/>
        </p:spPr>
        <p:txBody>
          <a:bodyPr wrap="none" lIns="0" tIns="0" rIns="0" bIns="0" rtlCol="0" anchor="ctr"/>
          <a:lstStyle/>
          <a:p>
            <a:pPr algn="l" indent="0" marL="0">
              <a:buNone/>
            </a:pPr>
            <a:r>
              <a:rPr lang="en-US" sz="975" dirty="0">
                <a:solidFill>
                  <a:srgbClr val="E7E8FA"/>
                </a:solidFill>
                <a:latin typeface="Scotia Serif" pitchFamily="34" charset="0"/>
                <a:ea typeface="Scotia Serif" pitchFamily="34" charset="-122"/>
                <a:cs typeface="Scotia Serif" pitchFamily="34" charset="-120"/>
              </a:rPr>
              <a:t>Revises: add a nullable status column, backfill in batches then add the constraint</a:t>
            </a:r>
            <a:endParaRPr lang="en-US" sz="975" dirty="0"/>
          </a:p>
        </p:txBody>
      </p:sp>
      <p:sp>
        <p:nvSpPr>
          <p:cNvPr id="38" name="dg rect"/>
          <p:cNvSpPr/>
          <p:nvPr/>
        </p:nvSpPr>
        <p:spPr>
          <a:xfrm>
            <a:off x="3333750" y="3752850"/>
            <a:ext cx="8267700" cy="438150"/>
          </a:xfrm>
          <a:prstGeom prst="roundRect">
            <a:avLst>
              <a:gd name="adj" fmla="val 26087"/>
            </a:avLst>
          </a:prstGeom>
          <a:solidFill>
            <a:srgbClr val="FFFFFF">
              <a:alpha val="6000"/>
            </a:srgbClr>
          </a:solidFill>
          <a:ln w="9525" cap="flat">
            <a:solidFill>
              <a:srgbClr val="22D3C5">
                <a:alpha val="25000"/>
              </a:srgbClr>
            </a:solidFill>
            <a:miter lim="800000"/>
          </a:ln>
        </p:spPr>
      </p:sp>
      <p:sp>
        <p:nvSpPr>
          <p:cNvPr id="39" name="dg circle"/>
          <p:cNvSpPr/>
          <p:nvPr/>
        </p:nvSpPr>
        <p:spPr>
          <a:xfrm>
            <a:off x="3457575" y="3848100"/>
            <a:ext cx="247650" cy="247650"/>
          </a:xfrm>
          <a:prstGeom prst="ellipse">
            <a:avLst/>
          </a:prstGeom>
          <a:solidFill>
            <a:srgbClr val="22D3C5"/>
          </a:solidFill>
          <a:ln>
            <a:noFill/>
          </a:ln>
        </p:spPr>
      </p:sp>
      <p:sp>
        <p:nvSpPr>
          <p:cNvPr id="40" name="Text 4"/>
          <p:cNvSpPr txBox="1"/>
          <p:nvPr/>
        </p:nvSpPr>
        <p:spPr>
          <a:xfrm>
            <a:off x="3515841" y="3911724"/>
            <a:ext cx="131118"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4</a:t>
            </a:r>
            <a:endParaRPr lang="en-US" sz="975" dirty="0"/>
          </a:p>
        </p:txBody>
      </p:sp>
      <p:sp>
        <p:nvSpPr>
          <p:cNvPr id="41" name="Text Performance agent"/>
          <p:cNvSpPr txBox="1"/>
          <p:nvPr/>
        </p:nvSpPr>
        <p:spPr>
          <a:xfrm>
            <a:off x="3810000" y="3838575"/>
            <a:ext cx="1220242"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Performance agent</a:t>
            </a:r>
            <a:endParaRPr lang="en-US" sz="1050" dirty="0"/>
          </a:p>
        </p:txBody>
      </p:sp>
      <p:sp>
        <p:nvSpPr>
          <p:cNvPr id="42" name="Text EXPLAIN confirms the status qu"/>
          <p:cNvSpPr txBox="1"/>
          <p:nvPr/>
        </p:nvSpPr>
        <p:spPr>
          <a:xfrm>
            <a:off x="3810000" y="4000500"/>
            <a:ext cx="3191917" cy="152400"/>
          </a:xfrm>
          <a:prstGeom prst="rect">
            <a:avLst/>
          </a:prstGeom>
          <a:noFill/>
          <a:ln/>
        </p:spPr>
        <p:txBody>
          <a:bodyPr wrap="none" lIns="0" tIns="0" rIns="0" bIns="0" rtlCol="0" anchor="ctr"/>
          <a:lstStyle/>
          <a:p>
            <a:pPr algn="l" indent="0" marL="0">
              <a:buNone/>
            </a:pPr>
            <a:r>
              <a:rPr lang="en-US" sz="975" dirty="0">
                <a:solidFill>
                  <a:srgbClr val="E7E8FA"/>
                </a:solidFill>
                <a:latin typeface="Scotia Serif" pitchFamily="34" charset="0"/>
                <a:ea typeface="Scotia Serif" pitchFamily="34" charset="-122"/>
                <a:cs typeface="Scotia Serif" pitchFamily="34" charset="-120"/>
              </a:rPr>
              <a:t>EXPLAIN confirms the status query uses the new index</a:t>
            </a:r>
            <a:endParaRPr lang="en-US" sz="975" dirty="0"/>
          </a:p>
        </p:txBody>
      </p:sp>
      <p:sp>
        <p:nvSpPr>
          <p:cNvPr id="43" name="dg rect"/>
          <p:cNvSpPr/>
          <p:nvPr/>
        </p:nvSpPr>
        <p:spPr>
          <a:xfrm>
            <a:off x="9982200" y="3838575"/>
            <a:ext cx="1428750" cy="266700"/>
          </a:xfrm>
          <a:prstGeom prst="roundRect">
            <a:avLst>
              <a:gd name="adj" fmla="val 50000"/>
            </a:avLst>
          </a:prstGeom>
          <a:solidFill>
            <a:srgbClr val="337EFF">
              <a:alpha val="20000"/>
            </a:srgbClr>
          </a:solidFill>
          <a:ln w="12383" cap="flat">
            <a:solidFill>
              <a:srgbClr val="337EFF"/>
            </a:solidFill>
            <a:miter lim="800000"/>
          </a:ln>
        </p:spPr>
      </p:sp>
      <p:sp>
        <p:nvSpPr>
          <p:cNvPr id="44" name="dg i-cloud"/>
          <p:cNvSpPr/>
          <p:nvPr/>
        </p:nvSpPr>
        <p:spPr>
          <a:xfrm>
            <a:off x="10089504" y="39179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5" name="Text Postgres MCP"/>
          <p:cNvSpPr txBox="1"/>
          <p:nvPr/>
        </p:nvSpPr>
        <p:spPr>
          <a:xfrm>
            <a:off x="10306050" y="3919537"/>
            <a:ext cx="802630"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Postgres MCP</a:t>
            </a:r>
            <a:endParaRPr lang="en-US" sz="938" dirty="0"/>
          </a:p>
        </p:txBody>
      </p:sp>
      <p:sp>
        <p:nvSpPr>
          <p:cNvPr id="46" name="dg rect"/>
          <p:cNvSpPr/>
          <p:nvPr/>
        </p:nvSpPr>
        <p:spPr>
          <a:xfrm>
            <a:off x="3333750" y="4286250"/>
            <a:ext cx="8267700" cy="438150"/>
          </a:xfrm>
          <a:prstGeom prst="roundRect">
            <a:avLst>
              <a:gd name="adj" fmla="val 26087"/>
            </a:avLst>
          </a:prstGeom>
          <a:solidFill>
            <a:srgbClr val="FFFFFF">
              <a:alpha val="6000"/>
            </a:srgbClr>
          </a:solidFill>
          <a:ln w="9525" cap="flat">
            <a:solidFill>
              <a:srgbClr val="22D3C5">
                <a:alpha val="25000"/>
              </a:srgbClr>
            </a:solidFill>
            <a:miter lim="800000"/>
          </a:ln>
        </p:spPr>
      </p:sp>
      <p:sp>
        <p:nvSpPr>
          <p:cNvPr id="47" name="dg circle"/>
          <p:cNvSpPr/>
          <p:nvPr/>
        </p:nvSpPr>
        <p:spPr>
          <a:xfrm>
            <a:off x="3457575" y="4381500"/>
            <a:ext cx="247650" cy="247650"/>
          </a:xfrm>
          <a:prstGeom prst="ellipse">
            <a:avLst/>
          </a:prstGeom>
          <a:solidFill>
            <a:srgbClr val="22D3C5"/>
          </a:solidFill>
          <a:ln>
            <a:noFill/>
          </a:ln>
        </p:spPr>
      </p:sp>
      <p:sp>
        <p:nvSpPr>
          <p:cNvPr id="48" name="Text 5"/>
          <p:cNvSpPr txBox="1"/>
          <p:nvPr/>
        </p:nvSpPr>
        <p:spPr>
          <a:xfrm>
            <a:off x="3519785" y="4445124"/>
            <a:ext cx="123230"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5</a:t>
            </a:r>
            <a:endParaRPr lang="en-US" sz="975" dirty="0"/>
          </a:p>
        </p:txBody>
      </p:sp>
      <p:sp>
        <p:nvSpPr>
          <p:cNvPr id="49" name="Text Chat manager"/>
          <p:cNvSpPr txBox="1"/>
          <p:nvPr/>
        </p:nvSpPr>
        <p:spPr>
          <a:xfrm>
            <a:off x="3810000" y="4371975"/>
            <a:ext cx="917123"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Chat manager</a:t>
            </a:r>
            <a:endParaRPr lang="en-US" sz="1050" dirty="0"/>
          </a:p>
        </p:txBody>
      </p:sp>
      <p:sp>
        <p:nvSpPr>
          <p:cNvPr id="50" name="Text Reviewer approves the revised"/>
          <p:cNvSpPr txBox="1"/>
          <p:nvPr/>
        </p:nvSpPr>
        <p:spPr>
          <a:xfrm>
            <a:off x="3810000" y="4533900"/>
            <a:ext cx="3538091" cy="152400"/>
          </a:xfrm>
          <a:prstGeom prst="rect">
            <a:avLst/>
          </a:prstGeom>
          <a:noFill/>
          <a:ln/>
        </p:spPr>
        <p:txBody>
          <a:bodyPr wrap="none" lIns="0" tIns="0" rIns="0" bIns="0" rtlCol="0" anchor="ctr"/>
          <a:lstStyle/>
          <a:p>
            <a:pPr algn="l" indent="0" marL="0">
              <a:buNone/>
            </a:pPr>
            <a:r>
              <a:rPr lang="en-US" sz="975" dirty="0">
                <a:solidFill>
                  <a:srgbClr val="E7E8FA"/>
                </a:solidFill>
                <a:latin typeface="Scotia Serif" pitchFamily="34" charset="0"/>
                <a:ea typeface="Scotia Serif" pitchFamily="34" charset="-122"/>
                <a:cs typeface="Scotia Serif" pitchFamily="34" charset="-120"/>
              </a:rPr>
              <a:t>Reviewer approves the revised plan. Consensus reached, stop.</a:t>
            </a:r>
            <a:endParaRPr lang="en-US" sz="975" dirty="0"/>
          </a:p>
        </p:txBody>
      </p:sp>
      <p:sp>
        <p:nvSpPr>
          <p:cNvPr id="51" name="dg rect"/>
          <p:cNvSpPr/>
          <p:nvPr/>
        </p:nvSpPr>
        <p:spPr>
          <a:xfrm>
            <a:off x="400050" y="5048250"/>
            <a:ext cx="11391900" cy="438150"/>
          </a:xfrm>
          <a:prstGeom prst="roundRect">
            <a:avLst>
              <a:gd name="adj" fmla="val 30435"/>
            </a:avLst>
          </a:prstGeom>
          <a:solidFill>
            <a:srgbClr val="22D3C5">
              <a:alpha val="14000"/>
            </a:srgbClr>
          </a:solidFill>
          <a:ln w="15240" cap="flat">
            <a:solidFill>
              <a:srgbClr val="22D3C5"/>
            </a:solidFill>
            <a:miter lim="800000"/>
          </a:ln>
        </p:spPr>
      </p:sp>
      <p:sp>
        <p:nvSpPr>
          <p:cNvPr id="52" name="dg i-circle-check"/>
          <p:cNvSpPr/>
          <p:nvPr/>
        </p:nvSpPr>
        <p:spPr>
          <a:xfrm>
            <a:off x="571500" y="5172075"/>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9050" cap="rnd">
            <a:solidFill>
              <a:srgbClr val="22D3C5"/>
            </a:solidFill>
            <a:round/>
          </a:ln>
        </p:spPr>
      </p:sp>
      <p:sp>
        <p:nvSpPr>
          <p:cNvPr id="53" name="Text RESULT"/>
          <p:cNvSpPr txBox="1"/>
          <p:nvPr/>
        </p:nvSpPr>
        <p:spPr>
          <a:xfrm>
            <a:off x="895350" y="5238750"/>
            <a:ext cx="558701" cy="123825"/>
          </a:xfrm>
          <a:prstGeom prst="rect">
            <a:avLst/>
          </a:prstGeom>
          <a:noFill/>
          <a:ln/>
        </p:spPr>
        <p:txBody>
          <a:bodyPr wrap="none" lIns="0" tIns="0" rIns="0" bIns="0" rtlCol="0" anchor="ctr"/>
          <a:lstStyle/>
          <a:p>
            <a:pPr algn="l" indent="0" marL="0">
              <a:buNone/>
            </a:pPr>
            <a:r>
              <a:rPr lang="en-US" sz="863" b="1" spc="150" kern="0" dirty="0">
                <a:solidFill>
                  <a:srgbClr val="22D3C5"/>
                </a:solidFill>
                <a:latin typeface="Scotia" pitchFamily="34" charset="0"/>
                <a:ea typeface="Scotia" pitchFamily="34" charset="-122"/>
                <a:cs typeface="Scotia" pitchFamily="34" charset="-120"/>
              </a:rPr>
              <a:t>RESULT</a:t>
            </a:r>
            <a:endParaRPr lang="en-US" sz="863" dirty="0"/>
          </a:p>
        </p:txBody>
      </p:sp>
      <p:sp>
        <p:nvSpPr>
          <p:cNvPr id="54" name="Text Approved migration plan: nulla"/>
          <p:cNvSpPr txBox="1"/>
          <p:nvPr/>
        </p:nvSpPr>
        <p:spPr>
          <a:xfrm>
            <a:off x="1638300" y="5200650"/>
            <a:ext cx="5449342"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Approved migration plan: nullable column, batched backfill, then the constraint.</a:t>
            </a:r>
            <a:endParaRPr lang="en-US" sz="1163" dirty="0"/>
          </a:p>
        </p:txBody>
      </p:sp>
      <p:sp>
        <p:nvSpPr>
          <p:cNvPr id="55" name="dg line"/>
          <p:cNvSpPr/>
          <p:nvPr/>
        </p:nvSpPr>
        <p:spPr>
          <a:xfrm>
            <a:off x="400050" y="5676900"/>
            <a:ext cx="11391900" cy="0"/>
          </a:xfrm>
          <a:prstGeom prst="line">
            <a:avLst/>
          </a:prstGeom>
          <a:noFill/>
          <a:ln w="9525" cap="flat">
            <a:solidFill>
              <a:srgbClr val="BDC2EF">
                <a:alpha val="22000"/>
              </a:srgbClr>
            </a:solidFill>
            <a:miter lim="800000"/>
          </a:ln>
        </p:spPr>
      </p:sp>
      <p:sp>
        <p:nvSpPr>
          <p:cNvPr id="56" name="Text WHY GROUP CHAT FITS"/>
          <p:cNvSpPr txBox="1"/>
          <p:nvPr/>
        </p:nvSpPr>
        <p:spPr>
          <a:xfrm>
            <a:off x="400050" y="5819775"/>
            <a:ext cx="1658838" cy="123825"/>
          </a:xfrm>
          <a:prstGeom prst="rect">
            <a:avLst/>
          </a:prstGeom>
          <a:noFill/>
          <a:ln/>
        </p:spPr>
        <p:txBody>
          <a:bodyPr wrap="none" lIns="0" tIns="0" rIns="0" bIns="0" rtlCol="0" anchor="ctr"/>
          <a:lstStyle/>
          <a:p>
            <a:pPr algn="l" indent="0" marL="0">
              <a:buNone/>
            </a:pPr>
            <a:r>
              <a:rPr lang="en-US" sz="863" b="1" spc="165" kern="0" dirty="0">
                <a:solidFill>
                  <a:srgbClr val="22D3C5"/>
                </a:solidFill>
                <a:latin typeface="Scotia" pitchFamily="34" charset="0"/>
                <a:ea typeface="Scotia" pitchFamily="34" charset="-122"/>
                <a:cs typeface="Scotia" pitchFamily="34" charset="-120"/>
              </a:rPr>
              <a:t>WHY GROUP CHAT FITS</a:t>
            </a:r>
            <a:endParaRPr lang="en-US" sz="863" dirty="0"/>
          </a:p>
        </p:txBody>
      </p:sp>
      <p:sp>
        <p:nvSpPr>
          <p:cNvPr id="57" name="Text MCP IN THIS FLOW"/>
          <p:cNvSpPr txBox="1"/>
          <p:nvPr/>
        </p:nvSpPr>
        <p:spPr>
          <a:xfrm>
            <a:off x="6286500" y="5819775"/>
            <a:ext cx="1345555" cy="123825"/>
          </a:xfrm>
          <a:prstGeom prst="rect">
            <a:avLst/>
          </a:prstGeom>
          <a:noFill/>
          <a:ln/>
        </p:spPr>
        <p:txBody>
          <a:bodyPr wrap="none" lIns="0" tIns="0" rIns="0" bIns="0" rtlCol="0" anchor="ctr"/>
          <a:lstStyle/>
          <a:p>
            <a:pPr algn="l" indent="0" marL="0">
              <a:buNone/>
            </a:pPr>
            <a:r>
              <a:rPr lang="en-US" sz="863" b="1" spc="165" kern="0" dirty="0">
                <a:solidFill>
                  <a:srgbClr val="8FB4FF"/>
                </a:solidFill>
                <a:latin typeface="Scotia" pitchFamily="34" charset="0"/>
                <a:ea typeface="Scotia" pitchFamily="34" charset="-122"/>
                <a:cs typeface="Scotia" pitchFamily="34" charset="-120"/>
              </a:rPr>
              <a:t>MCP IN THIS FLOW</a:t>
            </a:r>
            <a:endParaRPr lang="en-US" sz="863" dirty="0"/>
          </a:p>
        </p:txBody>
      </p:sp>
      <p:sp>
        <p:nvSpPr>
          <p:cNvPr id="58" name="Text A maker and checkers need to c"/>
          <p:cNvSpPr txBox="1"/>
          <p:nvPr/>
        </p:nvSpPr>
        <p:spPr>
          <a:xfrm>
            <a:off x="400050" y="6000750"/>
            <a:ext cx="4951512"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A maker and checkers need to challenge each other until they agree.</a:t>
            </a:r>
            <a:endParaRPr lang="en-US" sz="1238" dirty="0"/>
          </a:p>
        </p:txBody>
      </p:sp>
      <p:sp>
        <p:nvSpPr>
          <p:cNvPr id="59" name="Text Only the database reviewers co"/>
          <p:cNvSpPr txBox="1"/>
          <p:nvPr/>
        </p:nvSpPr>
        <p:spPr>
          <a:xfrm>
            <a:off x="6286500" y="6000750"/>
            <a:ext cx="4565303"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Only the database reviewers connect to a Postgres MCP server.</a:t>
            </a:r>
            <a:endParaRPr lang="en-US" sz="1238" dirty="0"/>
          </a:p>
        </p:txBody>
      </p:sp>
      <p:sp>
        <p:nvSpPr>
          <p:cNvPr id="60" name="Text Database Migration Review"/>
          <p:cNvSpPr txBox="1"/>
          <p:nvPr/>
        </p:nvSpPr>
        <p:spPr>
          <a:xfrm>
            <a:off x="400050" y="475926"/>
            <a:ext cx="5133677"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Database Migration Review</a:t>
            </a:r>
            <a:endParaRPr lang="en-US" sz="3067" dirty="0"/>
          </a:p>
        </p:txBody>
      </p:sp>
      <p:sp>
        <p:nvSpPr>
          <p:cNvPr id="61" name="Text Trigger: a schema migration ne"/>
          <p:cNvSpPr txBox="1"/>
          <p:nvPr/>
        </p:nvSpPr>
        <p:spPr>
          <a:xfrm>
            <a:off x="400050" y="1025625"/>
            <a:ext cx="6406604"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Trigger: a schema migration needs agreement before it goes to production.</a:t>
            </a:r>
            <a:endParaRPr lang="en-US" sz="1467" dirty="0"/>
          </a:p>
        </p:txBody>
      </p:sp>
      <p:sp>
        <p:nvSpPr>
          <p:cNvPr id="62"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63" name="Text 16"/>
          <p:cNvSpPr txBox="1"/>
          <p:nvPr/>
        </p:nvSpPr>
        <p:spPr>
          <a:xfrm>
            <a:off x="11623179" y="6306483"/>
            <a:ext cx="159246"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823"/>
        </a:solidFill>
      </p:bgPr>
    </p:bg>
    <p:spTree>
      <p:nvGrpSpPr>
        <p:cNvPr id="1" name=""/>
        <p:cNvGrpSpPr/>
        <p:nvPr/>
      </p:nvGrpSpPr>
      <p:grpSpPr>
        <a:xfrm>
          <a:off x="0" y="0"/>
          <a:ext cx="0" cy="0"/>
          <a:chOff x="0" y="0"/>
          <a:chExt cx="0" cy="0"/>
        </a:xfrm>
      </p:grpSpPr>
      <p:sp>
        <p:nvSpPr>
          <p:cNvPr id="2" name="dg circle"/>
          <p:cNvSpPr/>
          <p:nvPr/>
        </p:nvSpPr>
        <p:spPr>
          <a:xfrm>
            <a:off x="10910888" y="623888"/>
            <a:ext cx="85725" cy="85725"/>
          </a:xfrm>
          <a:prstGeom prst="ellipse">
            <a:avLst/>
          </a:prstGeom>
          <a:noFill/>
          <a:ln w="14288" cap="flat">
            <a:solidFill>
              <a:srgbClr val="B0AAFF"/>
            </a:solidFill>
            <a:miter lim="800000"/>
          </a:ln>
        </p:spPr>
      </p:sp>
      <p:sp>
        <p:nvSpPr>
          <p:cNvPr id="3" name="dg circle"/>
          <p:cNvSpPr/>
          <p:nvPr/>
        </p:nvSpPr>
        <p:spPr>
          <a:xfrm>
            <a:off x="11120438" y="623888"/>
            <a:ext cx="85725" cy="85725"/>
          </a:xfrm>
          <a:prstGeom prst="ellipse">
            <a:avLst/>
          </a:prstGeom>
          <a:noFill/>
          <a:ln w="14288" cap="flat">
            <a:solidFill>
              <a:srgbClr val="B0AAFF"/>
            </a:solidFill>
            <a:miter lim="800000"/>
          </a:ln>
        </p:spPr>
      </p:sp>
      <p:sp>
        <p:nvSpPr>
          <p:cNvPr id="4" name="dg circle"/>
          <p:cNvSpPr/>
          <p:nvPr/>
        </p:nvSpPr>
        <p:spPr>
          <a:xfrm>
            <a:off x="11329988" y="623888"/>
            <a:ext cx="85725" cy="85725"/>
          </a:xfrm>
          <a:prstGeom prst="ellipse">
            <a:avLst/>
          </a:prstGeom>
          <a:noFill/>
          <a:ln w="14288" cap="flat">
            <a:solidFill>
              <a:srgbClr val="B0AAFF"/>
            </a:solidFill>
            <a:miter lim="800000"/>
          </a:ln>
        </p:spPr>
      </p:sp>
      <p:sp>
        <p:nvSpPr>
          <p:cNvPr id="5" name="dg circle"/>
          <p:cNvSpPr/>
          <p:nvPr/>
        </p:nvSpPr>
        <p:spPr>
          <a:xfrm>
            <a:off x="11525250" y="609600"/>
            <a:ext cx="114300" cy="114300"/>
          </a:xfrm>
          <a:prstGeom prst="ellipse">
            <a:avLst/>
          </a:prstGeom>
          <a:solidFill>
            <a:srgbClr val="6551FF"/>
          </a:solidFill>
          <a:ln w="14288" cap="flat">
            <a:solidFill>
              <a:srgbClr val="6551FF"/>
            </a:solidFill>
            <a:miter lim="800000"/>
          </a:ln>
        </p:spPr>
      </p:sp>
      <p:sp>
        <p:nvSpPr>
          <p:cNvPr id="6" name="dg circle"/>
          <p:cNvSpPr/>
          <p:nvPr/>
        </p:nvSpPr>
        <p:spPr>
          <a:xfrm>
            <a:off x="11749088" y="623888"/>
            <a:ext cx="85725" cy="85725"/>
          </a:xfrm>
          <a:prstGeom prst="ellipse">
            <a:avLst/>
          </a:prstGeom>
          <a:noFill/>
          <a:ln w="14288" cap="flat">
            <a:solidFill>
              <a:srgbClr val="B0AAFF"/>
            </a:solidFill>
            <a:miter lim="800000"/>
          </a:ln>
        </p:spPr>
      </p:sp>
      <p:sp>
        <p:nvSpPr>
          <p:cNvPr id="7" name="dg polygon"/>
          <p:cNvSpPr/>
          <p:nvPr/>
        </p:nvSpPr>
        <p:spPr>
          <a:xfrm>
            <a:off x="400050" y="2714625"/>
            <a:ext cx="1181100" cy="609600"/>
          </a:xfrm>
          <a:custGeom>
            <a:avLst/>
            <a:gdLst/>
            <a:ahLst/>
            <a:cxnLst/>
            <a:rect l="l" t="t" r="r" b="b"/>
            <a:pathLst>
              <a:path w="1181100" h="609600">
                <a:moveTo>
                  <a:pt x="133350" y="0"/>
                </a:moveTo>
                <a:lnTo>
                  <a:pt x="1181100" y="0"/>
                </a:lnTo>
                <a:lnTo>
                  <a:pt x="1047750" y="609600"/>
                </a:lnTo>
                <a:lnTo>
                  <a:pt x="0" y="609600"/>
                </a:lnTo>
                <a:close/>
              </a:path>
            </a:pathLst>
          </a:custGeom>
          <a:gradFill rotWithShape="1">
            <a:gsLst>
              <a:gs pos="0">
                <a:srgbClr val="7B69FF"/>
              </a:gs>
              <a:gs pos="100000">
                <a:srgbClr val="5141D3"/>
              </a:gs>
            </a:gsLst>
            <a:lin ang="2700000" scaled="1"/>
          </a:gradFill>
          <a:ln>
            <a:noFill/>
          </a:ln>
        </p:spPr>
      </p:sp>
      <p:sp>
        <p:nvSpPr>
          <p:cNvPr id="8" name="Text Input"/>
          <p:cNvSpPr txBox="1"/>
          <p:nvPr/>
        </p:nvSpPr>
        <p:spPr>
          <a:xfrm>
            <a:off x="759470" y="2867025"/>
            <a:ext cx="462260"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Input</a:t>
            </a:r>
            <a:endParaRPr lang="en-US" sz="1275" dirty="0"/>
          </a:p>
        </p:txBody>
      </p:sp>
      <p:sp>
        <p:nvSpPr>
          <p:cNvPr id="9" name="Text task"/>
          <p:cNvSpPr txBox="1"/>
          <p:nvPr/>
        </p:nvSpPr>
        <p:spPr>
          <a:xfrm>
            <a:off x="834554" y="3086100"/>
            <a:ext cx="312093" cy="152400"/>
          </a:xfrm>
          <a:prstGeom prst="rect">
            <a:avLst/>
          </a:prstGeom>
          <a:noFill/>
          <a:ln/>
        </p:spPr>
        <p:txBody>
          <a:bodyPr wrap="none" lIns="0" tIns="0" rIns="0" bIns="0" rtlCol="0" anchor="ctr"/>
          <a:lstStyle/>
          <a:p>
            <a:pPr algn="ctr" indent="0" marL="0">
              <a:buNone/>
            </a:pPr>
            <a:r>
              <a:rPr lang="en-US" sz="1050" dirty="0">
                <a:solidFill>
                  <a:srgbClr val="FFFFFF"/>
                </a:solidFill>
                <a:latin typeface="Scotia Serif" pitchFamily="34" charset="0"/>
                <a:ea typeface="Scotia Serif" pitchFamily="34" charset="-122"/>
                <a:cs typeface="Scotia Serif" pitchFamily="34" charset="-120"/>
              </a:rPr>
              <a:t>task</a:t>
            </a:r>
            <a:endParaRPr lang="en-US" sz="1050" dirty="0"/>
          </a:p>
        </p:txBody>
      </p:sp>
      <p:sp>
        <p:nvSpPr>
          <p:cNvPr id="10" name="dg path"/>
          <p:cNvSpPr/>
          <p:nvPr/>
        </p:nvSpPr>
        <p:spPr>
          <a:xfrm>
            <a:off x="1619250" y="3019425"/>
            <a:ext cx="588645" cy="0"/>
          </a:xfrm>
          <a:prstGeom prst="line">
            <a:avLst/>
          </a:prstGeom>
          <a:noFill/>
          <a:ln w="28575" cap="rnd">
            <a:solidFill>
              <a:srgbClr val="B0AAFF"/>
            </a:solidFill>
            <a:miter lim="800000"/>
            <a:tailEnd type="triangle" w="med" len="med"/>
          </a:ln>
        </p:spPr>
      </p:sp>
      <p:sp>
        <p:nvSpPr>
          <p:cNvPr id="11" name="dg rect"/>
          <p:cNvSpPr/>
          <p:nvPr/>
        </p:nvSpPr>
        <p:spPr>
          <a:xfrm>
            <a:off x="2266950" y="2495550"/>
            <a:ext cx="1866900" cy="1047750"/>
          </a:xfrm>
          <a:prstGeom prst="roundRect">
            <a:avLst>
              <a:gd name="adj" fmla="val 16364"/>
            </a:avLst>
          </a:prstGeom>
          <a:gradFill rotWithShape="1">
            <a:gsLst>
              <a:gs pos="0">
                <a:srgbClr val="7B69FF"/>
              </a:gs>
              <a:gs pos="100000">
                <a:srgbClr val="5141D3"/>
              </a:gs>
            </a:gsLst>
            <a:lin ang="2700000" scaled="1"/>
          </a:gradFill>
          <a:ln w="17145" cap="flat">
            <a:solidFill>
              <a:srgbClr val="B0AAFF"/>
            </a:solidFill>
            <a:miter lim="800000"/>
          </a:ln>
        </p:spPr>
      </p:sp>
      <p:sp>
        <p:nvSpPr>
          <p:cNvPr id="12" name="dg circle"/>
          <p:cNvSpPr/>
          <p:nvPr/>
        </p:nvSpPr>
        <p:spPr>
          <a:xfrm>
            <a:off x="2419350" y="2628900"/>
            <a:ext cx="381000" cy="381000"/>
          </a:xfrm>
          <a:prstGeom prst="ellipse">
            <a:avLst/>
          </a:prstGeom>
          <a:solidFill>
            <a:srgbClr val="FFFFFF">
              <a:alpha val="19000"/>
            </a:srgbClr>
          </a:solidFill>
          <a:ln>
            <a:noFill/>
          </a:ln>
        </p:spPr>
      </p:sp>
      <p:sp>
        <p:nvSpPr>
          <p:cNvPr id="13" name="dg i-bot"/>
          <p:cNvSpPr/>
          <p:nvPr/>
        </p:nvSpPr>
        <p:spPr>
          <a:xfrm>
            <a:off x="2530475" y="27559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14" name="Text Agent 1"/>
          <p:cNvSpPr txBox="1"/>
          <p:nvPr/>
        </p:nvSpPr>
        <p:spPr>
          <a:xfrm>
            <a:off x="2914650" y="2733675"/>
            <a:ext cx="707529" cy="228600"/>
          </a:xfrm>
          <a:prstGeom prst="rect">
            <a:avLst/>
          </a:prstGeom>
          <a:noFill/>
          <a:ln/>
        </p:spPr>
        <p:txBody>
          <a:bodyPr wrap="none" lIns="0" tIns="0" rIns="0" bIns="0" rtlCol="0" anchor="ctr"/>
          <a:lstStyle/>
          <a:p>
            <a:pPr algn="l" indent="0" marL="0">
              <a:buNone/>
            </a:pPr>
            <a:r>
              <a:rPr lang="en-US" sz="1500" b="1" dirty="0">
                <a:solidFill>
                  <a:srgbClr val="FFFFFF"/>
                </a:solidFill>
                <a:latin typeface="Scotia" pitchFamily="34" charset="0"/>
                <a:ea typeface="Scotia" pitchFamily="34" charset="-122"/>
                <a:cs typeface="Scotia" pitchFamily="34" charset="-120"/>
              </a:rPr>
              <a:t>Agent 1</a:t>
            </a:r>
            <a:endParaRPr lang="en-US" sz="1500" dirty="0"/>
          </a:p>
        </p:txBody>
      </p:sp>
      <p:sp>
        <p:nvSpPr>
          <p:cNvPr id="15" name="Text Triage generalist"/>
          <p:cNvSpPr txBox="1"/>
          <p:nvPr/>
        </p:nvSpPr>
        <p:spPr>
          <a:xfrm>
            <a:off x="2476500" y="3067050"/>
            <a:ext cx="1220242"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Triage / generalist</a:t>
            </a:r>
            <a:endParaRPr lang="en-US" sz="1088" dirty="0"/>
          </a:p>
        </p:txBody>
      </p:sp>
      <p:sp>
        <p:nvSpPr>
          <p:cNvPr id="16" name="Text Handle it or hand it off"/>
          <p:cNvSpPr txBox="1"/>
          <p:nvPr/>
        </p:nvSpPr>
        <p:spPr>
          <a:xfrm>
            <a:off x="2476500" y="3286125"/>
            <a:ext cx="1365484" cy="152400"/>
          </a:xfrm>
          <a:prstGeom prst="rect">
            <a:avLst/>
          </a:prstGeom>
          <a:noFill/>
          <a:ln/>
        </p:spPr>
        <p:txBody>
          <a:bodyPr wrap="none" lIns="0" tIns="0" rIns="0" bIns="0" rtlCol="0" anchor="ctr"/>
          <a:lstStyle/>
          <a:p>
            <a:pPr algn="l" indent="0" marL="0">
              <a:buNone/>
            </a:pPr>
            <a:r>
              <a:rPr lang="en-US" sz="975" b="1" dirty="0">
                <a:solidFill>
                  <a:srgbClr val="FFFFFF"/>
                </a:solidFill>
                <a:latin typeface="Scotia" pitchFamily="34" charset="0"/>
                <a:ea typeface="Scotia" pitchFamily="34" charset="-122"/>
                <a:cs typeface="Scotia" pitchFamily="34" charset="-120"/>
              </a:rPr>
              <a:t>Handle it, or hand it off</a:t>
            </a:r>
            <a:endParaRPr lang="en-US" sz="975" dirty="0"/>
          </a:p>
        </p:txBody>
      </p:sp>
      <p:sp>
        <p:nvSpPr>
          <p:cNvPr id="17" name="dg rect"/>
          <p:cNvSpPr/>
          <p:nvPr/>
        </p:nvSpPr>
        <p:spPr>
          <a:xfrm>
            <a:off x="2590800" y="3752850"/>
            <a:ext cx="800100" cy="323850"/>
          </a:xfrm>
          <a:prstGeom prst="roundRect">
            <a:avLst>
              <a:gd name="adj" fmla="val 38462"/>
            </a:avLst>
          </a:prstGeom>
          <a:solidFill>
            <a:srgbClr val="337EFF">
              <a:alpha val="22000"/>
            </a:srgbClr>
          </a:solidFill>
          <a:ln w="13335" cap="flat">
            <a:solidFill>
              <a:srgbClr val="337EFF"/>
            </a:solidFill>
            <a:miter lim="800000"/>
          </a:ln>
        </p:spPr>
      </p:sp>
      <p:sp>
        <p:nvSpPr>
          <p:cNvPr id="18" name="dg i-cloud"/>
          <p:cNvSpPr/>
          <p:nvPr/>
        </p:nvSpPr>
        <p:spPr>
          <a:xfrm>
            <a:off x="2698104" y="386075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19" name="Text MCP"/>
          <p:cNvSpPr txBox="1"/>
          <p:nvPr/>
        </p:nvSpPr>
        <p:spPr>
          <a:xfrm>
            <a:off x="2914650" y="3862387"/>
            <a:ext cx="306884"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MCP</a:t>
            </a:r>
            <a:endParaRPr lang="en-US" sz="938" dirty="0"/>
          </a:p>
        </p:txBody>
      </p:sp>
      <p:sp>
        <p:nvSpPr>
          <p:cNvPr id="20" name="dg path"/>
          <p:cNvSpPr/>
          <p:nvPr/>
        </p:nvSpPr>
        <p:spPr>
          <a:xfrm>
            <a:off x="2990850" y="3571875"/>
            <a:ext cx="0" cy="171450"/>
          </a:xfrm>
          <a:prstGeom prst="line">
            <a:avLst/>
          </a:prstGeom>
          <a:noFill/>
          <a:ln w="17145" cap="rnd">
            <a:solidFill>
              <a:srgbClr val="337EFF">
                <a:alpha val="90000"/>
              </a:srgbClr>
            </a:solidFill>
            <a:custDash>
              <a:ds d="222222" sp="277778"/>
            </a:custDash>
            <a:miter lim="800000"/>
          </a:ln>
        </p:spPr>
      </p:sp>
      <p:sp>
        <p:nvSpPr>
          <p:cNvPr id="21" name="dg circle"/>
          <p:cNvSpPr/>
          <p:nvPr/>
        </p:nvSpPr>
        <p:spPr>
          <a:xfrm>
            <a:off x="2957513" y="3538538"/>
            <a:ext cx="66675" cy="66675"/>
          </a:xfrm>
          <a:prstGeom prst="ellipse">
            <a:avLst/>
          </a:prstGeom>
          <a:solidFill>
            <a:srgbClr val="337EFF"/>
          </a:solidFill>
          <a:ln>
            <a:noFill/>
          </a:ln>
        </p:spPr>
      </p:sp>
      <p:sp>
        <p:nvSpPr>
          <p:cNvPr id="22" name="Text MCP LAYER"/>
          <p:cNvSpPr txBox="1"/>
          <p:nvPr/>
        </p:nvSpPr>
        <p:spPr>
          <a:xfrm>
            <a:off x="400050" y="3600450"/>
            <a:ext cx="807541" cy="123825"/>
          </a:xfrm>
          <a:prstGeom prst="rect">
            <a:avLst/>
          </a:prstGeom>
          <a:noFill/>
          <a:ln/>
        </p:spPr>
        <p:txBody>
          <a:bodyPr wrap="none" lIns="0" tIns="0" rIns="0" bIns="0" rtlCol="0" anchor="ctr"/>
          <a:lstStyle/>
          <a:p>
            <a:pPr algn="l" indent="0" marL="0">
              <a:buNone/>
            </a:pPr>
            <a:r>
              <a:rPr lang="en-US" sz="863" b="1" spc="150" kern="0" dirty="0">
                <a:solidFill>
                  <a:srgbClr val="8FB4FF"/>
                </a:solidFill>
                <a:latin typeface="Scotia" pitchFamily="34" charset="0"/>
                <a:ea typeface="Scotia" pitchFamily="34" charset="-122"/>
                <a:cs typeface="Scotia" pitchFamily="34" charset="-120"/>
              </a:rPr>
              <a:t>MCP LAYER</a:t>
            </a:r>
            <a:endParaRPr lang="en-US" sz="863" dirty="0"/>
          </a:p>
        </p:txBody>
      </p:sp>
      <p:sp>
        <p:nvSpPr>
          <p:cNvPr id="23" name="Text only the active agent s"/>
          <p:cNvSpPr txBox="1"/>
          <p:nvPr/>
        </p:nvSpPr>
        <p:spPr>
          <a:xfrm>
            <a:off x="400050" y="3790950"/>
            <a:ext cx="1409998"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only the active agent's</a:t>
            </a:r>
            <a:endParaRPr lang="en-US" sz="1050" dirty="0"/>
          </a:p>
        </p:txBody>
      </p:sp>
      <p:sp>
        <p:nvSpPr>
          <p:cNvPr id="24" name="Text tools are in use"/>
          <p:cNvSpPr txBox="1"/>
          <p:nvPr/>
        </p:nvSpPr>
        <p:spPr>
          <a:xfrm>
            <a:off x="400050" y="3971925"/>
            <a:ext cx="967532"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tools are in use</a:t>
            </a:r>
            <a:endParaRPr lang="en-US" sz="1050" dirty="0"/>
          </a:p>
        </p:txBody>
      </p:sp>
      <p:sp>
        <p:nvSpPr>
          <p:cNvPr id="25" name="dg circle"/>
          <p:cNvSpPr/>
          <p:nvPr/>
        </p:nvSpPr>
        <p:spPr>
          <a:xfrm>
            <a:off x="1847850" y="2676525"/>
            <a:ext cx="228600" cy="228600"/>
          </a:xfrm>
          <a:prstGeom prst="ellipse">
            <a:avLst/>
          </a:prstGeom>
          <a:solidFill>
            <a:srgbClr val="6551FF"/>
          </a:solidFill>
          <a:ln>
            <a:noFill/>
          </a:ln>
        </p:spPr>
      </p:sp>
      <p:sp>
        <p:nvSpPr>
          <p:cNvPr id="26" name="Text 1"/>
          <p:cNvSpPr txBox="1"/>
          <p:nvPr/>
        </p:nvSpPr>
        <p:spPr>
          <a:xfrm>
            <a:off x="1905521" y="2730624"/>
            <a:ext cx="11325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1</a:t>
            </a:r>
            <a:endParaRPr lang="en-US" sz="975" dirty="0"/>
          </a:p>
        </p:txBody>
      </p:sp>
      <p:sp>
        <p:nvSpPr>
          <p:cNvPr id="27" name="dg circle"/>
          <p:cNvSpPr/>
          <p:nvPr/>
        </p:nvSpPr>
        <p:spPr>
          <a:xfrm>
            <a:off x="400050" y="4972050"/>
            <a:ext cx="228600" cy="228600"/>
          </a:xfrm>
          <a:prstGeom prst="ellipse">
            <a:avLst/>
          </a:prstGeom>
          <a:solidFill>
            <a:srgbClr val="6551FF"/>
          </a:solidFill>
          <a:ln>
            <a:noFill/>
          </a:ln>
        </p:spPr>
      </p:sp>
      <p:sp>
        <p:nvSpPr>
          <p:cNvPr id="28" name="Text 1"/>
          <p:cNvSpPr txBox="1"/>
          <p:nvPr/>
        </p:nvSpPr>
        <p:spPr>
          <a:xfrm>
            <a:off x="457721" y="5026149"/>
            <a:ext cx="11325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1</a:t>
            </a:r>
            <a:endParaRPr lang="en-US" sz="975" dirty="0"/>
          </a:p>
        </p:txBody>
      </p:sp>
      <p:sp>
        <p:nvSpPr>
          <p:cNvPr id="29" name="Text Agent 1 receives and"/>
          <p:cNvSpPr txBox="1"/>
          <p:nvPr/>
        </p:nvSpPr>
        <p:spPr>
          <a:xfrm>
            <a:off x="704850" y="5019675"/>
            <a:ext cx="1254175"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Agent 1 receives and</a:t>
            </a:r>
            <a:endParaRPr lang="en-US" sz="1013" dirty="0"/>
          </a:p>
        </p:txBody>
      </p:sp>
      <p:sp>
        <p:nvSpPr>
          <p:cNvPr id="30" name="Text analyses the task"/>
          <p:cNvSpPr txBox="1"/>
          <p:nvPr/>
        </p:nvSpPr>
        <p:spPr>
          <a:xfrm>
            <a:off x="704850" y="5191125"/>
            <a:ext cx="1066056"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analyses the task</a:t>
            </a:r>
            <a:endParaRPr lang="en-US" sz="1013" dirty="0"/>
          </a:p>
        </p:txBody>
      </p:sp>
      <p:sp>
        <p:nvSpPr>
          <p:cNvPr id="31" name="dg rect"/>
          <p:cNvSpPr/>
          <p:nvPr/>
        </p:nvSpPr>
        <p:spPr>
          <a:xfrm>
            <a:off x="2266950" y="1733550"/>
            <a:ext cx="9525000" cy="400050"/>
          </a:xfrm>
          <a:prstGeom prst="roundRect">
            <a:avLst>
              <a:gd name="adj" fmla="val 33333"/>
            </a:avLst>
          </a:prstGeom>
          <a:noFill/>
          <a:ln w="15240" cap="flat">
            <a:solidFill>
              <a:srgbClr val="2FBF71"/>
            </a:solidFill>
            <a:miter lim="800000"/>
          </a:ln>
        </p:spPr>
      </p:sp>
      <p:sp>
        <p:nvSpPr>
          <p:cNvPr id="32" name="dg i-circle-check"/>
          <p:cNvSpPr/>
          <p:nvPr/>
        </p:nvSpPr>
        <p:spPr>
          <a:xfrm>
            <a:off x="2476500" y="1838325"/>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7145" cap="rnd">
            <a:solidFill>
              <a:srgbClr val="2FBF71"/>
            </a:solidFill>
            <a:round/>
          </a:ln>
        </p:spPr>
      </p:sp>
      <p:sp>
        <p:nvSpPr>
          <p:cNvPr id="33" name="Text Result returned: one final ans"/>
          <p:cNvSpPr txBox="1"/>
          <p:nvPr/>
        </p:nvSpPr>
        <p:spPr>
          <a:xfrm>
            <a:off x="2781300" y="1866900"/>
            <a:ext cx="4931866"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Result returned: one final answer from whichever agent resolves the task</a:t>
            </a:r>
            <a:endParaRPr lang="en-US" sz="1163" dirty="0"/>
          </a:p>
        </p:txBody>
      </p:sp>
      <p:sp>
        <p:nvSpPr>
          <p:cNvPr id="34" name="Text RESOLVED"/>
          <p:cNvSpPr txBox="1"/>
          <p:nvPr/>
        </p:nvSpPr>
        <p:spPr>
          <a:xfrm>
            <a:off x="400050" y="1895475"/>
            <a:ext cx="752326" cy="123825"/>
          </a:xfrm>
          <a:prstGeom prst="rect">
            <a:avLst/>
          </a:prstGeom>
          <a:noFill/>
          <a:ln/>
        </p:spPr>
        <p:txBody>
          <a:bodyPr wrap="none" lIns="0" tIns="0" rIns="0" bIns="0" rtlCol="0" anchor="ctr"/>
          <a:lstStyle/>
          <a:p>
            <a:pPr algn="l" indent="0" marL="0">
              <a:buNone/>
            </a:pPr>
            <a:r>
              <a:rPr lang="en-US" sz="863" b="1" spc="150" kern="0" dirty="0">
                <a:solidFill>
                  <a:srgbClr val="2FBF71"/>
                </a:solidFill>
                <a:latin typeface="Scotia" pitchFamily="34" charset="0"/>
                <a:ea typeface="Scotia" pitchFamily="34" charset="-122"/>
                <a:cs typeface="Scotia" pitchFamily="34" charset="-120"/>
              </a:rPr>
              <a:t>RESOLVED</a:t>
            </a:r>
            <a:endParaRPr lang="en-US" sz="863" dirty="0"/>
          </a:p>
        </p:txBody>
      </p:sp>
      <p:sp>
        <p:nvSpPr>
          <p:cNvPr id="35" name="dg path"/>
          <p:cNvSpPr/>
          <p:nvPr/>
        </p:nvSpPr>
        <p:spPr>
          <a:xfrm flipV="1">
            <a:off x="3200400" y="2173605"/>
            <a:ext cx="0" cy="283845"/>
          </a:xfrm>
          <a:prstGeom prst="line">
            <a:avLst/>
          </a:prstGeom>
          <a:noFill/>
          <a:ln w="22860" cap="rnd">
            <a:solidFill>
              <a:srgbClr val="2FBF71"/>
            </a:solidFill>
            <a:miter lim="800000"/>
            <a:tailEnd type="triangle" w="lg" len="lg"/>
          </a:ln>
        </p:spPr>
      </p:sp>
      <p:sp>
        <p:nvSpPr>
          <p:cNvPr id="36" name="dg circle"/>
          <p:cNvSpPr/>
          <p:nvPr/>
        </p:nvSpPr>
        <p:spPr>
          <a:xfrm>
            <a:off x="3352800" y="2200275"/>
            <a:ext cx="228600" cy="228600"/>
          </a:xfrm>
          <a:prstGeom prst="ellipse">
            <a:avLst/>
          </a:prstGeom>
          <a:solidFill>
            <a:srgbClr val="2FBF71"/>
          </a:solidFill>
          <a:ln>
            <a:noFill/>
          </a:ln>
        </p:spPr>
      </p:sp>
      <p:sp>
        <p:nvSpPr>
          <p:cNvPr id="37" name="Text 2"/>
          <p:cNvSpPr txBox="1"/>
          <p:nvPr/>
        </p:nvSpPr>
        <p:spPr>
          <a:xfrm>
            <a:off x="3404443" y="2254374"/>
            <a:ext cx="125313"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2</a:t>
            </a:r>
            <a:endParaRPr lang="en-US" sz="975" dirty="0"/>
          </a:p>
        </p:txBody>
      </p:sp>
      <p:sp>
        <p:nvSpPr>
          <p:cNvPr id="38" name="dg circle"/>
          <p:cNvSpPr/>
          <p:nvPr/>
        </p:nvSpPr>
        <p:spPr>
          <a:xfrm>
            <a:off x="2676525" y="4972050"/>
            <a:ext cx="228600" cy="228600"/>
          </a:xfrm>
          <a:prstGeom prst="ellipse">
            <a:avLst/>
          </a:prstGeom>
          <a:solidFill>
            <a:srgbClr val="2FBF71"/>
          </a:solidFill>
          <a:ln>
            <a:noFill/>
          </a:ln>
        </p:spPr>
      </p:sp>
      <p:sp>
        <p:nvSpPr>
          <p:cNvPr id="39" name="Text 2"/>
          <p:cNvSpPr txBox="1"/>
          <p:nvPr/>
        </p:nvSpPr>
        <p:spPr>
          <a:xfrm>
            <a:off x="2728168" y="5026149"/>
            <a:ext cx="125313"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2</a:t>
            </a:r>
            <a:endParaRPr lang="en-US" sz="975" dirty="0"/>
          </a:p>
        </p:txBody>
      </p:sp>
      <p:sp>
        <p:nvSpPr>
          <p:cNvPr id="40" name="Text It can handle it:"/>
          <p:cNvSpPr txBox="1"/>
          <p:nvPr/>
        </p:nvSpPr>
        <p:spPr>
          <a:xfrm>
            <a:off x="2981325" y="5019675"/>
            <a:ext cx="958900"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It can handle it:</a:t>
            </a:r>
            <a:endParaRPr lang="en-US" sz="1013" dirty="0"/>
          </a:p>
        </p:txBody>
      </p:sp>
      <p:sp>
        <p:nvSpPr>
          <p:cNvPr id="41" name="Text return the result"/>
          <p:cNvSpPr txBox="1"/>
          <p:nvPr/>
        </p:nvSpPr>
        <p:spPr>
          <a:xfrm>
            <a:off x="2981325" y="5191125"/>
            <a:ext cx="1018431"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return the result</a:t>
            </a:r>
            <a:endParaRPr lang="en-US" sz="1013" dirty="0"/>
          </a:p>
        </p:txBody>
      </p:sp>
      <p:sp>
        <p:nvSpPr>
          <p:cNvPr id="42" name="dg path"/>
          <p:cNvSpPr/>
          <p:nvPr/>
        </p:nvSpPr>
        <p:spPr>
          <a:xfrm>
            <a:off x="4181475" y="3019425"/>
            <a:ext cx="579120" cy="0"/>
          </a:xfrm>
          <a:prstGeom prst="line">
            <a:avLst/>
          </a:prstGeom>
          <a:noFill/>
          <a:ln w="30480" cap="rnd">
            <a:solidFill>
              <a:srgbClr val="B0AAFF"/>
            </a:solidFill>
            <a:miter lim="800000"/>
            <a:tailEnd type="triangle" w="med" len="med"/>
          </a:ln>
        </p:spPr>
      </p:sp>
      <p:sp>
        <p:nvSpPr>
          <p:cNvPr id="43" name="Text hand off"/>
          <p:cNvSpPr txBox="1"/>
          <p:nvPr/>
        </p:nvSpPr>
        <p:spPr>
          <a:xfrm>
            <a:off x="4220170" y="2809875"/>
            <a:ext cx="520064" cy="142875"/>
          </a:xfrm>
          <a:prstGeom prst="rect">
            <a:avLst/>
          </a:prstGeom>
          <a:noFill/>
          <a:ln/>
        </p:spPr>
        <p:txBody>
          <a:bodyPr wrap="none" lIns="0" tIns="0" rIns="0" bIns="0" rtlCol="0" anchor="ctr"/>
          <a:lstStyle/>
          <a:p>
            <a:pPr algn="ctr" indent="0" marL="0">
              <a:buNone/>
            </a:pPr>
            <a:r>
              <a:rPr lang="en-US" sz="938" b="1" dirty="0">
                <a:solidFill>
                  <a:srgbClr val="FFFFFF"/>
                </a:solidFill>
                <a:latin typeface="Scotia" pitchFamily="34" charset="0"/>
                <a:ea typeface="Scotia" pitchFamily="34" charset="-122"/>
                <a:cs typeface="Scotia" pitchFamily="34" charset="-120"/>
              </a:rPr>
              <a:t>hand off</a:t>
            </a:r>
            <a:endParaRPr lang="en-US" sz="938" dirty="0"/>
          </a:p>
        </p:txBody>
      </p:sp>
      <p:sp>
        <p:nvSpPr>
          <p:cNvPr id="44" name="Text context"/>
          <p:cNvSpPr txBox="1"/>
          <p:nvPr/>
        </p:nvSpPr>
        <p:spPr>
          <a:xfrm>
            <a:off x="4200599" y="3133725"/>
            <a:ext cx="552301" cy="142875"/>
          </a:xfrm>
          <a:prstGeom prst="rect">
            <a:avLst/>
          </a:prstGeom>
          <a:noFill/>
          <a:ln/>
        </p:spPr>
        <p:txBody>
          <a:bodyPr wrap="none" lIns="0" tIns="0" rIns="0" bIns="0" rtlCol="0" anchor="ctr"/>
          <a:lstStyle/>
          <a:p>
            <a:pPr algn="ctr" indent="0" marL="0">
              <a:buNone/>
            </a:pPr>
            <a:r>
              <a:rPr lang="en-US" sz="900" dirty="0">
                <a:solidFill>
                  <a:srgbClr val="BDC2EF"/>
                </a:solidFill>
                <a:latin typeface="Scotia Serif" pitchFamily="34" charset="0"/>
                <a:ea typeface="Scotia Serif" pitchFamily="34" charset="-122"/>
                <a:cs typeface="Scotia Serif" pitchFamily="34" charset="-120"/>
              </a:rPr>
              <a:t>+ context</a:t>
            </a:r>
            <a:endParaRPr lang="en-US" sz="900" dirty="0"/>
          </a:p>
        </p:txBody>
      </p:sp>
      <p:sp>
        <p:nvSpPr>
          <p:cNvPr id="45" name="Text identity"/>
          <p:cNvSpPr txBox="1"/>
          <p:nvPr/>
        </p:nvSpPr>
        <p:spPr>
          <a:xfrm>
            <a:off x="4192042" y="3286125"/>
            <a:ext cx="569416" cy="142875"/>
          </a:xfrm>
          <a:prstGeom prst="rect">
            <a:avLst/>
          </a:prstGeom>
          <a:noFill/>
          <a:ln/>
        </p:spPr>
        <p:txBody>
          <a:bodyPr wrap="none" lIns="0" tIns="0" rIns="0" bIns="0" rtlCol="0" anchor="ctr"/>
          <a:lstStyle/>
          <a:p>
            <a:pPr algn="ctr" indent="0" marL="0">
              <a:buNone/>
            </a:pPr>
            <a:r>
              <a:rPr lang="en-US" sz="900" dirty="0">
                <a:solidFill>
                  <a:srgbClr val="8FB4FF"/>
                </a:solidFill>
                <a:latin typeface="Scotia Serif" pitchFamily="34" charset="0"/>
                <a:ea typeface="Scotia Serif" pitchFamily="34" charset="-122"/>
                <a:cs typeface="Scotia Serif" pitchFamily="34" charset="-120"/>
              </a:rPr>
              <a:t>+ identity</a:t>
            </a:r>
            <a:endParaRPr lang="en-US" sz="900" dirty="0"/>
          </a:p>
        </p:txBody>
      </p:sp>
      <p:sp>
        <p:nvSpPr>
          <p:cNvPr id="46" name="dg rect"/>
          <p:cNvSpPr/>
          <p:nvPr/>
        </p:nvSpPr>
        <p:spPr>
          <a:xfrm>
            <a:off x="4819650" y="2495550"/>
            <a:ext cx="1866900" cy="1047750"/>
          </a:xfrm>
          <a:prstGeom prst="roundRect">
            <a:avLst>
              <a:gd name="adj" fmla="val 16364"/>
            </a:avLst>
          </a:prstGeom>
          <a:gradFill rotWithShape="1">
            <a:gsLst>
              <a:gs pos="0">
                <a:srgbClr val="1A1550"/>
              </a:gs>
              <a:gs pos="100000">
                <a:srgbClr val="120E36"/>
              </a:gs>
            </a:gsLst>
            <a:lin ang="5400000" scaled="1"/>
          </a:gradFill>
          <a:ln w="13335" cap="flat">
            <a:solidFill>
              <a:srgbClr val="3B3392"/>
            </a:solidFill>
            <a:miter lim="800000"/>
          </a:ln>
        </p:spPr>
      </p:sp>
      <p:sp>
        <p:nvSpPr>
          <p:cNvPr id="47" name="dg circle"/>
          <p:cNvSpPr/>
          <p:nvPr/>
        </p:nvSpPr>
        <p:spPr>
          <a:xfrm>
            <a:off x="4972050" y="2628900"/>
            <a:ext cx="381000" cy="381000"/>
          </a:xfrm>
          <a:prstGeom prst="ellipse">
            <a:avLst/>
          </a:prstGeom>
          <a:solidFill>
            <a:srgbClr val="6551FF"/>
          </a:solidFill>
          <a:ln>
            <a:noFill/>
          </a:ln>
        </p:spPr>
      </p:sp>
      <p:sp>
        <p:nvSpPr>
          <p:cNvPr id="48" name="dg i-bot"/>
          <p:cNvSpPr/>
          <p:nvPr/>
        </p:nvSpPr>
        <p:spPr>
          <a:xfrm>
            <a:off x="5083175" y="27559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49" name="Text Agent 2"/>
          <p:cNvSpPr txBox="1"/>
          <p:nvPr/>
        </p:nvSpPr>
        <p:spPr>
          <a:xfrm>
            <a:off x="5467350" y="2733675"/>
            <a:ext cx="726132" cy="228600"/>
          </a:xfrm>
          <a:prstGeom prst="rect">
            <a:avLst/>
          </a:prstGeom>
          <a:noFill/>
          <a:ln/>
        </p:spPr>
        <p:txBody>
          <a:bodyPr wrap="none" lIns="0" tIns="0" rIns="0" bIns="0" rtlCol="0" anchor="ctr"/>
          <a:lstStyle/>
          <a:p>
            <a:pPr algn="l" indent="0" marL="0">
              <a:buNone/>
            </a:pPr>
            <a:r>
              <a:rPr lang="en-US" sz="1500" b="1" dirty="0">
                <a:solidFill>
                  <a:srgbClr val="9AA0CC"/>
                </a:solidFill>
                <a:latin typeface="Scotia" pitchFamily="34" charset="0"/>
                <a:ea typeface="Scotia" pitchFamily="34" charset="-122"/>
                <a:cs typeface="Scotia" pitchFamily="34" charset="-120"/>
              </a:rPr>
              <a:t>Agent 2</a:t>
            </a:r>
            <a:endParaRPr lang="en-US" sz="1500" dirty="0"/>
          </a:p>
        </p:txBody>
      </p:sp>
      <p:sp>
        <p:nvSpPr>
          <p:cNvPr id="50" name="Text Specialist"/>
          <p:cNvSpPr txBox="1"/>
          <p:nvPr/>
        </p:nvSpPr>
        <p:spPr>
          <a:xfrm>
            <a:off x="5029200" y="3067050"/>
            <a:ext cx="663327"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Serif" pitchFamily="34" charset="0"/>
                <a:ea typeface="Scotia Serif" pitchFamily="34" charset="-122"/>
                <a:cs typeface="Scotia Serif" pitchFamily="34" charset="-120"/>
              </a:rPr>
              <a:t>Specialist</a:t>
            </a:r>
            <a:endParaRPr lang="en-US" sz="1088" dirty="0"/>
          </a:p>
        </p:txBody>
      </p:sp>
      <p:sp>
        <p:nvSpPr>
          <p:cNvPr id="51" name="Text Handle it or hand it off"/>
          <p:cNvSpPr txBox="1"/>
          <p:nvPr/>
        </p:nvSpPr>
        <p:spPr>
          <a:xfrm>
            <a:off x="5029200" y="3286125"/>
            <a:ext cx="1365483" cy="152400"/>
          </a:xfrm>
          <a:prstGeom prst="rect">
            <a:avLst/>
          </a:prstGeom>
          <a:noFill/>
          <a:ln/>
        </p:spPr>
        <p:txBody>
          <a:bodyPr wrap="none" lIns="0" tIns="0" rIns="0" bIns="0" rtlCol="0" anchor="ctr"/>
          <a:lstStyle/>
          <a:p>
            <a:pPr algn="l" indent="0" marL="0">
              <a:buNone/>
            </a:pPr>
            <a:r>
              <a:rPr lang="en-US" sz="975" b="1" dirty="0">
                <a:solidFill>
                  <a:srgbClr val="B0AAFF"/>
                </a:solidFill>
                <a:latin typeface="Scotia" pitchFamily="34" charset="0"/>
                <a:ea typeface="Scotia" pitchFamily="34" charset="-122"/>
                <a:cs typeface="Scotia" pitchFamily="34" charset="-120"/>
              </a:rPr>
              <a:t>Handle it, or hand it off</a:t>
            </a:r>
            <a:endParaRPr lang="en-US" sz="975" dirty="0"/>
          </a:p>
        </p:txBody>
      </p:sp>
      <p:sp>
        <p:nvSpPr>
          <p:cNvPr id="52" name="dg rect"/>
          <p:cNvSpPr/>
          <p:nvPr/>
        </p:nvSpPr>
        <p:spPr>
          <a:xfrm>
            <a:off x="5143500" y="3752850"/>
            <a:ext cx="800100" cy="323850"/>
          </a:xfrm>
          <a:prstGeom prst="roundRect">
            <a:avLst>
              <a:gd name="adj" fmla="val 38462"/>
            </a:avLst>
          </a:prstGeom>
          <a:solidFill>
            <a:srgbClr val="337EFF">
              <a:alpha val="8000"/>
            </a:srgbClr>
          </a:solidFill>
          <a:ln w="13335" cap="flat">
            <a:solidFill>
              <a:srgbClr val="337EFF">
                <a:alpha val="55000"/>
              </a:srgbClr>
            </a:solidFill>
            <a:miter lim="800000"/>
          </a:ln>
        </p:spPr>
      </p:sp>
      <p:sp>
        <p:nvSpPr>
          <p:cNvPr id="53" name="dg i-cloud"/>
          <p:cNvSpPr/>
          <p:nvPr/>
        </p:nvSpPr>
        <p:spPr>
          <a:xfrm>
            <a:off x="5250804" y="386075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6E8FCB"/>
            </a:solidFill>
            <a:round/>
          </a:ln>
        </p:spPr>
      </p:sp>
      <p:sp>
        <p:nvSpPr>
          <p:cNvPr id="54" name="Text MCP"/>
          <p:cNvSpPr txBox="1"/>
          <p:nvPr/>
        </p:nvSpPr>
        <p:spPr>
          <a:xfrm>
            <a:off x="5467350" y="3862387"/>
            <a:ext cx="306884" cy="142875"/>
          </a:xfrm>
          <a:prstGeom prst="rect">
            <a:avLst/>
          </a:prstGeom>
          <a:noFill/>
          <a:ln/>
        </p:spPr>
        <p:txBody>
          <a:bodyPr wrap="none" lIns="0" tIns="0" rIns="0" bIns="0" rtlCol="0" anchor="ctr"/>
          <a:lstStyle/>
          <a:p>
            <a:pPr algn="l" indent="0" marL="0">
              <a:buNone/>
            </a:pPr>
            <a:r>
              <a:rPr lang="en-US" sz="938" b="1" dirty="0">
                <a:solidFill>
                  <a:srgbClr val="8EA6D3"/>
                </a:solidFill>
                <a:latin typeface="Scotia" pitchFamily="34" charset="0"/>
                <a:ea typeface="Scotia" pitchFamily="34" charset="-122"/>
                <a:cs typeface="Scotia" pitchFamily="34" charset="-120"/>
              </a:rPr>
              <a:t>MCP</a:t>
            </a:r>
            <a:endParaRPr lang="en-US" sz="938" dirty="0"/>
          </a:p>
        </p:txBody>
      </p:sp>
      <p:sp>
        <p:nvSpPr>
          <p:cNvPr id="55" name="dg path"/>
          <p:cNvSpPr/>
          <p:nvPr/>
        </p:nvSpPr>
        <p:spPr>
          <a:xfrm>
            <a:off x="5543550" y="3571875"/>
            <a:ext cx="0" cy="171450"/>
          </a:xfrm>
          <a:prstGeom prst="line">
            <a:avLst/>
          </a:prstGeom>
          <a:noFill/>
          <a:ln w="17145" cap="rnd">
            <a:solidFill>
              <a:srgbClr val="337EFF">
                <a:alpha val="55000"/>
              </a:srgbClr>
            </a:solidFill>
            <a:custDash>
              <a:ds d="222222" sp="277778"/>
            </a:custDash>
            <a:miter lim="800000"/>
          </a:ln>
        </p:spPr>
      </p:sp>
      <p:sp>
        <p:nvSpPr>
          <p:cNvPr id="56" name="dg circle"/>
          <p:cNvSpPr/>
          <p:nvPr/>
        </p:nvSpPr>
        <p:spPr>
          <a:xfrm>
            <a:off x="5510213" y="3538538"/>
            <a:ext cx="66675" cy="66675"/>
          </a:xfrm>
          <a:prstGeom prst="ellipse">
            <a:avLst/>
          </a:prstGeom>
          <a:solidFill>
            <a:srgbClr val="337EFF">
              <a:alpha val="55000"/>
            </a:srgbClr>
          </a:solidFill>
          <a:ln>
            <a:noFill/>
          </a:ln>
        </p:spPr>
      </p:sp>
      <p:sp>
        <p:nvSpPr>
          <p:cNvPr id="57" name="dg circle"/>
          <p:cNvSpPr/>
          <p:nvPr/>
        </p:nvSpPr>
        <p:spPr>
          <a:xfrm>
            <a:off x="4362450" y="2543175"/>
            <a:ext cx="228600" cy="228600"/>
          </a:xfrm>
          <a:prstGeom prst="ellipse">
            <a:avLst/>
          </a:prstGeom>
          <a:solidFill>
            <a:srgbClr val="6551FF"/>
          </a:solidFill>
          <a:ln>
            <a:noFill/>
          </a:ln>
        </p:spPr>
      </p:sp>
      <p:sp>
        <p:nvSpPr>
          <p:cNvPr id="58" name="Text 3"/>
          <p:cNvSpPr txBox="1"/>
          <p:nvPr/>
        </p:nvSpPr>
        <p:spPr>
          <a:xfrm>
            <a:off x="4414465" y="2597274"/>
            <a:ext cx="124569"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3</a:t>
            </a:r>
            <a:endParaRPr lang="en-US" sz="975" dirty="0"/>
          </a:p>
        </p:txBody>
      </p:sp>
      <p:sp>
        <p:nvSpPr>
          <p:cNvPr id="59" name="dg circle"/>
          <p:cNvSpPr/>
          <p:nvPr/>
        </p:nvSpPr>
        <p:spPr>
          <a:xfrm>
            <a:off x="4953000" y="4972050"/>
            <a:ext cx="228600" cy="228600"/>
          </a:xfrm>
          <a:prstGeom prst="ellipse">
            <a:avLst/>
          </a:prstGeom>
          <a:solidFill>
            <a:srgbClr val="6551FF"/>
          </a:solidFill>
          <a:ln>
            <a:noFill/>
          </a:ln>
        </p:spPr>
      </p:sp>
      <p:sp>
        <p:nvSpPr>
          <p:cNvPr id="60" name="Text 3"/>
          <p:cNvSpPr txBox="1"/>
          <p:nvPr/>
        </p:nvSpPr>
        <p:spPr>
          <a:xfrm>
            <a:off x="5005015" y="5026149"/>
            <a:ext cx="124569"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3</a:t>
            </a:r>
            <a:endParaRPr lang="en-US" sz="975" dirty="0"/>
          </a:p>
        </p:txBody>
      </p:sp>
      <p:sp>
        <p:nvSpPr>
          <p:cNvPr id="61" name="Text Or it hands off: full"/>
          <p:cNvSpPr txBox="1"/>
          <p:nvPr/>
        </p:nvSpPr>
        <p:spPr>
          <a:xfrm>
            <a:off x="5257800" y="5019675"/>
            <a:ext cx="1142405"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Or it hands off: full</a:t>
            </a:r>
            <a:endParaRPr lang="en-US" sz="1013" dirty="0"/>
          </a:p>
        </p:txBody>
      </p:sp>
      <p:sp>
        <p:nvSpPr>
          <p:cNvPr id="62" name="Text control moves on"/>
          <p:cNvSpPr txBox="1"/>
          <p:nvPr/>
        </p:nvSpPr>
        <p:spPr>
          <a:xfrm>
            <a:off x="5257800" y="5191125"/>
            <a:ext cx="1070818"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control moves on</a:t>
            </a:r>
            <a:endParaRPr lang="en-US" sz="1013" dirty="0"/>
          </a:p>
        </p:txBody>
      </p:sp>
      <p:sp>
        <p:nvSpPr>
          <p:cNvPr id="63" name="dg path"/>
          <p:cNvSpPr/>
          <p:nvPr/>
        </p:nvSpPr>
        <p:spPr>
          <a:xfrm flipV="1">
            <a:off x="5753100" y="2173605"/>
            <a:ext cx="0" cy="283845"/>
          </a:xfrm>
          <a:prstGeom prst="line">
            <a:avLst/>
          </a:prstGeom>
          <a:noFill/>
          <a:ln w="22860" cap="rnd">
            <a:solidFill>
              <a:srgbClr val="2FBF71"/>
            </a:solidFill>
            <a:miter lim="800000"/>
            <a:tailEnd type="triangle" w="lg" len="lg"/>
          </a:ln>
        </p:spPr>
      </p:sp>
      <p:sp>
        <p:nvSpPr>
          <p:cNvPr id="64" name="dg circle"/>
          <p:cNvSpPr/>
          <p:nvPr/>
        </p:nvSpPr>
        <p:spPr>
          <a:xfrm>
            <a:off x="7229475" y="4972050"/>
            <a:ext cx="228600" cy="228600"/>
          </a:xfrm>
          <a:prstGeom prst="ellipse">
            <a:avLst/>
          </a:prstGeom>
          <a:solidFill>
            <a:srgbClr val="6551FF"/>
          </a:solidFill>
          <a:ln>
            <a:noFill/>
          </a:ln>
        </p:spPr>
      </p:sp>
      <p:sp>
        <p:nvSpPr>
          <p:cNvPr id="65" name="Text 4"/>
          <p:cNvSpPr txBox="1"/>
          <p:nvPr/>
        </p:nvSpPr>
        <p:spPr>
          <a:xfrm>
            <a:off x="7278216" y="5026149"/>
            <a:ext cx="13111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4</a:t>
            </a:r>
            <a:endParaRPr lang="en-US" sz="975" dirty="0"/>
          </a:p>
        </p:txBody>
      </p:sp>
      <p:sp>
        <p:nvSpPr>
          <p:cNvPr id="66" name="Text The next agent repeats"/>
          <p:cNvSpPr txBox="1"/>
          <p:nvPr/>
        </p:nvSpPr>
        <p:spPr>
          <a:xfrm>
            <a:off x="7534275" y="5019675"/>
            <a:ext cx="1401514"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The next agent repeats</a:t>
            </a:r>
            <a:endParaRPr lang="en-US" sz="1013" dirty="0"/>
          </a:p>
        </p:txBody>
      </p:sp>
      <p:sp>
        <p:nvSpPr>
          <p:cNvPr id="67" name="Text the same check"/>
          <p:cNvSpPr txBox="1"/>
          <p:nvPr/>
        </p:nvSpPr>
        <p:spPr>
          <a:xfrm>
            <a:off x="7534275" y="5191125"/>
            <a:ext cx="967234"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the same check</a:t>
            </a:r>
            <a:endParaRPr lang="en-US" sz="1013" dirty="0"/>
          </a:p>
        </p:txBody>
      </p:sp>
      <p:sp>
        <p:nvSpPr>
          <p:cNvPr id="68" name="dg path"/>
          <p:cNvSpPr/>
          <p:nvPr/>
        </p:nvSpPr>
        <p:spPr>
          <a:xfrm>
            <a:off x="6734175" y="3019425"/>
            <a:ext cx="579120" cy="0"/>
          </a:xfrm>
          <a:prstGeom prst="line">
            <a:avLst/>
          </a:prstGeom>
          <a:noFill/>
          <a:ln w="30480" cap="rnd">
            <a:solidFill>
              <a:srgbClr val="B0AAFF"/>
            </a:solidFill>
            <a:miter lim="800000"/>
            <a:tailEnd type="triangle" w="med" len="med"/>
          </a:ln>
        </p:spPr>
      </p:sp>
      <p:sp>
        <p:nvSpPr>
          <p:cNvPr id="69" name="Text hand off"/>
          <p:cNvSpPr txBox="1"/>
          <p:nvPr/>
        </p:nvSpPr>
        <p:spPr>
          <a:xfrm>
            <a:off x="6772870" y="2809875"/>
            <a:ext cx="520065" cy="142875"/>
          </a:xfrm>
          <a:prstGeom prst="rect">
            <a:avLst/>
          </a:prstGeom>
          <a:noFill/>
          <a:ln/>
        </p:spPr>
        <p:txBody>
          <a:bodyPr wrap="none" lIns="0" tIns="0" rIns="0" bIns="0" rtlCol="0" anchor="ctr"/>
          <a:lstStyle/>
          <a:p>
            <a:pPr algn="ctr" indent="0" marL="0">
              <a:buNone/>
            </a:pPr>
            <a:r>
              <a:rPr lang="en-US" sz="938" b="1" dirty="0">
                <a:solidFill>
                  <a:srgbClr val="FFFFFF"/>
                </a:solidFill>
                <a:latin typeface="Scotia" pitchFamily="34" charset="0"/>
                <a:ea typeface="Scotia" pitchFamily="34" charset="-122"/>
                <a:cs typeface="Scotia" pitchFamily="34" charset="-120"/>
              </a:rPr>
              <a:t>hand off</a:t>
            </a:r>
            <a:endParaRPr lang="en-US" sz="938" dirty="0"/>
          </a:p>
        </p:txBody>
      </p:sp>
      <p:sp>
        <p:nvSpPr>
          <p:cNvPr id="70" name="Text context"/>
          <p:cNvSpPr txBox="1"/>
          <p:nvPr/>
        </p:nvSpPr>
        <p:spPr>
          <a:xfrm>
            <a:off x="6753299" y="3133725"/>
            <a:ext cx="552301" cy="142875"/>
          </a:xfrm>
          <a:prstGeom prst="rect">
            <a:avLst/>
          </a:prstGeom>
          <a:noFill/>
          <a:ln/>
        </p:spPr>
        <p:txBody>
          <a:bodyPr wrap="none" lIns="0" tIns="0" rIns="0" bIns="0" rtlCol="0" anchor="ctr"/>
          <a:lstStyle/>
          <a:p>
            <a:pPr algn="ctr" indent="0" marL="0">
              <a:buNone/>
            </a:pPr>
            <a:r>
              <a:rPr lang="en-US" sz="900" dirty="0">
                <a:solidFill>
                  <a:srgbClr val="BDC2EF"/>
                </a:solidFill>
                <a:latin typeface="Scotia Serif" pitchFamily="34" charset="0"/>
                <a:ea typeface="Scotia Serif" pitchFamily="34" charset="-122"/>
                <a:cs typeface="Scotia Serif" pitchFamily="34" charset="-120"/>
              </a:rPr>
              <a:t>+ context</a:t>
            </a:r>
            <a:endParaRPr lang="en-US" sz="900" dirty="0"/>
          </a:p>
        </p:txBody>
      </p:sp>
      <p:sp>
        <p:nvSpPr>
          <p:cNvPr id="71" name="Text identity"/>
          <p:cNvSpPr txBox="1"/>
          <p:nvPr/>
        </p:nvSpPr>
        <p:spPr>
          <a:xfrm>
            <a:off x="6744742" y="3286125"/>
            <a:ext cx="569416" cy="142875"/>
          </a:xfrm>
          <a:prstGeom prst="rect">
            <a:avLst/>
          </a:prstGeom>
          <a:noFill/>
          <a:ln/>
        </p:spPr>
        <p:txBody>
          <a:bodyPr wrap="none" lIns="0" tIns="0" rIns="0" bIns="0" rtlCol="0" anchor="ctr"/>
          <a:lstStyle/>
          <a:p>
            <a:pPr algn="ctr" indent="0" marL="0">
              <a:buNone/>
            </a:pPr>
            <a:r>
              <a:rPr lang="en-US" sz="900" dirty="0">
                <a:solidFill>
                  <a:srgbClr val="8FB4FF"/>
                </a:solidFill>
                <a:latin typeface="Scotia Serif" pitchFamily="34" charset="0"/>
                <a:ea typeface="Scotia Serif" pitchFamily="34" charset="-122"/>
                <a:cs typeface="Scotia Serif" pitchFamily="34" charset="-120"/>
              </a:rPr>
              <a:t>+ identity</a:t>
            </a:r>
            <a:endParaRPr lang="en-US" sz="900" dirty="0"/>
          </a:p>
        </p:txBody>
      </p:sp>
      <p:sp>
        <p:nvSpPr>
          <p:cNvPr id="72" name="dg rect"/>
          <p:cNvSpPr/>
          <p:nvPr/>
        </p:nvSpPr>
        <p:spPr>
          <a:xfrm>
            <a:off x="7372350" y="2495550"/>
            <a:ext cx="1866900" cy="1047750"/>
          </a:xfrm>
          <a:prstGeom prst="roundRect">
            <a:avLst>
              <a:gd name="adj" fmla="val 16364"/>
            </a:avLst>
          </a:prstGeom>
          <a:gradFill rotWithShape="1">
            <a:gsLst>
              <a:gs pos="0">
                <a:srgbClr val="1A1550"/>
              </a:gs>
              <a:gs pos="100000">
                <a:srgbClr val="120E36"/>
              </a:gs>
            </a:gsLst>
            <a:lin ang="5400000" scaled="1"/>
          </a:gradFill>
          <a:ln w="13335" cap="flat">
            <a:solidFill>
              <a:srgbClr val="3B3392"/>
            </a:solidFill>
            <a:miter lim="800000"/>
          </a:ln>
        </p:spPr>
      </p:sp>
      <p:sp>
        <p:nvSpPr>
          <p:cNvPr id="73" name="dg circle"/>
          <p:cNvSpPr/>
          <p:nvPr/>
        </p:nvSpPr>
        <p:spPr>
          <a:xfrm>
            <a:off x="7524750" y="2628900"/>
            <a:ext cx="381000" cy="381000"/>
          </a:xfrm>
          <a:prstGeom prst="ellipse">
            <a:avLst/>
          </a:prstGeom>
          <a:solidFill>
            <a:srgbClr val="6551FF"/>
          </a:solidFill>
          <a:ln>
            <a:noFill/>
          </a:ln>
        </p:spPr>
      </p:sp>
      <p:sp>
        <p:nvSpPr>
          <p:cNvPr id="74" name="dg i-bot"/>
          <p:cNvSpPr/>
          <p:nvPr/>
        </p:nvSpPr>
        <p:spPr>
          <a:xfrm>
            <a:off x="7635875" y="27559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75" name="Text Agent 3"/>
          <p:cNvSpPr txBox="1"/>
          <p:nvPr/>
        </p:nvSpPr>
        <p:spPr>
          <a:xfrm>
            <a:off x="8020050" y="2733675"/>
            <a:ext cx="724942" cy="228600"/>
          </a:xfrm>
          <a:prstGeom prst="rect">
            <a:avLst/>
          </a:prstGeom>
          <a:noFill/>
          <a:ln/>
        </p:spPr>
        <p:txBody>
          <a:bodyPr wrap="none" lIns="0" tIns="0" rIns="0" bIns="0" rtlCol="0" anchor="ctr"/>
          <a:lstStyle/>
          <a:p>
            <a:pPr algn="l" indent="0" marL="0">
              <a:buNone/>
            </a:pPr>
            <a:r>
              <a:rPr lang="en-US" sz="1500" b="1" dirty="0">
                <a:solidFill>
                  <a:srgbClr val="9AA0CC"/>
                </a:solidFill>
                <a:latin typeface="Scotia" pitchFamily="34" charset="0"/>
                <a:ea typeface="Scotia" pitchFamily="34" charset="-122"/>
                <a:cs typeface="Scotia" pitchFamily="34" charset="-120"/>
              </a:rPr>
              <a:t>Agent 3</a:t>
            </a:r>
            <a:endParaRPr lang="en-US" sz="1500" dirty="0"/>
          </a:p>
        </p:txBody>
      </p:sp>
      <p:sp>
        <p:nvSpPr>
          <p:cNvPr id="76" name="Text Specialist"/>
          <p:cNvSpPr txBox="1"/>
          <p:nvPr/>
        </p:nvSpPr>
        <p:spPr>
          <a:xfrm>
            <a:off x="7581900" y="3067050"/>
            <a:ext cx="663327"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Serif" pitchFamily="34" charset="0"/>
                <a:ea typeface="Scotia Serif" pitchFamily="34" charset="-122"/>
                <a:cs typeface="Scotia Serif" pitchFamily="34" charset="-120"/>
              </a:rPr>
              <a:t>Specialist</a:t>
            </a:r>
            <a:endParaRPr lang="en-US" sz="1088" dirty="0"/>
          </a:p>
        </p:txBody>
      </p:sp>
      <p:sp>
        <p:nvSpPr>
          <p:cNvPr id="77" name="Text Handle it or hand it off"/>
          <p:cNvSpPr txBox="1"/>
          <p:nvPr/>
        </p:nvSpPr>
        <p:spPr>
          <a:xfrm>
            <a:off x="7581900" y="3286125"/>
            <a:ext cx="1365483" cy="152400"/>
          </a:xfrm>
          <a:prstGeom prst="rect">
            <a:avLst/>
          </a:prstGeom>
          <a:noFill/>
          <a:ln/>
        </p:spPr>
        <p:txBody>
          <a:bodyPr wrap="none" lIns="0" tIns="0" rIns="0" bIns="0" rtlCol="0" anchor="ctr"/>
          <a:lstStyle/>
          <a:p>
            <a:pPr algn="l" indent="0" marL="0">
              <a:buNone/>
            </a:pPr>
            <a:r>
              <a:rPr lang="en-US" sz="975" b="1" dirty="0">
                <a:solidFill>
                  <a:srgbClr val="B0AAFF"/>
                </a:solidFill>
                <a:latin typeface="Scotia" pitchFamily="34" charset="0"/>
                <a:ea typeface="Scotia" pitchFamily="34" charset="-122"/>
                <a:cs typeface="Scotia" pitchFamily="34" charset="-120"/>
              </a:rPr>
              <a:t>Handle it, or hand it off</a:t>
            </a:r>
            <a:endParaRPr lang="en-US" sz="975" dirty="0"/>
          </a:p>
        </p:txBody>
      </p:sp>
      <p:sp>
        <p:nvSpPr>
          <p:cNvPr id="78" name="dg path"/>
          <p:cNvSpPr/>
          <p:nvPr/>
        </p:nvSpPr>
        <p:spPr>
          <a:xfrm flipV="1">
            <a:off x="8305800" y="2173605"/>
            <a:ext cx="0" cy="283845"/>
          </a:xfrm>
          <a:prstGeom prst="line">
            <a:avLst/>
          </a:prstGeom>
          <a:noFill/>
          <a:ln w="22860" cap="rnd">
            <a:solidFill>
              <a:srgbClr val="2FBF71"/>
            </a:solidFill>
            <a:miter lim="800000"/>
            <a:tailEnd type="triangle" w="lg" len="lg"/>
          </a:ln>
        </p:spPr>
      </p:sp>
      <p:sp>
        <p:nvSpPr>
          <p:cNvPr id="79" name="dg rect"/>
          <p:cNvSpPr/>
          <p:nvPr/>
        </p:nvSpPr>
        <p:spPr>
          <a:xfrm>
            <a:off x="7696200" y="3752850"/>
            <a:ext cx="800100" cy="323850"/>
          </a:xfrm>
          <a:prstGeom prst="roundRect">
            <a:avLst>
              <a:gd name="adj" fmla="val 38462"/>
            </a:avLst>
          </a:prstGeom>
          <a:solidFill>
            <a:srgbClr val="337EFF">
              <a:alpha val="8000"/>
            </a:srgbClr>
          </a:solidFill>
          <a:ln w="13335" cap="flat">
            <a:solidFill>
              <a:srgbClr val="337EFF">
                <a:alpha val="55000"/>
              </a:srgbClr>
            </a:solidFill>
            <a:miter lim="800000"/>
          </a:ln>
        </p:spPr>
      </p:sp>
      <p:sp>
        <p:nvSpPr>
          <p:cNvPr id="80" name="dg i-cloud"/>
          <p:cNvSpPr/>
          <p:nvPr/>
        </p:nvSpPr>
        <p:spPr>
          <a:xfrm>
            <a:off x="7803504" y="386075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6E8FCB"/>
            </a:solidFill>
            <a:round/>
          </a:ln>
        </p:spPr>
      </p:sp>
      <p:sp>
        <p:nvSpPr>
          <p:cNvPr id="81" name="Text MCP"/>
          <p:cNvSpPr txBox="1"/>
          <p:nvPr/>
        </p:nvSpPr>
        <p:spPr>
          <a:xfrm>
            <a:off x="8020050" y="3862387"/>
            <a:ext cx="306884" cy="142875"/>
          </a:xfrm>
          <a:prstGeom prst="rect">
            <a:avLst/>
          </a:prstGeom>
          <a:noFill/>
          <a:ln/>
        </p:spPr>
        <p:txBody>
          <a:bodyPr wrap="none" lIns="0" tIns="0" rIns="0" bIns="0" rtlCol="0" anchor="ctr"/>
          <a:lstStyle/>
          <a:p>
            <a:pPr algn="l" indent="0" marL="0">
              <a:buNone/>
            </a:pPr>
            <a:r>
              <a:rPr lang="en-US" sz="938" b="1" dirty="0">
                <a:solidFill>
                  <a:srgbClr val="8EA6D3"/>
                </a:solidFill>
                <a:latin typeface="Scotia" pitchFamily="34" charset="0"/>
                <a:ea typeface="Scotia" pitchFamily="34" charset="-122"/>
                <a:cs typeface="Scotia" pitchFamily="34" charset="-120"/>
              </a:rPr>
              <a:t>MCP</a:t>
            </a:r>
            <a:endParaRPr lang="en-US" sz="938" dirty="0"/>
          </a:p>
        </p:txBody>
      </p:sp>
      <p:sp>
        <p:nvSpPr>
          <p:cNvPr id="82" name="dg path"/>
          <p:cNvSpPr/>
          <p:nvPr/>
        </p:nvSpPr>
        <p:spPr>
          <a:xfrm>
            <a:off x="8096250" y="3571875"/>
            <a:ext cx="0" cy="171450"/>
          </a:xfrm>
          <a:prstGeom prst="line">
            <a:avLst/>
          </a:prstGeom>
          <a:noFill/>
          <a:ln w="17145" cap="rnd">
            <a:solidFill>
              <a:srgbClr val="337EFF">
                <a:alpha val="55000"/>
              </a:srgbClr>
            </a:solidFill>
            <a:custDash>
              <a:ds d="222222" sp="277778"/>
            </a:custDash>
            <a:miter lim="800000"/>
          </a:ln>
        </p:spPr>
      </p:sp>
      <p:sp>
        <p:nvSpPr>
          <p:cNvPr id="83" name="dg circle"/>
          <p:cNvSpPr/>
          <p:nvPr/>
        </p:nvSpPr>
        <p:spPr>
          <a:xfrm>
            <a:off x="8062913" y="3538538"/>
            <a:ext cx="66675" cy="66675"/>
          </a:xfrm>
          <a:prstGeom prst="ellipse">
            <a:avLst/>
          </a:prstGeom>
          <a:solidFill>
            <a:srgbClr val="337EFF">
              <a:alpha val="55000"/>
            </a:srgbClr>
          </a:solidFill>
          <a:ln>
            <a:noFill/>
          </a:ln>
        </p:spPr>
      </p:sp>
      <p:sp>
        <p:nvSpPr>
          <p:cNvPr id="84" name="dg path"/>
          <p:cNvSpPr/>
          <p:nvPr/>
        </p:nvSpPr>
        <p:spPr>
          <a:xfrm>
            <a:off x="9286875" y="3019425"/>
            <a:ext cx="579120" cy="0"/>
          </a:xfrm>
          <a:prstGeom prst="line">
            <a:avLst/>
          </a:prstGeom>
          <a:noFill/>
          <a:ln w="30480" cap="rnd">
            <a:solidFill>
              <a:srgbClr val="B0AAFF"/>
            </a:solidFill>
            <a:miter lim="800000"/>
            <a:tailEnd type="triangle" w="med" len="med"/>
          </a:ln>
        </p:spPr>
      </p:sp>
      <p:sp>
        <p:nvSpPr>
          <p:cNvPr id="85" name="Text hand off"/>
          <p:cNvSpPr txBox="1"/>
          <p:nvPr/>
        </p:nvSpPr>
        <p:spPr>
          <a:xfrm>
            <a:off x="9325570" y="2809875"/>
            <a:ext cx="520065" cy="142875"/>
          </a:xfrm>
          <a:prstGeom prst="rect">
            <a:avLst/>
          </a:prstGeom>
          <a:noFill/>
          <a:ln/>
        </p:spPr>
        <p:txBody>
          <a:bodyPr wrap="none" lIns="0" tIns="0" rIns="0" bIns="0" rtlCol="0" anchor="ctr"/>
          <a:lstStyle/>
          <a:p>
            <a:pPr algn="ctr" indent="0" marL="0">
              <a:buNone/>
            </a:pPr>
            <a:r>
              <a:rPr lang="en-US" sz="938" b="1" dirty="0">
                <a:solidFill>
                  <a:srgbClr val="FFFFFF"/>
                </a:solidFill>
                <a:latin typeface="Scotia" pitchFamily="34" charset="0"/>
                <a:ea typeface="Scotia" pitchFamily="34" charset="-122"/>
                <a:cs typeface="Scotia" pitchFamily="34" charset="-120"/>
              </a:rPr>
              <a:t>hand off</a:t>
            </a:r>
            <a:endParaRPr lang="en-US" sz="938" dirty="0"/>
          </a:p>
        </p:txBody>
      </p:sp>
      <p:sp>
        <p:nvSpPr>
          <p:cNvPr id="86" name="Text context"/>
          <p:cNvSpPr txBox="1"/>
          <p:nvPr/>
        </p:nvSpPr>
        <p:spPr>
          <a:xfrm>
            <a:off x="9305999" y="3133725"/>
            <a:ext cx="552301" cy="142875"/>
          </a:xfrm>
          <a:prstGeom prst="rect">
            <a:avLst/>
          </a:prstGeom>
          <a:noFill/>
          <a:ln/>
        </p:spPr>
        <p:txBody>
          <a:bodyPr wrap="none" lIns="0" tIns="0" rIns="0" bIns="0" rtlCol="0" anchor="ctr"/>
          <a:lstStyle/>
          <a:p>
            <a:pPr algn="ctr" indent="0" marL="0">
              <a:buNone/>
            </a:pPr>
            <a:r>
              <a:rPr lang="en-US" sz="900" dirty="0">
                <a:solidFill>
                  <a:srgbClr val="BDC2EF"/>
                </a:solidFill>
                <a:latin typeface="Scotia Serif" pitchFamily="34" charset="0"/>
                <a:ea typeface="Scotia Serif" pitchFamily="34" charset="-122"/>
                <a:cs typeface="Scotia Serif" pitchFamily="34" charset="-120"/>
              </a:rPr>
              <a:t>+ context</a:t>
            </a:r>
            <a:endParaRPr lang="en-US" sz="900" dirty="0"/>
          </a:p>
        </p:txBody>
      </p:sp>
      <p:sp>
        <p:nvSpPr>
          <p:cNvPr id="87" name="Text identity"/>
          <p:cNvSpPr txBox="1"/>
          <p:nvPr/>
        </p:nvSpPr>
        <p:spPr>
          <a:xfrm>
            <a:off x="9297442" y="3286125"/>
            <a:ext cx="569416" cy="142875"/>
          </a:xfrm>
          <a:prstGeom prst="rect">
            <a:avLst/>
          </a:prstGeom>
          <a:noFill/>
          <a:ln/>
        </p:spPr>
        <p:txBody>
          <a:bodyPr wrap="none" lIns="0" tIns="0" rIns="0" bIns="0" rtlCol="0" anchor="ctr"/>
          <a:lstStyle/>
          <a:p>
            <a:pPr algn="ctr" indent="0" marL="0">
              <a:buNone/>
            </a:pPr>
            <a:r>
              <a:rPr lang="en-US" sz="900" dirty="0">
                <a:solidFill>
                  <a:srgbClr val="8FB4FF"/>
                </a:solidFill>
                <a:latin typeface="Scotia Serif" pitchFamily="34" charset="0"/>
                <a:ea typeface="Scotia Serif" pitchFamily="34" charset="-122"/>
                <a:cs typeface="Scotia Serif" pitchFamily="34" charset="-120"/>
              </a:rPr>
              <a:t>+ identity</a:t>
            </a:r>
            <a:endParaRPr lang="en-US" sz="900" dirty="0"/>
          </a:p>
        </p:txBody>
      </p:sp>
      <p:sp>
        <p:nvSpPr>
          <p:cNvPr id="88" name="dg rect"/>
          <p:cNvSpPr/>
          <p:nvPr/>
        </p:nvSpPr>
        <p:spPr>
          <a:xfrm>
            <a:off x="9925050" y="2495550"/>
            <a:ext cx="1866900" cy="1047750"/>
          </a:xfrm>
          <a:prstGeom prst="roundRect">
            <a:avLst>
              <a:gd name="adj" fmla="val 16364"/>
            </a:avLst>
          </a:prstGeom>
          <a:gradFill rotWithShape="1">
            <a:gsLst>
              <a:gs pos="0">
                <a:srgbClr val="1A1550"/>
              </a:gs>
              <a:gs pos="100000">
                <a:srgbClr val="120E36"/>
              </a:gs>
            </a:gsLst>
            <a:lin ang="5400000" scaled="1"/>
          </a:gradFill>
          <a:ln w="13335" cap="flat">
            <a:solidFill>
              <a:srgbClr val="3B3392"/>
            </a:solidFill>
            <a:miter lim="800000"/>
          </a:ln>
        </p:spPr>
      </p:sp>
      <p:sp>
        <p:nvSpPr>
          <p:cNvPr id="89" name="dg circle"/>
          <p:cNvSpPr/>
          <p:nvPr/>
        </p:nvSpPr>
        <p:spPr>
          <a:xfrm>
            <a:off x="10077450" y="2628900"/>
            <a:ext cx="381000" cy="381000"/>
          </a:xfrm>
          <a:prstGeom prst="ellipse">
            <a:avLst/>
          </a:prstGeom>
          <a:solidFill>
            <a:srgbClr val="6551FF"/>
          </a:solidFill>
          <a:ln>
            <a:noFill/>
          </a:ln>
        </p:spPr>
      </p:sp>
      <p:sp>
        <p:nvSpPr>
          <p:cNvPr id="90" name="dg i-bot"/>
          <p:cNvSpPr/>
          <p:nvPr/>
        </p:nvSpPr>
        <p:spPr>
          <a:xfrm>
            <a:off x="10188575" y="27559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91" name="Text Agent n"/>
          <p:cNvSpPr txBox="1"/>
          <p:nvPr/>
        </p:nvSpPr>
        <p:spPr>
          <a:xfrm>
            <a:off x="10572750" y="2733675"/>
            <a:ext cx="736104" cy="228600"/>
          </a:xfrm>
          <a:prstGeom prst="rect">
            <a:avLst/>
          </a:prstGeom>
          <a:noFill/>
          <a:ln/>
        </p:spPr>
        <p:txBody>
          <a:bodyPr wrap="none" lIns="0" tIns="0" rIns="0" bIns="0" rtlCol="0" anchor="ctr"/>
          <a:lstStyle/>
          <a:p>
            <a:pPr algn="l" indent="0" marL="0">
              <a:buNone/>
            </a:pPr>
            <a:r>
              <a:rPr lang="en-US" sz="1500" b="1" dirty="0">
                <a:solidFill>
                  <a:srgbClr val="9AA0CC"/>
                </a:solidFill>
                <a:latin typeface="Scotia" pitchFamily="34" charset="0"/>
                <a:ea typeface="Scotia" pitchFamily="34" charset="-122"/>
                <a:cs typeface="Scotia" pitchFamily="34" charset="-120"/>
              </a:rPr>
              <a:t>Agent n</a:t>
            </a:r>
            <a:endParaRPr lang="en-US" sz="1500" dirty="0"/>
          </a:p>
        </p:txBody>
      </p:sp>
      <p:sp>
        <p:nvSpPr>
          <p:cNvPr id="92" name="Text Specialist"/>
          <p:cNvSpPr txBox="1"/>
          <p:nvPr/>
        </p:nvSpPr>
        <p:spPr>
          <a:xfrm>
            <a:off x="10134600" y="3067050"/>
            <a:ext cx="663327"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Serif" pitchFamily="34" charset="0"/>
                <a:ea typeface="Scotia Serif" pitchFamily="34" charset="-122"/>
                <a:cs typeface="Scotia Serif" pitchFamily="34" charset="-120"/>
              </a:rPr>
              <a:t>Specialist</a:t>
            </a:r>
            <a:endParaRPr lang="en-US" sz="1088" dirty="0"/>
          </a:p>
        </p:txBody>
      </p:sp>
      <p:sp>
        <p:nvSpPr>
          <p:cNvPr id="93" name="Text Handle it or hand it off"/>
          <p:cNvSpPr txBox="1"/>
          <p:nvPr/>
        </p:nvSpPr>
        <p:spPr>
          <a:xfrm>
            <a:off x="10134600" y="3286125"/>
            <a:ext cx="1365483" cy="152400"/>
          </a:xfrm>
          <a:prstGeom prst="rect">
            <a:avLst/>
          </a:prstGeom>
          <a:noFill/>
          <a:ln/>
        </p:spPr>
        <p:txBody>
          <a:bodyPr wrap="none" lIns="0" tIns="0" rIns="0" bIns="0" rtlCol="0" anchor="ctr"/>
          <a:lstStyle/>
          <a:p>
            <a:pPr algn="l" indent="0" marL="0">
              <a:buNone/>
            </a:pPr>
            <a:r>
              <a:rPr lang="en-US" sz="975" b="1" dirty="0">
                <a:solidFill>
                  <a:srgbClr val="B0AAFF"/>
                </a:solidFill>
                <a:latin typeface="Scotia" pitchFamily="34" charset="0"/>
                <a:ea typeface="Scotia" pitchFamily="34" charset="-122"/>
                <a:cs typeface="Scotia" pitchFamily="34" charset="-120"/>
              </a:rPr>
              <a:t>Handle it, or hand it off</a:t>
            </a:r>
            <a:endParaRPr lang="en-US" sz="975" dirty="0"/>
          </a:p>
        </p:txBody>
      </p:sp>
      <p:sp>
        <p:nvSpPr>
          <p:cNvPr id="94" name="dg path"/>
          <p:cNvSpPr/>
          <p:nvPr/>
        </p:nvSpPr>
        <p:spPr>
          <a:xfrm flipV="1">
            <a:off x="10858500" y="2173605"/>
            <a:ext cx="0" cy="283845"/>
          </a:xfrm>
          <a:prstGeom prst="line">
            <a:avLst/>
          </a:prstGeom>
          <a:noFill/>
          <a:ln w="22860" cap="rnd">
            <a:solidFill>
              <a:srgbClr val="2FBF71"/>
            </a:solidFill>
            <a:miter lim="800000"/>
            <a:tailEnd type="triangle" w="lg" len="lg"/>
          </a:ln>
        </p:spPr>
      </p:sp>
      <p:sp>
        <p:nvSpPr>
          <p:cNvPr id="95" name="dg rect"/>
          <p:cNvSpPr/>
          <p:nvPr/>
        </p:nvSpPr>
        <p:spPr>
          <a:xfrm>
            <a:off x="10248900" y="3752850"/>
            <a:ext cx="800100" cy="323850"/>
          </a:xfrm>
          <a:prstGeom prst="roundRect">
            <a:avLst>
              <a:gd name="adj" fmla="val 38462"/>
            </a:avLst>
          </a:prstGeom>
          <a:solidFill>
            <a:srgbClr val="337EFF">
              <a:alpha val="8000"/>
            </a:srgbClr>
          </a:solidFill>
          <a:ln w="13335" cap="flat">
            <a:solidFill>
              <a:srgbClr val="337EFF">
                <a:alpha val="55000"/>
              </a:srgbClr>
            </a:solidFill>
            <a:miter lim="800000"/>
          </a:ln>
        </p:spPr>
      </p:sp>
      <p:sp>
        <p:nvSpPr>
          <p:cNvPr id="96" name="dg i-cloud"/>
          <p:cNvSpPr/>
          <p:nvPr/>
        </p:nvSpPr>
        <p:spPr>
          <a:xfrm>
            <a:off x="10356204" y="386075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6E8FCB"/>
            </a:solidFill>
            <a:round/>
          </a:ln>
        </p:spPr>
      </p:sp>
      <p:sp>
        <p:nvSpPr>
          <p:cNvPr id="97" name="Text MCP"/>
          <p:cNvSpPr txBox="1"/>
          <p:nvPr/>
        </p:nvSpPr>
        <p:spPr>
          <a:xfrm>
            <a:off x="10572750" y="3862387"/>
            <a:ext cx="306884" cy="142875"/>
          </a:xfrm>
          <a:prstGeom prst="rect">
            <a:avLst/>
          </a:prstGeom>
          <a:noFill/>
          <a:ln/>
        </p:spPr>
        <p:txBody>
          <a:bodyPr wrap="none" lIns="0" tIns="0" rIns="0" bIns="0" rtlCol="0" anchor="ctr"/>
          <a:lstStyle/>
          <a:p>
            <a:pPr algn="l" indent="0" marL="0">
              <a:buNone/>
            </a:pPr>
            <a:r>
              <a:rPr lang="en-US" sz="938" b="1" dirty="0">
                <a:solidFill>
                  <a:srgbClr val="8EA6D3"/>
                </a:solidFill>
                <a:latin typeface="Scotia" pitchFamily="34" charset="0"/>
                <a:ea typeface="Scotia" pitchFamily="34" charset="-122"/>
                <a:cs typeface="Scotia" pitchFamily="34" charset="-120"/>
              </a:rPr>
              <a:t>MCP</a:t>
            </a:r>
            <a:endParaRPr lang="en-US" sz="938" dirty="0"/>
          </a:p>
        </p:txBody>
      </p:sp>
      <p:sp>
        <p:nvSpPr>
          <p:cNvPr id="98" name="dg path"/>
          <p:cNvSpPr/>
          <p:nvPr/>
        </p:nvSpPr>
        <p:spPr>
          <a:xfrm>
            <a:off x="10648950" y="3571875"/>
            <a:ext cx="0" cy="171450"/>
          </a:xfrm>
          <a:prstGeom prst="line">
            <a:avLst/>
          </a:prstGeom>
          <a:noFill/>
          <a:ln w="17145" cap="rnd">
            <a:solidFill>
              <a:srgbClr val="337EFF">
                <a:alpha val="55000"/>
              </a:srgbClr>
            </a:solidFill>
            <a:custDash>
              <a:ds d="222222" sp="277778"/>
            </a:custDash>
            <a:miter lim="800000"/>
          </a:ln>
        </p:spPr>
      </p:sp>
      <p:sp>
        <p:nvSpPr>
          <p:cNvPr id="99" name="dg circle"/>
          <p:cNvSpPr/>
          <p:nvPr/>
        </p:nvSpPr>
        <p:spPr>
          <a:xfrm>
            <a:off x="10615613" y="3538538"/>
            <a:ext cx="66675" cy="66675"/>
          </a:xfrm>
          <a:prstGeom prst="ellipse">
            <a:avLst/>
          </a:prstGeom>
          <a:solidFill>
            <a:srgbClr val="337EFF">
              <a:alpha val="55000"/>
            </a:srgbClr>
          </a:solidFill>
          <a:ln>
            <a:noFill/>
          </a:ln>
        </p:spPr>
      </p:sp>
      <p:sp>
        <p:nvSpPr>
          <p:cNvPr id="100" name="dg rect"/>
          <p:cNvSpPr/>
          <p:nvPr/>
        </p:nvSpPr>
        <p:spPr>
          <a:xfrm>
            <a:off x="2266950" y="4343400"/>
            <a:ext cx="9525000" cy="400050"/>
          </a:xfrm>
          <a:prstGeom prst="roundRect">
            <a:avLst>
              <a:gd name="adj" fmla="val 33333"/>
            </a:avLst>
          </a:prstGeom>
          <a:noFill/>
          <a:ln w="15240" cap="flat">
            <a:solidFill>
              <a:srgbClr val="E5485D"/>
            </a:solidFill>
            <a:custDash>
              <a:ds d="437500" sp="375000"/>
            </a:custDash>
            <a:miter lim="800000"/>
          </a:ln>
        </p:spPr>
      </p:sp>
      <p:sp>
        <p:nvSpPr>
          <p:cNvPr id="101" name="dg i-user"/>
          <p:cNvSpPr/>
          <p:nvPr/>
        </p:nvSpPr>
        <p:spPr>
          <a:xfrm>
            <a:off x="2505075" y="4457700"/>
            <a:ext cx="133350" cy="171450"/>
          </a:xfrm>
          <a:custGeom>
            <a:avLst/>
            <a:gdLst/>
            <a:ahLst/>
            <a:cxnLst/>
            <a:rect l="l" t="t" r="r" b="b"/>
            <a:pathLst>
              <a:path w="133350" h="171450">
                <a:moveTo>
                  <a:pt x="133350" y="171450"/>
                </a:moveTo>
                <a:lnTo>
                  <a:pt x="133350" y="152400"/>
                </a:lnTo>
                <a:cubicBezTo>
                  <a:pt x="133350" y="131358"/>
                  <a:pt x="116292" y="114300"/>
                  <a:pt x="95250" y="114300"/>
                </a:cubicBezTo>
                <a:lnTo>
                  <a:pt x="38100" y="114300"/>
                </a:lnTo>
                <a:cubicBezTo>
                  <a:pt x="17058" y="114300"/>
                  <a:pt x="0" y="131358"/>
                  <a:pt x="0" y="152400"/>
                </a:cubicBezTo>
                <a:lnTo>
                  <a:pt x="0" y="171450"/>
                </a:lnTo>
                <a:moveTo>
                  <a:pt x="104775" y="38100"/>
                </a:moveTo>
                <a:cubicBezTo>
                  <a:pt x="104775" y="59142"/>
                  <a:pt x="87717" y="76200"/>
                  <a:pt x="66675" y="76200"/>
                </a:cubicBezTo>
                <a:cubicBezTo>
                  <a:pt x="45633" y="76200"/>
                  <a:pt x="28575" y="59142"/>
                  <a:pt x="28575" y="38100"/>
                </a:cubicBezTo>
                <a:cubicBezTo>
                  <a:pt x="28575" y="17058"/>
                  <a:pt x="45633" y="0"/>
                  <a:pt x="66675" y="0"/>
                </a:cubicBezTo>
                <a:cubicBezTo>
                  <a:pt x="87717" y="0"/>
                  <a:pt x="104775" y="17058"/>
                  <a:pt x="104775" y="38100"/>
                </a:cubicBezTo>
                <a:close/>
              </a:path>
            </a:pathLst>
          </a:custGeom>
          <a:noFill/>
          <a:ln w="17145" cap="rnd">
            <a:solidFill>
              <a:srgbClr val="E5485D"/>
            </a:solidFill>
            <a:round/>
          </a:ln>
        </p:spPr>
      </p:sp>
      <p:sp>
        <p:nvSpPr>
          <p:cNvPr id="102" name="Text Human support: optional escala"/>
          <p:cNvSpPr txBox="1"/>
          <p:nvPr/>
        </p:nvSpPr>
        <p:spPr>
          <a:xfrm>
            <a:off x="2781300" y="4476750"/>
            <a:ext cx="4809381"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Human support: optional escalation, with the full context passed along</a:t>
            </a:r>
            <a:endParaRPr lang="en-US" sz="1163" dirty="0"/>
          </a:p>
        </p:txBody>
      </p:sp>
      <p:sp>
        <p:nvSpPr>
          <p:cNvPr id="103" name="Text ESCALATED"/>
          <p:cNvSpPr txBox="1"/>
          <p:nvPr/>
        </p:nvSpPr>
        <p:spPr>
          <a:xfrm>
            <a:off x="400050" y="4505325"/>
            <a:ext cx="831503" cy="123825"/>
          </a:xfrm>
          <a:prstGeom prst="rect">
            <a:avLst/>
          </a:prstGeom>
          <a:noFill/>
          <a:ln/>
        </p:spPr>
        <p:txBody>
          <a:bodyPr wrap="none" lIns="0" tIns="0" rIns="0" bIns="0" rtlCol="0" anchor="ctr"/>
          <a:lstStyle/>
          <a:p>
            <a:pPr algn="l" indent="0" marL="0">
              <a:buNone/>
            </a:pPr>
            <a:r>
              <a:rPr lang="en-US" sz="863" b="1" spc="150" kern="0" dirty="0">
                <a:solidFill>
                  <a:srgbClr val="E5485D"/>
                </a:solidFill>
                <a:latin typeface="Scotia" pitchFamily="34" charset="0"/>
                <a:ea typeface="Scotia" pitchFamily="34" charset="-122"/>
                <a:cs typeface="Scotia" pitchFamily="34" charset="-120"/>
              </a:rPr>
              <a:t>ESCALATED</a:t>
            </a:r>
            <a:endParaRPr lang="en-US" sz="863" dirty="0"/>
          </a:p>
        </p:txBody>
      </p:sp>
      <p:sp>
        <p:nvSpPr>
          <p:cNvPr id="104" name="dg path"/>
          <p:cNvSpPr/>
          <p:nvPr/>
        </p:nvSpPr>
        <p:spPr>
          <a:xfrm>
            <a:off x="3848100" y="3581400"/>
            <a:ext cx="0" cy="721995"/>
          </a:xfrm>
          <a:prstGeom prst="line">
            <a:avLst/>
          </a:prstGeom>
          <a:noFill/>
          <a:ln w="19050" cap="rnd">
            <a:solidFill>
              <a:srgbClr val="E5485D">
                <a:alpha val="85000"/>
              </a:srgbClr>
            </a:solidFill>
            <a:custDash>
              <a:ds d="250000" sp="300000"/>
            </a:custDash>
            <a:miter lim="800000"/>
            <a:tailEnd type="triangle" w="lg" len="lg"/>
          </a:ln>
        </p:spPr>
      </p:sp>
      <p:sp>
        <p:nvSpPr>
          <p:cNvPr id="105" name="dg path"/>
          <p:cNvSpPr/>
          <p:nvPr/>
        </p:nvSpPr>
        <p:spPr>
          <a:xfrm>
            <a:off x="6400800" y="3581400"/>
            <a:ext cx="0" cy="721995"/>
          </a:xfrm>
          <a:prstGeom prst="line">
            <a:avLst/>
          </a:prstGeom>
          <a:noFill/>
          <a:ln w="19050" cap="rnd">
            <a:solidFill>
              <a:srgbClr val="E5485D">
                <a:alpha val="85000"/>
              </a:srgbClr>
            </a:solidFill>
            <a:custDash>
              <a:ds d="250000" sp="300000"/>
            </a:custDash>
            <a:miter lim="800000"/>
            <a:tailEnd type="triangle" w="lg" len="lg"/>
          </a:ln>
        </p:spPr>
      </p:sp>
      <p:sp>
        <p:nvSpPr>
          <p:cNvPr id="106" name="dg path"/>
          <p:cNvSpPr/>
          <p:nvPr/>
        </p:nvSpPr>
        <p:spPr>
          <a:xfrm>
            <a:off x="8953500" y="3581400"/>
            <a:ext cx="0" cy="721995"/>
          </a:xfrm>
          <a:prstGeom prst="line">
            <a:avLst/>
          </a:prstGeom>
          <a:noFill/>
          <a:ln w="19050" cap="rnd">
            <a:solidFill>
              <a:srgbClr val="E5485D">
                <a:alpha val="85000"/>
              </a:srgbClr>
            </a:solidFill>
            <a:custDash>
              <a:ds d="250000" sp="300000"/>
            </a:custDash>
            <a:miter lim="800000"/>
            <a:tailEnd type="triangle" w="lg" len="lg"/>
          </a:ln>
        </p:spPr>
      </p:sp>
      <p:sp>
        <p:nvSpPr>
          <p:cNvPr id="107" name="dg path"/>
          <p:cNvSpPr/>
          <p:nvPr/>
        </p:nvSpPr>
        <p:spPr>
          <a:xfrm>
            <a:off x="11506200" y="3581400"/>
            <a:ext cx="0" cy="721995"/>
          </a:xfrm>
          <a:prstGeom prst="line">
            <a:avLst/>
          </a:prstGeom>
          <a:noFill/>
          <a:ln w="19050" cap="rnd">
            <a:solidFill>
              <a:srgbClr val="E5485D">
                <a:alpha val="85000"/>
              </a:srgbClr>
            </a:solidFill>
            <a:custDash>
              <a:ds d="250000" sp="300000"/>
            </a:custDash>
            <a:miter lim="800000"/>
            <a:tailEnd type="triangle" w="lg" len="lg"/>
          </a:ln>
        </p:spPr>
      </p:sp>
      <p:sp>
        <p:nvSpPr>
          <p:cNvPr id="108" name="dg circle"/>
          <p:cNvSpPr/>
          <p:nvPr/>
        </p:nvSpPr>
        <p:spPr>
          <a:xfrm>
            <a:off x="3943350" y="4057650"/>
            <a:ext cx="228600" cy="228600"/>
          </a:xfrm>
          <a:prstGeom prst="ellipse">
            <a:avLst/>
          </a:prstGeom>
          <a:solidFill>
            <a:srgbClr val="E5485D"/>
          </a:solidFill>
          <a:ln>
            <a:noFill/>
          </a:ln>
        </p:spPr>
      </p:sp>
      <p:sp>
        <p:nvSpPr>
          <p:cNvPr id="109" name="Text 5"/>
          <p:cNvSpPr txBox="1"/>
          <p:nvPr/>
        </p:nvSpPr>
        <p:spPr>
          <a:xfrm>
            <a:off x="3996035" y="4111749"/>
            <a:ext cx="123230"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5</a:t>
            </a:r>
            <a:endParaRPr lang="en-US" sz="975" dirty="0"/>
          </a:p>
        </p:txBody>
      </p:sp>
      <p:sp>
        <p:nvSpPr>
          <p:cNvPr id="110" name="dg circle"/>
          <p:cNvSpPr/>
          <p:nvPr/>
        </p:nvSpPr>
        <p:spPr>
          <a:xfrm>
            <a:off x="9505950" y="4972050"/>
            <a:ext cx="228600" cy="228600"/>
          </a:xfrm>
          <a:prstGeom prst="ellipse">
            <a:avLst/>
          </a:prstGeom>
          <a:solidFill>
            <a:srgbClr val="E5485D"/>
          </a:solidFill>
          <a:ln>
            <a:noFill/>
          </a:ln>
        </p:spPr>
      </p:sp>
      <p:sp>
        <p:nvSpPr>
          <p:cNvPr id="111" name="Text 5"/>
          <p:cNvSpPr txBox="1"/>
          <p:nvPr/>
        </p:nvSpPr>
        <p:spPr>
          <a:xfrm>
            <a:off x="9558635" y="5026149"/>
            <a:ext cx="123230"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5</a:t>
            </a:r>
            <a:endParaRPr lang="en-US" sz="975" dirty="0"/>
          </a:p>
        </p:txBody>
      </p:sp>
      <p:sp>
        <p:nvSpPr>
          <p:cNvPr id="112" name="Text Any agent may escalate"/>
          <p:cNvSpPr txBox="1"/>
          <p:nvPr/>
        </p:nvSpPr>
        <p:spPr>
          <a:xfrm>
            <a:off x="9810750" y="5019675"/>
            <a:ext cx="1440954"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Any agent may escalate</a:t>
            </a:r>
            <a:endParaRPr lang="en-US" sz="1013" dirty="0"/>
          </a:p>
        </p:txBody>
      </p:sp>
      <p:sp>
        <p:nvSpPr>
          <p:cNvPr id="113" name="Text to a human"/>
          <p:cNvSpPr txBox="1"/>
          <p:nvPr/>
        </p:nvSpPr>
        <p:spPr>
          <a:xfrm>
            <a:off x="9810750" y="5191125"/>
            <a:ext cx="722709"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to a human</a:t>
            </a:r>
            <a:endParaRPr lang="en-US" sz="1013" dirty="0"/>
          </a:p>
        </p:txBody>
      </p:sp>
      <p:sp>
        <p:nvSpPr>
          <p:cNvPr id="114" name="dg line"/>
          <p:cNvSpPr/>
          <p:nvPr/>
        </p:nvSpPr>
        <p:spPr>
          <a:xfrm>
            <a:off x="400050" y="5676900"/>
            <a:ext cx="11391900" cy="0"/>
          </a:xfrm>
          <a:prstGeom prst="line">
            <a:avLst/>
          </a:prstGeom>
          <a:noFill/>
          <a:ln w="9525" cap="flat">
            <a:solidFill>
              <a:srgbClr val="BDC2EF">
                <a:alpha val="22000"/>
              </a:srgbClr>
            </a:solidFill>
            <a:miter lim="800000"/>
          </a:ln>
        </p:spPr>
      </p:sp>
      <p:sp>
        <p:nvSpPr>
          <p:cNvPr id="115" name="Text BEST FOR"/>
          <p:cNvSpPr txBox="1"/>
          <p:nvPr/>
        </p:nvSpPr>
        <p:spPr>
          <a:xfrm>
            <a:off x="400050" y="5819775"/>
            <a:ext cx="718840"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BEST FOR</a:t>
            </a:r>
            <a:endParaRPr lang="en-US" sz="863" dirty="0"/>
          </a:p>
        </p:txBody>
      </p:sp>
      <p:sp>
        <p:nvSpPr>
          <p:cNvPr id="116" name="Text WATCH OUT FOR"/>
          <p:cNvSpPr txBox="1"/>
          <p:nvPr/>
        </p:nvSpPr>
        <p:spPr>
          <a:xfrm>
            <a:off x="6286500" y="5819775"/>
            <a:ext cx="1193155"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WATCH OUT FOR</a:t>
            </a:r>
            <a:endParaRPr lang="en-US" sz="863" dirty="0"/>
          </a:p>
        </p:txBody>
      </p:sp>
      <p:sp>
        <p:nvSpPr>
          <p:cNvPr id="117" name="Text The right specialist only beco"/>
          <p:cNvSpPr txBox="1"/>
          <p:nvPr/>
        </p:nvSpPr>
        <p:spPr>
          <a:xfrm>
            <a:off x="400050" y="6000750"/>
            <a:ext cx="4216598"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The right specialist only becomes clear during processing.</a:t>
            </a:r>
            <a:endParaRPr lang="en-US" sz="1238" dirty="0"/>
          </a:p>
        </p:txBody>
      </p:sp>
      <p:sp>
        <p:nvSpPr>
          <p:cNvPr id="118" name="Text Infinite handoff loops and unp"/>
          <p:cNvSpPr txBox="1"/>
          <p:nvPr/>
        </p:nvSpPr>
        <p:spPr>
          <a:xfrm>
            <a:off x="6286500" y="6000750"/>
            <a:ext cx="3992612"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Infinite handoff loops and unpredictable routing paths.</a:t>
            </a:r>
            <a:endParaRPr lang="en-US" sz="1238" dirty="0"/>
          </a:p>
        </p:txBody>
      </p:sp>
      <p:sp>
        <p:nvSpPr>
          <p:cNvPr id="119" name="Text Handoff Orchestration"/>
          <p:cNvSpPr txBox="1"/>
          <p:nvPr/>
        </p:nvSpPr>
        <p:spPr>
          <a:xfrm>
            <a:off x="400050" y="475926"/>
            <a:ext cx="4189512"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Handoff Orchestration</a:t>
            </a:r>
            <a:endParaRPr lang="en-US" sz="3067" dirty="0"/>
          </a:p>
        </p:txBody>
      </p:sp>
      <p:sp>
        <p:nvSpPr>
          <p:cNvPr id="120" name="Text Agents pass full control to on"/>
          <p:cNvSpPr txBox="1"/>
          <p:nvPr/>
        </p:nvSpPr>
        <p:spPr>
          <a:xfrm>
            <a:off x="400050" y="1025625"/>
            <a:ext cx="6463457"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Agents pass full control to one another until the right one resolves the task.</a:t>
            </a:r>
            <a:endParaRPr lang="en-US" sz="1467" dirty="0"/>
          </a:p>
        </p:txBody>
      </p:sp>
      <p:sp>
        <p:nvSpPr>
          <p:cNvPr id="121"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122" name="Text 17"/>
          <p:cNvSpPr txBox="1"/>
          <p:nvPr/>
        </p:nvSpPr>
        <p:spPr>
          <a:xfrm>
            <a:off x="11628090" y="6306483"/>
            <a:ext cx="154335"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0" y="0"/>
            <a:ext cx="228600" cy="6858000"/>
          </a:xfrm>
          <a:prstGeom prst="rect">
            <a:avLst/>
          </a:prstGeom>
          <a:solidFill>
            <a:srgbClr val="22D3C5"/>
          </a:solidFill>
          <a:ln>
            <a:noFill/>
          </a:ln>
        </p:spPr>
      </p:sp>
      <p:sp>
        <p:nvSpPr>
          <p:cNvPr id="3" name="dg rect"/>
          <p:cNvSpPr/>
          <p:nvPr/>
        </p:nvSpPr>
        <p:spPr>
          <a:xfrm>
            <a:off x="10348340" y="533400"/>
            <a:ext cx="1443609" cy="266700"/>
          </a:xfrm>
          <a:prstGeom prst="roundRect">
            <a:avLst>
              <a:gd name="adj" fmla="val 50000"/>
            </a:avLst>
          </a:prstGeom>
          <a:solidFill>
            <a:srgbClr val="22D3C5"/>
          </a:solidFill>
          <a:ln>
            <a:noFill/>
          </a:ln>
        </p:spPr>
      </p:sp>
      <p:sp>
        <p:nvSpPr>
          <p:cNvPr id="4" name="Text WORKED EXAMPLE"/>
          <p:cNvSpPr txBox="1"/>
          <p:nvPr/>
        </p:nvSpPr>
        <p:spPr>
          <a:xfrm>
            <a:off x="10381815" y="612651"/>
            <a:ext cx="1376660" cy="142875"/>
          </a:xfrm>
          <a:prstGeom prst="rect">
            <a:avLst/>
          </a:prstGeom>
          <a:noFill/>
          <a:ln/>
        </p:spPr>
        <p:txBody>
          <a:bodyPr wrap="none" lIns="0" tIns="0" rIns="0" bIns="0" rtlCol="0" anchor="ctr"/>
          <a:lstStyle/>
          <a:p>
            <a:pPr algn="ctr" indent="0" marL="0">
              <a:buNone/>
            </a:pPr>
            <a:r>
              <a:rPr lang="en-US" sz="900" b="1" spc="165" kern="0" dirty="0">
                <a:solidFill>
                  <a:srgbClr val="0B0823"/>
                </a:solidFill>
                <a:latin typeface="Scotia" pitchFamily="34" charset="0"/>
                <a:ea typeface="Scotia" pitchFamily="34" charset="-122"/>
                <a:cs typeface="Scotia" pitchFamily="34" charset="-120"/>
              </a:rPr>
              <a:t>WORKED EXAMPLE</a:t>
            </a:r>
            <a:endParaRPr lang="en-US" sz="900" dirty="0"/>
          </a:p>
        </p:txBody>
      </p:sp>
      <p:sp>
        <p:nvSpPr>
          <p:cNvPr id="5" name="dg rect"/>
          <p:cNvSpPr/>
          <p:nvPr/>
        </p:nvSpPr>
        <p:spPr>
          <a:xfrm>
            <a:off x="400050" y="2495550"/>
            <a:ext cx="3238500" cy="1238250"/>
          </a:xfrm>
          <a:prstGeom prst="roundRect">
            <a:avLst>
              <a:gd name="adj" fmla="val 12308"/>
            </a:avLst>
          </a:prstGeom>
          <a:solidFill>
            <a:srgbClr val="FFFFFF">
              <a:alpha val="7000"/>
            </a:srgbClr>
          </a:solidFill>
          <a:ln w="19050" cap="flat">
            <a:solidFill>
              <a:srgbClr val="22D3C5">
                <a:alpha val="90000"/>
              </a:srgbClr>
            </a:solidFill>
            <a:miter lim="800000"/>
          </a:ln>
        </p:spPr>
      </p:sp>
      <p:sp>
        <p:nvSpPr>
          <p:cNvPr id="6" name="dg circle"/>
          <p:cNvSpPr/>
          <p:nvPr/>
        </p:nvSpPr>
        <p:spPr>
          <a:xfrm>
            <a:off x="552450" y="2667000"/>
            <a:ext cx="266700" cy="266700"/>
          </a:xfrm>
          <a:prstGeom prst="ellipse">
            <a:avLst/>
          </a:prstGeom>
          <a:solidFill>
            <a:srgbClr val="22D3C5"/>
          </a:solidFill>
          <a:ln>
            <a:noFill/>
          </a:ln>
        </p:spPr>
      </p:sp>
      <p:sp>
        <p:nvSpPr>
          <p:cNvPr id="7" name="Text 1"/>
          <p:cNvSpPr txBox="1"/>
          <p:nvPr/>
        </p:nvSpPr>
        <p:spPr>
          <a:xfrm>
            <a:off x="627013" y="2743581"/>
            <a:ext cx="117574" cy="152400"/>
          </a:xfrm>
          <a:prstGeom prst="rect">
            <a:avLst/>
          </a:prstGeom>
          <a:noFill/>
          <a:ln/>
        </p:spPr>
        <p:txBody>
          <a:bodyPr wrap="none" lIns="0" tIns="0" rIns="0" bIns="0" rtlCol="0" anchor="ctr"/>
          <a:lstStyle/>
          <a:p>
            <a:pPr algn="ctr" indent="0" marL="0">
              <a:buNone/>
            </a:pPr>
            <a:r>
              <a:rPr lang="en-US" sz="1050" b="1" dirty="0">
                <a:solidFill>
                  <a:srgbClr val="0B0823"/>
                </a:solidFill>
                <a:latin typeface="Scotia" pitchFamily="34" charset="0"/>
                <a:ea typeface="Scotia" pitchFamily="34" charset="-122"/>
                <a:cs typeface="Scotia" pitchFamily="34" charset="-120"/>
              </a:rPr>
              <a:t>1</a:t>
            </a:r>
            <a:endParaRPr lang="en-US" sz="1050" dirty="0"/>
          </a:p>
        </p:txBody>
      </p:sp>
      <p:sp>
        <p:nvSpPr>
          <p:cNvPr id="8" name="Text Triage agent"/>
          <p:cNvSpPr txBox="1"/>
          <p:nvPr/>
        </p:nvSpPr>
        <p:spPr>
          <a:xfrm>
            <a:off x="914400" y="2724150"/>
            <a:ext cx="992832" cy="200025"/>
          </a:xfrm>
          <a:prstGeom prst="rect">
            <a:avLst/>
          </a:prstGeom>
          <a:noFill/>
          <a:ln/>
        </p:spPr>
        <p:txBody>
          <a:bodyPr wrap="none" lIns="0" tIns="0" rIns="0" bIns="0" rtlCol="0" anchor="ctr"/>
          <a:lstStyle/>
          <a:p>
            <a:pPr algn="l" indent="0" marL="0">
              <a:buNone/>
            </a:pPr>
            <a:r>
              <a:rPr lang="en-US" sz="1313" b="1" dirty="0">
                <a:solidFill>
                  <a:srgbClr val="FFFFFF"/>
                </a:solidFill>
                <a:latin typeface="Scotia" pitchFamily="34" charset="0"/>
                <a:ea typeface="Scotia" pitchFamily="34" charset="-122"/>
                <a:cs typeface="Scotia" pitchFamily="34" charset="-120"/>
              </a:rPr>
              <a:t>Triage agent</a:t>
            </a:r>
            <a:endParaRPr lang="en-US" sz="1313" dirty="0"/>
          </a:p>
        </p:txBody>
      </p:sp>
      <p:sp>
        <p:nvSpPr>
          <p:cNvPr id="9" name="Text Classifies the request"/>
          <p:cNvSpPr txBox="1"/>
          <p:nvPr/>
        </p:nvSpPr>
        <p:spPr>
          <a:xfrm>
            <a:off x="609600" y="3019425"/>
            <a:ext cx="1289447"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Classifies the request</a:t>
            </a:r>
            <a:endParaRPr lang="en-US" sz="1013" dirty="0"/>
          </a:p>
        </p:txBody>
      </p:sp>
      <p:sp>
        <p:nvSpPr>
          <p:cNvPr id="10" name="Text DECISION"/>
          <p:cNvSpPr txBox="1"/>
          <p:nvPr/>
        </p:nvSpPr>
        <p:spPr>
          <a:xfrm>
            <a:off x="609600" y="3933825"/>
            <a:ext cx="666452" cy="123825"/>
          </a:xfrm>
          <a:prstGeom prst="rect">
            <a:avLst/>
          </a:prstGeom>
          <a:noFill/>
          <a:ln/>
        </p:spPr>
        <p:txBody>
          <a:bodyPr wrap="none" lIns="0" tIns="0" rIns="0" bIns="0" rtlCol="0" anchor="ctr"/>
          <a:lstStyle/>
          <a:p>
            <a:pPr algn="l" indent="0" marL="0">
              <a:buNone/>
            </a:pPr>
            <a:r>
              <a:rPr lang="en-US" sz="788" b="1" spc="150" kern="0" dirty="0">
                <a:solidFill>
                  <a:srgbClr val="22D3C5"/>
                </a:solidFill>
                <a:latin typeface="Scotia" pitchFamily="34" charset="0"/>
                <a:ea typeface="Scotia" pitchFamily="34" charset="-122"/>
                <a:cs typeface="Scotia" pitchFamily="34" charset="-120"/>
              </a:rPr>
              <a:t>DECISION</a:t>
            </a:r>
            <a:endParaRPr lang="en-US" sz="788" dirty="0"/>
          </a:p>
        </p:txBody>
      </p:sp>
      <p:sp>
        <p:nvSpPr>
          <p:cNvPr id="11" name="Text App bug or platform issue Pla"/>
          <p:cNvSpPr txBox="1"/>
          <p:nvPr/>
        </p:nvSpPr>
        <p:spPr>
          <a:xfrm>
            <a:off x="609600" y="4105275"/>
            <a:ext cx="2231380"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App bug or platform issue? Platform:</a:t>
            </a:r>
            <a:endParaRPr lang="en-US" sz="1013" dirty="0"/>
          </a:p>
        </p:txBody>
      </p:sp>
      <p:sp>
        <p:nvSpPr>
          <p:cNvPr id="12" name="Text hand off."/>
          <p:cNvSpPr txBox="1"/>
          <p:nvPr/>
        </p:nvSpPr>
        <p:spPr>
          <a:xfrm>
            <a:off x="609600" y="4276725"/>
            <a:ext cx="572393"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hand off.</a:t>
            </a:r>
            <a:endParaRPr lang="en-US" sz="1013" dirty="0"/>
          </a:p>
        </p:txBody>
      </p:sp>
      <p:sp>
        <p:nvSpPr>
          <p:cNvPr id="13" name="dg path"/>
          <p:cNvSpPr/>
          <p:nvPr/>
        </p:nvSpPr>
        <p:spPr>
          <a:xfrm>
            <a:off x="3257550" y="3771900"/>
            <a:ext cx="0" cy="836295"/>
          </a:xfrm>
          <a:prstGeom prst="line">
            <a:avLst/>
          </a:prstGeom>
          <a:noFill/>
          <a:ln w="17145" cap="flat">
            <a:solidFill>
              <a:srgbClr val="E5485D">
                <a:alpha val="80000"/>
              </a:srgbClr>
            </a:solidFill>
            <a:custDash>
              <a:ds d="277778" sp="277778"/>
            </a:custDash>
            <a:miter lim="800000"/>
            <a:tailEnd type="triangle" w="lg" len="lg"/>
          </a:ln>
        </p:spPr>
      </p:sp>
      <p:sp>
        <p:nvSpPr>
          <p:cNvPr id="14" name="dg rect"/>
          <p:cNvSpPr/>
          <p:nvPr/>
        </p:nvSpPr>
        <p:spPr>
          <a:xfrm>
            <a:off x="400050" y="4610100"/>
            <a:ext cx="11391900" cy="400050"/>
          </a:xfrm>
          <a:prstGeom prst="roundRect">
            <a:avLst>
              <a:gd name="adj" fmla="val 28571"/>
            </a:avLst>
          </a:prstGeom>
          <a:noFill/>
          <a:ln w="14288" cap="flat">
            <a:solidFill>
              <a:srgbClr val="E5485D"/>
            </a:solidFill>
            <a:custDash>
              <a:ds d="466667" sp="400000"/>
            </a:custDash>
            <a:miter lim="800000"/>
          </a:ln>
        </p:spPr>
      </p:sp>
      <p:sp>
        <p:nvSpPr>
          <p:cNvPr id="15" name="dg i-user"/>
          <p:cNvSpPr/>
          <p:nvPr/>
        </p:nvSpPr>
        <p:spPr>
          <a:xfrm>
            <a:off x="581025" y="4724400"/>
            <a:ext cx="133350" cy="171450"/>
          </a:xfrm>
          <a:custGeom>
            <a:avLst/>
            <a:gdLst/>
            <a:ahLst/>
            <a:cxnLst/>
            <a:rect l="l" t="t" r="r" b="b"/>
            <a:pathLst>
              <a:path w="133350" h="171450">
                <a:moveTo>
                  <a:pt x="133350" y="171450"/>
                </a:moveTo>
                <a:lnTo>
                  <a:pt x="133350" y="152400"/>
                </a:lnTo>
                <a:cubicBezTo>
                  <a:pt x="133350" y="131358"/>
                  <a:pt x="116292" y="114300"/>
                  <a:pt x="95250" y="114300"/>
                </a:cubicBezTo>
                <a:lnTo>
                  <a:pt x="38100" y="114300"/>
                </a:lnTo>
                <a:cubicBezTo>
                  <a:pt x="17058" y="114300"/>
                  <a:pt x="0" y="131358"/>
                  <a:pt x="0" y="152400"/>
                </a:cubicBezTo>
                <a:lnTo>
                  <a:pt x="0" y="171450"/>
                </a:lnTo>
                <a:moveTo>
                  <a:pt x="104775" y="38100"/>
                </a:moveTo>
                <a:cubicBezTo>
                  <a:pt x="104775" y="59142"/>
                  <a:pt x="87717" y="76200"/>
                  <a:pt x="66675" y="76200"/>
                </a:cubicBezTo>
                <a:cubicBezTo>
                  <a:pt x="45633" y="76200"/>
                  <a:pt x="28575" y="59142"/>
                  <a:pt x="28575" y="38100"/>
                </a:cubicBezTo>
                <a:cubicBezTo>
                  <a:pt x="28575" y="17058"/>
                  <a:pt x="45633" y="0"/>
                  <a:pt x="66675" y="0"/>
                </a:cubicBezTo>
                <a:cubicBezTo>
                  <a:pt x="87717" y="0"/>
                  <a:pt x="104775" y="17058"/>
                  <a:pt x="104775" y="38100"/>
                </a:cubicBezTo>
                <a:close/>
              </a:path>
            </a:pathLst>
          </a:custGeom>
          <a:noFill/>
          <a:ln w="19050" cap="rnd">
            <a:solidFill>
              <a:srgbClr val="E5485D"/>
            </a:solidFill>
            <a:round/>
          </a:ln>
        </p:spPr>
      </p:sp>
      <p:sp>
        <p:nvSpPr>
          <p:cNvPr id="16" name="Text Human on-call: optional escala"/>
          <p:cNvSpPr txBox="1"/>
          <p:nvPr/>
        </p:nvSpPr>
        <p:spPr>
          <a:xfrm>
            <a:off x="876300" y="4743450"/>
            <a:ext cx="5417641"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Human on-call: optional escalation from any agent, with the full context passed along</a:t>
            </a:r>
            <a:endParaRPr lang="en-US" sz="1088" dirty="0"/>
          </a:p>
        </p:txBody>
      </p:sp>
      <p:sp>
        <p:nvSpPr>
          <p:cNvPr id="17" name="dg path"/>
          <p:cNvSpPr/>
          <p:nvPr/>
        </p:nvSpPr>
        <p:spPr>
          <a:xfrm>
            <a:off x="3686175" y="3114675"/>
            <a:ext cx="731520" cy="0"/>
          </a:xfrm>
          <a:prstGeom prst="line">
            <a:avLst/>
          </a:prstGeom>
          <a:noFill/>
          <a:ln w="28575" cap="rnd">
            <a:solidFill>
              <a:srgbClr val="22D3C5"/>
            </a:solidFill>
            <a:miter lim="800000"/>
            <a:tailEnd type="triangle" w="med" len="med"/>
          </a:ln>
        </p:spPr>
      </p:sp>
      <p:sp>
        <p:nvSpPr>
          <p:cNvPr id="18" name="Text hand off"/>
          <p:cNvSpPr txBox="1"/>
          <p:nvPr/>
        </p:nvSpPr>
        <p:spPr>
          <a:xfrm>
            <a:off x="3801070" y="2886075"/>
            <a:ext cx="520064" cy="142875"/>
          </a:xfrm>
          <a:prstGeom prst="rect">
            <a:avLst/>
          </a:prstGeom>
          <a:noFill/>
          <a:ln/>
        </p:spPr>
        <p:txBody>
          <a:bodyPr wrap="none" lIns="0" tIns="0" rIns="0" bIns="0" rtlCol="0" anchor="ctr"/>
          <a:lstStyle/>
          <a:p>
            <a:pPr algn="ctr" indent="0" marL="0">
              <a:buNone/>
            </a:pPr>
            <a:r>
              <a:rPr lang="en-US" sz="938" b="1" dirty="0">
                <a:solidFill>
                  <a:srgbClr val="FFFFFF"/>
                </a:solidFill>
                <a:latin typeface="Scotia" pitchFamily="34" charset="0"/>
                <a:ea typeface="Scotia" pitchFamily="34" charset="-122"/>
                <a:cs typeface="Scotia" pitchFamily="34" charset="-120"/>
              </a:rPr>
              <a:t>hand off</a:t>
            </a:r>
            <a:endParaRPr lang="en-US" sz="938" dirty="0"/>
          </a:p>
        </p:txBody>
      </p:sp>
      <p:sp>
        <p:nvSpPr>
          <p:cNvPr id="19" name="Text context"/>
          <p:cNvSpPr txBox="1"/>
          <p:nvPr/>
        </p:nvSpPr>
        <p:spPr>
          <a:xfrm>
            <a:off x="3781499" y="3248025"/>
            <a:ext cx="552301" cy="142875"/>
          </a:xfrm>
          <a:prstGeom prst="rect">
            <a:avLst/>
          </a:prstGeom>
          <a:noFill/>
          <a:ln/>
        </p:spPr>
        <p:txBody>
          <a:bodyPr wrap="none" lIns="0" tIns="0" rIns="0" bIns="0" rtlCol="0" anchor="ctr"/>
          <a:lstStyle/>
          <a:p>
            <a:pPr algn="ctr" indent="0" marL="0">
              <a:buNone/>
            </a:pPr>
            <a:r>
              <a:rPr lang="en-US" sz="900" dirty="0">
                <a:solidFill>
                  <a:srgbClr val="BDC2EF"/>
                </a:solidFill>
                <a:latin typeface="Scotia Serif" pitchFamily="34" charset="0"/>
                <a:ea typeface="Scotia Serif" pitchFamily="34" charset="-122"/>
                <a:cs typeface="Scotia Serif" pitchFamily="34" charset="-120"/>
              </a:rPr>
              <a:t>+ context</a:t>
            </a:r>
            <a:endParaRPr lang="en-US" sz="900" dirty="0"/>
          </a:p>
        </p:txBody>
      </p:sp>
      <p:sp>
        <p:nvSpPr>
          <p:cNvPr id="20" name="dg rect"/>
          <p:cNvSpPr/>
          <p:nvPr/>
        </p:nvSpPr>
        <p:spPr>
          <a:xfrm>
            <a:off x="4476750" y="2495550"/>
            <a:ext cx="3238500" cy="1238250"/>
          </a:xfrm>
          <a:prstGeom prst="roundRect">
            <a:avLst>
              <a:gd name="adj" fmla="val 12308"/>
            </a:avLst>
          </a:prstGeom>
          <a:solidFill>
            <a:srgbClr val="FFFFFF">
              <a:alpha val="7000"/>
            </a:srgbClr>
          </a:solidFill>
          <a:ln w="14288" cap="flat">
            <a:solidFill>
              <a:srgbClr val="22D3C5">
                <a:alpha val="50000"/>
              </a:srgbClr>
            </a:solidFill>
            <a:miter lim="800000"/>
          </a:ln>
        </p:spPr>
      </p:sp>
      <p:sp>
        <p:nvSpPr>
          <p:cNvPr id="21" name="dg circle"/>
          <p:cNvSpPr/>
          <p:nvPr/>
        </p:nvSpPr>
        <p:spPr>
          <a:xfrm>
            <a:off x="4629150" y="2667000"/>
            <a:ext cx="266700" cy="266700"/>
          </a:xfrm>
          <a:prstGeom prst="ellipse">
            <a:avLst/>
          </a:prstGeom>
          <a:solidFill>
            <a:srgbClr val="22D3C5"/>
          </a:solidFill>
          <a:ln>
            <a:noFill/>
          </a:ln>
        </p:spPr>
      </p:sp>
      <p:sp>
        <p:nvSpPr>
          <p:cNvPr id="22" name="Text 2"/>
          <p:cNvSpPr txBox="1"/>
          <p:nvPr/>
        </p:nvSpPr>
        <p:spPr>
          <a:xfrm>
            <a:off x="4697239" y="2743581"/>
            <a:ext cx="130522" cy="152400"/>
          </a:xfrm>
          <a:prstGeom prst="rect">
            <a:avLst/>
          </a:prstGeom>
          <a:noFill/>
          <a:ln/>
        </p:spPr>
        <p:txBody>
          <a:bodyPr wrap="none" lIns="0" tIns="0" rIns="0" bIns="0" rtlCol="0" anchor="ctr"/>
          <a:lstStyle/>
          <a:p>
            <a:pPr algn="ctr" indent="0" marL="0">
              <a:buNone/>
            </a:pPr>
            <a:r>
              <a:rPr lang="en-US" sz="1050" b="1" dirty="0">
                <a:solidFill>
                  <a:srgbClr val="0B0823"/>
                </a:solidFill>
                <a:latin typeface="Scotia" pitchFamily="34" charset="0"/>
                <a:ea typeface="Scotia" pitchFamily="34" charset="-122"/>
                <a:cs typeface="Scotia" pitchFamily="34" charset="-120"/>
              </a:rPr>
              <a:t>2</a:t>
            </a:r>
            <a:endParaRPr lang="en-US" sz="1050" dirty="0"/>
          </a:p>
        </p:txBody>
      </p:sp>
      <p:sp>
        <p:nvSpPr>
          <p:cNvPr id="23" name="Text Kubernetes specialist"/>
          <p:cNvSpPr txBox="1"/>
          <p:nvPr/>
        </p:nvSpPr>
        <p:spPr>
          <a:xfrm>
            <a:off x="4991100" y="2724150"/>
            <a:ext cx="1685032" cy="200025"/>
          </a:xfrm>
          <a:prstGeom prst="rect">
            <a:avLst/>
          </a:prstGeom>
          <a:noFill/>
          <a:ln/>
        </p:spPr>
        <p:txBody>
          <a:bodyPr wrap="none" lIns="0" tIns="0" rIns="0" bIns="0" rtlCol="0" anchor="ctr"/>
          <a:lstStyle/>
          <a:p>
            <a:pPr algn="l" indent="0" marL="0">
              <a:buNone/>
            </a:pPr>
            <a:r>
              <a:rPr lang="en-US" sz="1313" b="1" dirty="0">
                <a:solidFill>
                  <a:srgbClr val="FFFFFF"/>
                </a:solidFill>
                <a:latin typeface="Scotia" pitchFamily="34" charset="0"/>
                <a:ea typeface="Scotia" pitchFamily="34" charset="-122"/>
                <a:cs typeface="Scotia" pitchFamily="34" charset="-120"/>
              </a:rPr>
              <a:t>Kubernetes specialist</a:t>
            </a:r>
            <a:endParaRPr lang="en-US" sz="1313" dirty="0"/>
          </a:p>
        </p:txBody>
      </p:sp>
      <p:sp>
        <p:nvSpPr>
          <p:cNvPr id="24" name="Text Reads pod status and events"/>
          <p:cNvSpPr txBox="1"/>
          <p:nvPr/>
        </p:nvSpPr>
        <p:spPr>
          <a:xfrm>
            <a:off x="4686300" y="3019425"/>
            <a:ext cx="1719263"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Reads pod status and events</a:t>
            </a:r>
            <a:endParaRPr lang="en-US" sz="1013" dirty="0"/>
          </a:p>
        </p:txBody>
      </p:sp>
      <p:sp>
        <p:nvSpPr>
          <p:cNvPr id="25" name="dg rect"/>
          <p:cNvSpPr/>
          <p:nvPr/>
        </p:nvSpPr>
        <p:spPr>
          <a:xfrm>
            <a:off x="4686300" y="3295650"/>
            <a:ext cx="2819400" cy="266700"/>
          </a:xfrm>
          <a:prstGeom prst="roundRect">
            <a:avLst>
              <a:gd name="adj" fmla="val 50000"/>
            </a:avLst>
          </a:prstGeom>
          <a:solidFill>
            <a:srgbClr val="337EFF">
              <a:alpha val="20000"/>
            </a:srgbClr>
          </a:solidFill>
          <a:ln w="12383" cap="flat">
            <a:solidFill>
              <a:srgbClr val="337EFF"/>
            </a:solidFill>
            <a:miter lim="800000"/>
          </a:ln>
        </p:spPr>
      </p:sp>
      <p:sp>
        <p:nvSpPr>
          <p:cNvPr id="26" name="dg i-cloud"/>
          <p:cNvSpPr/>
          <p:nvPr/>
        </p:nvSpPr>
        <p:spPr>
          <a:xfrm>
            <a:off x="4793604" y="337498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27" name="Text Kubernetes MCP"/>
          <p:cNvSpPr txBox="1"/>
          <p:nvPr/>
        </p:nvSpPr>
        <p:spPr>
          <a:xfrm>
            <a:off x="5010150" y="3376613"/>
            <a:ext cx="959197"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Kubernetes MCP</a:t>
            </a:r>
            <a:endParaRPr lang="en-US" sz="938" dirty="0"/>
          </a:p>
        </p:txBody>
      </p:sp>
      <p:sp>
        <p:nvSpPr>
          <p:cNvPr id="28" name="Text DECISION"/>
          <p:cNvSpPr txBox="1"/>
          <p:nvPr/>
        </p:nvSpPr>
        <p:spPr>
          <a:xfrm>
            <a:off x="4686300" y="3933825"/>
            <a:ext cx="666452" cy="123825"/>
          </a:xfrm>
          <a:prstGeom prst="rect">
            <a:avLst/>
          </a:prstGeom>
          <a:noFill/>
          <a:ln/>
        </p:spPr>
        <p:txBody>
          <a:bodyPr wrap="none" lIns="0" tIns="0" rIns="0" bIns="0" rtlCol="0" anchor="ctr"/>
          <a:lstStyle/>
          <a:p>
            <a:pPr algn="l" indent="0" marL="0">
              <a:buNone/>
            </a:pPr>
            <a:r>
              <a:rPr lang="en-US" sz="788" b="1" spc="150" kern="0" dirty="0">
                <a:solidFill>
                  <a:srgbClr val="22D3C5"/>
                </a:solidFill>
                <a:latin typeface="Scotia" pitchFamily="34" charset="0"/>
                <a:ea typeface="Scotia" pitchFamily="34" charset="-122"/>
                <a:cs typeface="Scotia" pitchFamily="34" charset="-120"/>
              </a:rPr>
              <a:t>DECISION</a:t>
            </a:r>
            <a:endParaRPr lang="en-US" sz="788" dirty="0"/>
          </a:p>
        </p:txBody>
      </p:sp>
      <p:sp>
        <p:nvSpPr>
          <p:cNvPr id="29" name="Text Pods are healthy the image is"/>
          <p:cNvSpPr txBox="1"/>
          <p:nvPr/>
        </p:nvSpPr>
        <p:spPr>
          <a:xfrm>
            <a:off x="4686300" y="4105275"/>
            <a:ext cx="2306836"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Pods are healthy, the image is missing:</a:t>
            </a:r>
            <a:endParaRPr lang="en-US" sz="1013" dirty="0"/>
          </a:p>
        </p:txBody>
      </p:sp>
      <p:sp>
        <p:nvSpPr>
          <p:cNvPr id="30" name="Text hand off."/>
          <p:cNvSpPr txBox="1"/>
          <p:nvPr/>
        </p:nvSpPr>
        <p:spPr>
          <a:xfrm>
            <a:off x="4686300" y="4276725"/>
            <a:ext cx="572393"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hand off.</a:t>
            </a:r>
            <a:endParaRPr lang="en-US" sz="1013" dirty="0"/>
          </a:p>
        </p:txBody>
      </p:sp>
      <p:sp>
        <p:nvSpPr>
          <p:cNvPr id="31" name="dg path"/>
          <p:cNvSpPr/>
          <p:nvPr/>
        </p:nvSpPr>
        <p:spPr>
          <a:xfrm>
            <a:off x="7334250" y="3771900"/>
            <a:ext cx="0" cy="836295"/>
          </a:xfrm>
          <a:prstGeom prst="line">
            <a:avLst/>
          </a:prstGeom>
          <a:noFill/>
          <a:ln w="17145" cap="flat">
            <a:solidFill>
              <a:srgbClr val="E5485D">
                <a:alpha val="80000"/>
              </a:srgbClr>
            </a:solidFill>
            <a:custDash>
              <a:ds d="277778" sp="277778"/>
            </a:custDash>
            <a:miter lim="800000"/>
            <a:tailEnd type="triangle" w="lg" len="lg"/>
          </a:ln>
        </p:spPr>
      </p:sp>
      <p:sp>
        <p:nvSpPr>
          <p:cNvPr id="32" name="dg path"/>
          <p:cNvSpPr/>
          <p:nvPr/>
        </p:nvSpPr>
        <p:spPr>
          <a:xfrm>
            <a:off x="7762875" y="3114675"/>
            <a:ext cx="731520" cy="0"/>
          </a:xfrm>
          <a:prstGeom prst="line">
            <a:avLst/>
          </a:prstGeom>
          <a:noFill/>
          <a:ln w="28575" cap="rnd">
            <a:solidFill>
              <a:srgbClr val="22D3C5"/>
            </a:solidFill>
            <a:miter lim="800000"/>
            <a:tailEnd type="triangle" w="med" len="med"/>
          </a:ln>
        </p:spPr>
      </p:sp>
      <p:sp>
        <p:nvSpPr>
          <p:cNvPr id="33" name="Text hand off"/>
          <p:cNvSpPr txBox="1"/>
          <p:nvPr/>
        </p:nvSpPr>
        <p:spPr>
          <a:xfrm>
            <a:off x="7877770" y="2886075"/>
            <a:ext cx="520065" cy="142875"/>
          </a:xfrm>
          <a:prstGeom prst="rect">
            <a:avLst/>
          </a:prstGeom>
          <a:noFill/>
          <a:ln/>
        </p:spPr>
        <p:txBody>
          <a:bodyPr wrap="none" lIns="0" tIns="0" rIns="0" bIns="0" rtlCol="0" anchor="ctr"/>
          <a:lstStyle/>
          <a:p>
            <a:pPr algn="ctr" indent="0" marL="0">
              <a:buNone/>
            </a:pPr>
            <a:r>
              <a:rPr lang="en-US" sz="938" b="1" dirty="0">
                <a:solidFill>
                  <a:srgbClr val="FFFFFF"/>
                </a:solidFill>
                <a:latin typeface="Scotia" pitchFamily="34" charset="0"/>
                <a:ea typeface="Scotia" pitchFamily="34" charset="-122"/>
                <a:cs typeface="Scotia" pitchFamily="34" charset="-120"/>
              </a:rPr>
              <a:t>hand off</a:t>
            </a:r>
            <a:endParaRPr lang="en-US" sz="938" dirty="0"/>
          </a:p>
        </p:txBody>
      </p:sp>
      <p:sp>
        <p:nvSpPr>
          <p:cNvPr id="34" name="Text context"/>
          <p:cNvSpPr txBox="1"/>
          <p:nvPr/>
        </p:nvSpPr>
        <p:spPr>
          <a:xfrm>
            <a:off x="7858199" y="3248025"/>
            <a:ext cx="552301" cy="142875"/>
          </a:xfrm>
          <a:prstGeom prst="rect">
            <a:avLst/>
          </a:prstGeom>
          <a:noFill/>
          <a:ln/>
        </p:spPr>
        <p:txBody>
          <a:bodyPr wrap="none" lIns="0" tIns="0" rIns="0" bIns="0" rtlCol="0" anchor="ctr"/>
          <a:lstStyle/>
          <a:p>
            <a:pPr algn="ctr" indent="0" marL="0">
              <a:buNone/>
            </a:pPr>
            <a:r>
              <a:rPr lang="en-US" sz="900" dirty="0">
                <a:solidFill>
                  <a:srgbClr val="BDC2EF"/>
                </a:solidFill>
                <a:latin typeface="Scotia Serif" pitchFamily="34" charset="0"/>
                <a:ea typeface="Scotia Serif" pitchFamily="34" charset="-122"/>
                <a:cs typeface="Scotia Serif" pitchFamily="34" charset="-120"/>
              </a:rPr>
              <a:t>+ context</a:t>
            </a:r>
            <a:endParaRPr lang="en-US" sz="900" dirty="0"/>
          </a:p>
        </p:txBody>
      </p:sp>
      <p:sp>
        <p:nvSpPr>
          <p:cNvPr id="35" name="dg rect"/>
          <p:cNvSpPr/>
          <p:nvPr/>
        </p:nvSpPr>
        <p:spPr>
          <a:xfrm>
            <a:off x="8553450" y="2495550"/>
            <a:ext cx="3238500" cy="1238250"/>
          </a:xfrm>
          <a:prstGeom prst="roundRect">
            <a:avLst>
              <a:gd name="adj" fmla="val 12308"/>
            </a:avLst>
          </a:prstGeom>
          <a:solidFill>
            <a:srgbClr val="FFFFFF">
              <a:alpha val="7000"/>
            </a:srgbClr>
          </a:solidFill>
          <a:ln w="14288" cap="flat">
            <a:solidFill>
              <a:srgbClr val="22D3C5">
                <a:alpha val="50000"/>
              </a:srgbClr>
            </a:solidFill>
            <a:miter lim="800000"/>
          </a:ln>
        </p:spPr>
      </p:sp>
      <p:sp>
        <p:nvSpPr>
          <p:cNvPr id="36" name="dg circle"/>
          <p:cNvSpPr/>
          <p:nvPr/>
        </p:nvSpPr>
        <p:spPr>
          <a:xfrm>
            <a:off x="8705850" y="2667000"/>
            <a:ext cx="266700" cy="266700"/>
          </a:xfrm>
          <a:prstGeom prst="ellipse">
            <a:avLst/>
          </a:prstGeom>
          <a:solidFill>
            <a:srgbClr val="22D3C5"/>
          </a:solidFill>
          <a:ln>
            <a:noFill/>
          </a:ln>
        </p:spPr>
      </p:sp>
      <p:sp>
        <p:nvSpPr>
          <p:cNvPr id="37" name="Text 3"/>
          <p:cNvSpPr txBox="1"/>
          <p:nvPr/>
        </p:nvSpPr>
        <p:spPr>
          <a:xfrm>
            <a:off x="8774311" y="2743581"/>
            <a:ext cx="129778" cy="152400"/>
          </a:xfrm>
          <a:prstGeom prst="rect">
            <a:avLst/>
          </a:prstGeom>
          <a:noFill/>
          <a:ln/>
        </p:spPr>
        <p:txBody>
          <a:bodyPr wrap="none" lIns="0" tIns="0" rIns="0" bIns="0" rtlCol="0" anchor="ctr"/>
          <a:lstStyle/>
          <a:p>
            <a:pPr algn="ctr" indent="0" marL="0">
              <a:buNone/>
            </a:pPr>
            <a:r>
              <a:rPr lang="en-US" sz="1050" b="1" dirty="0">
                <a:solidFill>
                  <a:srgbClr val="0B0823"/>
                </a:solidFill>
                <a:latin typeface="Scotia" pitchFamily="34" charset="0"/>
                <a:ea typeface="Scotia" pitchFamily="34" charset="-122"/>
                <a:cs typeface="Scotia" pitchFamily="34" charset="-120"/>
              </a:rPr>
              <a:t>3</a:t>
            </a:r>
            <a:endParaRPr lang="en-US" sz="1050" dirty="0"/>
          </a:p>
        </p:txBody>
      </p:sp>
      <p:sp>
        <p:nvSpPr>
          <p:cNvPr id="38" name="Text CI and registry specialist"/>
          <p:cNvSpPr txBox="1"/>
          <p:nvPr/>
        </p:nvSpPr>
        <p:spPr>
          <a:xfrm>
            <a:off x="9067800" y="2724150"/>
            <a:ext cx="1920776" cy="200025"/>
          </a:xfrm>
          <a:prstGeom prst="rect">
            <a:avLst/>
          </a:prstGeom>
          <a:noFill/>
          <a:ln/>
        </p:spPr>
        <p:txBody>
          <a:bodyPr wrap="none" lIns="0" tIns="0" rIns="0" bIns="0" rtlCol="0" anchor="ctr"/>
          <a:lstStyle/>
          <a:p>
            <a:pPr algn="l" indent="0" marL="0">
              <a:buNone/>
            </a:pPr>
            <a:r>
              <a:rPr lang="en-US" sz="1313" b="1" dirty="0">
                <a:solidFill>
                  <a:srgbClr val="FFFFFF"/>
                </a:solidFill>
                <a:latin typeface="Scotia" pitchFamily="34" charset="0"/>
                <a:ea typeface="Scotia" pitchFamily="34" charset="-122"/>
                <a:cs typeface="Scotia" pitchFamily="34" charset="-120"/>
              </a:rPr>
              <a:t>CI and registry specialist</a:t>
            </a:r>
            <a:endParaRPr lang="en-US" sz="1313" dirty="0"/>
          </a:p>
        </p:txBody>
      </p:sp>
      <p:sp>
        <p:nvSpPr>
          <p:cNvPr id="39" name="Text Inspects builds and the image"/>
          <p:cNvSpPr txBox="1"/>
          <p:nvPr/>
        </p:nvSpPr>
        <p:spPr>
          <a:xfrm>
            <a:off x="8763000" y="3019425"/>
            <a:ext cx="2294930"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Inspects builds and the image registry</a:t>
            </a:r>
            <a:endParaRPr lang="en-US" sz="1013" dirty="0"/>
          </a:p>
        </p:txBody>
      </p:sp>
      <p:sp>
        <p:nvSpPr>
          <p:cNvPr id="40" name="dg rect"/>
          <p:cNvSpPr/>
          <p:nvPr/>
        </p:nvSpPr>
        <p:spPr>
          <a:xfrm>
            <a:off x="8763000" y="3295650"/>
            <a:ext cx="2819400" cy="266700"/>
          </a:xfrm>
          <a:prstGeom prst="roundRect">
            <a:avLst>
              <a:gd name="adj" fmla="val 50000"/>
            </a:avLst>
          </a:prstGeom>
          <a:solidFill>
            <a:srgbClr val="337EFF">
              <a:alpha val="20000"/>
            </a:srgbClr>
          </a:solidFill>
          <a:ln w="12383" cap="flat">
            <a:solidFill>
              <a:srgbClr val="337EFF"/>
            </a:solidFill>
            <a:miter lim="800000"/>
          </a:ln>
        </p:spPr>
      </p:sp>
      <p:sp>
        <p:nvSpPr>
          <p:cNvPr id="41" name="dg i-cloud"/>
          <p:cNvSpPr/>
          <p:nvPr/>
        </p:nvSpPr>
        <p:spPr>
          <a:xfrm>
            <a:off x="8870304" y="337498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2" name="Text GitHub MCP"/>
          <p:cNvSpPr txBox="1"/>
          <p:nvPr/>
        </p:nvSpPr>
        <p:spPr>
          <a:xfrm>
            <a:off x="9086850" y="3376613"/>
            <a:ext cx="724942"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MCP</a:t>
            </a:r>
            <a:endParaRPr lang="en-US" sz="938" dirty="0"/>
          </a:p>
        </p:txBody>
      </p:sp>
      <p:sp>
        <p:nvSpPr>
          <p:cNvPr id="43" name="Text DECISION"/>
          <p:cNvSpPr txBox="1"/>
          <p:nvPr/>
        </p:nvSpPr>
        <p:spPr>
          <a:xfrm>
            <a:off x="8763000" y="3933825"/>
            <a:ext cx="666452" cy="123825"/>
          </a:xfrm>
          <a:prstGeom prst="rect">
            <a:avLst/>
          </a:prstGeom>
          <a:noFill/>
          <a:ln/>
        </p:spPr>
        <p:txBody>
          <a:bodyPr wrap="none" lIns="0" tIns="0" rIns="0" bIns="0" rtlCol="0" anchor="ctr"/>
          <a:lstStyle/>
          <a:p>
            <a:pPr algn="l" indent="0" marL="0">
              <a:buNone/>
            </a:pPr>
            <a:r>
              <a:rPr lang="en-US" sz="788" b="1" spc="150" kern="0" dirty="0">
                <a:solidFill>
                  <a:srgbClr val="22D3C5"/>
                </a:solidFill>
                <a:latin typeface="Scotia" pitchFamily="34" charset="0"/>
                <a:ea typeface="Scotia" pitchFamily="34" charset="-122"/>
                <a:cs typeface="Scotia" pitchFamily="34" charset="-120"/>
              </a:rPr>
              <a:t>DECISION</a:t>
            </a:r>
            <a:endParaRPr lang="en-US" sz="788" dirty="0"/>
          </a:p>
        </p:txBody>
      </p:sp>
      <p:sp>
        <p:nvSpPr>
          <p:cNvPr id="44" name="Text Root cause found: resolve."/>
          <p:cNvSpPr txBox="1"/>
          <p:nvPr/>
        </p:nvSpPr>
        <p:spPr>
          <a:xfrm>
            <a:off x="8763000" y="4105275"/>
            <a:ext cx="1583978"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Root cause found: resolve.</a:t>
            </a:r>
            <a:endParaRPr lang="en-US" sz="1013" dirty="0"/>
          </a:p>
        </p:txBody>
      </p:sp>
      <p:sp>
        <p:nvSpPr>
          <p:cNvPr id="45" name="dg path"/>
          <p:cNvSpPr/>
          <p:nvPr/>
        </p:nvSpPr>
        <p:spPr>
          <a:xfrm>
            <a:off x="11410950" y="3771900"/>
            <a:ext cx="0" cy="836295"/>
          </a:xfrm>
          <a:prstGeom prst="line">
            <a:avLst/>
          </a:prstGeom>
          <a:noFill/>
          <a:ln w="17145" cap="flat">
            <a:solidFill>
              <a:srgbClr val="E5485D">
                <a:alpha val="80000"/>
              </a:srgbClr>
            </a:solidFill>
            <a:custDash>
              <a:ds d="277778" sp="277778"/>
            </a:custDash>
            <a:miter lim="800000"/>
            <a:tailEnd type="triangle" w="lg" len="lg"/>
          </a:ln>
        </p:spPr>
      </p:sp>
      <p:sp>
        <p:nvSpPr>
          <p:cNvPr id="46" name="dg rect"/>
          <p:cNvSpPr/>
          <p:nvPr/>
        </p:nvSpPr>
        <p:spPr>
          <a:xfrm>
            <a:off x="400050" y="1638300"/>
            <a:ext cx="11391900" cy="381000"/>
          </a:xfrm>
          <a:prstGeom prst="roundRect">
            <a:avLst>
              <a:gd name="adj" fmla="val 30000"/>
            </a:avLst>
          </a:prstGeom>
          <a:solidFill>
            <a:srgbClr val="2FBF71">
              <a:alpha val="14000"/>
            </a:srgbClr>
          </a:solidFill>
          <a:ln w="14288" cap="flat">
            <a:solidFill>
              <a:srgbClr val="2FBF71"/>
            </a:solidFill>
            <a:miter lim="800000"/>
          </a:ln>
        </p:spPr>
      </p:sp>
      <p:sp>
        <p:nvSpPr>
          <p:cNvPr id="47" name="dg i-circle-check"/>
          <p:cNvSpPr/>
          <p:nvPr/>
        </p:nvSpPr>
        <p:spPr>
          <a:xfrm>
            <a:off x="552450" y="1733550"/>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9050" cap="rnd">
            <a:solidFill>
              <a:srgbClr val="2FBF71"/>
            </a:solidFill>
            <a:round/>
          </a:ln>
        </p:spPr>
      </p:sp>
      <p:sp>
        <p:nvSpPr>
          <p:cNvPr id="48" name="Text Resolved: the last agent retur"/>
          <p:cNvSpPr txBox="1"/>
          <p:nvPr/>
        </p:nvSpPr>
        <p:spPr>
          <a:xfrm>
            <a:off x="876300" y="1762125"/>
            <a:ext cx="5924104"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Resolved: the last agent returns one answer, with the pipeline re-run and the image published</a:t>
            </a:r>
            <a:endParaRPr lang="en-US" sz="1088" dirty="0"/>
          </a:p>
        </p:txBody>
      </p:sp>
      <p:sp>
        <p:nvSpPr>
          <p:cNvPr id="49" name="dg path"/>
          <p:cNvSpPr/>
          <p:nvPr/>
        </p:nvSpPr>
        <p:spPr>
          <a:xfrm flipV="1">
            <a:off x="10172700" y="2135505"/>
            <a:ext cx="0" cy="302895"/>
          </a:xfrm>
          <a:prstGeom prst="line">
            <a:avLst/>
          </a:prstGeom>
          <a:noFill/>
          <a:ln w="20955" cap="rnd">
            <a:solidFill>
              <a:srgbClr val="2FBF71"/>
            </a:solidFill>
            <a:miter lim="800000"/>
            <a:tailEnd type="triangle" w="lg" len="lg"/>
          </a:ln>
        </p:spPr>
      </p:sp>
      <p:sp>
        <p:nvSpPr>
          <p:cNvPr id="50" name="dg line"/>
          <p:cNvSpPr/>
          <p:nvPr/>
        </p:nvSpPr>
        <p:spPr>
          <a:xfrm>
            <a:off x="400050" y="5676900"/>
            <a:ext cx="11391900" cy="0"/>
          </a:xfrm>
          <a:prstGeom prst="line">
            <a:avLst/>
          </a:prstGeom>
          <a:noFill/>
          <a:ln w="9525" cap="flat">
            <a:solidFill>
              <a:srgbClr val="BDC2EF">
                <a:alpha val="22000"/>
              </a:srgbClr>
            </a:solidFill>
            <a:miter lim="800000"/>
          </a:ln>
        </p:spPr>
      </p:sp>
      <p:sp>
        <p:nvSpPr>
          <p:cNvPr id="51" name="Text WHY HANDOFF FITS"/>
          <p:cNvSpPr txBox="1"/>
          <p:nvPr/>
        </p:nvSpPr>
        <p:spPr>
          <a:xfrm>
            <a:off x="400050" y="5819775"/>
            <a:ext cx="1429792" cy="123825"/>
          </a:xfrm>
          <a:prstGeom prst="rect">
            <a:avLst/>
          </a:prstGeom>
          <a:noFill/>
          <a:ln/>
        </p:spPr>
        <p:txBody>
          <a:bodyPr wrap="none" lIns="0" tIns="0" rIns="0" bIns="0" rtlCol="0" anchor="ctr"/>
          <a:lstStyle/>
          <a:p>
            <a:pPr algn="l" indent="0" marL="0">
              <a:buNone/>
            </a:pPr>
            <a:r>
              <a:rPr lang="en-US" sz="863" b="1" spc="165" kern="0" dirty="0">
                <a:solidFill>
                  <a:srgbClr val="22D3C5"/>
                </a:solidFill>
                <a:latin typeface="Scotia" pitchFamily="34" charset="0"/>
                <a:ea typeface="Scotia" pitchFamily="34" charset="-122"/>
                <a:cs typeface="Scotia" pitchFamily="34" charset="-120"/>
              </a:rPr>
              <a:t>WHY HANDOFF FITS</a:t>
            </a:r>
            <a:endParaRPr lang="en-US" sz="863" dirty="0"/>
          </a:p>
        </p:txBody>
      </p:sp>
      <p:sp>
        <p:nvSpPr>
          <p:cNvPr id="52" name="Text MCP IN THIS FLOW"/>
          <p:cNvSpPr txBox="1"/>
          <p:nvPr/>
        </p:nvSpPr>
        <p:spPr>
          <a:xfrm>
            <a:off x="6286500" y="5819775"/>
            <a:ext cx="1345555" cy="123825"/>
          </a:xfrm>
          <a:prstGeom prst="rect">
            <a:avLst/>
          </a:prstGeom>
          <a:noFill/>
          <a:ln/>
        </p:spPr>
        <p:txBody>
          <a:bodyPr wrap="none" lIns="0" tIns="0" rIns="0" bIns="0" rtlCol="0" anchor="ctr"/>
          <a:lstStyle/>
          <a:p>
            <a:pPr algn="l" indent="0" marL="0">
              <a:buNone/>
            </a:pPr>
            <a:r>
              <a:rPr lang="en-US" sz="863" b="1" spc="165" kern="0" dirty="0">
                <a:solidFill>
                  <a:srgbClr val="8FB4FF"/>
                </a:solidFill>
                <a:latin typeface="Scotia" pitchFamily="34" charset="0"/>
                <a:ea typeface="Scotia" pitchFamily="34" charset="-122"/>
                <a:cs typeface="Scotia" pitchFamily="34" charset="-120"/>
              </a:rPr>
              <a:t>MCP IN THIS FLOW</a:t>
            </a:r>
            <a:endParaRPr lang="en-US" sz="863" dirty="0"/>
          </a:p>
        </p:txBody>
      </p:sp>
      <p:sp>
        <p:nvSpPr>
          <p:cNvPr id="53" name="Text The right specialist only beco"/>
          <p:cNvSpPr txBox="1"/>
          <p:nvPr/>
        </p:nvSpPr>
        <p:spPr>
          <a:xfrm>
            <a:off x="400050" y="6000750"/>
            <a:ext cx="5048399"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The right specialist only becomes clear as the problem is investigated.</a:t>
            </a:r>
            <a:endParaRPr lang="en-US" sz="1238" dirty="0"/>
          </a:p>
        </p:txBody>
      </p:sp>
      <p:sp>
        <p:nvSpPr>
          <p:cNvPr id="54" name="Text Only the active agent s tools"/>
          <p:cNvSpPr txBox="1"/>
          <p:nvPr/>
        </p:nvSpPr>
        <p:spPr>
          <a:xfrm>
            <a:off x="6286500" y="6000750"/>
            <a:ext cx="4903738"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Only the active agent's tools are in use; the triage agent needs none.</a:t>
            </a:r>
            <a:endParaRPr lang="en-US" sz="1238" dirty="0"/>
          </a:p>
        </p:txBody>
      </p:sp>
      <p:sp>
        <p:nvSpPr>
          <p:cNvPr id="55" name="Text Deployment Failure Support"/>
          <p:cNvSpPr txBox="1"/>
          <p:nvPr/>
        </p:nvSpPr>
        <p:spPr>
          <a:xfrm>
            <a:off x="400050" y="475926"/>
            <a:ext cx="5197525"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Deployment Failure Support</a:t>
            </a:r>
            <a:endParaRPr lang="en-US" sz="3067" dirty="0"/>
          </a:p>
        </p:txBody>
      </p:sp>
      <p:sp>
        <p:nvSpPr>
          <p:cNvPr id="56" name="Text Trigger: a developer reports t"/>
          <p:cNvSpPr txBox="1"/>
          <p:nvPr/>
        </p:nvSpPr>
        <p:spPr>
          <a:xfrm>
            <a:off x="400050" y="1025625"/>
            <a:ext cx="7220099"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Trigger: a developer reports that orders-service pods are stuck in ImagePullBackOff.</a:t>
            </a:r>
            <a:endParaRPr lang="en-US" sz="1467" dirty="0"/>
          </a:p>
        </p:txBody>
      </p:sp>
      <p:sp>
        <p:nvSpPr>
          <p:cNvPr id="57"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58" name="Text 18"/>
          <p:cNvSpPr txBox="1"/>
          <p:nvPr/>
        </p:nvSpPr>
        <p:spPr>
          <a:xfrm>
            <a:off x="11625263" y="6306483"/>
            <a:ext cx="157163"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823"/>
        </a:solidFill>
      </p:bgPr>
    </p:bg>
    <p:spTree>
      <p:nvGrpSpPr>
        <p:cNvPr id="1" name=""/>
        <p:cNvGrpSpPr/>
        <p:nvPr/>
      </p:nvGrpSpPr>
      <p:grpSpPr>
        <a:xfrm>
          <a:off x="0" y="0"/>
          <a:ext cx="0" cy="0"/>
          <a:chOff x="0" y="0"/>
          <a:chExt cx="0" cy="0"/>
        </a:xfrm>
      </p:grpSpPr>
      <p:sp>
        <p:nvSpPr>
          <p:cNvPr id="2" name="dg circle"/>
          <p:cNvSpPr/>
          <p:nvPr/>
        </p:nvSpPr>
        <p:spPr>
          <a:xfrm>
            <a:off x="10910888" y="623888"/>
            <a:ext cx="85725" cy="85725"/>
          </a:xfrm>
          <a:prstGeom prst="ellipse">
            <a:avLst/>
          </a:prstGeom>
          <a:noFill/>
          <a:ln w="14288" cap="flat">
            <a:solidFill>
              <a:srgbClr val="B0AAFF"/>
            </a:solidFill>
            <a:miter lim="800000"/>
          </a:ln>
        </p:spPr>
      </p:sp>
      <p:sp>
        <p:nvSpPr>
          <p:cNvPr id="3" name="dg circle"/>
          <p:cNvSpPr/>
          <p:nvPr/>
        </p:nvSpPr>
        <p:spPr>
          <a:xfrm>
            <a:off x="11120438" y="623888"/>
            <a:ext cx="85725" cy="85725"/>
          </a:xfrm>
          <a:prstGeom prst="ellipse">
            <a:avLst/>
          </a:prstGeom>
          <a:noFill/>
          <a:ln w="14288" cap="flat">
            <a:solidFill>
              <a:srgbClr val="B0AAFF"/>
            </a:solidFill>
            <a:miter lim="800000"/>
          </a:ln>
        </p:spPr>
      </p:sp>
      <p:sp>
        <p:nvSpPr>
          <p:cNvPr id="4" name="dg circle"/>
          <p:cNvSpPr/>
          <p:nvPr/>
        </p:nvSpPr>
        <p:spPr>
          <a:xfrm>
            <a:off x="11329988" y="623888"/>
            <a:ext cx="85725" cy="85725"/>
          </a:xfrm>
          <a:prstGeom prst="ellipse">
            <a:avLst/>
          </a:prstGeom>
          <a:noFill/>
          <a:ln w="14288" cap="flat">
            <a:solidFill>
              <a:srgbClr val="B0AAFF"/>
            </a:solidFill>
            <a:miter lim="800000"/>
          </a:ln>
        </p:spPr>
      </p:sp>
      <p:sp>
        <p:nvSpPr>
          <p:cNvPr id="5" name="dg circle"/>
          <p:cNvSpPr/>
          <p:nvPr/>
        </p:nvSpPr>
        <p:spPr>
          <a:xfrm>
            <a:off x="11539538" y="623888"/>
            <a:ext cx="85725" cy="85725"/>
          </a:xfrm>
          <a:prstGeom prst="ellipse">
            <a:avLst/>
          </a:prstGeom>
          <a:noFill/>
          <a:ln w="14288" cap="flat">
            <a:solidFill>
              <a:srgbClr val="B0AAFF"/>
            </a:solidFill>
            <a:miter lim="800000"/>
          </a:ln>
        </p:spPr>
      </p:sp>
      <p:sp>
        <p:nvSpPr>
          <p:cNvPr id="6" name="dg circle"/>
          <p:cNvSpPr/>
          <p:nvPr/>
        </p:nvSpPr>
        <p:spPr>
          <a:xfrm>
            <a:off x="11734800" y="609600"/>
            <a:ext cx="114300" cy="114300"/>
          </a:xfrm>
          <a:prstGeom prst="ellipse">
            <a:avLst/>
          </a:prstGeom>
          <a:solidFill>
            <a:srgbClr val="6551FF"/>
          </a:solidFill>
          <a:ln w="14288" cap="flat">
            <a:solidFill>
              <a:srgbClr val="6551FF"/>
            </a:solidFill>
            <a:miter lim="800000"/>
          </a:ln>
        </p:spPr>
      </p:sp>
      <p:sp>
        <p:nvSpPr>
          <p:cNvPr id="7" name="dg polygon"/>
          <p:cNvSpPr/>
          <p:nvPr/>
        </p:nvSpPr>
        <p:spPr>
          <a:xfrm>
            <a:off x="4829175" y="1809750"/>
            <a:ext cx="2438400" cy="419100"/>
          </a:xfrm>
          <a:custGeom>
            <a:avLst/>
            <a:gdLst/>
            <a:ahLst/>
            <a:cxnLst/>
            <a:rect l="l" t="t" r="r" b="b"/>
            <a:pathLst>
              <a:path w="2438400" h="419100">
                <a:moveTo>
                  <a:pt x="133350" y="0"/>
                </a:moveTo>
                <a:lnTo>
                  <a:pt x="2438400" y="0"/>
                </a:lnTo>
                <a:lnTo>
                  <a:pt x="2305050" y="419100"/>
                </a:lnTo>
                <a:lnTo>
                  <a:pt x="0" y="419100"/>
                </a:lnTo>
                <a:close/>
              </a:path>
            </a:pathLst>
          </a:custGeom>
          <a:gradFill rotWithShape="1">
            <a:gsLst>
              <a:gs pos="0">
                <a:srgbClr val="7B69FF"/>
              </a:gs>
              <a:gs pos="100000">
                <a:srgbClr val="5141D3"/>
              </a:gs>
            </a:gsLst>
            <a:lin ang="2700000" scaled="1"/>
          </a:gradFill>
          <a:ln>
            <a:noFill/>
          </a:ln>
        </p:spPr>
      </p:sp>
      <p:sp>
        <p:nvSpPr>
          <p:cNvPr id="8" name="Text Open-ended problem"/>
          <p:cNvSpPr txBox="1"/>
          <p:nvPr/>
        </p:nvSpPr>
        <p:spPr>
          <a:xfrm>
            <a:off x="5329238" y="1952625"/>
            <a:ext cx="1438275" cy="171450"/>
          </a:xfrm>
          <a:prstGeom prst="rect">
            <a:avLst/>
          </a:prstGeom>
          <a:noFill/>
          <a:ln/>
        </p:spPr>
        <p:txBody>
          <a:bodyPr wrap="none" lIns="0" tIns="0" rIns="0" bIns="0" rtlCol="0" anchor="ctr"/>
          <a:lstStyle/>
          <a:p>
            <a:pPr algn="ctr" indent="0" marL="0">
              <a:buNone/>
            </a:pPr>
            <a:r>
              <a:rPr lang="en-US" sz="1088" b="1" dirty="0">
                <a:solidFill>
                  <a:srgbClr val="FFFFFF"/>
                </a:solidFill>
                <a:latin typeface="Scotia" pitchFamily="34" charset="0"/>
                <a:ea typeface="Scotia" pitchFamily="34" charset="-122"/>
                <a:cs typeface="Scotia" pitchFamily="34" charset="-120"/>
              </a:rPr>
              <a:t>Open-ended problem</a:t>
            </a:r>
            <a:endParaRPr lang="en-US" sz="1088" dirty="0"/>
          </a:p>
        </p:txBody>
      </p:sp>
      <p:sp>
        <p:nvSpPr>
          <p:cNvPr id="9" name="dg path"/>
          <p:cNvSpPr/>
          <p:nvPr/>
        </p:nvSpPr>
        <p:spPr>
          <a:xfrm>
            <a:off x="6048375" y="2266950"/>
            <a:ext cx="0" cy="398145"/>
          </a:xfrm>
          <a:prstGeom prst="line">
            <a:avLst/>
          </a:prstGeom>
          <a:noFill/>
          <a:ln w="24765" cap="rnd">
            <a:solidFill>
              <a:srgbClr val="B0AAFF"/>
            </a:solidFill>
            <a:miter lim="800000"/>
            <a:tailEnd type="triangle" w="lg" len="lg"/>
          </a:ln>
        </p:spPr>
      </p:sp>
      <p:sp>
        <p:nvSpPr>
          <p:cNvPr id="10" name="dg circle"/>
          <p:cNvSpPr/>
          <p:nvPr/>
        </p:nvSpPr>
        <p:spPr>
          <a:xfrm>
            <a:off x="6143625" y="2381250"/>
            <a:ext cx="228600" cy="228600"/>
          </a:xfrm>
          <a:prstGeom prst="ellipse">
            <a:avLst/>
          </a:prstGeom>
          <a:solidFill>
            <a:srgbClr val="6551FF"/>
          </a:solidFill>
          <a:ln>
            <a:noFill/>
          </a:ln>
        </p:spPr>
      </p:sp>
      <p:sp>
        <p:nvSpPr>
          <p:cNvPr id="11" name="Text 1"/>
          <p:cNvSpPr txBox="1"/>
          <p:nvPr/>
        </p:nvSpPr>
        <p:spPr>
          <a:xfrm>
            <a:off x="6201296" y="2435349"/>
            <a:ext cx="11325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1</a:t>
            </a:r>
            <a:endParaRPr lang="en-US" sz="975" dirty="0"/>
          </a:p>
        </p:txBody>
      </p:sp>
      <p:sp>
        <p:nvSpPr>
          <p:cNvPr id="12" name="Text receives problem"/>
          <p:cNvSpPr txBox="1"/>
          <p:nvPr/>
        </p:nvSpPr>
        <p:spPr>
          <a:xfrm>
            <a:off x="6429375" y="2443163"/>
            <a:ext cx="974824"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receives problem</a:t>
            </a:r>
            <a:endParaRPr lang="en-US" sz="938" dirty="0"/>
          </a:p>
        </p:txBody>
      </p:sp>
      <p:sp>
        <p:nvSpPr>
          <p:cNvPr id="13" name="dg rect"/>
          <p:cNvSpPr/>
          <p:nvPr/>
        </p:nvSpPr>
        <p:spPr>
          <a:xfrm>
            <a:off x="4667250" y="2724150"/>
            <a:ext cx="2762250" cy="1066800"/>
          </a:xfrm>
          <a:prstGeom prst="roundRect">
            <a:avLst>
              <a:gd name="adj" fmla="val 17857"/>
            </a:avLst>
          </a:prstGeom>
          <a:gradFill rotWithShape="1">
            <a:gsLst>
              <a:gs pos="0">
                <a:srgbClr val="7B69FF"/>
              </a:gs>
              <a:gs pos="100000">
                <a:srgbClr val="5141D3"/>
              </a:gs>
            </a:gsLst>
            <a:lin ang="2700000" scaled="1"/>
          </a:gradFill>
          <a:ln w="17145" cap="flat">
            <a:solidFill>
              <a:srgbClr val="B0AAFF"/>
            </a:solidFill>
            <a:miter lim="800000"/>
          </a:ln>
        </p:spPr>
      </p:sp>
      <p:sp>
        <p:nvSpPr>
          <p:cNvPr id="14" name="dg circle"/>
          <p:cNvSpPr/>
          <p:nvPr/>
        </p:nvSpPr>
        <p:spPr>
          <a:xfrm>
            <a:off x="4838700" y="2857500"/>
            <a:ext cx="495300" cy="495300"/>
          </a:xfrm>
          <a:prstGeom prst="ellipse">
            <a:avLst/>
          </a:prstGeom>
          <a:solidFill>
            <a:srgbClr val="FFFFFF">
              <a:alpha val="19000"/>
            </a:srgbClr>
          </a:solidFill>
          <a:ln>
            <a:noFill/>
          </a:ln>
        </p:spPr>
      </p:sp>
      <p:sp>
        <p:nvSpPr>
          <p:cNvPr id="15" name="dg i-brain"/>
          <p:cNvSpPr/>
          <p:nvPr/>
        </p:nvSpPr>
        <p:spPr>
          <a:xfrm>
            <a:off x="4982152" y="3000330"/>
            <a:ext cx="208396" cy="210399"/>
          </a:xfrm>
          <a:custGeom>
            <a:avLst/>
            <a:gdLst/>
            <a:ahLst/>
            <a:cxnLst/>
            <a:rect l="l" t="t" r="r" b="b"/>
            <a:pathLst>
              <a:path w="208396" h="210399">
                <a:moveTo>
                  <a:pt x="104198" y="32589"/>
                </a:moveTo>
                <a:cubicBezTo>
                  <a:pt x="104231" y="21354"/>
                  <a:pt x="98174" y="10983"/>
                  <a:pt x="88372" y="5491"/>
                </a:cubicBezTo>
                <a:cubicBezTo>
                  <a:pt x="78571" y="0"/>
                  <a:pt x="66563" y="250"/>
                  <a:pt x="56999" y="6145"/>
                </a:cubicBezTo>
                <a:cubicBezTo>
                  <a:pt x="47434" y="12041"/>
                  <a:pt x="41815" y="22655"/>
                  <a:pt x="42316" y="33879"/>
                </a:cubicBezTo>
                <a:cubicBezTo>
                  <a:pt x="30026" y="37039"/>
                  <a:pt x="19873" y="45677"/>
                  <a:pt x="14784" y="57301"/>
                </a:cubicBezTo>
                <a:cubicBezTo>
                  <a:pt x="9695" y="68926"/>
                  <a:pt x="10236" y="82245"/>
                  <a:pt x="16251" y="93418"/>
                </a:cubicBezTo>
                <a:cubicBezTo>
                  <a:pt x="5654" y="102027"/>
                  <a:pt x="0" y="115320"/>
                  <a:pt x="1148" y="128925"/>
                </a:cubicBezTo>
                <a:cubicBezTo>
                  <a:pt x="2296" y="142530"/>
                  <a:pt x="10098" y="154687"/>
                  <a:pt x="21988" y="161398"/>
                </a:cubicBezTo>
                <a:cubicBezTo>
                  <a:pt x="20018" y="176646"/>
                  <a:pt x="26685" y="191725"/>
                  <a:pt x="39290" y="200528"/>
                </a:cubicBezTo>
                <a:cubicBezTo>
                  <a:pt x="51895" y="209331"/>
                  <a:pt x="68347" y="210399"/>
                  <a:pt x="81984" y="203299"/>
                </a:cubicBezTo>
                <a:cubicBezTo>
                  <a:pt x="95621" y="196199"/>
                  <a:pt x="104181" y="182107"/>
                  <a:pt x="104198" y="166733"/>
                </a:cubicBezTo>
                <a:close/>
                <a:moveTo>
                  <a:pt x="104198" y="32589"/>
                </a:moveTo>
                <a:cubicBezTo>
                  <a:pt x="104165" y="21354"/>
                  <a:pt x="110222" y="10983"/>
                  <a:pt x="120023" y="5491"/>
                </a:cubicBezTo>
                <a:cubicBezTo>
                  <a:pt x="129825" y="0"/>
                  <a:pt x="141833" y="250"/>
                  <a:pt x="151397" y="6145"/>
                </a:cubicBezTo>
                <a:cubicBezTo>
                  <a:pt x="160961" y="12041"/>
                  <a:pt x="166581" y="22655"/>
                  <a:pt x="166079" y="33879"/>
                </a:cubicBezTo>
                <a:cubicBezTo>
                  <a:pt x="178369" y="37039"/>
                  <a:pt x="188522" y="45677"/>
                  <a:pt x="193611" y="57301"/>
                </a:cubicBezTo>
                <a:cubicBezTo>
                  <a:pt x="198700" y="68926"/>
                  <a:pt x="198159" y="82245"/>
                  <a:pt x="192145" y="93418"/>
                </a:cubicBezTo>
                <a:cubicBezTo>
                  <a:pt x="202742" y="102027"/>
                  <a:pt x="208396" y="115320"/>
                  <a:pt x="207247" y="128925"/>
                </a:cubicBezTo>
                <a:cubicBezTo>
                  <a:pt x="206099" y="142530"/>
                  <a:pt x="198297" y="154687"/>
                  <a:pt x="186407" y="161398"/>
                </a:cubicBezTo>
                <a:cubicBezTo>
                  <a:pt x="188378" y="176646"/>
                  <a:pt x="181711" y="191725"/>
                  <a:pt x="169106" y="200528"/>
                </a:cubicBezTo>
                <a:cubicBezTo>
                  <a:pt x="156501" y="209331"/>
                  <a:pt x="140048" y="210399"/>
                  <a:pt x="126411" y="203299"/>
                </a:cubicBezTo>
                <a:cubicBezTo>
                  <a:pt x="112775" y="196199"/>
                  <a:pt x="104214" y="182107"/>
                  <a:pt x="104198" y="166733"/>
                </a:cubicBezTo>
                <a:close/>
                <a:moveTo>
                  <a:pt x="135154" y="115139"/>
                </a:moveTo>
                <a:cubicBezTo>
                  <a:pt x="117438" y="108907"/>
                  <a:pt x="105220" y="92617"/>
                  <a:pt x="104198" y="73864"/>
                </a:cubicBezTo>
                <a:cubicBezTo>
                  <a:pt x="103175" y="92617"/>
                  <a:pt x="90958" y="108907"/>
                  <a:pt x="73242" y="115139"/>
                </a:cubicBezTo>
                <a:moveTo>
                  <a:pt x="161972" y="48067"/>
                </a:moveTo>
                <a:cubicBezTo>
                  <a:pt x="164470" y="43740"/>
                  <a:pt x="165882" y="38871"/>
                  <a:pt x="166090" y="33879"/>
                </a:cubicBezTo>
                <a:moveTo>
                  <a:pt x="42316" y="33879"/>
                </a:moveTo>
                <a:cubicBezTo>
                  <a:pt x="42520" y="38871"/>
                  <a:pt x="43929" y="43739"/>
                  <a:pt x="46423" y="48067"/>
                </a:cubicBezTo>
                <a:moveTo>
                  <a:pt x="16251" y="93429"/>
                </a:moveTo>
                <a:cubicBezTo>
                  <a:pt x="18139" y="91891"/>
                  <a:pt x="20159" y="90524"/>
                  <a:pt x="22288" y="89342"/>
                </a:cubicBezTo>
                <a:moveTo>
                  <a:pt x="186108" y="89342"/>
                </a:moveTo>
                <a:cubicBezTo>
                  <a:pt x="188237" y="90524"/>
                  <a:pt x="190257" y="91891"/>
                  <a:pt x="192145" y="93429"/>
                </a:cubicBezTo>
                <a:moveTo>
                  <a:pt x="42285" y="166733"/>
                </a:moveTo>
                <a:cubicBezTo>
                  <a:pt x="35174" y="166736"/>
                  <a:pt x="28182" y="164902"/>
                  <a:pt x="21988" y="161408"/>
                </a:cubicBezTo>
                <a:moveTo>
                  <a:pt x="186407" y="161408"/>
                </a:moveTo>
                <a:cubicBezTo>
                  <a:pt x="180213" y="164902"/>
                  <a:pt x="173222" y="166736"/>
                  <a:pt x="166110" y="166733"/>
                </a:cubicBezTo>
              </a:path>
            </a:pathLst>
          </a:custGeom>
          <a:noFill/>
          <a:ln w="18574" cap="rnd">
            <a:solidFill>
              <a:srgbClr val="FFFFFF"/>
            </a:solidFill>
            <a:round/>
          </a:ln>
        </p:spPr>
      </p:sp>
      <p:sp>
        <p:nvSpPr>
          <p:cNvPr id="16" name="Text Manager"/>
          <p:cNvSpPr txBox="1"/>
          <p:nvPr/>
        </p:nvSpPr>
        <p:spPr>
          <a:xfrm>
            <a:off x="5486400" y="2943225"/>
            <a:ext cx="782316" cy="209550"/>
          </a:xfrm>
          <a:prstGeom prst="rect">
            <a:avLst/>
          </a:prstGeom>
          <a:noFill/>
          <a:ln/>
        </p:spPr>
        <p:txBody>
          <a:bodyPr wrap="none" lIns="0" tIns="0" rIns="0" bIns="0" rtlCol="0" anchor="ctr"/>
          <a:lstStyle/>
          <a:p>
            <a:pPr algn="l" indent="0" marL="0">
              <a:buNone/>
            </a:pPr>
            <a:r>
              <a:rPr lang="en-US" sz="1425" b="1" dirty="0">
                <a:solidFill>
                  <a:srgbClr val="FFFFFF"/>
                </a:solidFill>
                <a:latin typeface="Scotia" pitchFamily="34" charset="0"/>
                <a:ea typeface="Scotia" pitchFamily="34" charset="-122"/>
                <a:cs typeface="Scotia" pitchFamily="34" charset="-120"/>
              </a:rPr>
              <a:t>Manager</a:t>
            </a:r>
            <a:endParaRPr lang="en-US" sz="1425" dirty="0"/>
          </a:p>
        </p:txBody>
      </p:sp>
      <p:sp>
        <p:nvSpPr>
          <p:cNvPr id="17" name="Text agent"/>
          <p:cNvSpPr txBox="1"/>
          <p:nvPr/>
        </p:nvSpPr>
        <p:spPr>
          <a:xfrm>
            <a:off x="5486400" y="3152775"/>
            <a:ext cx="525214" cy="209550"/>
          </a:xfrm>
          <a:prstGeom prst="rect">
            <a:avLst/>
          </a:prstGeom>
          <a:noFill/>
          <a:ln/>
        </p:spPr>
        <p:txBody>
          <a:bodyPr wrap="none" lIns="0" tIns="0" rIns="0" bIns="0" rtlCol="0" anchor="ctr"/>
          <a:lstStyle/>
          <a:p>
            <a:pPr algn="l" indent="0" marL="0">
              <a:buNone/>
            </a:pPr>
            <a:r>
              <a:rPr lang="en-US" sz="1425" b="1" dirty="0">
                <a:solidFill>
                  <a:srgbClr val="FFFFFF"/>
                </a:solidFill>
                <a:latin typeface="Scotia" pitchFamily="34" charset="0"/>
                <a:ea typeface="Scotia" pitchFamily="34" charset="-122"/>
                <a:cs typeface="Scotia" pitchFamily="34" charset="-120"/>
              </a:rPr>
              <a:t>agent</a:t>
            </a:r>
            <a:endParaRPr lang="en-US" sz="1425" dirty="0"/>
          </a:p>
        </p:txBody>
      </p:sp>
      <p:sp>
        <p:nvSpPr>
          <p:cNvPr id="18" name="Text Plans consults re-plans"/>
          <p:cNvSpPr txBox="1"/>
          <p:nvPr/>
        </p:nvSpPr>
        <p:spPr>
          <a:xfrm>
            <a:off x="4933950" y="3486150"/>
            <a:ext cx="1587698"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Plans, consults, re-plans</a:t>
            </a:r>
            <a:endParaRPr lang="en-US" sz="1088" dirty="0"/>
          </a:p>
        </p:txBody>
      </p:sp>
      <p:sp>
        <p:nvSpPr>
          <p:cNvPr id="19" name="dg rect"/>
          <p:cNvSpPr/>
          <p:nvPr/>
        </p:nvSpPr>
        <p:spPr>
          <a:xfrm>
            <a:off x="400050" y="1771650"/>
            <a:ext cx="3543300" cy="3752850"/>
          </a:xfrm>
          <a:prstGeom prst="roundRect">
            <a:avLst>
              <a:gd name="adj" fmla="val 5376"/>
            </a:avLst>
          </a:prstGeom>
          <a:gradFill rotWithShape="1">
            <a:gsLst>
              <a:gs pos="0">
                <a:srgbClr val="1A1550"/>
              </a:gs>
              <a:gs pos="100000">
                <a:srgbClr val="120E36"/>
              </a:gs>
            </a:gsLst>
            <a:lin ang="5400000" scaled="1"/>
          </a:gradFill>
          <a:ln w="15240" cap="flat">
            <a:solidFill>
              <a:srgbClr val="B0AAFF"/>
            </a:solidFill>
            <a:miter lim="800000"/>
          </a:ln>
        </p:spPr>
      </p:sp>
      <p:sp>
        <p:nvSpPr>
          <p:cNvPr id="20" name="dg i-clipboard"/>
          <p:cNvSpPr/>
          <p:nvPr/>
        </p:nvSpPr>
        <p:spPr>
          <a:xfrm>
            <a:off x="650875" y="1944688"/>
            <a:ext cx="165100" cy="206375"/>
          </a:xfrm>
          <a:custGeom>
            <a:avLst/>
            <a:gdLst/>
            <a:ahLst/>
            <a:cxnLst/>
            <a:rect l="l" t="t" r="r" b="b"/>
            <a:pathLst>
              <a:path w="165100" h="206375">
                <a:moveTo>
                  <a:pt x="51594" y="0"/>
                </a:moveTo>
                <a:lnTo>
                  <a:pt x="113506" y="0"/>
                </a:lnTo>
                <a:cubicBezTo>
                  <a:pt x="119205" y="0"/>
                  <a:pt x="123825" y="4620"/>
                  <a:pt x="123825" y="10319"/>
                </a:cubicBezTo>
                <a:lnTo>
                  <a:pt x="123825" y="30956"/>
                </a:lnTo>
                <a:cubicBezTo>
                  <a:pt x="123825" y="36655"/>
                  <a:pt x="119205" y="41275"/>
                  <a:pt x="113506" y="41275"/>
                </a:cubicBezTo>
                <a:lnTo>
                  <a:pt x="51594" y="41275"/>
                </a:lnTo>
                <a:cubicBezTo>
                  <a:pt x="45895" y="41275"/>
                  <a:pt x="41275" y="36655"/>
                  <a:pt x="41275" y="30956"/>
                </a:cubicBezTo>
                <a:lnTo>
                  <a:pt x="41275" y="10319"/>
                </a:lnTo>
                <a:cubicBezTo>
                  <a:pt x="41275" y="4620"/>
                  <a:pt x="45895" y="0"/>
                  <a:pt x="51594" y="0"/>
                </a:cubicBezTo>
                <a:close/>
                <a:moveTo>
                  <a:pt x="123825" y="20638"/>
                </a:moveTo>
                <a:lnTo>
                  <a:pt x="144463" y="20638"/>
                </a:lnTo>
                <a:cubicBezTo>
                  <a:pt x="155860" y="20638"/>
                  <a:pt x="165100" y="29877"/>
                  <a:pt x="165100" y="41275"/>
                </a:cubicBezTo>
                <a:lnTo>
                  <a:pt x="165100" y="185738"/>
                </a:lnTo>
                <a:cubicBezTo>
                  <a:pt x="165100" y="197135"/>
                  <a:pt x="155860" y="206375"/>
                  <a:pt x="144463" y="206375"/>
                </a:cubicBezTo>
                <a:lnTo>
                  <a:pt x="20638" y="206375"/>
                </a:lnTo>
                <a:cubicBezTo>
                  <a:pt x="9240" y="206375"/>
                  <a:pt x="0" y="197135"/>
                  <a:pt x="0" y="185738"/>
                </a:cubicBezTo>
                <a:lnTo>
                  <a:pt x="0" y="41275"/>
                </a:lnTo>
                <a:cubicBezTo>
                  <a:pt x="0" y="29877"/>
                  <a:pt x="9240" y="20638"/>
                  <a:pt x="20638" y="20638"/>
                </a:cubicBezTo>
                <a:lnTo>
                  <a:pt x="41275" y="20638"/>
                </a:lnTo>
              </a:path>
            </a:pathLst>
          </a:custGeom>
          <a:noFill/>
          <a:ln w="18574" cap="rnd">
            <a:solidFill>
              <a:srgbClr val="B0AAFF"/>
            </a:solidFill>
            <a:round/>
          </a:ln>
        </p:spPr>
      </p:sp>
      <p:sp>
        <p:nvSpPr>
          <p:cNvPr id="21" name="Text Task ledger"/>
          <p:cNvSpPr txBox="1"/>
          <p:nvPr/>
        </p:nvSpPr>
        <p:spPr>
          <a:xfrm>
            <a:off x="971550" y="1962150"/>
            <a:ext cx="900455"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Task ledger</a:t>
            </a:r>
            <a:endParaRPr lang="en-US" sz="1275" dirty="0"/>
          </a:p>
        </p:txBody>
      </p:sp>
      <p:sp>
        <p:nvSpPr>
          <p:cNvPr id="22" name="dg rect"/>
          <p:cNvSpPr/>
          <p:nvPr/>
        </p:nvSpPr>
        <p:spPr>
          <a:xfrm>
            <a:off x="3235452" y="1952625"/>
            <a:ext cx="425196" cy="209550"/>
          </a:xfrm>
          <a:prstGeom prst="roundRect">
            <a:avLst>
              <a:gd name="adj" fmla="val 50000"/>
            </a:avLst>
          </a:prstGeom>
          <a:solidFill>
            <a:srgbClr val="FFFFFF">
              <a:alpha val="6300"/>
            </a:srgbClr>
          </a:solidFill>
          <a:ln w="12383" cap="flat">
            <a:solidFill>
              <a:srgbClr val="B0AAFF"/>
            </a:solidFill>
            <a:miter lim="800000"/>
          </a:ln>
        </p:spPr>
      </p:sp>
      <p:sp>
        <p:nvSpPr>
          <p:cNvPr id="23" name="Text LIVE"/>
          <p:cNvSpPr txBox="1"/>
          <p:nvPr/>
        </p:nvSpPr>
        <p:spPr>
          <a:xfrm>
            <a:off x="3305473" y="2009394"/>
            <a:ext cx="285155" cy="123825"/>
          </a:xfrm>
          <a:prstGeom prst="rect">
            <a:avLst/>
          </a:prstGeom>
          <a:noFill/>
          <a:ln/>
        </p:spPr>
        <p:txBody>
          <a:bodyPr wrap="none" lIns="0" tIns="0" rIns="0" bIns="0" rtlCol="0" anchor="ctr"/>
          <a:lstStyle/>
          <a:p>
            <a:pPr algn="ctr" indent="0" marL="0">
              <a:buNone/>
            </a:pPr>
            <a:r>
              <a:rPr lang="en-US" sz="825" b="1" spc="22" kern="0" dirty="0">
                <a:solidFill>
                  <a:srgbClr val="B0AAFF"/>
                </a:solidFill>
                <a:latin typeface="Scotia" pitchFamily="34" charset="0"/>
                <a:ea typeface="Scotia" pitchFamily="34" charset="-122"/>
                <a:cs typeface="Scotia" pitchFamily="34" charset="-120"/>
              </a:rPr>
              <a:t>LIVE</a:t>
            </a:r>
            <a:endParaRPr lang="en-US" sz="825" dirty="0"/>
          </a:p>
        </p:txBody>
      </p:sp>
      <p:sp>
        <p:nvSpPr>
          <p:cNvPr id="24" name="dg i-target"/>
          <p:cNvSpPr/>
          <p:nvPr/>
        </p:nvSpPr>
        <p:spPr>
          <a:xfrm>
            <a:off x="617538" y="2408238"/>
            <a:ext cx="174625" cy="174625"/>
          </a:xfrm>
          <a:custGeom>
            <a:avLst/>
            <a:gdLst/>
            <a:ahLst/>
            <a:cxnLst/>
            <a:rect l="l" t="t" r="r" b="b"/>
            <a:pathLst>
              <a:path w="174625" h="174625">
                <a:moveTo>
                  <a:pt x="174625" y="87313"/>
                </a:moveTo>
                <a:cubicBezTo>
                  <a:pt x="174625" y="135534"/>
                  <a:pt x="135534" y="174625"/>
                  <a:pt x="87313" y="174625"/>
                </a:cubicBezTo>
                <a:cubicBezTo>
                  <a:pt x="39091" y="174625"/>
                  <a:pt x="0" y="135534"/>
                  <a:pt x="0" y="87313"/>
                </a:cubicBezTo>
                <a:cubicBezTo>
                  <a:pt x="0" y="39091"/>
                  <a:pt x="39091" y="0"/>
                  <a:pt x="87313" y="0"/>
                </a:cubicBezTo>
                <a:cubicBezTo>
                  <a:pt x="135534" y="0"/>
                  <a:pt x="174625" y="39091"/>
                  <a:pt x="174625" y="87313"/>
                </a:cubicBezTo>
                <a:close/>
                <a:moveTo>
                  <a:pt x="139700" y="87313"/>
                </a:moveTo>
                <a:cubicBezTo>
                  <a:pt x="139700" y="116245"/>
                  <a:pt x="116245" y="139700"/>
                  <a:pt x="87313" y="139700"/>
                </a:cubicBezTo>
                <a:cubicBezTo>
                  <a:pt x="58380" y="139700"/>
                  <a:pt x="34925" y="116245"/>
                  <a:pt x="34925" y="87313"/>
                </a:cubicBezTo>
                <a:cubicBezTo>
                  <a:pt x="34925" y="58380"/>
                  <a:pt x="58380" y="34925"/>
                  <a:pt x="87313" y="34925"/>
                </a:cubicBezTo>
                <a:cubicBezTo>
                  <a:pt x="116245" y="34925"/>
                  <a:pt x="139700" y="58380"/>
                  <a:pt x="139700" y="87313"/>
                </a:cubicBezTo>
                <a:close/>
                <a:moveTo>
                  <a:pt x="104775" y="87313"/>
                </a:moveTo>
                <a:cubicBezTo>
                  <a:pt x="104775" y="96957"/>
                  <a:pt x="96957" y="104775"/>
                  <a:pt x="87313" y="104775"/>
                </a:cubicBezTo>
                <a:cubicBezTo>
                  <a:pt x="77668" y="104775"/>
                  <a:pt x="69850" y="96957"/>
                  <a:pt x="69850" y="87313"/>
                </a:cubicBezTo>
                <a:cubicBezTo>
                  <a:pt x="69850" y="77668"/>
                  <a:pt x="77668" y="69850"/>
                  <a:pt x="87313" y="69850"/>
                </a:cubicBezTo>
                <a:cubicBezTo>
                  <a:pt x="96957" y="69850"/>
                  <a:pt x="104775" y="77668"/>
                  <a:pt x="104775" y="87313"/>
                </a:cubicBezTo>
                <a:close/>
              </a:path>
            </a:pathLst>
          </a:custGeom>
          <a:noFill/>
          <a:ln w="15716" cap="rnd">
            <a:solidFill>
              <a:srgbClr val="B0AAFF"/>
            </a:solidFill>
            <a:round/>
          </a:ln>
        </p:spPr>
      </p:sp>
      <p:sp>
        <p:nvSpPr>
          <p:cNvPr id="25" name="Text Goal and approach"/>
          <p:cNvSpPr txBox="1"/>
          <p:nvPr/>
        </p:nvSpPr>
        <p:spPr>
          <a:xfrm>
            <a:off x="914400" y="2428875"/>
            <a:ext cx="1338560"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Goal and approach</a:t>
            </a:r>
            <a:endParaRPr lang="en-US" sz="1163" dirty="0"/>
          </a:p>
        </p:txBody>
      </p:sp>
      <p:sp>
        <p:nvSpPr>
          <p:cNvPr id="26" name="dg path"/>
          <p:cNvSpPr/>
          <p:nvPr/>
        </p:nvSpPr>
        <p:spPr>
          <a:xfrm>
            <a:off x="3983355" y="3086100"/>
            <a:ext cx="634365" cy="0"/>
          </a:xfrm>
          <a:prstGeom prst="line">
            <a:avLst/>
          </a:prstGeom>
          <a:noFill/>
          <a:ln w="24765" cap="rnd">
            <a:solidFill>
              <a:srgbClr val="B0AAFF"/>
            </a:solidFill>
            <a:miter lim="800000"/>
            <a:headEnd type="triangle" w="lg" len="lg"/>
            <a:tailEnd type="triangle" w="lg" len="lg"/>
          </a:ln>
        </p:spPr>
      </p:sp>
      <p:sp>
        <p:nvSpPr>
          <p:cNvPr id="27" name="Text edits"/>
          <p:cNvSpPr txBox="1"/>
          <p:nvPr/>
        </p:nvSpPr>
        <p:spPr>
          <a:xfrm>
            <a:off x="4119042" y="2905125"/>
            <a:ext cx="372517" cy="123825"/>
          </a:xfrm>
          <a:prstGeom prst="rect">
            <a:avLst/>
          </a:prstGeom>
          <a:noFill/>
          <a:ln/>
        </p:spPr>
        <p:txBody>
          <a:bodyPr wrap="none" lIns="0" tIns="0" rIns="0" bIns="0" rtlCol="0" anchor="ctr"/>
          <a:lstStyle/>
          <a:p>
            <a:pPr algn="ctr" indent="0" marL="0">
              <a:buNone/>
            </a:pPr>
            <a:r>
              <a:rPr lang="en-US" sz="863" b="1" spc="105" kern="0" dirty="0">
                <a:solidFill>
                  <a:srgbClr val="B0AAFF"/>
                </a:solidFill>
                <a:latin typeface="Scotia" pitchFamily="34" charset="0"/>
                <a:ea typeface="Scotia" pitchFamily="34" charset="-122"/>
                <a:cs typeface="Scotia" pitchFamily="34" charset="-120"/>
              </a:rPr>
              <a:t>edits</a:t>
            </a:r>
            <a:endParaRPr lang="en-US" sz="863" dirty="0"/>
          </a:p>
        </p:txBody>
      </p:sp>
      <p:sp>
        <p:nvSpPr>
          <p:cNvPr id="28" name="dg circle"/>
          <p:cNvSpPr/>
          <p:nvPr/>
        </p:nvSpPr>
        <p:spPr>
          <a:xfrm>
            <a:off x="4191000" y="2605088"/>
            <a:ext cx="228600" cy="228600"/>
          </a:xfrm>
          <a:prstGeom prst="ellipse">
            <a:avLst/>
          </a:prstGeom>
          <a:solidFill>
            <a:srgbClr val="6551FF"/>
          </a:solidFill>
          <a:ln>
            <a:noFill/>
          </a:ln>
        </p:spPr>
      </p:sp>
      <p:sp>
        <p:nvSpPr>
          <p:cNvPr id="29" name="Text 2"/>
          <p:cNvSpPr txBox="1"/>
          <p:nvPr/>
        </p:nvSpPr>
        <p:spPr>
          <a:xfrm>
            <a:off x="4242643" y="2659187"/>
            <a:ext cx="125313"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2</a:t>
            </a:r>
            <a:endParaRPr lang="en-US" sz="975" dirty="0"/>
          </a:p>
        </p:txBody>
      </p:sp>
      <p:sp>
        <p:nvSpPr>
          <p:cNvPr id="30" name="dg line"/>
          <p:cNvSpPr/>
          <p:nvPr/>
        </p:nvSpPr>
        <p:spPr>
          <a:xfrm>
            <a:off x="590550" y="2686050"/>
            <a:ext cx="3162300" cy="0"/>
          </a:xfrm>
          <a:prstGeom prst="line">
            <a:avLst/>
          </a:prstGeom>
          <a:noFill/>
          <a:ln w="9525" cap="flat">
            <a:solidFill>
              <a:srgbClr val="BDC2EF">
                <a:alpha val="12000"/>
              </a:srgbClr>
            </a:solidFill>
            <a:miter lim="800000"/>
          </a:ln>
        </p:spPr>
      </p:sp>
      <p:sp>
        <p:nvSpPr>
          <p:cNvPr id="31" name="dg circle"/>
          <p:cNvSpPr/>
          <p:nvPr/>
        </p:nvSpPr>
        <p:spPr>
          <a:xfrm>
            <a:off x="619125" y="2790825"/>
            <a:ext cx="171450" cy="171450"/>
          </a:xfrm>
          <a:prstGeom prst="ellipse">
            <a:avLst/>
          </a:prstGeom>
          <a:solidFill>
            <a:srgbClr val="2FBF71"/>
          </a:solidFill>
          <a:ln>
            <a:noFill/>
          </a:ln>
        </p:spPr>
      </p:sp>
      <p:sp>
        <p:nvSpPr>
          <p:cNvPr id="32" name="dg i-check"/>
          <p:cNvSpPr/>
          <p:nvPr/>
        </p:nvSpPr>
        <p:spPr>
          <a:xfrm>
            <a:off x="666750" y="2847975"/>
            <a:ext cx="76200" cy="52388"/>
          </a:xfrm>
          <a:custGeom>
            <a:avLst/>
            <a:gdLst/>
            <a:ahLst/>
            <a:cxnLst/>
            <a:rect l="l" t="t" r="r" b="b"/>
            <a:pathLst>
              <a:path w="76200" h="52388">
                <a:moveTo>
                  <a:pt x="76200" y="0"/>
                </a:moveTo>
                <a:lnTo>
                  <a:pt x="23813" y="52388"/>
                </a:lnTo>
                <a:lnTo>
                  <a:pt x="0" y="28575"/>
                </a:lnTo>
              </a:path>
            </a:pathLst>
          </a:custGeom>
          <a:noFill/>
          <a:ln w="14288" cap="rnd">
            <a:solidFill>
              <a:srgbClr val="0B0823"/>
            </a:solidFill>
            <a:round/>
          </a:ln>
        </p:spPr>
      </p:sp>
      <p:sp>
        <p:nvSpPr>
          <p:cNvPr id="33" name="Text Task 1"/>
          <p:cNvSpPr txBox="1"/>
          <p:nvPr/>
        </p:nvSpPr>
        <p:spPr>
          <a:xfrm>
            <a:off x="914400" y="2809875"/>
            <a:ext cx="464046"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Task 1</a:t>
            </a:r>
            <a:endParaRPr lang="en-US" sz="1163" dirty="0"/>
          </a:p>
        </p:txBody>
      </p:sp>
      <p:sp>
        <p:nvSpPr>
          <p:cNvPr id="34" name="dg line"/>
          <p:cNvSpPr/>
          <p:nvPr/>
        </p:nvSpPr>
        <p:spPr>
          <a:xfrm>
            <a:off x="590550" y="3067050"/>
            <a:ext cx="3162300" cy="0"/>
          </a:xfrm>
          <a:prstGeom prst="line">
            <a:avLst/>
          </a:prstGeom>
          <a:noFill/>
          <a:ln w="9525" cap="flat">
            <a:solidFill>
              <a:srgbClr val="BDC2EF">
                <a:alpha val="12000"/>
              </a:srgbClr>
            </a:solidFill>
            <a:miter lim="800000"/>
          </a:ln>
        </p:spPr>
      </p:sp>
      <p:sp>
        <p:nvSpPr>
          <p:cNvPr id="35" name="dg circle"/>
          <p:cNvSpPr/>
          <p:nvPr/>
        </p:nvSpPr>
        <p:spPr>
          <a:xfrm>
            <a:off x="619125" y="3171825"/>
            <a:ext cx="171450" cy="171450"/>
          </a:xfrm>
          <a:prstGeom prst="ellipse">
            <a:avLst/>
          </a:prstGeom>
          <a:noFill/>
          <a:ln w="17145" cap="flat">
            <a:solidFill>
              <a:srgbClr val="B0AAFF"/>
            </a:solidFill>
            <a:miter lim="800000"/>
          </a:ln>
        </p:spPr>
      </p:sp>
      <p:sp>
        <p:nvSpPr>
          <p:cNvPr id="36" name="dg path"/>
          <p:cNvSpPr/>
          <p:nvPr/>
        </p:nvSpPr>
        <p:spPr>
          <a:xfrm>
            <a:off x="704850" y="3171825"/>
            <a:ext cx="85725" cy="171450"/>
          </a:xfrm>
          <a:custGeom>
            <a:avLst/>
            <a:gdLst/>
            <a:ahLst/>
            <a:cxnLst/>
            <a:rect l="l" t="t" r="r" b="b"/>
            <a:pathLst>
              <a:path w="85725" h="171450">
                <a:moveTo>
                  <a:pt x="0" y="0"/>
                </a:moveTo>
                <a:cubicBezTo>
                  <a:pt x="47345" y="0"/>
                  <a:pt x="85725" y="38380"/>
                  <a:pt x="85725" y="85725"/>
                </a:cubicBezTo>
                <a:cubicBezTo>
                  <a:pt x="85725" y="133070"/>
                  <a:pt x="47345" y="171450"/>
                  <a:pt x="0" y="171450"/>
                </a:cubicBezTo>
                <a:close/>
              </a:path>
            </a:pathLst>
          </a:custGeom>
          <a:solidFill>
            <a:srgbClr val="B0AAFF"/>
          </a:solidFill>
          <a:ln>
            <a:noFill/>
          </a:ln>
        </p:spPr>
      </p:sp>
      <p:sp>
        <p:nvSpPr>
          <p:cNvPr id="37" name="Text Task 2"/>
          <p:cNvSpPr txBox="1"/>
          <p:nvPr/>
        </p:nvSpPr>
        <p:spPr>
          <a:xfrm>
            <a:off x="914400" y="3190875"/>
            <a:ext cx="478482"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Task 2</a:t>
            </a:r>
            <a:endParaRPr lang="en-US" sz="1163" dirty="0"/>
          </a:p>
        </p:txBody>
      </p:sp>
      <p:sp>
        <p:nvSpPr>
          <p:cNvPr id="38" name="dg rect"/>
          <p:cNvSpPr/>
          <p:nvPr/>
        </p:nvSpPr>
        <p:spPr>
          <a:xfrm>
            <a:off x="2959037" y="3162300"/>
            <a:ext cx="787527" cy="190500"/>
          </a:xfrm>
          <a:prstGeom prst="roundRect">
            <a:avLst>
              <a:gd name="adj" fmla="val 50000"/>
            </a:avLst>
          </a:prstGeom>
          <a:solidFill>
            <a:srgbClr val="FFFFFF">
              <a:alpha val="6300"/>
            </a:srgbClr>
          </a:solidFill>
          <a:ln w="12383" cap="flat">
            <a:solidFill>
              <a:srgbClr val="B0AAFF"/>
            </a:solidFill>
            <a:miter lim="800000"/>
          </a:ln>
        </p:spPr>
      </p:sp>
      <p:sp>
        <p:nvSpPr>
          <p:cNvPr id="39" name="Text IN PROGRESS"/>
          <p:cNvSpPr txBox="1"/>
          <p:nvPr/>
        </p:nvSpPr>
        <p:spPr>
          <a:xfrm>
            <a:off x="2994050" y="3207832"/>
            <a:ext cx="717500" cy="123825"/>
          </a:xfrm>
          <a:prstGeom prst="rect">
            <a:avLst/>
          </a:prstGeom>
          <a:noFill/>
          <a:ln/>
        </p:spPr>
        <p:txBody>
          <a:bodyPr wrap="none" lIns="0" tIns="0" rIns="0" bIns="0" rtlCol="0" anchor="ctr"/>
          <a:lstStyle/>
          <a:p>
            <a:pPr algn="ctr" indent="0" marL="0">
              <a:buNone/>
            </a:pPr>
            <a:r>
              <a:rPr lang="en-US" sz="788" b="1" spc="22" kern="0" dirty="0">
                <a:solidFill>
                  <a:srgbClr val="B0AAFF"/>
                </a:solidFill>
                <a:latin typeface="Scotia" pitchFamily="34" charset="0"/>
                <a:ea typeface="Scotia" pitchFamily="34" charset="-122"/>
                <a:cs typeface="Scotia" pitchFamily="34" charset="-120"/>
              </a:rPr>
              <a:t>IN PROGRESS</a:t>
            </a:r>
            <a:endParaRPr lang="en-US" sz="788" dirty="0"/>
          </a:p>
        </p:txBody>
      </p:sp>
      <p:sp>
        <p:nvSpPr>
          <p:cNvPr id="40" name="dg line"/>
          <p:cNvSpPr/>
          <p:nvPr/>
        </p:nvSpPr>
        <p:spPr>
          <a:xfrm>
            <a:off x="590550" y="3448050"/>
            <a:ext cx="3162300" cy="0"/>
          </a:xfrm>
          <a:prstGeom prst="line">
            <a:avLst/>
          </a:prstGeom>
          <a:noFill/>
          <a:ln w="9525" cap="flat">
            <a:solidFill>
              <a:srgbClr val="BDC2EF">
                <a:alpha val="12000"/>
              </a:srgbClr>
            </a:solidFill>
            <a:miter lim="800000"/>
          </a:ln>
        </p:spPr>
      </p:sp>
      <p:sp>
        <p:nvSpPr>
          <p:cNvPr id="41" name="dg circle"/>
          <p:cNvSpPr/>
          <p:nvPr/>
        </p:nvSpPr>
        <p:spPr>
          <a:xfrm>
            <a:off x="619125" y="4695825"/>
            <a:ext cx="171450" cy="171450"/>
          </a:xfrm>
          <a:prstGeom prst="ellipse">
            <a:avLst/>
          </a:prstGeom>
          <a:noFill/>
          <a:ln w="17145" cap="flat">
            <a:solidFill>
              <a:srgbClr val="6F6BA0"/>
            </a:solidFill>
            <a:miter lim="800000"/>
          </a:ln>
        </p:spPr>
      </p:sp>
      <p:sp>
        <p:nvSpPr>
          <p:cNvPr id="42" name="Text Task 6"/>
          <p:cNvSpPr txBox="1"/>
          <p:nvPr/>
        </p:nvSpPr>
        <p:spPr>
          <a:xfrm>
            <a:off x="914400" y="4714875"/>
            <a:ext cx="473422" cy="180975"/>
          </a:xfrm>
          <a:prstGeom prst="rect">
            <a:avLst/>
          </a:prstGeom>
          <a:noFill/>
          <a:ln/>
        </p:spPr>
        <p:txBody>
          <a:bodyPr wrap="none" lIns="0" tIns="0" rIns="0" bIns="0" rtlCol="0" anchor="ctr"/>
          <a:lstStyle/>
          <a:p>
            <a:pPr algn="l" indent="0" marL="0">
              <a:buNone/>
            </a:pPr>
            <a:r>
              <a:rPr lang="en-US" sz="1163" dirty="0">
                <a:solidFill>
                  <a:srgbClr val="FFFFFF"/>
                </a:solidFill>
                <a:latin typeface="Scotia" pitchFamily="34" charset="0"/>
                <a:ea typeface="Scotia" pitchFamily="34" charset="-122"/>
                <a:cs typeface="Scotia" pitchFamily="34" charset="-120"/>
              </a:rPr>
              <a:t>Task 6</a:t>
            </a:r>
            <a:endParaRPr lang="en-US" sz="1163" dirty="0"/>
          </a:p>
        </p:txBody>
      </p:sp>
      <p:sp>
        <p:nvSpPr>
          <p:cNvPr id="43" name="dg line"/>
          <p:cNvSpPr/>
          <p:nvPr/>
        </p:nvSpPr>
        <p:spPr>
          <a:xfrm>
            <a:off x="590550" y="5029200"/>
            <a:ext cx="3162300" cy="0"/>
          </a:xfrm>
          <a:prstGeom prst="line">
            <a:avLst/>
          </a:prstGeom>
          <a:noFill/>
          <a:ln w="9525" cap="flat">
            <a:solidFill>
              <a:srgbClr val="BDC2EF">
                <a:alpha val="25000"/>
              </a:srgbClr>
            </a:solidFill>
            <a:miter lim="800000"/>
          </a:ln>
        </p:spPr>
      </p:sp>
      <p:sp>
        <p:nvSpPr>
          <p:cNvPr id="44" name="dg rect"/>
          <p:cNvSpPr/>
          <p:nvPr/>
        </p:nvSpPr>
        <p:spPr>
          <a:xfrm>
            <a:off x="8458200" y="2514600"/>
            <a:ext cx="3333750" cy="609600"/>
          </a:xfrm>
          <a:prstGeom prst="roundRect">
            <a:avLst>
              <a:gd name="adj" fmla="val 21875"/>
            </a:avLst>
          </a:prstGeom>
          <a:gradFill rotWithShape="1">
            <a:gsLst>
              <a:gs pos="0">
                <a:srgbClr val="1A1550"/>
              </a:gs>
              <a:gs pos="100000">
                <a:srgbClr val="120E36"/>
              </a:gs>
            </a:gsLst>
            <a:lin ang="5400000" scaled="1"/>
          </a:gradFill>
          <a:ln w="13335" cap="flat">
            <a:solidFill>
              <a:srgbClr val="3B3392"/>
            </a:solidFill>
            <a:miter lim="800000"/>
          </a:ln>
        </p:spPr>
      </p:sp>
      <p:sp>
        <p:nvSpPr>
          <p:cNvPr id="45" name="dg circle"/>
          <p:cNvSpPr/>
          <p:nvPr/>
        </p:nvSpPr>
        <p:spPr>
          <a:xfrm>
            <a:off x="8610600" y="2628900"/>
            <a:ext cx="381000" cy="381000"/>
          </a:xfrm>
          <a:prstGeom prst="ellipse">
            <a:avLst/>
          </a:prstGeom>
          <a:solidFill>
            <a:srgbClr val="6551FF"/>
          </a:solidFill>
          <a:ln>
            <a:noFill/>
          </a:ln>
        </p:spPr>
      </p:sp>
      <p:sp>
        <p:nvSpPr>
          <p:cNvPr id="46" name="dg i-bot"/>
          <p:cNvSpPr/>
          <p:nvPr/>
        </p:nvSpPr>
        <p:spPr>
          <a:xfrm>
            <a:off x="8721725" y="27559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47" name="Text Agent 1"/>
          <p:cNvSpPr txBox="1"/>
          <p:nvPr/>
        </p:nvSpPr>
        <p:spPr>
          <a:xfrm>
            <a:off x="9144000" y="2638425"/>
            <a:ext cx="642491"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Agent 1</a:t>
            </a:r>
            <a:endParaRPr lang="en-US" sz="1350" dirty="0"/>
          </a:p>
        </p:txBody>
      </p:sp>
      <p:sp>
        <p:nvSpPr>
          <p:cNvPr id="48" name="Text Model Knowledge Tools"/>
          <p:cNvSpPr txBox="1"/>
          <p:nvPr/>
        </p:nvSpPr>
        <p:spPr>
          <a:xfrm>
            <a:off x="9144000" y="288607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49" name="dg path"/>
          <p:cNvSpPr/>
          <p:nvPr/>
        </p:nvSpPr>
        <p:spPr>
          <a:xfrm>
            <a:off x="7469505" y="2819537"/>
            <a:ext cx="939146" cy="437805"/>
          </a:xfrm>
          <a:custGeom>
            <a:avLst/>
            <a:gdLst/>
            <a:ahLst/>
            <a:cxnLst/>
            <a:rect l="l" t="t" r="r" b="b"/>
            <a:pathLst>
              <a:path w="939146" h="437805">
                <a:moveTo>
                  <a:pt x="0" y="437805"/>
                </a:moveTo>
                <a:cubicBezTo>
                  <a:pt x="503873" y="302758"/>
                  <a:pt x="443865" y="133213"/>
                  <a:pt x="939146" y="0"/>
                </a:cubicBezTo>
              </a:path>
            </a:pathLst>
          </a:custGeom>
          <a:noFill/>
          <a:ln w="20955" cap="rnd">
            <a:solidFill>
              <a:srgbClr val="B0AAFF">
                <a:alpha val="90000"/>
              </a:srgbClr>
            </a:solidFill>
            <a:miter lim="800000"/>
            <a:headEnd type="triangle" w="lg" len="lg"/>
            <a:tailEnd type="triangle" w="lg" len="lg"/>
          </a:ln>
        </p:spPr>
      </p:sp>
      <p:sp>
        <p:nvSpPr>
          <p:cNvPr id="50" name="dg rect"/>
          <p:cNvSpPr/>
          <p:nvPr/>
        </p:nvSpPr>
        <p:spPr>
          <a:xfrm>
            <a:off x="8458200" y="3219450"/>
            <a:ext cx="3333750" cy="609600"/>
          </a:xfrm>
          <a:prstGeom prst="roundRect">
            <a:avLst>
              <a:gd name="adj" fmla="val 21875"/>
            </a:avLst>
          </a:prstGeom>
          <a:gradFill rotWithShape="1">
            <a:gsLst>
              <a:gs pos="0">
                <a:srgbClr val="1A1550"/>
              </a:gs>
              <a:gs pos="100000">
                <a:srgbClr val="120E36"/>
              </a:gs>
            </a:gsLst>
            <a:lin ang="5400000" scaled="1"/>
          </a:gradFill>
          <a:ln w="13335" cap="flat">
            <a:solidFill>
              <a:srgbClr val="3B3392"/>
            </a:solidFill>
            <a:miter lim="800000"/>
          </a:ln>
        </p:spPr>
      </p:sp>
      <p:sp>
        <p:nvSpPr>
          <p:cNvPr id="51" name="dg circle"/>
          <p:cNvSpPr/>
          <p:nvPr/>
        </p:nvSpPr>
        <p:spPr>
          <a:xfrm>
            <a:off x="8610600" y="3333750"/>
            <a:ext cx="381000" cy="381000"/>
          </a:xfrm>
          <a:prstGeom prst="ellipse">
            <a:avLst/>
          </a:prstGeom>
          <a:solidFill>
            <a:srgbClr val="6551FF"/>
          </a:solidFill>
          <a:ln>
            <a:noFill/>
          </a:ln>
        </p:spPr>
      </p:sp>
      <p:sp>
        <p:nvSpPr>
          <p:cNvPr id="52" name="dg i-bot"/>
          <p:cNvSpPr/>
          <p:nvPr/>
        </p:nvSpPr>
        <p:spPr>
          <a:xfrm>
            <a:off x="8721725" y="346075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53" name="Text Agent 2"/>
          <p:cNvSpPr txBox="1"/>
          <p:nvPr/>
        </p:nvSpPr>
        <p:spPr>
          <a:xfrm>
            <a:off x="9144000" y="3343275"/>
            <a:ext cx="659160"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Agent 2</a:t>
            </a:r>
            <a:endParaRPr lang="en-US" sz="1350" dirty="0"/>
          </a:p>
        </p:txBody>
      </p:sp>
      <p:sp>
        <p:nvSpPr>
          <p:cNvPr id="54" name="Text Model Knowledge Tools"/>
          <p:cNvSpPr txBox="1"/>
          <p:nvPr/>
        </p:nvSpPr>
        <p:spPr>
          <a:xfrm>
            <a:off x="9144000" y="359092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55" name="dg path"/>
          <p:cNvSpPr/>
          <p:nvPr/>
        </p:nvSpPr>
        <p:spPr>
          <a:xfrm>
            <a:off x="7469708" y="3257969"/>
            <a:ext cx="938774" cy="265774"/>
          </a:xfrm>
          <a:custGeom>
            <a:avLst/>
            <a:gdLst/>
            <a:ahLst/>
            <a:cxnLst/>
            <a:rect l="l" t="t" r="r" b="b"/>
            <a:pathLst>
              <a:path w="938774" h="265774">
                <a:moveTo>
                  <a:pt x="0" y="0"/>
                </a:moveTo>
                <a:cubicBezTo>
                  <a:pt x="514147" y="86259"/>
                  <a:pt x="433185" y="181509"/>
                  <a:pt x="938774" y="265774"/>
                </a:cubicBezTo>
              </a:path>
            </a:pathLst>
          </a:custGeom>
          <a:noFill/>
          <a:ln w="20955" cap="rnd">
            <a:solidFill>
              <a:srgbClr val="B0AAFF">
                <a:alpha val="90000"/>
              </a:srgbClr>
            </a:solidFill>
            <a:miter lim="800000"/>
            <a:headEnd type="triangle" w="lg" len="lg"/>
            <a:tailEnd type="triangle" w="lg" len="lg"/>
          </a:ln>
        </p:spPr>
      </p:sp>
      <p:sp>
        <p:nvSpPr>
          <p:cNvPr id="56" name="dg rect"/>
          <p:cNvSpPr/>
          <p:nvPr/>
        </p:nvSpPr>
        <p:spPr>
          <a:xfrm>
            <a:off x="8458200" y="3924300"/>
            <a:ext cx="3333750" cy="609600"/>
          </a:xfrm>
          <a:prstGeom prst="roundRect">
            <a:avLst>
              <a:gd name="adj" fmla="val 21875"/>
            </a:avLst>
          </a:prstGeom>
          <a:gradFill rotWithShape="1">
            <a:gsLst>
              <a:gs pos="0">
                <a:srgbClr val="1A1550"/>
              </a:gs>
              <a:gs pos="100000">
                <a:srgbClr val="120E36"/>
              </a:gs>
            </a:gsLst>
            <a:lin ang="5400000" scaled="1"/>
          </a:gradFill>
          <a:ln w="13335" cap="flat">
            <a:solidFill>
              <a:srgbClr val="3B3392"/>
            </a:solidFill>
            <a:miter lim="800000"/>
          </a:ln>
        </p:spPr>
      </p:sp>
      <p:sp>
        <p:nvSpPr>
          <p:cNvPr id="57" name="dg circle"/>
          <p:cNvSpPr/>
          <p:nvPr/>
        </p:nvSpPr>
        <p:spPr>
          <a:xfrm>
            <a:off x="8610600" y="4038600"/>
            <a:ext cx="381000" cy="381000"/>
          </a:xfrm>
          <a:prstGeom prst="ellipse">
            <a:avLst/>
          </a:prstGeom>
          <a:solidFill>
            <a:srgbClr val="6551FF"/>
          </a:solidFill>
          <a:ln>
            <a:noFill/>
          </a:ln>
        </p:spPr>
      </p:sp>
      <p:sp>
        <p:nvSpPr>
          <p:cNvPr id="58" name="dg i-bot"/>
          <p:cNvSpPr/>
          <p:nvPr/>
        </p:nvSpPr>
        <p:spPr>
          <a:xfrm>
            <a:off x="8721725" y="41656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59" name="Text Agent n"/>
          <p:cNvSpPr txBox="1"/>
          <p:nvPr/>
        </p:nvSpPr>
        <p:spPr>
          <a:xfrm>
            <a:off x="9144000" y="4048125"/>
            <a:ext cx="668238"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Agent n</a:t>
            </a:r>
            <a:endParaRPr lang="en-US" sz="1350" dirty="0"/>
          </a:p>
        </p:txBody>
      </p:sp>
      <p:sp>
        <p:nvSpPr>
          <p:cNvPr id="60" name="Text Model Knowledge Tools"/>
          <p:cNvSpPr txBox="1"/>
          <p:nvPr/>
        </p:nvSpPr>
        <p:spPr>
          <a:xfrm>
            <a:off x="9144000" y="429577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61" name="dg path"/>
          <p:cNvSpPr/>
          <p:nvPr/>
        </p:nvSpPr>
        <p:spPr>
          <a:xfrm>
            <a:off x="7469610" y="3258546"/>
            <a:ext cx="938898" cy="969664"/>
          </a:xfrm>
          <a:custGeom>
            <a:avLst/>
            <a:gdLst/>
            <a:ahLst/>
            <a:cxnLst/>
            <a:rect l="l" t="t" r="r" b="b"/>
            <a:pathLst>
              <a:path w="938898" h="969664">
                <a:moveTo>
                  <a:pt x="0" y="0"/>
                </a:moveTo>
                <a:cubicBezTo>
                  <a:pt x="461857" y="242844"/>
                  <a:pt x="485670" y="730524"/>
                  <a:pt x="938898" y="969664"/>
                </a:cubicBezTo>
              </a:path>
            </a:pathLst>
          </a:custGeom>
          <a:noFill/>
          <a:ln w="20955" cap="rnd">
            <a:solidFill>
              <a:srgbClr val="B0AAFF">
                <a:alpha val="90000"/>
              </a:srgbClr>
            </a:solidFill>
            <a:miter lim="800000"/>
            <a:headEnd type="triangle" w="lg" len="lg"/>
            <a:tailEnd type="triangle" w="lg" len="lg"/>
          </a:ln>
        </p:spPr>
      </p:sp>
      <p:sp>
        <p:nvSpPr>
          <p:cNvPr id="62" name="dg circle"/>
          <p:cNvSpPr/>
          <p:nvPr/>
        </p:nvSpPr>
        <p:spPr>
          <a:xfrm>
            <a:off x="7896225" y="2886075"/>
            <a:ext cx="228600" cy="228600"/>
          </a:xfrm>
          <a:prstGeom prst="ellipse">
            <a:avLst/>
          </a:prstGeom>
          <a:solidFill>
            <a:srgbClr val="6551FF"/>
          </a:solidFill>
          <a:ln>
            <a:noFill/>
          </a:ln>
        </p:spPr>
      </p:sp>
      <p:sp>
        <p:nvSpPr>
          <p:cNvPr id="63" name="Text 3"/>
          <p:cNvSpPr txBox="1"/>
          <p:nvPr/>
        </p:nvSpPr>
        <p:spPr>
          <a:xfrm>
            <a:off x="7948240" y="2940174"/>
            <a:ext cx="124569"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3</a:t>
            </a:r>
            <a:endParaRPr lang="en-US" sz="975" dirty="0"/>
          </a:p>
        </p:txBody>
      </p:sp>
      <p:sp>
        <p:nvSpPr>
          <p:cNvPr id="64" name="Text delegates"/>
          <p:cNvSpPr txBox="1"/>
          <p:nvPr/>
        </p:nvSpPr>
        <p:spPr>
          <a:xfrm>
            <a:off x="7729240" y="3186113"/>
            <a:ext cx="562570" cy="142875"/>
          </a:xfrm>
          <a:prstGeom prst="rect">
            <a:avLst/>
          </a:prstGeom>
          <a:noFill/>
          <a:ln/>
        </p:spPr>
        <p:txBody>
          <a:bodyPr wrap="none" lIns="0" tIns="0" rIns="0" bIns="0" rtlCol="0" anchor="ctr"/>
          <a:lstStyle/>
          <a:p>
            <a:pPr algn="ctr" indent="0" marL="0">
              <a:buNone/>
            </a:pPr>
            <a:r>
              <a:rPr lang="en-US" sz="938" dirty="0">
                <a:solidFill>
                  <a:srgbClr val="BDC2EF"/>
                </a:solidFill>
                <a:latin typeface="Scotia Serif" pitchFamily="34" charset="0"/>
                <a:ea typeface="Scotia Serif" pitchFamily="34" charset="-122"/>
                <a:cs typeface="Scotia Serif" pitchFamily="34" charset="-120"/>
              </a:rPr>
              <a:t>delegates</a:t>
            </a:r>
            <a:endParaRPr lang="en-US" sz="938" dirty="0"/>
          </a:p>
        </p:txBody>
      </p:sp>
      <p:sp>
        <p:nvSpPr>
          <p:cNvPr id="65" name="dg rect"/>
          <p:cNvSpPr/>
          <p:nvPr/>
        </p:nvSpPr>
        <p:spPr>
          <a:xfrm>
            <a:off x="8382000" y="2447925"/>
            <a:ext cx="3409950" cy="2152650"/>
          </a:xfrm>
          <a:prstGeom prst="roundRect">
            <a:avLst>
              <a:gd name="adj" fmla="val 7080"/>
            </a:avLst>
          </a:prstGeom>
          <a:noFill/>
          <a:ln w="15240" cap="flat">
            <a:solidFill>
              <a:srgbClr val="337EFF"/>
            </a:solidFill>
            <a:custDash>
              <a:ds d="375000" sp="375000"/>
            </a:custDash>
            <a:miter lim="800000"/>
          </a:ln>
        </p:spPr>
      </p:sp>
      <p:sp>
        <p:nvSpPr>
          <p:cNvPr id="66" name="dg path"/>
          <p:cNvSpPr/>
          <p:nvPr/>
        </p:nvSpPr>
        <p:spPr>
          <a:xfrm>
            <a:off x="10086975" y="4610100"/>
            <a:ext cx="0" cy="142875"/>
          </a:xfrm>
          <a:prstGeom prst="line">
            <a:avLst/>
          </a:prstGeom>
          <a:noFill/>
          <a:ln w="17145" cap="rnd">
            <a:solidFill>
              <a:srgbClr val="337EFF">
                <a:alpha val="90000"/>
              </a:srgbClr>
            </a:solidFill>
            <a:custDash>
              <a:ds d="222222" sp="277778"/>
            </a:custDash>
            <a:miter lim="800000"/>
          </a:ln>
        </p:spPr>
      </p:sp>
      <p:sp>
        <p:nvSpPr>
          <p:cNvPr id="67" name="dg rect"/>
          <p:cNvSpPr/>
          <p:nvPr/>
        </p:nvSpPr>
        <p:spPr>
          <a:xfrm>
            <a:off x="8382000" y="4752975"/>
            <a:ext cx="3409950" cy="247650"/>
          </a:xfrm>
          <a:prstGeom prst="roundRect">
            <a:avLst>
              <a:gd name="adj" fmla="val 38462"/>
            </a:avLst>
          </a:prstGeom>
          <a:solidFill>
            <a:srgbClr val="337EFF">
              <a:alpha val="22000"/>
            </a:srgbClr>
          </a:solidFill>
          <a:ln w="13335" cap="flat">
            <a:solidFill>
              <a:srgbClr val="337EFF"/>
            </a:solidFill>
            <a:miter lim="800000"/>
          </a:ln>
        </p:spPr>
      </p:sp>
      <p:sp>
        <p:nvSpPr>
          <p:cNvPr id="68" name="dg i-cloud"/>
          <p:cNvSpPr/>
          <p:nvPr/>
        </p:nvSpPr>
        <p:spPr>
          <a:xfrm>
            <a:off x="8489304" y="482278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69" name="Text Specialists call MCP tools as"/>
          <p:cNvSpPr txBox="1"/>
          <p:nvPr/>
        </p:nvSpPr>
        <p:spPr>
          <a:xfrm>
            <a:off x="8705850" y="4824413"/>
            <a:ext cx="1986558" cy="142875"/>
          </a:xfrm>
          <a:prstGeom prst="rect">
            <a:avLst/>
          </a:prstGeom>
          <a:noFill/>
          <a:ln/>
        </p:spPr>
        <p:txBody>
          <a:bodyPr wrap="none" lIns="0" tIns="0" rIns="0" bIns="0" rtlCol="0" anchor="ctr"/>
          <a:lstStyle/>
          <a:p>
            <a:pPr algn="l" indent="0" marL="0">
              <a:buNone/>
            </a:pPr>
            <a:r>
              <a:rPr lang="en-US" sz="900" b="1" dirty="0">
                <a:solidFill>
                  <a:srgbClr val="DCE8FF"/>
                </a:solidFill>
                <a:latin typeface="Scotia" pitchFamily="34" charset="0"/>
                <a:ea typeface="Scotia" pitchFamily="34" charset="-122"/>
                <a:cs typeface="Scotia" pitchFamily="34" charset="-120"/>
              </a:rPr>
              <a:t>Specialists call MCP tools as assigned</a:t>
            </a:r>
            <a:endParaRPr lang="en-US" sz="900" dirty="0"/>
          </a:p>
        </p:txBody>
      </p:sp>
      <p:sp>
        <p:nvSpPr>
          <p:cNvPr id="70" name="Text MCP LAYER"/>
          <p:cNvSpPr txBox="1"/>
          <p:nvPr/>
        </p:nvSpPr>
        <p:spPr>
          <a:xfrm>
            <a:off x="8382000" y="5086350"/>
            <a:ext cx="807541" cy="123825"/>
          </a:xfrm>
          <a:prstGeom prst="rect">
            <a:avLst/>
          </a:prstGeom>
          <a:noFill/>
          <a:ln/>
        </p:spPr>
        <p:txBody>
          <a:bodyPr wrap="none" lIns="0" tIns="0" rIns="0" bIns="0" rtlCol="0" anchor="ctr"/>
          <a:lstStyle/>
          <a:p>
            <a:pPr algn="l" indent="0" marL="0">
              <a:buNone/>
            </a:pPr>
            <a:r>
              <a:rPr lang="en-US" sz="863" b="1" spc="150" kern="0" dirty="0">
                <a:solidFill>
                  <a:srgbClr val="8FB4FF"/>
                </a:solidFill>
                <a:latin typeface="Scotia" pitchFamily="34" charset="0"/>
                <a:ea typeface="Scotia" pitchFamily="34" charset="-122"/>
                <a:cs typeface="Scotia" pitchFamily="34" charset="-120"/>
              </a:rPr>
              <a:t>MCP LAYER</a:t>
            </a:r>
            <a:endParaRPr lang="en-US" sz="863" dirty="0"/>
          </a:p>
        </p:txBody>
      </p:sp>
      <p:sp>
        <p:nvSpPr>
          <p:cNvPr id="71" name="Text Manager reads each server s to"/>
          <p:cNvSpPr txBox="1"/>
          <p:nvPr/>
        </p:nvSpPr>
        <p:spPr>
          <a:xfrm>
            <a:off x="8382000" y="5257800"/>
            <a:ext cx="2665065"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Manager reads each server's tool list to plan.</a:t>
            </a:r>
            <a:endParaRPr lang="en-US" sz="1013" dirty="0"/>
          </a:p>
        </p:txBody>
      </p:sp>
      <p:sp>
        <p:nvSpPr>
          <p:cNvPr id="72" name="Text Risky tool calls wait for huma"/>
          <p:cNvSpPr txBox="1"/>
          <p:nvPr/>
        </p:nvSpPr>
        <p:spPr>
          <a:xfrm>
            <a:off x="8382000" y="5429250"/>
            <a:ext cx="2450306"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Risky tool calls wait for human approval.</a:t>
            </a:r>
            <a:endParaRPr lang="en-US" sz="1013" dirty="0"/>
          </a:p>
        </p:txBody>
      </p:sp>
      <p:sp>
        <p:nvSpPr>
          <p:cNvPr id="73" name="dg rect"/>
          <p:cNvSpPr/>
          <p:nvPr/>
        </p:nvSpPr>
        <p:spPr>
          <a:xfrm>
            <a:off x="8458200" y="1809750"/>
            <a:ext cx="3333750" cy="609600"/>
          </a:xfrm>
          <a:prstGeom prst="roundRect">
            <a:avLst>
              <a:gd name="adj" fmla="val 21875"/>
            </a:avLst>
          </a:prstGeom>
          <a:gradFill rotWithShape="1">
            <a:gsLst>
              <a:gs pos="0">
                <a:srgbClr val="1A1550"/>
              </a:gs>
              <a:gs pos="100000">
                <a:srgbClr val="120E36"/>
              </a:gs>
            </a:gsLst>
            <a:lin ang="5400000" scaled="1"/>
          </a:gradFill>
          <a:ln w="15240" cap="flat">
            <a:solidFill>
              <a:srgbClr val="FDB913"/>
            </a:solidFill>
            <a:custDash>
              <a:ds d="437500" sp="375000"/>
            </a:custDash>
            <a:miter lim="800000"/>
          </a:ln>
        </p:spPr>
      </p:sp>
      <p:sp>
        <p:nvSpPr>
          <p:cNvPr id="74" name="dg circle"/>
          <p:cNvSpPr/>
          <p:nvPr/>
        </p:nvSpPr>
        <p:spPr>
          <a:xfrm>
            <a:off x="8610600" y="1924050"/>
            <a:ext cx="381000" cy="381000"/>
          </a:xfrm>
          <a:prstGeom prst="ellipse">
            <a:avLst/>
          </a:prstGeom>
          <a:solidFill>
            <a:srgbClr val="FDB913"/>
          </a:solidFill>
          <a:ln>
            <a:noFill/>
          </a:ln>
        </p:spPr>
      </p:sp>
      <p:sp>
        <p:nvSpPr>
          <p:cNvPr id="75" name="dg i-user"/>
          <p:cNvSpPr/>
          <p:nvPr/>
        </p:nvSpPr>
        <p:spPr>
          <a:xfrm>
            <a:off x="8745537" y="2043112"/>
            <a:ext cx="111125" cy="142875"/>
          </a:xfrm>
          <a:custGeom>
            <a:avLst/>
            <a:gdLst/>
            <a:ahLst/>
            <a:cxnLst/>
            <a:rect l="l" t="t" r="r" b="b"/>
            <a:pathLst>
              <a:path w="111125" h="142875">
                <a:moveTo>
                  <a:pt x="111125" y="142875"/>
                </a:moveTo>
                <a:lnTo>
                  <a:pt x="111125" y="127000"/>
                </a:lnTo>
                <a:cubicBezTo>
                  <a:pt x="111125" y="109465"/>
                  <a:pt x="96910" y="95250"/>
                  <a:pt x="79375" y="95250"/>
                </a:cubicBezTo>
                <a:lnTo>
                  <a:pt x="31750" y="95250"/>
                </a:lnTo>
                <a:cubicBezTo>
                  <a:pt x="14215" y="95250"/>
                  <a:pt x="0" y="109465"/>
                  <a:pt x="0" y="127000"/>
                </a:cubicBezTo>
                <a:lnTo>
                  <a:pt x="0" y="142875"/>
                </a:lnTo>
                <a:moveTo>
                  <a:pt x="87312" y="31750"/>
                </a:moveTo>
                <a:cubicBezTo>
                  <a:pt x="87312" y="49285"/>
                  <a:pt x="73098" y="63500"/>
                  <a:pt x="55562" y="63500"/>
                </a:cubicBezTo>
                <a:cubicBezTo>
                  <a:pt x="38027" y="63500"/>
                  <a:pt x="23812" y="49285"/>
                  <a:pt x="23812" y="31750"/>
                </a:cubicBezTo>
                <a:cubicBezTo>
                  <a:pt x="23812" y="14215"/>
                  <a:pt x="38027" y="0"/>
                  <a:pt x="55562" y="0"/>
                </a:cubicBezTo>
                <a:cubicBezTo>
                  <a:pt x="73098" y="0"/>
                  <a:pt x="87312" y="14215"/>
                  <a:pt x="87312" y="31750"/>
                </a:cubicBezTo>
                <a:close/>
              </a:path>
            </a:pathLst>
          </a:custGeom>
          <a:noFill/>
          <a:ln w="14287" cap="rnd">
            <a:solidFill>
              <a:srgbClr val="0B0823"/>
            </a:solidFill>
            <a:round/>
          </a:ln>
        </p:spPr>
      </p:sp>
      <p:sp>
        <p:nvSpPr>
          <p:cNvPr id="76" name="Text Human"/>
          <p:cNvSpPr txBox="1"/>
          <p:nvPr/>
        </p:nvSpPr>
        <p:spPr>
          <a:xfrm>
            <a:off x="9144000" y="1933575"/>
            <a:ext cx="634901"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Human</a:t>
            </a:r>
            <a:endParaRPr lang="en-US" sz="1350" dirty="0"/>
          </a:p>
        </p:txBody>
      </p:sp>
      <p:sp>
        <p:nvSpPr>
          <p:cNvPr id="77" name="Text Optional reviews the plan t"/>
          <p:cNvSpPr txBox="1"/>
          <p:nvPr/>
        </p:nvSpPr>
        <p:spPr>
          <a:xfrm>
            <a:off x="9144000" y="2181225"/>
            <a:ext cx="212645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Optional · reviews the plan, takes over</a:t>
            </a:r>
            <a:endParaRPr lang="en-US" sz="938" dirty="0"/>
          </a:p>
        </p:txBody>
      </p:sp>
      <p:sp>
        <p:nvSpPr>
          <p:cNvPr id="78" name="dg path"/>
          <p:cNvSpPr/>
          <p:nvPr/>
        </p:nvSpPr>
        <p:spPr>
          <a:xfrm>
            <a:off x="7467600" y="2115761"/>
            <a:ext cx="941818" cy="1141789"/>
          </a:xfrm>
          <a:custGeom>
            <a:avLst/>
            <a:gdLst/>
            <a:ahLst/>
            <a:cxnLst/>
            <a:rect l="l" t="t" r="r" b="b"/>
            <a:pathLst>
              <a:path w="941818" h="1141789">
                <a:moveTo>
                  <a:pt x="0" y="1141789"/>
                </a:moveTo>
                <a:cubicBezTo>
                  <a:pt x="438150" y="1141789"/>
                  <a:pt x="500063" y="260727"/>
                  <a:pt x="941818" y="0"/>
                </a:cubicBezTo>
              </a:path>
            </a:pathLst>
          </a:custGeom>
          <a:noFill/>
          <a:ln w="20955" cap="rnd">
            <a:solidFill>
              <a:srgbClr val="FDB913">
                <a:alpha val="90000"/>
              </a:srgbClr>
            </a:solidFill>
            <a:custDash>
              <a:ds d="227273" sp="272727"/>
            </a:custDash>
            <a:miter lim="800000"/>
            <a:tailEnd type="triangle" w="lg" len="lg"/>
          </a:ln>
        </p:spPr>
      </p:sp>
      <p:sp>
        <p:nvSpPr>
          <p:cNvPr id="79" name="dg rect"/>
          <p:cNvSpPr/>
          <p:nvPr/>
        </p:nvSpPr>
        <p:spPr>
          <a:xfrm>
            <a:off x="5092827" y="4238625"/>
            <a:ext cx="1911096" cy="323850"/>
          </a:xfrm>
          <a:prstGeom prst="roundRect">
            <a:avLst>
              <a:gd name="adj" fmla="val 50000"/>
            </a:avLst>
          </a:prstGeom>
          <a:solidFill>
            <a:srgbClr val="0B0823"/>
          </a:solidFill>
          <a:ln w="12383" cap="flat">
            <a:solidFill>
              <a:srgbClr val="B0AAFF"/>
            </a:solidFill>
            <a:miter lim="800000"/>
          </a:ln>
        </p:spPr>
      </p:sp>
      <p:sp>
        <p:nvSpPr>
          <p:cNvPr id="80" name="Text Goal met or stalled"/>
          <p:cNvSpPr txBox="1"/>
          <p:nvPr/>
        </p:nvSpPr>
        <p:spPr>
          <a:xfrm>
            <a:off x="5364435" y="4343781"/>
            <a:ext cx="1367879" cy="152400"/>
          </a:xfrm>
          <a:prstGeom prst="rect">
            <a:avLst/>
          </a:prstGeom>
          <a:noFill/>
          <a:ln/>
        </p:spPr>
        <p:txBody>
          <a:bodyPr wrap="none" lIns="0" tIns="0" rIns="0" bIns="0" rtlCol="0" anchor="ctr"/>
          <a:lstStyle/>
          <a:p>
            <a:pPr algn="ctr" indent="0" marL="0">
              <a:buNone/>
            </a:pPr>
            <a:r>
              <a:rPr lang="en-US" sz="1050" b="1" spc="22" kern="0" dirty="0">
                <a:solidFill>
                  <a:srgbClr val="FFFFFF"/>
                </a:solidFill>
                <a:latin typeface="Scotia" pitchFamily="34" charset="0"/>
                <a:ea typeface="Scotia" pitchFamily="34" charset="-122"/>
                <a:cs typeface="Scotia" pitchFamily="34" charset="-120"/>
              </a:rPr>
              <a:t>Goal met, or stalled?</a:t>
            </a:r>
            <a:endParaRPr lang="en-US" sz="1050" dirty="0"/>
          </a:p>
        </p:txBody>
      </p:sp>
      <p:sp>
        <p:nvSpPr>
          <p:cNvPr id="81" name="dg path"/>
          <p:cNvSpPr/>
          <p:nvPr/>
        </p:nvSpPr>
        <p:spPr>
          <a:xfrm>
            <a:off x="6048375" y="3829050"/>
            <a:ext cx="0" cy="388620"/>
          </a:xfrm>
          <a:prstGeom prst="line">
            <a:avLst/>
          </a:prstGeom>
          <a:noFill/>
          <a:ln w="22860" cap="rnd">
            <a:solidFill>
              <a:srgbClr val="B0AAFF"/>
            </a:solidFill>
            <a:miter lim="800000"/>
            <a:tailEnd type="triangle" w="lg" len="lg"/>
          </a:ln>
        </p:spPr>
      </p:sp>
      <p:sp>
        <p:nvSpPr>
          <p:cNvPr id="82" name="dg path"/>
          <p:cNvSpPr/>
          <p:nvPr/>
        </p:nvSpPr>
        <p:spPr>
          <a:xfrm>
            <a:off x="4133850" y="3543300"/>
            <a:ext cx="904875" cy="857250"/>
          </a:xfrm>
          <a:custGeom>
            <a:avLst/>
            <a:gdLst/>
            <a:ahLst/>
            <a:cxnLst/>
            <a:rect l="l" t="t" r="r" b="b"/>
            <a:pathLst>
              <a:path w="904875" h="857250">
                <a:moveTo>
                  <a:pt x="904875" y="857250"/>
                </a:moveTo>
                <a:lnTo>
                  <a:pt x="304800" y="857250"/>
                </a:lnTo>
                <a:cubicBezTo>
                  <a:pt x="136464" y="857250"/>
                  <a:pt x="0" y="720786"/>
                  <a:pt x="0" y="552450"/>
                </a:cubicBezTo>
                <a:lnTo>
                  <a:pt x="0" y="304800"/>
                </a:lnTo>
                <a:cubicBezTo>
                  <a:pt x="0" y="136464"/>
                  <a:pt x="136464" y="0"/>
                  <a:pt x="304800" y="0"/>
                </a:cubicBezTo>
                <a:lnTo>
                  <a:pt x="476250" y="0"/>
                </a:lnTo>
              </a:path>
            </a:pathLst>
          </a:custGeom>
          <a:noFill/>
          <a:ln w="20955" cap="rnd">
            <a:solidFill>
              <a:srgbClr val="A9A6CF"/>
            </a:solidFill>
            <a:custDash>
              <a:ds d="227273" sp="227273"/>
            </a:custDash>
            <a:miter lim="800000"/>
            <a:tailEnd type="triangle" w="lg" len="lg"/>
          </a:ln>
        </p:spPr>
      </p:sp>
      <p:sp>
        <p:nvSpPr>
          <p:cNvPr id="83" name="dg circle"/>
          <p:cNvSpPr/>
          <p:nvPr/>
        </p:nvSpPr>
        <p:spPr>
          <a:xfrm>
            <a:off x="4019550" y="3857625"/>
            <a:ext cx="228600" cy="228600"/>
          </a:xfrm>
          <a:prstGeom prst="ellipse">
            <a:avLst/>
          </a:prstGeom>
          <a:solidFill>
            <a:srgbClr val="6551FF"/>
          </a:solidFill>
          <a:ln>
            <a:noFill/>
          </a:ln>
        </p:spPr>
      </p:sp>
      <p:sp>
        <p:nvSpPr>
          <p:cNvPr id="84" name="Text 4"/>
          <p:cNvSpPr txBox="1"/>
          <p:nvPr/>
        </p:nvSpPr>
        <p:spPr>
          <a:xfrm>
            <a:off x="4068291" y="3911724"/>
            <a:ext cx="13111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4</a:t>
            </a:r>
            <a:endParaRPr lang="en-US" sz="975" dirty="0"/>
          </a:p>
        </p:txBody>
      </p:sp>
      <p:sp>
        <p:nvSpPr>
          <p:cNvPr id="85" name="Text re-plan"/>
          <p:cNvSpPr txBox="1"/>
          <p:nvPr/>
        </p:nvSpPr>
        <p:spPr>
          <a:xfrm>
            <a:off x="4305300" y="3919537"/>
            <a:ext cx="45511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re-plan</a:t>
            </a:r>
            <a:endParaRPr lang="en-US" sz="938" dirty="0"/>
          </a:p>
        </p:txBody>
      </p:sp>
      <p:sp>
        <p:nvSpPr>
          <p:cNvPr id="86" name="dg circle"/>
          <p:cNvSpPr/>
          <p:nvPr/>
        </p:nvSpPr>
        <p:spPr>
          <a:xfrm>
            <a:off x="619125" y="3552825"/>
            <a:ext cx="171450" cy="171450"/>
          </a:xfrm>
          <a:prstGeom prst="ellipse">
            <a:avLst/>
          </a:prstGeom>
          <a:noFill/>
          <a:ln w="17145" cap="flat">
            <a:solidFill>
              <a:srgbClr val="B0AAFF"/>
            </a:solidFill>
            <a:miter lim="800000"/>
          </a:ln>
        </p:spPr>
      </p:sp>
      <p:sp>
        <p:nvSpPr>
          <p:cNvPr id="87" name="Text Task 3 discovered"/>
          <p:cNvSpPr txBox="1"/>
          <p:nvPr/>
        </p:nvSpPr>
        <p:spPr>
          <a:xfrm>
            <a:off x="914400" y="3571875"/>
            <a:ext cx="1297930" cy="180975"/>
          </a:xfrm>
          <a:prstGeom prst="rect">
            <a:avLst/>
          </a:prstGeom>
          <a:noFill/>
          <a:ln/>
        </p:spPr>
        <p:txBody>
          <a:bodyPr wrap="none" lIns="0" tIns="0" rIns="0" bIns="0" rtlCol="0" anchor="ctr"/>
          <a:lstStyle/>
          <a:p>
            <a:pPr algn="l" indent="0" marL="0">
              <a:buNone/>
            </a:pPr>
            <a:r>
              <a:rPr lang="en-US" sz="1163" dirty="0">
                <a:solidFill>
                  <a:srgbClr val="FFFFFF"/>
                </a:solidFill>
                <a:latin typeface="Scotia" pitchFamily="34" charset="0"/>
                <a:ea typeface="Scotia" pitchFamily="34" charset="-122"/>
                <a:cs typeface="Scotia" pitchFamily="34" charset="-120"/>
              </a:rPr>
              <a:t>Task 3 (discovered)</a:t>
            </a:r>
            <a:endParaRPr lang="en-US" sz="1163" dirty="0"/>
          </a:p>
        </p:txBody>
      </p:sp>
      <p:sp>
        <p:nvSpPr>
          <p:cNvPr id="88" name="dg rect"/>
          <p:cNvSpPr/>
          <p:nvPr/>
        </p:nvSpPr>
        <p:spPr>
          <a:xfrm>
            <a:off x="3373564" y="3543300"/>
            <a:ext cx="339471" cy="190500"/>
          </a:xfrm>
          <a:prstGeom prst="roundRect">
            <a:avLst>
              <a:gd name="adj" fmla="val 50000"/>
            </a:avLst>
          </a:prstGeom>
          <a:solidFill>
            <a:srgbClr val="6551FF"/>
          </a:solidFill>
          <a:ln>
            <a:noFill/>
          </a:ln>
        </p:spPr>
      </p:sp>
      <p:sp>
        <p:nvSpPr>
          <p:cNvPr id="89" name="Text NEW"/>
          <p:cNvSpPr txBox="1"/>
          <p:nvPr/>
        </p:nvSpPr>
        <p:spPr>
          <a:xfrm>
            <a:off x="3397374" y="3588832"/>
            <a:ext cx="291852" cy="123825"/>
          </a:xfrm>
          <a:prstGeom prst="rect">
            <a:avLst/>
          </a:prstGeom>
          <a:noFill/>
          <a:ln/>
        </p:spPr>
        <p:txBody>
          <a:bodyPr wrap="none" lIns="0" tIns="0" rIns="0" bIns="0" rtlCol="0" anchor="ctr"/>
          <a:lstStyle/>
          <a:p>
            <a:pPr algn="ctr" indent="0" marL="0">
              <a:buNone/>
            </a:pPr>
            <a:r>
              <a:rPr lang="en-US" sz="788" b="1" spc="22" kern="0" dirty="0">
                <a:solidFill>
                  <a:srgbClr val="FFFFFF"/>
                </a:solidFill>
                <a:latin typeface="Scotia" pitchFamily="34" charset="0"/>
                <a:ea typeface="Scotia" pitchFamily="34" charset="-122"/>
                <a:cs typeface="Scotia" pitchFamily="34" charset="-120"/>
              </a:rPr>
              <a:t>NEW</a:t>
            </a:r>
            <a:endParaRPr lang="en-US" sz="788" dirty="0"/>
          </a:p>
        </p:txBody>
      </p:sp>
      <p:sp>
        <p:nvSpPr>
          <p:cNvPr id="90" name="dg line"/>
          <p:cNvSpPr/>
          <p:nvPr/>
        </p:nvSpPr>
        <p:spPr>
          <a:xfrm>
            <a:off x="590550" y="3829050"/>
            <a:ext cx="3162300" cy="0"/>
          </a:xfrm>
          <a:prstGeom prst="line">
            <a:avLst/>
          </a:prstGeom>
          <a:noFill/>
          <a:ln w="9525" cap="flat">
            <a:solidFill>
              <a:srgbClr val="BDC2EF">
                <a:alpha val="12000"/>
              </a:srgbClr>
            </a:solidFill>
            <a:miter lim="800000"/>
          </a:ln>
        </p:spPr>
      </p:sp>
      <p:sp>
        <p:nvSpPr>
          <p:cNvPr id="91" name="dg circle"/>
          <p:cNvSpPr/>
          <p:nvPr/>
        </p:nvSpPr>
        <p:spPr>
          <a:xfrm>
            <a:off x="619125" y="3933825"/>
            <a:ext cx="171450" cy="171450"/>
          </a:xfrm>
          <a:prstGeom prst="ellipse">
            <a:avLst/>
          </a:prstGeom>
          <a:noFill/>
          <a:ln w="17145" cap="flat">
            <a:solidFill>
              <a:srgbClr val="B0AAFF"/>
            </a:solidFill>
            <a:miter lim="800000"/>
          </a:ln>
        </p:spPr>
      </p:sp>
      <p:sp>
        <p:nvSpPr>
          <p:cNvPr id="92" name="Text Task 4 discovered"/>
          <p:cNvSpPr txBox="1"/>
          <p:nvPr/>
        </p:nvSpPr>
        <p:spPr>
          <a:xfrm>
            <a:off x="914400" y="3952875"/>
            <a:ext cx="1302841" cy="180975"/>
          </a:xfrm>
          <a:prstGeom prst="rect">
            <a:avLst/>
          </a:prstGeom>
          <a:noFill/>
          <a:ln/>
        </p:spPr>
        <p:txBody>
          <a:bodyPr wrap="none" lIns="0" tIns="0" rIns="0" bIns="0" rtlCol="0" anchor="ctr"/>
          <a:lstStyle/>
          <a:p>
            <a:pPr algn="l" indent="0" marL="0">
              <a:buNone/>
            </a:pPr>
            <a:r>
              <a:rPr lang="en-US" sz="1163" dirty="0">
                <a:solidFill>
                  <a:srgbClr val="FFFFFF"/>
                </a:solidFill>
                <a:latin typeface="Scotia" pitchFamily="34" charset="0"/>
                <a:ea typeface="Scotia" pitchFamily="34" charset="-122"/>
                <a:cs typeface="Scotia" pitchFamily="34" charset="-120"/>
              </a:rPr>
              <a:t>Task 4 (discovered)</a:t>
            </a:r>
            <a:endParaRPr lang="en-US" sz="1163" dirty="0"/>
          </a:p>
        </p:txBody>
      </p:sp>
      <p:sp>
        <p:nvSpPr>
          <p:cNvPr id="93" name="dg rect"/>
          <p:cNvSpPr/>
          <p:nvPr/>
        </p:nvSpPr>
        <p:spPr>
          <a:xfrm>
            <a:off x="3373564" y="3924300"/>
            <a:ext cx="339471" cy="190500"/>
          </a:xfrm>
          <a:prstGeom prst="roundRect">
            <a:avLst>
              <a:gd name="adj" fmla="val 50000"/>
            </a:avLst>
          </a:prstGeom>
          <a:solidFill>
            <a:srgbClr val="6551FF"/>
          </a:solidFill>
          <a:ln>
            <a:noFill/>
          </a:ln>
        </p:spPr>
      </p:sp>
      <p:sp>
        <p:nvSpPr>
          <p:cNvPr id="94" name="Text NEW"/>
          <p:cNvSpPr txBox="1"/>
          <p:nvPr/>
        </p:nvSpPr>
        <p:spPr>
          <a:xfrm>
            <a:off x="3397374" y="3969832"/>
            <a:ext cx="291852" cy="123825"/>
          </a:xfrm>
          <a:prstGeom prst="rect">
            <a:avLst/>
          </a:prstGeom>
          <a:noFill/>
          <a:ln/>
        </p:spPr>
        <p:txBody>
          <a:bodyPr wrap="none" lIns="0" tIns="0" rIns="0" bIns="0" rtlCol="0" anchor="ctr"/>
          <a:lstStyle/>
          <a:p>
            <a:pPr algn="ctr" indent="0" marL="0">
              <a:buNone/>
            </a:pPr>
            <a:r>
              <a:rPr lang="en-US" sz="788" b="1" spc="22" kern="0" dirty="0">
                <a:solidFill>
                  <a:srgbClr val="FFFFFF"/>
                </a:solidFill>
                <a:latin typeface="Scotia" pitchFamily="34" charset="0"/>
                <a:ea typeface="Scotia" pitchFamily="34" charset="-122"/>
                <a:cs typeface="Scotia" pitchFamily="34" charset="-120"/>
              </a:rPr>
              <a:t>NEW</a:t>
            </a:r>
            <a:endParaRPr lang="en-US" sz="788" dirty="0"/>
          </a:p>
        </p:txBody>
      </p:sp>
      <p:sp>
        <p:nvSpPr>
          <p:cNvPr id="95" name="dg line"/>
          <p:cNvSpPr/>
          <p:nvPr/>
        </p:nvSpPr>
        <p:spPr>
          <a:xfrm>
            <a:off x="590550" y="4210050"/>
            <a:ext cx="3162300" cy="0"/>
          </a:xfrm>
          <a:prstGeom prst="line">
            <a:avLst/>
          </a:prstGeom>
          <a:noFill/>
          <a:ln w="9525" cap="flat">
            <a:solidFill>
              <a:srgbClr val="BDC2EF">
                <a:alpha val="12000"/>
              </a:srgbClr>
            </a:solidFill>
            <a:miter lim="800000"/>
          </a:ln>
        </p:spPr>
      </p:sp>
      <p:sp>
        <p:nvSpPr>
          <p:cNvPr id="96" name="dg circle"/>
          <p:cNvSpPr/>
          <p:nvPr/>
        </p:nvSpPr>
        <p:spPr>
          <a:xfrm>
            <a:off x="619125" y="4314825"/>
            <a:ext cx="171450" cy="171450"/>
          </a:xfrm>
          <a:prstGeom prst="ellipse">
            <a:avLst/>
          </a:prstGeom>
          <a:noFill/>
          <a:ln w="17145" cap="flat">
            <a:solidFill>
              <a:srgbClr val="E5485D"/>
            </a:solidFill>
            <a:miter lim="800000"/>
          </a:ln>
        </p:spPr>
      </p:sp>
      <p:sp>
        <p:nvSpPr>
          <p:cNvPr id="97" name="dg i-x"/>
          <p:cNvSpPr/>
          <p:nvPr/>
        </p:nvSpPr>
        <p:spPr>
          <a:xfrm>
            <a:off x="676275" y="4371975"/>
            <a:ext cx="57150" cy="57150"/>
          </a:xfrm>
          <a:custGeom>
            <a:avLst/>
            <a:gdLst/>
            <a:ahLst/>
            <a:cxnLst/>
            <a:rect l="l" t="t" r="r" b="b"/>
            <a:pathLst>
              <a:path w="57150" h="57150">
                <a:moveTo>
                  <a:pt x="57150" y="0"/>
                </a:moveTo>
                <a:lnTo>
                  <a:pt x="0" y="57150"/>
                </a:lnTo>
                <a:moveTo>
                  <a:pt x="0" y="0"/>
                </a:moveTo>
                <a:lnTo>
                  <a:pt x="57150" y="57150"/>
                </a:lnTo>
              </a:path>
            </a:pathLst>
          </a:custGeom>
          <a:noFill/>
          <a:ln w="11430" cap="rnd">
            <a:solidFill>
              <a:srgbClr val="E5485D"/>
            </a:solidFill>
            <a:round/>
          </a:ln>
        </p:spPr>
      </p:sp>
      <p:sp>
        <p:nvSpPr>
          <p:cNvPr id="98" name="Text Task 5"/>
          <p:cNvSpPr txBox="1"/>
          <p:nvPr/>
        </p:nvSpPr>
        <p:spPr>
          <a:xfrm>
            <a:off x="914400" y="4333875"/>
            <a:ext cx="464046" cy="180975"/>
          </a:xfrm>
          <a:prstGeom prst="rect">
            <a:avLst/>
          </a:prstGeom>
          <a:noFill/>
          <a:ln/>
        </p:spPr>
        <p:txBody>
          <a:bodyPr wrap="none" lIns="0" tIns="0" rIns="0" bIns="0" rtlCol="0" anchor="ctr"/>
          <a:lstStyle/>
          <a:p>
            <a:pPr algn="l" indent="0" marL="0">
              <a:buNone/>
            </a:pPr>
            <a:r>
              <a:rPr lang="en-US" sz="1163" strike="sngStrike" dirty="0">
                <a:solidFill>
                  <a:srgbClr val="9C98C8"/>
                </a:solidFill>
                <a:latin typeface="Scotia" pitchFamily="34" charset="0"/>
                <a:ea typeface="Scotia" pitchFamily="34" charset="-122"/>
                <a:cs typeface="Scotia" pitchFamily="34" charset="-120"/>
              </a:rPr>
              <a:t>Task 5</a:t>
            </a:r>
            <a:endParaRPr lang="en-US" sz="1163" dirty="0"/>
          </a:p>
        </p:txBody>
      </p:sp>
      <p:sp>
        <p:nvSpPr>
          <p:cNvPr id="99" name="dg rect"/>
          <p:cNvSpPr/>
          <p:nvPr/>
        </p:nvSpPr>
        <p:spPr>
          <a:xfrm>
            <a:off x="3128201" y="4305300"/>
            <a:ext cx="563499" cy="190500"/>
          </a:xfrm>
          <a:prstGeom prst="roundRect">
            <a:avLst>
              <a:gd name="adj" fmla="val 50000"/>
            </a:avLst>
          </a:prstGeom>
          <a:solidFill>
            <a:srgbClr val="E5485D"/>
          </a:solidFill>
          <a:ln>
            <a:noFill/>
          </a:ln>
        </p:spPr>
      </p:sp>
      <p:sp>
        <p:nvSpPr>
          <p:cNvPr id="100" name="Text REMOVED"/>
          <p:cNvSpPr txBox="1"/>
          <p:nvPr/>
        </p:nvSpPr>
        <p:spPr>
          <a:xfrm>
            <a:off x="3134171" y="4350832"/>
            <a:ext cx="551557" cy="123825"/>
          </a:xfrm>
          <a:prstGeom prst="rect">
            <a:avLst/>
          </a:prstGeom>
          <a:noFill/>
          <a:ln/>
        </p:spPr>
        <p:txBody>
          <a:bodyPr wrap="none" lIns="0" tIns="0" rIns="0" bIns="0" rtlCol="0" anchor="ctr"/>
          <a:lstStyle/>
          <a:p>
            <a:pPr algn="ctr" indent="0" marL="0">
              <a:buNone/>
            </a:pPr>
            <a:r>
              <a:rPr lang="en-US" sz="788" b="1" spc="22" kern="0" dirty="0">
                <a:solidFill>
                  <a:srgbClr val="FFFFFF"/>
                </a:solidFill>
                <a:latin typeface="Scotia" pitchFamily="34" charset="0"/>
                <a:ea typeface="Scotia" pitchFamily="34" charset="-122"/>
                <a:cs typeface="Scotia" pitchFamily="34" charset="-120"/>
              </a:rPr>
              <a:t>REMOVED</a:t>
            </a:r>
            <a:endParaRPr lang="en-US" sz="788" dirty="0"/>
          </a:p>
        </p:txBody>
      </p:sp>
      <p:sp>
        <p:nvSpPr>
          <p:cNvPr id="101" name="dg line"/>
          <p:cNvSpPr/>
          <p:nvPr/>
        </p:nvSpPr>
        <p:spPr>
          <a:xfrm>
            <a:off x="590550" y="4591050"/>
            <a:ext cx="3162300" cy="0"/>
          </a:xfrm>
          <a:prstGeom prst="line">
            <a:avLst/>
          </a:prstGeom>
          <a:noFill/>
          <a:ln w="9525" cap="flat">
            <a:solidFill>
              <a:srgbClr val="BDC2EF">
                <a:alpha val="12000"/>
              </a:srgbClr>
            </a:solidFill>
            <a:miter lim="800000"/>
          </a:ln>
        </p:spPr>
      </p:sp>
      <p:sp>
        <p:nvSpPr>
          <p:cNvPr id="102" name="Text Manager adds removes and reor"/>
          <p:cNvSpPr txBox="1"/>
          <p:nvPr/>
        </p:nvSpPr>
        <p:spPr>
          <a:xfrm>
            <a:off x="842144" y="5191125"/>
            <a:ext cx="2659112" cy="152400"/>
          </a:xfrm>
          <a:prstGeom prst="rect">
            <a:avLst/>
          </a:prstGeom>
          <a:noFill/>
          <a:ln/>
        </p:spPr>
        <p:txBody>
          <a:bodyPr wrap="none" lIns="0" tIns="0" rIns="0" bIns="0" rtlCol="0" anchor="ctr"/>
          <a:lstStyle/>
          <a:p>
            <a:pPr algn="ctr" indent="0" marL="0">
              <a:buNone/>
            </a:pPr>
            <a:r>
              <a:rPr lang="en-US" sz="1050" dirty="0">
                <a:solidFill>
                  <a:srgbClr val="BDC2EF"/>
                </a:solidFill>
                <a:latin typeface="Scotia Serif" pitchFamily="34" charset="0"/>
                <a:ea typeface="Scotia Serif" pitchFamily="34" charset="-122"/>
                <a:cs typeface="Scotia Serif" pitchFamily="34" charset="-120"/>
              </a:rPr>
              <a:t>Manager adds, removes and reorders tasks</a:t>
            </a:r>
            <a:endParaRPr lang="en-US" sz="1050" dirty="0"/>
          </a:p>
        </p:txBody>
      </p:sp>
      <p:sp>
        <p:nvSpPr>
          <p:cNvPr id="103" name="dg path"/>
          <p:cNvSpPr/>
          <p:nvPr/>
        </p:nvSpPr>
        <p:spPr>
          <a:xfrm>
            <a:off x="6048375" y="4581525"/>
            <a:ext cx="0" cy="512445"/>
          </a:xfrm>
          <a:prstGeom prst="line">
            <a:avLst/>
          </a:prstGeom>
          <a:noFill/>
          <a:ln w="24765" cap="rnd">
            <a:solidFill>
              <a:srgbClr val="2FBF71"/>
            </a:solidFill>
            <a:miter lim="800000"/>
            <a:tailEnd type="triangle" w="lg" len="lg"/>
          </a:ln>
        </p:spPr>
      </p:sp>
      <p:sp>
        <p:nvSpPr>
          <p:cNvPr id="104" name="Text on track: execute"/>
          <p:cNvSpPr txBox="1"/>
          <p:nvPr/>
        </p:nvSpPr>
        <p:spPr>
          <a:xfrm>
            <a:off x="6429375" y="4791075"/>
            <a:ext cx="984052"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on track: execute</a:t>
            </a:r>
            <a:endParaRPr lang="en-US" sz="938" dirty="0"/>
          </a:p>
        </p:txBody>
      </p:sp>
      <p:sp>
        <p:nvSpPr>
          <p:cNvPr id="105" name="dg circle"/>
          <p:cNvSpPr/>
          <p:nvPr/>
        </p:nvSpPr>
        <p:spPr>
          <a:xfrm>
            <a:off x="6162675" y="4729163"/>
            <a:ext cx="228600" cy="228600"/>
          </a:xfrm>
          <a:prstGeom prst="ellipse">
            <a:avLst/>
          </a:prstGeom>
          <a:solidFill>
            <a:srgbClr val="2FBF71"/>
          </a:solidFill>
          <a:ln>
            <a:noFill/>
          </a:ln>
        </p:spPr>
      </p:sp>
      <p:sp>
        <p:nvSpPr>
          <p:cNvPr id="106" name="Text 5"/>
          <p:cNvSpPr txBox="1"/>
          <p:nvPr/>
        </p:nvSpPr>
        <p:spPr>
          <a:xfrm>
            <a:off x="6215360" y="4783262"/>
            <a:ext cx="123230"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5</a:t>
            </a:r>
            <a:endParaRPr lang="en-US" sz="975" dirty="0"/>
          </a:p>
        </p:txBody>
      </p:sp>
      <p:sp>
        <p:nvSpPr>
          <p:cNvPr id="107" name="dg polygon"/>
          <p:cNvSpPr/>
          <p:nvPr/>
        </p:nvSpPr>
        <p:spPr>
          <a:xfrm>
            <a:off x="4743450" y="5124450"/>
            <a:ext cx="2609850" cy="400050"/>
          </a:xfrm>
          <a:custGeom>
            <a:avLst/>
            <a:gdLst/>
            <a:ahLst/>
            <a:cxnLst/>
            <a:rect l="l" t="t" r="r" b="b"/>
            <a:pathLst>
              <a:path w="2609850" h="400050">
                <a:moveTo>
                  <a:pt x="133350" y="0"/>
                </a:moveTo>
                <a:lnTo>
                  <a:pt x="2609850" y="0"/>
                </a:lnTo>
                <a:lnTo>
                  <a:pt x="2476500" y="400050"/>
                </a:lnTo>
                <a:lnTo>
                  <a:pt x="0" y="400050"/>
                </a:lnTo>
                <a:close/>
              </a:path>
            </a:pathLst>
          </a:custGeom>
          <a:noFill/>
          <a:ln w="13335" cap="flat">
            <a:solidFill>
              <a:srgbClr val="2FBF71"/>
            </a:solidFill>
            <a:miter lim="800000"/>
          </a:ln>
        </p:spPr>
      </p:sp>
      <p:sp>
        <p:nvSpPr>
          <p:cNvPr id="108" name="Text Result"/>
          <p:cNvSpPr txBox="1"/>
          <p:nvPr/>
        </p:nvSpPr>
        <p:spPr>
          <a:xfrm>
            <a:off x="5821487" y="5181600"/>
            <a:ext cx="453777" cy="171450"/>
          </a:xfrm>
          <a:prstGeom prst="rect">
            <a:avLst/>
          </a:prstGeom>
          <a:noFill/>
          <a:ln/>
        </p:spPr>
        <p:txBody>
          <a:bodyPr wrap="none" lIns="0" tIns="0" rIns="0" bIns="0" rtlCol="0" anchor="ctr"/>
          <a:lstStyle/>
          <a:p>
            <a:pPr algn="ctr" indent="0" marL="0">
              <a:buNone/>
            </a:pPr>
            <a:r>
              <a:rPr lang="en-US" sz="1088" b="1" dirty="0">
                <a:solidFill>
                  <a:srgbClr val="2FBF71"/>
                </a:solidFill>
                <a:latin typeface="Scotia" pitchFamily="34" charset="0"/>
                <a:ea typeface="Scotia" pitchFamily="34" charset="-122"/>
                <a:cs typeface="Scotia" pitchFamily="34" charset="-120"/>
              </a:rPr>
              <a:t>Result</a:t>
            </a:r>
            <a:endParaRPr lang="en-US" sz="1088" dirty="0"/>
          </a:p>
        </p:txBody>
      </p:sp>
      <p:sp>
        <p:nvSpPr>
          <p:cNvPr id="109" name="Text documented plan"/>
          <p:cNvSpPr txBox="1"/>
          <p:nvPr/>
        </p:nvSpPr>
        <p:spPr>
          <a:xfrm>
            <a:off x="5495851" y="5353050"/>
            <a:ext cx="1105049" cy="142875"/>
          </a:xfrm>
          <a:prstGeom prst="rect">
            <a:avLst/>
          </a:prstGeom>
          <a:noFill/>
          <a:ln/>
        </p:spPr>
        <p:txBody>
          <a:bodyPr wrap="none" lIns="0" tIns="0" rIns="0" bIns="0" rtlCol="0" anchor="ctr"/>
          <a:lstStyle/>
          <a:p>
            <a:pPr algn="ctr" indent="0" marL="0">
              <a:buNone/>
            </a:pPr>
            <a:r>
              <a:rPr lang="en-US" sz="938" dirty="0">
                <a:solidFill>
                  <a:srgbClr val="FFFFFF"/>
                </a:solidFill>
                <a:latin typeface="Scotia Serif" pitchFamily="34" charset="0"/>
                <a:ea typeface="Scotia Serif" pitchFamily="34" charset="-122"/>
                <a:cs typeface="Scotia Serif" pitchFamily="34" charset="-120"/>
              </a:rPr>
              <a:t>+ documented plan</a:t>
            </a:r>
            <a:endParaRPr lang="en-US" sz="938" dirty="0"/>
          </a:p>
        </p:txBody>
      </p:sp>
      <p:sp>
        <p:nvSpPr>
          <p:cNvPr id="110" name="dg line"/>
          <p:cNvSpPr/>
          <p:nvPr/>
        </p:nvSpPr>
        <p:spPr>
          <a:xfrm>
            <a:off x="400050" y="5676900"/>
            <a:ext cx="11391900" cy="0"/>
          </a:xfrm>
          <a:prstGeom prst="line">
            <a:avLst/>
          </a:prstGeom>
          <a:noFill/>
          <a:ln w="9525" cap="flat">
            <a:solidFill>
              <a:srgbClr val="BDC2EF">
                <a:alpha val="22000"/>
              </a:srgbClr>
            </a:solidFill>
            <a:miter lim="800000"/>
          </a:ln>
        </p:spPr>
      </p:sp>
      <p:sp>
        <p:nvSpPr>
          <p:cNvPr id="111" name="Text BEST FOR"/>
          <p:cNvSpPr txBox="1"/>
          <p:nvPr/>
        </p:nvSpPr>
        <p:spPr>
          <a:xfrm>
            <a:off x="400050" y="5819775"/>
            <a:ext cx="718840"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BEST FOR</a:t>
            </a:r>
            <a:endParaRPr lang="en-US" sz="863" dirty="0"/>
          </a:p>
        </p:txBody>
      </p:sp>
      <p:sp>
        <p:nvSpPr>
          <p:cNvPr id="112" name="Text WATCH OUT FOR"/>
          <p:cNvSpPr txBox="1"/>
          <p:nvPr/>
        </p:nvSpPr>
        <p:spPr>
          <a:xfrm>
            <a:off x="6286500" y="5819775"/>
            <a:ext cx="1193155"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WATCH OUT FOR</a:t>
            </a:r>
            <a:endParaRPr lang="en-US" sz="863" dirty="0"/>
          </a:p>
        </p:txBody>
      </p:sp>
      <p:sp>
        <p:nvSpPr>
          <p:cNvPr id="113" name="Text Open-ended problems with no pr"/>
          <p:cNvSpPr txBox="1"/>
          <p:nvPr/>
        </p:nvSpPr>
        <p:spPr>
          <a:xfrm>
            <a:off x="400050" y="6000750"/>
            <a:ext cx="4369296"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Open-ended problems with no predetermined solution path.</a:t>
            </a:r>
            <a:endParaRPr lang="en-US" sz="1238" dirty="0"/>
          </a:p>
        </p:txBody>
      </p:sp>
      <p:sp>
        <p:nvSpPr>
          <p:cNvPr id="114" name="Text Slow convergence stalls on va"/>
          <p:cNvSpPr txBox="1"/>
          <p:nvPr/>
        </p:nvSpPr>
        <p:spPr>
          <a:xfrm>
            <a:off x="6286500" y="6000750"/>
            <a:ext cx="4417368"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Slow convergence, stalls on vague goals, and high token cost.</a:t>
            </a:r>
            <a:endParaRPr lang="en-US" sz="1238" dirty="0"/>
          </a:p>
        </p:txBody>
      </p:sp>
      <p:sp>
        <p:nvSpPr>
          <p:cNvPr id="115" name="Text Magentic Orchestration"/>
          <p:cNvSpPr txBox="1"/>
          <p:nvPr/>
        </p:nvSpPr>
        <p:spPr>
          <a:xfrm>
            <a:off x="400050" y="475926"/>
            <a:ext cx="4381946"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Magentic Orchestration</a:t>
            </a:r>
            <a:endParaRPr lang="en-US" sz="3067" dirty="0"/>
          </a:p>
        </p:txBody>
      </p:sp>
      <p:sp>
        <p:nvSpPr>
          <p:cNvPr id="116" name="Text A manager builds and revises a"/>
          <p:cNvSpPr txBox="1"/>
          <p:nvPr/>
        </p:nvSpPr>
        <p:spPr>
          <a:xfrm>
            <a:off x="400050" y="1025625"/>
            <a:ext cx="7627441"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A manager builds and revises a task ledger with specialist agents, then executes the plan.</a:t>
            </a:r>
            <a:endParaRPr lang="en-US" sz="1467" dirty="0"/>
          </a:p>
        </p:txBody>
      </p:sp>
      <p:sp>
        <p:nvSpPr>
          <p:cNvPr id="117"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118" name="Text 19"/>
          <p:cNvSpPr txBox="1"/>
          <p:nvPr/>
        </p:nvSpPr>
        <p:spPr>
          <a:xfrm>
            <a:off x="11623179" y="6306483"/>
            <a:ext cx="159246"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0" y="0"/>
            <a:ext cx="228600" cy="6858000"/>
          </a:xfrm>
          <a:prstGeom prst="rect">
            <a:avLst/>
          </a:prstGeom>
          <a:solidFill>
            <a:srgbClr val="22D3C5"/>
          </a:solidFill>
          <a:ln>
            <a:noFill/>
          </a:ln>
        </p:spPr>
      </p:sp>
      <p:sp>
        <p:nvSpPr>
          <p:cNvPr id="3" name="dg rect"/>
          <p:cNvSpPr/>
          <p:nvPr/>
        </p:nvSpPr>
        <p:spPr>
          <a:xfrm>
            <a:off x="10348340" y="533400"/>
            <a:ext cx="1443609" cy="266700"/>
          </a:xfrm>
          <a:prstGeom prst="roundRect">
            <a:avLst>
              <a:gd name="adj" fmla="val 50000"/>
            </a:avLst>
          </a:prstGeom>
          <a:solidFill>
            <a:srgbClr val="22D3C5"/>
          </a:solidFill>
          <a:ln>
            <a:noFill/>
          </a:ln>
        </p:spPr>
      </p:sp>
      <p:sp>
        <p:nvSpPr>
          <p:cNvPr id="4" name="Text WORKED EXAMPLE"/>
          <p:cNvSpPr txBox="1"/>
          <p:nvPr/>
        </p:nvSpPr>
        <p:spPr>
          <a:xfrm>
            <a:off x="10381815" y="612651"/>
            <a:ext cx="1376660" cy="142875"/>
          </a:xfrm>
          <a:prstGeom prst="rect">
            <a:avLst/>
          </a:prstGeom>
          <a:noFill/>
          <a:ln/>
        </p:spPr>
        <p:txBody>
          <a:bodyPr wrap="none" lIns="0" tIns="0" rIns="0" bIns="0" rtlCol="0" anchor="ctr"/>
          <a:lstStyle/>
          <a:p>
            <a:pPr algn="ctr" indent="0" marL="0">
              <a:buNone/>
            </a:pPr>
            <a:r>
              <a:rPr lang="en-US" sz="900" b="1" spc="165" kern="0" dirty="0">
                <a:solidFill>
                  <a:srgbClr val="0B0823"/>
                </a:solidFill>
                <a:latin typeface="Scotia" pitchFamily="34" charset="0"/>
                <a:ea typeface="Scotia" pitchFamily="34" charset="-122"/>
                <a:cs typeface="Scotia" pitchFamily="34" charset="-120"/>
              </a:rPr>
              <a:t>WORKED EXAMPLE</a:t>
            </a:r>
            <a:endParaRPr lang="en-US" sz="900" dirty="0"/>
          </a:p>
        </p:txBody>
      </p:sp>
      <p:sp>
        <p:nvSpPr>
          <p:cNvPr id="5" name="dg rect"/>
          <p:cNvSpPr/>
          <p:nvPr/>
        </p:nvSpPr>
        <p:spPr>
          <a:xfrm>
            <a:off x="5162550" y="2638425"/>
            <a:ext cx="2381250" cy="1238250"/>
          </a:xfrm>
          <a:prstGeom prst="roundRect">
            <a:avLst>
              <a:gd name="adj" fmla="val 13846"/>
            </a:avLst>
          </a:prstGeom>
          <a:solidFill>
            <a:srgbClr val="22D3C5">
              <a:alpha val="16000"/>
            </a:srgbClr>
          </a:solidFill>
          <a:ln w="19050" cap="flat">
            <a:solidFill>
              <a:srgbClr val="22D3C5"/>
            </a:solidFill>
            <a:miter lim="800000"/>
          </a:ln>
        </p:spPr>
      </p:sp>
      <p:sp>
        <p:nvSpPr>
          <p:cNvPr id="6" name="dg circle"/>
          <p:cNvSpPr/>
          <p:nvPr/>
        </p:nvSpPr>
        <p:spPr>
          <a:xfrm>
            <a:off x="5334000" y="2790825"/>
            <a:ext cx="342900" cy="342900"/>
          </a:xfrm>
          <a:prstGeom prst="ellipse">
            <a:avLst/>
          </a:prstGeom>
          <a:solidFill>
            <a:srgbClr val="22D3C5"/>
          </a:solidFill>
          <a:ln>
            <a:noFill/>
          </a:ln>
        </p:spPr>
      </p:sp>
      <p:sp>
        <p:nvSpPr>
          <p:cNvPr id="7" name="dg i-brain"/>
          <p:cNvSpPr/>
          <p:nvPr/>
        </p:nvSpPr>
        <p:spPr>
          <a:xfrm>
            <a:off x="5433313" y="2889707"/>
            <a:ext cx="144274" cy="145661"/>
          </a:xfrm>
          <a:custGeom>
            <a:avLst/>
            <a:gdLst/>
            <a:ahLst/>
            <a:cxnLst/>
            <a:rect l="l" t="t" r="r" b="b"/>
            <a:pathLst>
              <a:path w="144274" h="145661">
                <a:moveTo>
                  <a:pt x="72137" y="22562"/>
                </a:moveTo>
                <a:cubicBezTo>
                  <a:pt x="72160" y="14784"/>
                  <a:pt x="67967" y="7604"/>
                  <a:pt x="61181" y="3802"/>
                </a:cubicBezTo>
                <a:cubicBezTo>
                  <a:pt x="54395" y="0"/>
                  <a:pt x="46082" y="173"/>
                  <a:pt x="39461" y="4255"/>
                </a:cubicBezTo>
                <a:cubicBezTo>
                  <a:pt x="32839" y="8336"/>
                  <a:pt x="28949" y="15684"/>
                  <a:pt x="29296" y="23455"/>
                </a:cubicBezTo>
                <a:cubicBezTo>
                  <a:pt x="20788" y="25642"/>
                  <a:pt x="13758" y="31622"/>
                  <a:pt x="10235" y="39670"/>
                </a:cubicBezTo>
                <a:cubicBezTo>
                  <a:pt x="6712" y="47718"/>
                  <a:pt x="7087" y="56939"/>
                  <a:pt x="11251" y="64674"/>
                </a:cubicBezTo>
                <a:cubicBezTo>
                  <a:pt x="3914" y="70634"/>
                  <a:pt x="0" y="79837"/>
                  <a:pt x="795" y="89256"/>
                </a:cubicBezTo>
                <a:cubicBezTo>
                  <a:pt x="1590" y="98675"/>
                  <a:pt x="6991" y="107091"/>
                  <a:pt x="15223" y="111737"/>
                </a:cubicBezTo>
                <a:cubicBezTo>
                  <a:pt x="13858" y="122293"/>
                  <a:pt x="18474" y="132733"/>
                  <a:pt x="27201" y="138827"/>
                </a:cubicBezTo>
                <a:cubicBezTo>
                  <a:pt x="35927" y="144922"/>
                  <a:pt x="47317" y="145661"/>
                  <a:pt x="56758" y="140745"/>
                </a:cubicBezTo>
                <a:cubicBezTo>
                  <a:pt x="66199" y="135830"/>
                  <a:pt x="72126" y="126074"/>
                  <a:pt x="72137" y="115431"/>
                </a:cubicBezTo>
                <a:close/>
                <a:moveTo>
                  <a:pt x="72137" y="22562"/>
                </a:moveTo>
                <a:cubicBezTo>
                  <a:pt x="72114" y="14784"/>
                  <a:pt x="76307" y="7604"/>
                  <a:pt x="83093" y="3802"/>
                </a:cubicBezTo>
                <a:cubicBezTo>
                  <a:pt x="89879" y="0"/>
                  <a:pt x="98192" y="173"/>
                  <a:pt x="104813" y="4255"/>
                </a:cubicBezTo>
                <a:cubicBezTo>
                  <a:pt x="111435" y="8336"/>
                  <a:pt x="115325" y="15684"/>
                  <a:pt x="114978" y="23455"/>
                </a:cubicBezTo>
                <a:cubicBezTo>
                  <a:pt x="123486" y="25642"/>
                  <a:pt x="130516" y="31622"/>
                  <a:pt x="134039" y="39670"/>
                </a:cubicBezTo>
                <a:cubicBezTo>
                  <a:pt x="137562" y="47718"/>
                  <a:pt x="137187" y="56939"/>
                  <a:pt x="133023" y="64674"/>
                </a:cubicBezTo>
                <a:cubicBezTo>
                  <a:pt x="140360" y="70634"/>
                  <a:pt x="144274" y="79837"/>
                  <a:pt x="143479" y="89256"/>
                </a:cubicBezTo>
                <a:cubicBezTo>
                  <a:pt x="142684" y="98675"/>
                  <a:pt x="137283" y="107091"/>
                  <a:pt x="129051" y="111737"/>
                </a:cubicBezTo>
                <a:cubicBezTo>
                  <a:pt x="130416" y="122293"/>
                  <a:pt x="125800" y="132733"/>
                  <a:pt x="117073" y="138827"/>
                </a:cubicBezTo>
                <a:cubicBezTo>
                  <a:pt x="108347" y="144922"/>
                  <a:pt x="96956" y="145661"/>
                  <a:pt x="87516" y="140745"/>
                </a:cubicBezTo>
                <a:cubicBezTo>
                  <a:pt x="78075" y="135830"/>
                  <a:pt x="72148" y="126074"/>
                  <a:pt x="72137" y="115431"/>
                </a:cubicBezTo>
                <a:close/>
                <a:moveTo>
                  <a:pt x="93568" y="79712"/>
                </a:moveTo>
                <a:cubicBezTo>
                  <a:pt x="81303" y="75397"/>
                  <a:pt x="72845" y="64119"/>
                  <a:pt x="72137" y="51137"/>
                </a:cubicBezTo>
                <a:cubicBezTo>
                  <a:pt x="71429" y="64119"/>
                  <a:pt x="62971" y="75397"/>
                  <a:pt x="50706" y="79712"/>
                </a:cubicBezTo>
                <a:moveTo>
                  <a:pt x="112135" y="33277"/>
                </a:moveTo>
                <a:cubicBezTo>
                  <a:pt x="113864" y="30281"/>
                  <a:pt x="114842" y="26911"/>
                  <a:pt x="114985" y="23455"/>
                </a:cubicBezTo>
                <a:moveTo>
                  <a:pt x="29296" y="23455"/>
                </a:moveTo>
                <a:cubicBezTo>
                  <a:pt x="29437" y="26910"/>
                  <a:pt x="30413" y="30281"/>
                  <a:pt x="32139" y="33277"/>
                </a:cubicBezTo>
                <a:moveTo>
                  <a:pt x="11251" y="64681"/>
                </a:moveTo>
                <a:cubicBezTo>
                  <a:pt x="12558" y="63617"/>
                  <a:pt x="13956" y="62670"/>
                  <a:pt x="15430" y="61852"/>
                </a:cubicBezTo>
                <a:moveTo>
                  <a:pt x="128844" y="61852"/>
                </a:moveTo>
                <a:cubicBezTo>
                  <a:pt x="130318" y="62670"/>
                  <a:pt x="131716" y="63617"/>
                  <a:pt x="133023" y="64681"/>
                </a:cubicBezTo>
                <a:moveTo>
                  <a:pt x="29274" y="115431"/>
                </a:moveTo>
                <a:cubicBezTo>
                  <a:pt x="24351" y="115433"/>
                  <a:pt x="19511" y="114163"/>
                  <a:pt x="15223" y="111744"/>
                </a:cubicBezTo>
                <a:moveTo>
                  <a:pt x="129051" y="111744"/>
                </a:moveTo>
                <a:cubicBezTo>
                  <a:pt x="124763" y="114163"/>
                  <a:pt x="119923" y="115433"/>
                  <a:pt x="114999" y="115431"/>
                </a:cubicBezTo>
              </a:path>
            </a:pathLst>
          </a:custGeom>
          <a:noFill/>
          <a:ln w="12859" cap="rnd">
            <a:solidFill>
              <a:srgbClr val="0B0823"/>
            </a:solidFill>
            <a:round/>
          </a:ln>
        </p:spPr>
      </p:sp>
      <p:sp>
        <p:nvSpPr>
          <p:cNvPr id="8" name="Text Manager agent"/>
          <p:cNvSpPr txBox="1"/>
          <p:nvPr/>
        </p:nvSpPr>
        <p:spPr>
          <a:xfrm>
            <a:off x="5791200" y="2886075"/>
            <a:ext cx="1158032"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Manager agent</a:t>
            </a:r>
            <a:endParaRPr lang="en-US" sz="1275" dirty="0"/>
          </a:p>
        </p:txBody>
      </p:sp>
      <p:sp>
        <p:nvSpPr>
          <p:cNvPr id="9" name="Text Plans assigns re-plans."/>
          <p:cNvSpPr txBox="1"/>
          <p:nvPr/>
        </p:nvSpPr>
        <p:spPr>
          <a:xfrm>
            <a:off x="5372100" y="3219450"/>
            <a:ext cx="1454348"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Plans, assigns, re-plans.</a:t>
            </a:r>
            <a:endParaRPr lang="en-US" sz="1013" dirty="0"/>
          </a:p>
        </p:txBody>
      </p:sp>
      <p:sp>
        <p:nvSpPr>
          <p:cNvPr id="10" name="Text Updates the ledger after"/>
          <p:cNvSpPr txBox="1"/>
          <p:nvPr/>
        </p:nvSpPr>
        <p:spPr>
          <a:xfrm>
            <a:off x="5372100" y="3400425"/>
            <a:ext cx="1482030"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Updates the ledger after</a:t>
            </a:r>
            <a:endParaRPr lang="en-US" sz="1013" dirty="0"/>
          </a:p>
        </p:txBody>
      </p:sp>
      <p:sp>
        <p:nvSpPr>
          <p:cNvPr id="11" name="Text every result."/>
          <p:cNvSpPr txBox="1"/>
          <p:nvPr/>
        </p:nvSpPr>
        <p:spPr>
          <a:xfrm>
            <a:off x="5372100" y="3581400"/>
            <a:ext cx="787747"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every result.</a:t>
            </a:r>
            <a:endParaRPr lang="en-US" sz="1013" dirty="0"/>
          </a:p>
        </p:txBody>
      </p:sp>
      <p:sp>
        <p:nvSpPr>
          <p:cNvPr id="12" name="dg rect"/>
          <p:cNvSpPr/>
          <p:nvPr/>
        </p:nvSpPr>
        <p:spPr>
          <a:xfrm>
            <a:off x="400050" y="1676400"/>
            <a:ext cx="4191000" cy="3162300"/>
          </a:xfrm>
          <a:prstGeom prst="roundRect">
            <a:avLst>
              <a:gd name="adj" fmla="val 5422"/>
            </a:avLst>
          </a:prstGeom>
          <a:solidFill>
            <a:srgbClr val="FFFFFF">
              <a:alpha val="4000"/>
            </a:srgbClr>
          </a:solidFill>
          <a:ln w="15240" cap="flat">
            <a:solidFill>
              <a:srgbClr val="22D3C5">
                <a:alpha val="50000"/>
              </a:srgbClr>
            </a:solidFill>
            <a:miter lim="800000"/>
          </a:ln>
        </p:spPr>
      </p:sp>
      <p:sp>
        <p:nvSpPr>
          <p:cNvPr id="13" name="dg i-clipboard"/>
          <p:cNvSpPr/>
          <p:nvPr/>
        </p:nvSpPr>
        <p:spPr>
          <a:xfrm>
            <a:off x="628650" y="1828800"/>
            <a:ext cx="152400" cy="190500"/>
          </a:xfrm>
          <a:custGeom>
            <a:avLst/>
            <a:gdLst/>
            <a:ahLst/>
            <a:cxnLst/>
            <a:rect l="l" t="t" r="r" b="b"/>
            <a:pathLst>
              <a:path w="152400" h="190500">
                <a:moveTo>
                  <a:pt x="47625" y="0"/>
                </a:moveTo>
                <a:lnTo>
                  <a:pt x="104775" y="0"/>
                </a:lnTo>
                <a:cubicBezTo>
                  <a:pt x="110036" y="0"/>
                  <a:pt x="114300" y="4264"/>
                  <a:pt x="114300" y="9525"/>
                </a:cubicBezTo>
                <a:lnTo>
                  <a:pt x="114300" y="28575"/>
                </a:lnTo>
                <a:cubicBezTo>
                  <a:pt x="114300" y="33836"/>
                  <a:pt x="110036" y="38100"/>
                  <a:pt x="104775" y="38100"/>
                </a:cubicBezTo>
                <a:lnTo>
                  <a:pt x="47625" y="38100"/>
                </a:lnTo>
                <a:cubicBezTo>
                  <a:pt x="42364" y="38100"/>
                  <a:pt x="38100" y="33836"/>
                  <a:pt x="38100" y="28575"/>
                </a:cubicBezTo>
                <a:lnTo>
                  <a:pt x="38100" y="9525"/>
                </a:lnTo>
                <a:cubicBezTo>
                  <a:pt x="38100" y="4264"/>
                  <a:pt x="42364" y="0"/>
                  <a:pt x="47625" y="0"/>
                </a:cubicBezTo>
                <a:close/>
                <a:moveTo>
                  <a:pt x="114300" y="19050"/>
                </a:moveTo>
                <a:lnTo>
                  <a:pt x="133350" y="19050"/>
                </a:lnTo>
                <a:cubicBezTo>
                  <a:pt x="143871" y="19050"/>
                  <a:pt x="152400" y="27579"/>
                  <a:pt x="152400" y="38100"/>
                </a:cubicBezTo>
                <a:lnTo>
                  <a:pt x="152400" y="171450"/>
                </a:lnTo>
                <a:cubicBezTo>
                  <a:pt x="152400" y="181971"/>
                  <a:pt x="143871" y="190500"/>
                  <a:pt x="133350" y="190500"/>
                </a:cubicBezTo>
                <a:lnTo>
                  <a:pt x="19050" y="190500"/>
                </a:lnTo>
                <a:cubicBezTo>
                  <a:pt x="8529" y="190500"/>
                  <a:pt x="0" y="181971"/>
                  <a:pt x="0" y="171450"/>
                </a:cubicBezTo>
                <a:lnTo>
                  <a:pt x="0" y="38100"/>
                </a:lnTo>
                <a:cubicBezTo>
                  <a:pt x="0" y="27579"/>
                  <a:pt x="8529" y="19050"/>
                  <a:pt x="19050" y="19050"/>
                </a:cubicBezTo>
                <a:lnTo>
                  <a:pt x="38100" y="19050"/>
                </a:lnTo>
              </a:path>
            </a:pathLst>
          </a:custGeom>
          <a:noFill/>
          <a:ln w="19050" cap="rnd">
            <a:solidFill>
              <a:srgbClr val="22D3C5"/>
            </a:solidFill>
            <a:round/>
          </a:ln>
        </p:spPr>
      </p:sp>
      <p:sp>
        <p:nvSpPr>
          <p:cNvPr id="14" name="Text Task ledger"/>
          <p:cNvSpPr txBox="1"/>
          <p:nvPr/>
        </p:nvSpPr>
        <p:spPr>
          <a:xfrm>
            <a:off x="914400" y="1866900"/>
            <a:ext cx="875651"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Task ledger</a:t>
            </a:r>
            <a:endParaRPr lang="en-US" sz="1238" dirty="0"/>
          </a:p>
        </p:txBody>
      </p:sp>
      <p:sp>
        <p:nvSpPr>
          <p:cNvPr id="15" name="dg rect"/>
          <p:cNvSpPr/>
          <p:nvPr/>
        </p:nvSpPr>
        <p:spPr>
          <a:xfrm>
            <a:off x="3933444" y="1838325"/>
            <a:ext cx="467106" cy="209550"/>
          </a:xfrm>
          <a:prstGeom prst="roundRect">
            <a:avLst>
              <a:gd name="adj" fmla="val 50000"/>
            </a:avLst>
          </a:prstGeom>
          <a:solidFill>
            <a:srgbClr val="FFFFFF">
              <a:alpha val="6300"/>
            </a:srgbClr>
          </a:solidFill>
          <a:ln>
            <a:noFill/>
          </a:ln>
        </p:spPr>
      </p:sp>
      <p:sp>
        <p:nvSpPr>
          <p:cNvPr id="16" name="Text LIVE"/>
          <p:cNvSpPr txBox="1"/>
          <p:nvPr/>
        </p:nvSpPr>
        <p:spPr>
          <a:xfrm>
            <a:off x="4006486" y="1893382"/>
            <a:ext cx="321022" cy="123825"/>
          </a:xfrm>
          <a:prstGeom prst="rect">
            <a:avLst/>
          </a:prstGeom>
          <a:noFill/>
          <a:ln/>
        </p:spPr>
        <p:txBody>
          <a:bodyPr wrap="none" lIns="0" tIns="0" rIns="0" bIns="0" rtlCol="0" anchor="ctr"/>
          <a:lstStyle/>
          <a:p>
            <a:pPr algn="ctr" indent="0" marL="0">
              <a:buNone/>
            </a:pPr>
            <a:r>
              <a:rPr lang="en-US" sz="788" b="1" spc="113" kern="0" dirty="0">
                <a:solidFill>
                  <a:srgbClr val="22D3C5"/>
                </a:solidFill>
                <a:latin typeface="Scotia" pitchFamily="34" charset="0"/>
                <a:ea typeface="Scotia" pitchFamily="34" charset="-122"/>
                <a:cs typeface="Scotia" pitchFamily="34" charset="-120"/>
              </a:rPr>
              <a:t>LIVE</a:t>
            </a:r>
            <a:endParaRPr lang="en-US" sz="788" dirty="0"/>
          </a:p>
        </p:txBody>
      </p:sp>
      <p:sp>
        <p:nvSpPr>
          <p:cNvPr id="17" name="Text Goal: find why p99 latency dou"/>
          <p:cNvSpPr txBox="1"/>
          <p:nvPr/>
        </p:nvSpPr>
        <p:spPr>
          <a:xfrm>
            <a:off x="609600" y="2219325"/>
            <a:ext cx="3400723" cy="152400"/>
          </a:xfrm>
          <a:prstGeom prst="rect">
            <a:avLst/>
          </a:prstGeom>
          <a:noFill/>
          <a:ln/>
        </p:spPr>
        <p:txBody>
          <a:bodyPr wrap="none" lIns="0" tIns="0" rIns="0" bIns="0" rtlCol="0" anchor="ctr"/>
          <a:lstStyle/>
          <a:p>
            <a:pPr algn="l" indent="0" marL="0">
              <a:buNone/>
            </a:pPr>
            <a:r>
              <a:rPr lang="en-US" sz="1013" b="1" dirty="0">
                <a:solidFill>
                  <a:srgbClr val="BDC2EF"/>
                </a:solidFill>
                <a:latin typeface="Scotia Serif" pitchFamily="34" charset="0"/>
                <a:ea typeface="Scotia Serif" pitchFamily="34" charset="-122"/>
                <a:cs typeface="Scotia Serif" pitchFamily="34" charset="-120"/>
              </a:rPr>
              <a:t>Goal: find why p99 latency doubled after release 2.14.2</a:t>
            </a:r>
            <a:endParaRPr lang="en-US" sz="1013" dirty="0"/>
          </a:p>
        </p:txBody>
      </p:sp>
      <p:sp>
        <p:nvSpPr>
          <p:cNvPr id="18" name="dg line"/>
          <p:cNvSpPr/>
          <p:nvPr/>
        </p:nvSpPr>
        <p:spPr>
          <a:xfrm>
            <a:off x="590550" y="2514600"/>
            <a:ext cx="3810000" cy="0"/>
          </a:xfrm>
          <a:prstGeom prst="line">
            <a:avLst/>
          </a:prstGeom>
          <a:noFill/>
          <a:ln w="9525" cap="flat">
            <a:solidFill>
              <a:srgbClr val="BDC2EF">
                <a:alpha val="15000"/>
              </a:srgbClr>
            </a:solidFill>
            <a:miter lim="800000"/>
          </a:ln>
        </p:spPr>
      </p:sp>
      <p:sp>
        <p:nvSpPr>
          <p:cNvPr id="19" name="dg path"/>
          <p:cNvSpPr/>
          <p:nvPr/>
        </p:nvSpPr>
        <p:spPr>
          <a:xfrm>
            <a:off x="4631055" y="3257550"/>
            <a:ext cx="472440" cy="0"/>
          </a:xfrm>
          <a:prstGeom prst="line">
            <a:avLst/>
          </a:prstGeom>
          <a:noFill/>
          <a:ln w="22860" cap="rnd">
            <a:solidFill>
              <a:srgbClr val="22D3C5"/>
            </a:solidFill>
            <a:miter lim="800000"/>
            <a:headEnd type="triangle" w="lg" len="lg"/>
            <a:tailEnd type="triangle" w="lg" len="lg"/>
          </a:ln>
        </p:spPr>
      </p:sp>
      <p:sp>
        <p:nvSpPr>
          <p:cNvPr id="20" name="Text edits"/>
          <p:cNvSpPr txBox="1"/>
          <p:nvPr/>
        </p:nvSpPr>
        <p:spPr>
          <a:xfrm>
            <a:off x="4690542" y="3076575"/>
            <a:ext cx="372517" cy="123825"/>
          </a:xfrm>
          <a:prstGeom prst="rect">
            <a:avLst/>
          </a:prstGeom>
          <a:noFill/>
          <a:ln/>
        </p:spPr>
        <p:txBody>
          <a:bodyPr wrap="none" lIns="0" tIns="0" rIns="0" bIns="0" rtlCol="0" anchor="ctr"/>
          <a:lstStyle/>
          <a:p>
            <a:pPr algn="ctr" indent="0" marL="0">
              <a:buNone/>
            </a:pPr>
            <a:r>
              <a:rPr lang="en-US" sz="863" b="1" spc="105" kern="0" dirty="0">
                <a:solidFill>
                  <a:srgbClr val="22D3C5"/>
                </a:solidFill>
                <a:latin typeface="Scotia" pitchFamily="34" charset="0"/>
                <a:ea typeface="Scotia" pitchFamily="34" charset="-122"/>
                <a:cs typeface="Scotia" pitchFamily="34" charset="-120"/>
              </a:rPr>
              <a:t>edits</a:t>
            </a:r>
            <a:endParaRPr lang="en-US" sz="863" dirty="0"/>
          </a:p>
        </p:txBody>
      </p:sp>
      <p:sp>
        <p:nvSpPr>
          <p:cNvPr id="21" name="Text Chart p99 latency per endpoint"/>
          <p:cNvSpPr txBox="1"/>
          <p:nvPr/>
        </p:nvSpPr>
        <p:spPr>
          <a:xfrm>
            <a:off x="952500" y="2638425"/>
            <a:ext cx="2042964"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Chart p99 latency per endpoint</a:t>
            </a:r>
            <a:endParaRPr lang="en-US" sz="1088" dirty="0"/>
          </a:p>
        </p:txBody>
      </p:sp>
      <p:sp>
        <p:nvSpPr>
          <p:cNvPr id="22" name="dg line"/>
          <p:cNvSpPr/>
          <p:nvPr/>
        </p:nvSpPr>
        <p:spPr>
          <a:xfrm>
            <a:off x="590550" y="2943225"/>
            <a:ext cx="3810000" cy="0"/>
          </a:xfrm>
          <a:prstGeom prst="line">
            <a:avLst/>
          </a:prstGeom>
          <a:noFill/>
          <a:ln w="9525" cap="flat">
            <a:solidFill>
              <a:srgbClr val="BDC2EF">
                <a:alpha val="15000"/>
              </a:srgbClr>
            </a:solidFill>
            <a:miter lim="800000"/>
          </a:ln>
        </p:spPr>
      </p:sp>
      <p:sp>
        <p:nvSpPr>
          <p:cNvPr id="23" name="dg circle"/>
          <p:cNvSpPr/>
          <p:nvPr/>
        </p:nvSpPr>
        <p:spPr>
          <a:xfrm>
            <a:off x="638175" y="2619375"/>
            <a:ext cx="171450" cy="171450"/>
          </a:xfrm>
          <a:prstGeom prst="ellipse">
            <a:avLst/>
          </a:prstGeom>
          <a:noFill/>
          <a:ln w="17145" cap="flat">
            <a:solidFill>
              <a:srgbClr val="6F6BA0"/>
            </a:solidFill>
            <a:miter lim="800000"/>
          </a:ln>
        </p:spPr>
      </p:sp>
      <p:sp>
        <p:nvSpPr>
          <p:cNvPr id="24" name="Text List the changes shipped in 2."/>
          <p:cNvSpPr txBox="1"/>
          <p:nvPr/>
        </p:nvSpPr>
        <p:spPr>
          <a:xfrm>
            <a:off x="952500" y="3067050"/>
            <a:ext cx="2143423"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List the changes shipped in 2.14.2</a:t>
            </a:r>
            <a:endParaRPr lang="en-US" sz="1088" dirty="0"/>
          </a:p>
        </p:txBody>
      </p:sp>
      <p:sp>
        <p:nvSpPr>
          <p:cNvPr id="25" name="dg line"/>
          <p:cNvSpPr/>
          <p:nvPr/>
        </p:nvSpPr>
        <p:spPr>
          <a:xfrm>
            <a:off x="590550" y="3371850"/>
            <a:ext cx="3810000" cy="0"/>
          </a:xfrm>
          <a:prstGeom prst="line">
            <a:avLst/>
          </a:prstGeom>
          <a:noFill/>
          <a:ln w="9525" cap="flat">
            <a:solidFill>
              <a:srgbClr val="BDC2EF">
                <a:alpha val="15000"/>
              </a:srgbClr>
            </a:solidFill>
            <a:miter lim="800000"/>
          </a:ln>
        </p:spPr>
      </p:sp>
      <p:sp>
        <p:nvSpPr>
          <p:cNvPr id="26" name="dg circle"/>
          <p:cNvSpPr/>
          <p:nvPr/>
        </p:nvSpPr>
        <p:spPr>
          <a:xfrm>
            <a:off x="638175" y="3048000"/>
            <a:ext cx="171450" cy="171450"/>
          </a:xfrm>
          <a:prstGeom prst="ellipse">
            <a:avLst/>
          </a:prstGeom>
          <a:noFill/>
          <a:ln w="17145" cap="flat">
            <a:solidFill>
              <a:srgbClr val="6F6BA0"/>
            </a:solidFill>
            <a:miter lim="800000"/>
          </a:ln>
        </p:spPr>
      </p:sp>
      <p:sp>
        <p:nvSpPr>
          <p:cNvPr id="27" name="dg line"/>
          <p:cNvSpPr/>
          <p:nvPr/>
        </p:nvSpPr>
        <p:spPr>
          <a:xfrm>
            <a:off x="590550" y="3800475"/>
            <a:ext cx="3810000" cy="0"/>
          </a:xfrm>
          <a:prstGeom prst="line">
            <a:avLst/>
          </a:prstGeom>
          <a:noFill/>
          <a:ln w="9525" cap="flat">
            <a:solidFill>
              <a:srgbClr val="BDC2EF">
                <a:alpha val="15000"/>
              </a:srgbClr>
            </a:solidFill>
            <a:miter lim="800000"/>
          </a:ln>
        </p:spPr>
      </p:sp>
      <p:sp>
        <p:nvSpPr>
          <p:cNvPr id="28" name="dg circle"/>
          <p:cNvSpPr/>
          <p:nvPr/>
        </p:nvSpPr>
        <p:spPr>
          <a:xfrm>
            <a:off x="638175" y="3476625"/>
            <a:ext cx="171450" cy="171450"/>
          </a:xfrm>
          <a:prstGeom prst="ellipse">
            <a:avLst/>
          </a:prstGeom>
          <a:noFill/>
          <a:ln w="17145" cap="flat">
            <a:solidFill>
              <a:srgbClr val="6F6BA0"/>
            </a:solidFill>
            <a:miter lim="800000"/>
          </a:ln>
        </p:spPr>
      </p:sp>
      <p:sp>
        <p:nvSpPr>
          <p:cNvPr id="29" name="Text Check CDN cache hit rate"/>
          <p:cNvSpPr txBox="1"/>
          <p:nvPr/>
        </p:nvSpPr>
        <p:spPr>
          <a:xfrm>
            <a:off x="952500" y="3495675"/>
            <a:ext cx="1608237" cy="171450"/>
          </a:xfrm>
          <a:prstGeom prst="rect">
            <a:avLst/>
          </a:prstGeom>
          <a:noFill/>
          <a:ln/>
        </p:spPr>
        <p:txBody>
          <a:bodyPr wrap="none" lIns="0" tIns="0" rIns="0" bIns="0" rtlCol="0" anchor="ctr"/>
          <a:lstStyle/>
          <a:p>
            <a:pPr algn="l" indent="0" marL="0">
              <a:buNone/>
            </a:pPr>
            <a:r>
              <a:rPr lang="en-US" sz="1088" dirty="0">
                <a:solidFill>
                  <a:srgbClr val="9C98C8"/>
                </a:solidFill>
                <a:latin typeface="Scotia" pitchFamily="34" charset="0"/>
                <a:ea typeface="Scotia" pitchFamily="34" charset="-122"/>
                <a:cs typeface="Scotia" pitchFamily="34" charset="-120"/>
              </a:rPr>
              <a:t>Check CDN cache hit rate</a:t>
            </a:r>
            <a:endParaRPr lang="en-US" sz="1088" dirty="0"/>
          </a:p>
        </p:txBody>
      </p:sp>
      <p:sp>
        <p:nvSpPr>
          <p:cNvPr id="30" name="dg circle"/>
          <p:cNvSpPr/>
          <p:nvPr/>
        </p:nvSpPr>
        <p:spPr>
          <a:xfrm>
            <a:off x="628650" y="2609850"/>
            <a:ext cx="190500" cy="190500"/>
          </a:xfrm>
          <a:prstGeom prst="ellipse">
            <a:avLst/>
          </a:prstGeom>
          <a:solidFill>
            <a:srgbClr val="2FBF71"/>
          </a:solidFill>
          <a:ln>
            <a:noFill/>
          </a:ln>
        </p:spPr>
      </p:sp>
      <p:sp>
        <p:nvSpPr>
          <p:cNvPr id="31" name="dg i-check"/>
          <p:cNvSpPr/>
          <p:nvPr/>
        </p:nvSpPr>
        <p:spPr>
          <a:xfrm>
            <a:off x="692150" y="2681287"/>
            <a:ext cx="63500" cy="43656"/>
          </a:xfrm>
          <a:custGeom>
            <a:avLst/>
            <a:gdLst/>
            <a:ahLst/>
            <a:cxnLst/>
            <a:rect l="l" t="t" r="r" b="b"/>
            <a:pathLst>
              <a:path w="63500" h="43656">
                <a:moveTo>
                  <a:pt x="63500" y="0"/>
                </a:moveTo>
                <a:lnTo>
                  <a:pt x="19844" y="43656"/>
                </a:lnTo>
                <a:lnTo>
                  <a:pt x="0" y="23812"/>
                </a:lnTo>
              </a:path>
            </a:pathLst>
          </a:custGeom>
          <a:noFill/>
          <a:ln w="7144" cap="rnd">
            <a:solidFill>
              <a:srgbClr val="0B0823"/>
            </a:solidFill>
            <a:round/>
          </a:ln>
        </p:spPr>
      </p:sp>
      <p:sp>
        <p:nvSpPr>
          <p:cNvPr id="32" name="dg rect"/>
          <p:cNvSpPr/>
          <p:nvPr/>
        </p:nvSpPr>
        <p:spPr>
          <a:xfrm>
            <a:off x="8096250" y="2114550"/>
            <a:ext cx="3695700" cy="685800"/>
          </a:xfrm>
          <a:prstGeom prst="roundRect">
            <a:avLst>
              <a:gd name="adj" fmla="val 19444"/>
            </a:avLst>
          </a:prstGeom>
          <a:solidFill>
            <a:srgbClr val="FFFFFF">
              <a:alpha val="5000"/>
            </a:srgbClr>
          </a:solidFill>
          <a:ln w="13335" cap="flat">
            <a:solidFill>
              <a:srgbClr val="22D3C5">
                <a:alpha val="35000"/>
              </a:srgbClr>
            </a:solidFill>
            <a:miter lim="800000"/>
          </a:ln>
        </p:spPr>
      </p:sp>
      <p:sp>
        <p:nvSpPr>
          <p:cNvPr id="33" name="Text Metrics agent"/>
          <p:cNvSpPr txBox="1"/>
          <p:nvPr/>
        </p:nvSpPr>
        <p:spPr>
          <a:xfrm>
            <a:off x="8286750" y="2266950"/>
            <a:ext cx="1027658"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Metrics agent</a:t>
            </a:r>
            <a:endParaRPr lang="en-US" sz="1238" dirty="0"/>
          </a:p>
        </p:txBody>
      </p:sp>
      <p:sp>
        <p:nvSpPr>
          <p:cNvPr id="34" name="Text Reads latency by endpoint"/>
          <p:cNvSpPr txBox="1"/>
          <p:nvPr/>
        </p:nvSpPr>
        <p:spPr>
          <a:xfrm>
            <a:off x="8286750" y="2486025"/>
            <a:ext cx="1551682"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Reads latency by endpoint</a:t>
            </a:r>
            <a:endParaRPr lang="en-US" sz="975" dirty="0"/>
          </a:p>
        </p:txBody>
      </p:sp>
      <p:sp>
        <p:nvSpPr>
          <p:cNvPr id="35" name="dg rect"/>
          <p:cNvSpPr/>
          <p:nvPr/>
        </p:nvSpPr>
        <p:spPr>
          <a:xfrm>
            <a:off x="10191750" y="2324100"/>
            <a:ext cx="1447800" cy="266700"/>
          </a:xfrm>
          <a:prstGeom prst="roundRect">
            <a:avLst>
              <a:gd name="adj" fmla="val 50000"/>
            </a:avLst>
          </a:prstGeom>
          <a:solidFill>
            <a:srgbClr val="337EFF">
              <a:alpha val="20000"/>
            </a:srgbClr>
          </a:solidFill>
          <a:ln w="12383" cap="flat">
            <a:solidFill>
              <a:srgbClr val="337EFF"/>
            </a:solidFill>
            <a:miter lim="800000"/>
          </a:ln>
        </p:spPr>
      </p:sp>
      <p:sp>
        <p:nvSpPr>
          <p:cNvPr id="36" name="dg i-cloud"/>
          <p:cNvSpPr/>
          <p:nvPr/>
        </p:nvSpPr>
        <p:spPr>
          <a:xfrm>
            <a:off x="10299054" y="24034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37" name="Text Grafana MCP"/>
          <p:cNvSpPr txBox="1"/>
          <p:nvPr/>
        </p:nvSpPr>
        <p:spPr>
          <a:xfrm>
            <a:off x="10515600" y="2405063"/>
            <a:ext cx="764977"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Grafana MCP</a:t>
            </a:r>
            <a:endParaRPr lang="en-US" sz="938" dirty="0"/>
          </a:p>
        </p:txBody>
      </p:sp>
      <p:sp>
        <p:nvSpPr>
          <p:cNvPr id="38" name="dg path"/>
          <p:cNvSpPr/>
          <p:nvPr/>
        </p:nvSpPr>
        <p:spPr>
          <a:xfrm>
            <a:off x="7581900" y="2458869"/>
            <a:ext cx="455882" cy="798681"/>
          </a:xfrm>
          <a:custGeom>
            <a:avLst/>
            <a:gdLst/>
            <a:ahLst/>
            <a:cxnLst/>
            <a:rect l="l" t="t" r="r" b="b"/>
            <a:pathLst>
              <a:path w="455882" h="798681">
                <a:moveTo>
                  <a:pt x="0" y="798681"/>
                </a:moveTo>
                <a:cubicBezTo>
                  <a:pt x="342900" y="798681"/>
                  <a:pt x="128588" y="243373"/>
                  <a:pt x="455882" y="0"/>
                </a:cubicBezTo>
              </a:path>
            </a:pathLst>
          </a:custGeom>
          <a:noFill/>
          <a:ln w="20955" cap="rnd">
            <a:solidFill>
              <a:srgbClr val="22D3C5"/>
            </a:solidFill>
            <a:miter lim="800000"/>
            <a:tailEnd type="triangle" w="lg" len="lg"/>
          </a:ln>
        </p:spPr>
      </p:sp>
      <p:sp>
        <p:nvSpPr>
          <p:cNvPr id="39" name="dg circle"/>
          <p:cNvSpPr/>
          <p:nvPr/>
        </p:nvSpPr>
        <p:spPr>
          <a:xfrm>
            <a:off x="628650" y="3038475"/>
            <a:ext cx="190500" cy="190500"/>
          </a:xfrm>
          <a:prstGeom prst="ellipse">
            <a:avLst/>
          </a:prstGeom>
          <a:solidFill>
            <a:srgbClr val="2FBF71"/>
          </a:solidFill>
          <a:ln>
            <a:noFill/>
          </a:ln>
        </p:spPr>
      </p:sp>
      <p:sp>
        <p:nvSpPr>
          <p:cNvPr id="40" name="dg i-check"/>
          <p:cNvSpPr/>
          <p:nvPr/>
        </p:nvSpPr>
        <p:spPr>
          <a:xfrm>
            <a:off x="692150" y="3109912"/>
            <a:ext cx="63500" cy="43656"/>
          </a:xfrm>
          <a:custGeom>
            <a:avLst/>
            <a:gdLst/>
            <a:ahLst/>
            <a:cxnLst/>
            <a:rect l="l" t="t" r="r" b="b"/>
            <a:pathLst>
              <a:path w="63500" h="43656">
                <a:moveTo>
                  <a:pt x="63500" y="0"/>
                </a:moveTo>
                <a:lnTo>
                  <a:pt x="19844" y="43656"/>
                </a:lnTo>
                <a:lnTo>
                  <a:pt x="0" y="23812"/>
                </a:lnTo>
              </a:path>
            </a:pathLst>
          </a:custGeom>
          <a:noFill/>
          <a:ln w="7144" cap="rnd">
            <a:solidFill>
              <a:srgbClr val="0B0823"/>
            </a:solidFill>
            <a:round/>
          </a:ln>
        </p:spPr>
      </p:sp>
      <p:sp>
        <p:nvSpPr>
          <p:cNvPr id="41" name="dg rect"/>
          <p:cNvSpPr/>
          <p:nvPr/>
        </p:nvSpPr>
        <p:spPr>
          <a:xfrm>
            <a:off x="8096250" y="2914650"/>
            <a:ext cx="3695700" cy="685800"/>
          </a:xfrm>
          <a:prstGeom prst="roundRect">
            <a:avLst>
              <a:gd name="adj" fmla="val 19444"/>
            </a:avLst>
          </a:prstGeom>
          <a:solidFill>
            <a:srgbClr val="FFFFFF">
              <a:alpha val="5000"/>
            </a:srgbClr>
          </a:solidFill>
          <a:ln w="13335" cap="flat">
            <a:solidFill>
              <a:srgbClr val="22D3C5">
                <a:alpha val="35000"/>
              </a:srgbClr>
            </a:solidFill>
            <a:miter lim="800000"/>
          </a:ln>
        </p:spPr>
      </p:sp>
      <p:sp>
        <p:nvSpPr>
          <p:cNvPr id="42" name="Text Code agent"/>
          <p:cNvSpPr txBox="1"/>
          <p:nvPr/>
        </p:nvSpPr>
        <p:spPr>
          <a:xfrm>
            <a:off x="8286750" y="3067050"/>
            <a:ext cx="871389"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Code agent</a:t>
            </a:r>
            <a:endParaRPr lang="en-US" sz="1238" dirty="0"/>
          </a:p>
        </p:txBody>
      </p:sp>
      <p:sp>
        <p:nvSpPr>
          <p:cNvPr id="43" name="Text Reads release diffs and commit"/>
          <p:cNvSpPr txBox="1"/>
          <p:nvPr/>
        </p:nvSpPr>
        <p:spPr>
          <a:xfrm>
            <a:off x="8286750" y="3286125"/>
            <a:ext cx="1858417"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Reads release diffs and commits</a:t>
            </a:r>
            <a:endParaRPr lang="en-US" sz="975" dirty="0"/>
          </a:p>
        </p:txBody>
      </p:sp>
      <p:sp>
        <p:nvSpPr>
          <p:cNvPr id="44" name="dg rect"/>
          <p:cNvSpPr/>
          <p:nvPr/>
        </p:nvSpPr>
        <p:spPr>
          <a:xfrm>
            <a:off x="10191750" y="3124200"/>
            <a:ext cx="1447800" cy="266700"/>
          </a:xfrm>
          <a:prstGeom prst="roundRect">
            <a:avLst>
              <a:gd name="adj" fmla="val 50000"/>
            </a:avLst>
          </a:prstGeom>
          <a:solidFill>
            <a:srgbClr val="337EFF">
              <a:alpha val="20000"/>
            </a:srgbClr>
          </a:solidFill>
          <a:ln w="12383" cap="flat">
            <a:solidFill>
              <a:srgbClr val="337EFF"/>
            </a:solidFill>
            <a:miter lim="800000"/>
          </a:ln>
        </p:spPr>
      </p:sp>
      <p:sp>
        <p:nvSpPr>
          <p:cNvPr id="45" name="dg i-cloud"/>
          <p:cNvSpPr/>
          <p:nvPr/>
        </p:nvSpPr>
        <p:spPr>
          <a:xfrm>
            <a:off x="10299054" y="32035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6" name="Text GitHub MCP"/>
          <p:cNvSpPr txBox="1"/>
          <p:nvPr/>
        </p:nvSpPr>
        <p:spPr>
          <a:xfrm>
            <a:off x="10515600" y="3205163"/>
            <a:ext cx="724942"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MCP</a:t>
            </a:r>
            <a:endParaRPr lang="en-US" sz="938" dirty="0"/>
          </a:p>
        </p:txBody>
      </p:sp>
      <p:sp>
        <p:nvSpPr>
          <p:cNvPr id="47" name="dg path"/>
          <p:cNvSpPr/>
          <p:nvPr/>
        </p:nvSpPr>
        <p:spPr>
          <a:xfrm>
            <a:off x="7581900" y="3257550"/>
            <a:ext cx="455295" cy="4763"/>
          </a:xfrm>
          <a:custGeom>
            <a:avLst/>
            <a:gdLst/>
            <a:ahLst/>
            <a:cxnLst/>
            <a:rect l="l" t="t" r="r" b="b"/>
            <a:pathLst>
              <a:path w="455295" h="4763">
                <a:moveTo>
                  <a:pt x="0" y="0"/>
                </a:moveTo>
                <a:cubicBezTo>
                  <a:pt x="342900" y="0"/>
                  <a:pt x="47625" y="0"/>
                  <a:pt x="455295" y="0"/>
                </a:cubicBezTo>
              </a:path>
            </a:pathLst>
          </a:custGeom>
          <a:noFill/>
          <a:ln w="20955" cap="rnd">
            <a:solidFill>
              <a:srgbClr val="22D3C5"/>
            </a:solidFill>
            <a:miter lim="800000"/>
            <a:tailEnd type="triangle" w="lg" len="lg"/>
          </a:ln>
        </p:spPr>
      </p:sp>
      <p:sp>
        <p:nvSpPr>
          <p:cNvPr id="48" name="dg circle"/>
          <p:cNvSpPr/>
          <p:nvPr/>
        </p:nvSpPr>
        <p:spPr>
          <a:xfrm>
            <a:off x="638175" y="3476625"/>
            <a:ext cx="171450" cy="171450"/>
          </a:xfrm>
          <a:prstGeom prst="ellipse">
            <a:avLst/>
          </a:prstGeom>
          <a:noFill/>
          <a:ln w="17145" cap="flat">
            <a:solidFill>
              <a:srgbClr val="E5485D"/>
            </a:solidFill>
            <a:miter lim="800000"/>
          </a:ln>
        </p:spPr>
      </p:sp>
      <p:sp>
        <p:nvSpPr>
          <p:cNvPr id="49" name="dg i-x"/>
          <p:cNvSpPr/>
          <p:nvPr/>
        </p:nvSpPr>
        <p:spPr>
          <a:xfrm>
            <a:off x="695325" y="3533775"/>
            <a:ext cx="57150" cy="57150"/>
          </a:xfrm>
          <a:custGeom>
            <a:avLst/>
            <a:gdLst/>
            <a:ahLst/>
            <a:cxnLst/>
            <a:rect l="l" t="t" r="r" b="b"/>
            <a:pathLst>
              <a:path w="57150" h="57150">
                <a:moveTo>
                  <a:pt x="57150" y="0"/>
                </a:moveTo>
                <a:lnTo>
                  <a:pt x="0" y="57150"/>
                </a:lnTo>
                <a:moveTo>
                  <a:pt x="0" y="0"/>
                </a:moveTo>
                <a:lnTo>
                  <a:pt x="57150" y="57150"/>
                </a:lnTo>
              </a:path>
            </a:pathLst>
          </a:custGeom>
          <a:noFill/>
          <a:ln w="11430" cap="rnd">
            <a:solidFill>
              <a:srgbClr val="E5485D"/>
            </a:solidFill>
            <a:round/>
          </a:ln>
        </p:spPr>
      </p:sp>
      <p:sp>
        <p:nvSpPr>
          <p:cNvPr id="50" name="dg rect"/>
          <p:cNvSpPr/>
          <p:nvPr/>
        </p:nvSpPr>
        <p:spPr>
          <a:xfrm>
            <a:off x="3737610" y="3467100"/>
            <a:ext cx="624840" cy="190500"/>
          </a:xfrm>
          <a:prstGeom prst="roundRect">
            <a:avLst>
              <a:gd name="adj" fmla="val 50000"/>
            </a:avLst>
          </a:prstGeom>
          <a:solidFill>
            <a:srgbClr val="E5485D"/>
          </a:solidFill>
          <a:ln>
            <a:noFill/>
          </a:ln>
        </p:spPr>
      </p:sp>
      <p:sp>
        <p:nvSpPr>
          <p:cNvPr id="51" name="Text REMOVED"/>
          <p:cNvSpPr txBox="1"/>
          <p:nvPr/>
        </p:nvSpPr>
        <p:spPr>
          <a:xfrm>
            <a:off x="3755574" y="3520436"/>
            <a:ext cx="588913" cy="114300"/>
          </a:xfrm>
          <a:prstGeom prst="rect">
            <a:avLst/>
          </a:prstGeom>
          <a:noFill/>
          <a:ln/>
        </p:spPr>
        <p:txBody>
          <a:bodyPr wrap="none" lIns="0" tIns="0" rIns="0" bIns="0" rtlCol="0" anchor="ctr"/>
          <a:lstStyle/>
          <a:p>
            <a:pPr algn="ctr" indent="0" marL="0">
              <a:buNone/>
            </a:pPr>
            <a:r>
              <a:rPr lang="en-US" sz="750" b="1" spc="90" kern="0" dirty="0">
                <a:solidFill>
                  <a:srgbClr val="FFFFFF"/>
                </a:solidFill>
                <a:latin typeface="Scotia" pitchFamily="34" charset="0"/>
                <a:ea typeface="Scotia" pitchFamily="34" charset="-122"/>
                <a:cs typeface="Scotia" pitchFamily="34" charset="-120"/>
              </a:rPr>
              <a:t>REMOVED</a:t>
            </a:r>
            <a:endParaRPr lang="en-US" sz="750" dirty="0"/>
          </a:p>
        </p:txBody>
      </p:sp>
      <p:sp>
        <p:nvSpPr>
          <p:cNvPr id="52" name="dg line"/>
          <p:cNvSpPr/>
          <p:nvPr/>
        </p:nvSpPr>
        <p:spPr>
          <a:xfrm>
            <a:off x="933450" y="3567113"/>
            <a:ext cx="1590675" cy="0"/>
          </a:xfrm>
          <a:prstGeom prst="line">
            <a:avLst/>
          </a:prstGeom>
          <a:noFill/>
          <a:ln w="19050" cap="rnd">
            <a:solidFill>
              <a:srgbClr val="E5485D"/>
            </a:solidFill>
            <a:miter lim="800000"/>
          </a:ln>
        </p:spPr>
      </p:sp>
      <p:sp>
        <p:nvSpPr>
          <p:cNvPr id="53" name="dg circle"/>
          <p:cNvSpPr/>
          <p:nvPr/>
        </p:nvSpPr>
        <p:spPr>
          <a:xfrm>
            <a:off x="638175" y="3905250"/>
            <a:ext cx="171450" cy="171450"/>
          </a:xfrm>
          <a:prstGeom prst="ellipse">
            <a:avLst/>
          </a:prstGeom>
          <a:noFill/>
          <a:ln w="17145" cap="flat">
            <a:solidFill>
              <a:srgbClr val="22D3C5"/>
            </a:solidFill>
            <a:miter lim="800000"/>
          </a:ln>
        </p:spPr>
      </p:sp>
      <p:sp>
        <p:nvSpPr>
          <p:cNvPr id="54" name="dg path"/>
          <p:cNvSpPr/>
          <p:nvPr/>
        </p:nvSpPr>
        <p:spPr>
          <a:xfrm>
            <a:off x="723900" y="3905250"/>
            <a:ext cx="85725" cy="171450"/>
          </a:xfrm>
          <a:custGeom>
            <a:avLst/>
            <a:gdLst/>
            <a:ahLst/>
            <a:cxnLst/>
            <a:rect l="l" t="t" r="r" b="b"/>
            <a:pathLst>
              <a:path w="85725" h="171450">
                <a:moveTo>
                  <a:pt x="0" y="0"/>
                </a:moveTo>
                <a:cubicBezTo>
                  <a:pt x="47345" y="0"/>
                  <a:pt x="85725" y="38380"/>
                  <a:pt x="85725" y="85725"/>
                </a:cubicBezTo>
                <a:cubicBezTo>
                  <a:pt x="85725" y="133070"/>
                  <a:pt x="47345" y="171450"/>
                  <a:pt x="0" y="171450"/>
                </a:cubicBezTo>
                <a:close/>
              </a:path>
            </a:pathLst>
          </a:custGeom>
          <a:solidFill>
            <a:srgbClr val="22D3C5"/>
          </a:solidFill>
          <a:ln>
            <a:noFill/>
          </a:ln>
        </p:spPr>
      </p:sp>
      <p:sp>
        <p:nvSpPr>
          <p:cNvPr id="55" name="Text Inspect slow queries on check"/>
          <p:cNvSpPr txBox="1"/>
          <p:nvPr/>
        </p:nvSpPr>
        <p:spPr>
          <a:xfrm>
            <a:off x="952500" y="3924300"/>
            <a:ext cx="2206079"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Inspect slow queries on /checkout</a:t>
            </a:r>
            <a:endParaRPr lang="en-US" sz="1088" dirty="0"/>
          </a:p>
        </p:txBody>
      </p:sp>
      <p:sp>
        <p:nvSpPr>
          <p:cNvPr id="56" name="dg rect"/>
          <p:cNvSpPr/>
          <p:nvPr/>
        </p:nvSpPr>
        <p:spPr>
          <a:xfrm>
            <a:off x="3996690" y="3895725"/>
            <a:ext cx="365760" cy="190500"/>
          </a:xfrm>
          <a:prstGeom prst="roundRect">
            <a:avLst>
              <a:gd name="adj" fmla="val 50000"/>
            </a:avLst>
          </a:prstGeom>
          <a:solidFill>
            <a:srgbClr val="6551FF"/>
          </a:solidFill>
          <a:ln>
            <a:noFill/>
          </a:ln>
        </p:spPr>
      </p:sp>
      <p:sp>
        <p:nvSpPr>
          <p:cNvPr id="57" name="Text NEW"/>
          <p:cNvSpPr txBox="1"/>
          <p:nvPr/>
        </p:nvSpPr>
        <p:spPr>
          <a:xfrm>
            <a:off x="4026203" y="3949061"/>
            <a:ext cx="306735" cy="114300"/>
          </a:xfrm>
          <a:prstGeom prst="rect">
            <a:avLst/>
          </a:prstGeom>
          <a:noFill/>
          <a:ln/>
        </p:spPr>
        <p:txBody>
          <a:bodyPr wrap="none" lIns="0" tIns="0" rIns="0" bIns="0" rtlCol="0" anchor="ctr"/>
          <a:lstStyle/>
          <a:p>
            <a:pPr algn="ctr" indent="0" marL="0">
              <a:buNone/>
            </a:pPr>
            <a:r>
              <a:rPr lang="en-US" sz="750" b="1" spc="90" kern="0" dirty="0">
                <a:solidFill>
                  <a:srgbClr val="FFFFFF"/>
                </a:solidFill>
                <a:latin typeface="Scotia" pitchFamily="34" charset="0"/>
                <a:ea typeface="Scotia" pitchFamily="34" charset="-122"/>
                <a:cs typeface="Scotia" pitchFamily="34" charset="-120"/>
              </a:rPr>
              <a:t>NEW</a:t>
            </a:r>
            <a:endParaRPr lang="en-US" sz="750" dirty="0"/>
          </a:p>
        </p:txBody>
      </p:sp>
      <p:sp>
        <p:nvSpPr>
          <p:cNvPr id="58" name="dg line"/>
          <p:cNvSpPr/>
          <p:nvPr/>
        </p:nvSpPr>
        <p:spPr>
          <a:xfrm>
            <a:off x="590550" y="4229100"/>
            <a:ext cx="3810000" cy="0"/>
          </a:xfrm>
          <a:prstGeom prst="line">
            <a:avLst/>
          </a:prstGeom>
          <a:noFill/>
          <a:ln w="9525" cap="flat">
            <a:solidFill>
              <a:srgbClr val="BDC2EF">
                <a:alpha val="15000"/>
              </a:srgbClr>
            </a:solidFill>
            <a:miter lim="800000"/>
          </a:ln>
        </p:spPr>
      </p:sp>
      <p:sp>
        <p:nvSpPr>
          <p:cNvPr id="59" name="dg rect"/>
          <p:cNvSpPr/>
          <p:nvPr/>
        </p:nvSpPr>
        <p:spPr>
          <a:xfrm>
            <a:off x="8096250" y="3714750"/>
            <a:ext cx="3695700" cy="685800"/>
          </a:xfrm>
          <a:prstGeom prst="roundRect">
            <a:avLst>
              <a:gd name="adj" fmla="val 19444"/>
            </a:avLst>
          </a:prstGeom>
          <a:solidFill>
            <a:srgbClr val="FFFFFF">
              <a:alpha val="5000"/>
            </a:srgbClr>
          </a:solidFill>
          <a:ln w="13335" cap="flat">
            <a:solidFill>
              <a:srgbClr val="22D3C5">
                <a:alpha val="35000"/>
              </a:srgbClr>
            </a:solidFill>
            <a:miter lim="800000"/>
          </a:ln>
        </p:spPr>
      </p:sp>
      <p:sp>
        <p:nvSpPr>
          <p:cNvPr id="60" name="Text Database agent"/>
          <p:cNvSpPr txBox="1"/>
          <p:nvPr/>
        </p:nvSpPr>
        <p:spPr>
          <a:xfrm>
            <a:off x="8286750" y="3867150"/>
            <a:ext cx="1174700"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Database agent</a:t>
            </a:r>
            <a:endParaRPr lang="en-US" sz="1238" dirty="0"/>
          </a:p>
        </p:txBody>
      </p:sp>
      <p:sp>
        <p:nvSpPr>
          <p:cNvPr id="61" name="Text Reads query plans and stats"/>
          <p:cNvSpPr txBox="1"/>
          <p:nvPr/>
        </p:nvSpPr>
        <p:spPr>
          <a:xfrm>
            <a:off x="8286750" y="4086225"/>
            <a:ext cx="1635026"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Reads query plans and stats</a:t>
            </a:r>
            <a:endParaRPr lang="en-US" sz="975" dirty="0"/>
          </a:p>
        </p:txBody>
      </p:sp>
      <p:sp>
        <p:nvSpPr>
          <p:cNvPr id="62" name="dg rect"/>
          <p:cNvSpPr/>
          <p:nvPr/>
        </p:nvSpPr>
        <p:spPr>
          <a:xfrm>
            <a:off x="10191750" y="3924300"/>
            <a:ext cx="1447800" cy="266700"/>
          </a:xfrm>
          <a:prstGeom prst="roundRect">
            <a:avLst>
              <a:gd name="adj" fmla="val 50000"/>
            </a:avLst>
          </a:prstGeom>
          <a:solidFill>
            <a:srgbClr val="337EFF">
              <a:alpha val="20000"/>
            </a:srgbClr>
          </a:solidFill>
          <a:ln w="12383" cap="flat">
            <a:solidFill>
              <a:srgbClr val="337EFF"/>
            </a:solidFill>
            <a:miter lim="800000"/>
          </a:ln>
        </p:spPr>
      </p:sp>
      <p:sp>
        <p:nvSpPr>
          <p:cNvPr id="63" name="dg i-cloud"/>
          <p:cNvSpPr/>
          <p:nvPr/>
        </p:nvSpPr>
        <p:spPr>
          <a:xfrm>
            <a:off x="10299054" y="40036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64" name="Text Postgres MCP"/>
          <p:cNvSpPr txBox="1"/>
          <p:nvPr/>
        </p:nvSpPr>
        <p:spPr>
          <a:xfrm>
            <a:off x="10515600" y="4005262"/>
            <a:ext cx="802630"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Postgres MCP</a:t>
            </a:r>
            <a:endParaRPr lang="en-US" sz="938" dirty="0"/>
          </a:p>
        </p:txBody>
      </p:sp>
      <p:sp>
        <p:nvSpPr>
          <p:cNvPr id="65" name="dg path"/>
          <p:cNvSpPr/>
          <p:nvPr/>
        </p:nvSpPr>
        <p:spPr>
          <a:xfrm>
            <a:off x="7581900" y="3257550"/>
            <a:ext cx="455882" cy="798681"/>
          </a:xfrm>
          <a:custGeom>
            <a:avLst/>
            <a:gdLst/>
            <a:ahLst/>
            <a:cxnLst/>
            <a:rect l="l" t="t" r="r" b="b"/>
            <a:pathLst>
              <a:path w="455882" h="798681">
                <a:moveTo>
                  <a:pt x="0" y="0"/>
                </a:moveTo>
                <a:cubicBezTo>
                  <a:pt x="342900" y="0"/>
                  <a:pt x="128588" y="555308"/>
                  <a:pt x="455882" y="798681"/>
                </a:cubicBezTo>
              </a:path>
            </a:pathLst>
          </a:custGeom>
          <a:noFill/>
          <a:ln w="20955" cap="rnd">
            <a:solidFill>
              <a:srgbClr val="22D3C5"/>
            </a:solidFill>
            <a:miter lim="800000"/>
            <a:tailEnd type="triangle" w="lg" len="lg"/>
          </a:ln>
        </p:spPr>
      </p:sp>
      <p:sp>
        <p:nvSpPr>
          <p:cNvPr id="66" name="Text Specialists are added by the m"/>
          <p:cNvSpPr txBox="1"/>
          <p:nvPr/>
        </p:nvSpPr>
        <p:spPr>
          <a:xfrm>
            <a:off x="8096250" y="4552950"/>
            <a:ext cx="3199507"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Specialists are added by the manager as the plan changes.</a:t>
            </a:r>
            <a:endParaRPr lang="en-US" sz="938" dirty="0"/>
          </a:p>
        </p:txBody>
      </p:sp>
      <p:sp>
        <p:nvSpPr>
          <p:cNvPr id="67" name="dg circle"/>
          <p:cNvSpPr/>
          <p:nvPr/>
        </p:nvSpPr>
        <p:spPr>
          <a:xfrm>
            <a:off x="638175" y="4333875"/>
            <a:ext cx="171450" cy="171450"/>
          </a:xfrm>
          <a:prstGeom prst="ellipse">
            <a:avLst/>
          </a:prstGeom>
          <a:noFill/>
          <a:ln w="17145" cap="flat">
            <a:solidFill>
              <a:srgbClr val="6F6BA0"/>
            </a:solidFill>
            <a:miter lim="800000"/>
          </a:ln>
        </p:spPr>
      </p:sp>
      <p:sp>
        <p:nvSpPr>
          <p:cNvPr id="68" name="Text Propose a fix or a rollback"/>
          <p:cNvSpPr txBox="1"/>
          <p:nvPr/>
        </p:nvSpPr>
        <p:spPr>
          <a:xfrm>
            <a:off x="952500" y="4352925"/>
            <a:ext cx="1621929"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pitchFamily="34" charset="0"/>
                <a:ea typeface="Scotia" pitchFamily="34" charset="-122"/>
                <a:cs typeface="Scotia" pitchFamily="34" charset="-120"/>
              </a:rPr>
              <a:t>Propose a fix or a rollback</a:t>
            </a:r>
            <a:endParaRPr lang="en-US" sz="1088" dirty="0"/>
          </a:p>
        </p:txBody>
      </p:sp>
      <p:sp>
        <p:nvSpPr>
          <p:cNvPr id="69" name="dg rect"/>
          <p:cNvSpPr/>
          <p:nvPr/>
        </p:nvSpPr>
        <p:spPr>
          <a:xfrm>
            <a:off x="3996690" y="4324350"/>
            <a:ext cx="365760" cy="190500"/>
          </a:xfrm>
          <a:prstGeom prst="roundRect">
            <a:avLst>
              <a:gd name="adj" fmla="val 50000"/>
            </a:avLst>
          </a:prstGeom>
          <a:solidFill>
            <a:srgbClr val="6551FF"/>
          </a:solidFill>
          <a:ln>
            <a:noFill/>
          </a:ln>
        </p:spPr>
      </p:sp>
      <p:sp>
        <p:nvSpPr>
          <p:cNvPr id="70" name="Text NEW"/>
          <p:cNvSpPr txBox="1"/>
          <p:nvPr/>
        </p:nvSpPr>
        <p:spPr>
          <a:xfrm>
            <a:off x="4026203" y="4377686"/>
            <a:ext cx="306735" cy="114300"/>
          </a:xfrm>
          <a:prstGeom prst="rect">
            <a:avLst/>
          </a:prstGeom>
          <a:noFill/>
          <a:ln/>
        </p:spPr>
        <p:txBody>
          <a:bodyPr wrap="none" lIns="0" tIns="0" rIns="0" bIns="0" rtlCol="0" anchor="ctr"/>
          <a:lstStyle/>
          <a:p>
            <a:pPr algn="ctr" indent="0" marL="0">
              <a:buNone/>
            </a:pPr>
            <a:r>
              <a:rPr lang="en-US" sz="750" b="1" spc="90" kern="0" dirty="0">
                <a:solidFill>
                  <a:srgbClr val="FFFFFF"/>
                </a:solidFill>
                <a:latin typeface="Scotia" pitchFamily="34" charset="0"/>
                <a:ea typeface="Scotia" pitchFamily="34" charset="-122"/>
                <a:cs typeface="Scotia" pitchFamily="34" charset="-120"/>
              </a:rPr>
              <a:t>NEW</a:t>
            </a:r>
            <a:endParaRPr lang="en-US" sz="750" dirty="0"/>
          </a:p>
        </p:txBody>
      </p:sp>
      <p:sp>
        <p:nvSpPr>
          <p:cNvPr id="71" name="dg rect"/>
          <p:cNvSpPr/>
          <p:nvPr/>
        </p:nvSpPr>
        <p:spPr>
          <a:xfrm>
            <a:off x="400050" y="5010150"/>
            <a:ext cx="11391900" cy="438150"/>
          </a:xfrm>
          <a:prstGeom prst="roundRect">
            <a:avLst>
              <a:gd name="adj" fmla="val 30435"/>
            </a:avLst>
          </a:prstGeom>
          <a:solidFill>
            <a:srgbClr val="22D3C5">
              <a:alpha val="14000"/>
            </a:srgbClr>
          </a:solidFill>
          <a:ln w="15240" cap="flat">
            <a:solidFill>
              <a:srgbClr val="22D3C5"/>
            </a:solidFill>
            <a:miter lim="800000"/>
          </a:ln>
        </p:spPr>
      </p:sp>
      <p:sp>
        <p:nvSpPr>
          <p:cNvPr id="72" name="dg i-circle-check"/>
          <p:cNvSpPr/>
          <p:nvPr/>
        </p:nvSpPr>
        <p:spPr>
          <a:xfrm>
            <a:off x="571500" y="5133975"/>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9050" cap="rnd">
            <a:solidFill>
              <a:srgbClr val="22D3C5"/>
            </a:solidFill>
            <a:round/>
          </a:ln>
        </p:spPr>
      </p:sp>
      <p:sp>
        <p:nvSpPr>
          <p:cNvPr id="73" name="Text RESULT"/>
          <p:cNvSpPr txBox="1"/>
          <p:nvPr/>
        </p:nvSpPr>
        <p:spPr>
          <a:xfrm>
            <a:off x="895350" y="5200650"/>
            <a:ext cx="558701" cy="123825"/>
          </a:xfrm>
          <a:prstGeom prst="rect">
            <a:avLst/>
          </a:prstGeom>
          <a:noFill/>
          <a:ln/>
        </p:spPr>
        <p:txBody>
          <a:bodyPr wrap="none" lIns="0" tIns="0" rIns="0" bIns="0" rtlCol="0" anchor="ctr"/>
          <a:lstStyle/>
          <a:p>
            <a:pPr algn="l" indent="0" marL="0">
              <a:buNone/>
            </a:pPr>
            <a:r>
              <a:rPr lang="en-US" sz="863" b="1" spc="150" kern="0" dirty="0">
                <a:solidFill>
                  <a:srgbClr val="22D3C5"/>
                </a:solidFill>
                <a:latin typeface="Scotia" pitchFamily="34" charset="0"/>
                <a:ea typeface="Scotia" pitchFamily="34" charset="-122"/>
                <a:cs typeface="Scotia" pitchFamily="34" charset="-120"/>
              </a:rPr>
              <a:t>RESULT</a:t>
            </a:r>
            <a:endParaRPr lang="en-US" sz="863" dirty="0"/>
          </a:p>
        </p:txBody>
      </p:sp>
      <p:sp>
        <p:nvSpPr>
          <p:cNvPr id="74" name="Text Cause found: a new ORM query o"/>
          <p:cNvSpPr txBox="1"/>
          <p:nvPr/>
        </p:nvSpPr>
        <p:spPr>
          <a:xfrm>
            <a:off x="1638300" y="5162550"/>
            <a:ext cx="5743277"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Cause found: a new ORM query on /checkout does a full table scan. Fix: add an index.</a:t>
            </a:r>
            <a:endParaRPr lang="en-US" sz="1163" dirty="0"/>
          </a:p>
        </p:txBody>
      </p:sp>
      <p:sp>
        <p:nvSpPr>
          <p:cNvPr id="75" name="dg line"/>
          <p:cNvSpPr/>
          <p:nvPr/>
        </p:nvSpPr>
        <p:spPr>
          <a:xfrm>
            <a:off x="400050" y="5676900"/>
            <a:ext cx="11391900" cy="0"/>
          </a:xfrm>
          <a:prstGeom prst="line">
            <a:avLst/>
          </a:prstGeom>
          <a:noFill/>
          <a:ln w="9525" cap="flat">
            <a:solidFill>
              <a:srgbClr val="BDC2EF">
                <a:alpha val="22000"/>
              </a:srgbClr>
            </a:solidFill>
            <a:miter lim="800000"/>
          </a:ln>
        </p:spPr>
      </p:sp>
      <p:sp>
        <p:nvSpPr>
          <p:cNvPr id="76" name="Text WHY MAGENTIC FITS"/>
          <p:cNvSpPr txBox="1"/>
          <p:nvPr/>
        </p:nvSpPr>
        <p:spPr>
          <a:xfrm>
            <a:off x="400050" y="5819775"/>
            <a:ext cx="1487239" cy="123825"/>
          </a:xfrm>
          <a:prstGeom prst="rect">
            <a:avLst/>
          </a:prstGeom>
          <a:noFill/>
          <a:ln/>
        </p:spPr>
        <p:txBody>
          <a:bodyPr wrap="none" lIns="0" tIns="0" rIns="0" bIns="0" rtlCol="0" anchor="ctr"/>
          <a:lstStyle/>
          <a:p>
            <a:pPr algn="l" indent="0" marL="0">
              <a:buNone/>
            </a:pPr>
            <a:r>
              <a:rPr lang="en-US" sz="863" b="1" spc="165" kern="0" dirty="0">
                <a:solidFill>
                  <a:srgbClr val="22D3C5"/>
                </a:solidFill>
                <a:latin typeface="Scotia" pitchFamily="34" charset="0"/>
                <a:ea typeface="Scotia" pitchFamily="34" charset="-122"/>
                <a:cs typeface="Scotia" pitchFamily="34" charset="-120"/>
              </a:rPr>
              <a:t>WHY MAGENTIC FITS</a:t>
            </a:r>
            <a:endParaRPr lang="en-US" sz="863" dirty="0"/>
          </a:p>
        </p:txBody>
      </p:sp>
      <p:sp>
        <p:nvSpPr>
          <p:cNvPr id="77" name="Text MCP IN THIS FLOW"/>
          <p:cNvSpPr txBox="1"/>
          <p:nvPr/>
        </p:nvSpPr>
        <p:spPr>
          <a:xfrm>
            <a:off x="6286500" y="5819775"/>
            <a:ext cx="1345555" cy="123825"/>
          </a:xfrm>
          <a:prstGeom prst="rect">
            <a:avLst/>
          </a:prstGeom>
          <a:noFill/>
          <a:ln/>
        </p:spPr>
        <p:txBody>
          <a:bodyPr wrap="none" lIns="0" tIns="0" rIns="0" bIns="0" rtlCol="0" anchor="ctr"/>
          <a:lstStyle/>
          <a:p>
            <a:pPr algn="l" indent="0" marL="0">
              <a:buNone/>
            </a:pPr>
            <a:r>
              <a:rPr lang="en-US" sz="863" b="1" spc="165" kern="0" dirty="0">
                <a:solidFill>
                  <a:srgbClr val="8FB4FF"/>
                </a:solidFill>
                <a:latin typeface="Scotia" pitchFamily="34" charset="0"/>
                <a:ea typeface="Scotia" pitchFamily="34" charset="-122"/>
                <a:cs typeface="Scotia" pitchFamily="34" charset="-120"/>
              </a:rPr>
              <a:t>MCP IN THIS FLOW</a:t>
            </a:r>
            <a:endParaRPr lang="en-US" sz="863" dirty="0"/>
          </a:p>
        </p:txBody>
      </p:sp>
      <p:sp>
        <p:nvSpPr>
          <p:cNvPr id="78" name="Text The steps are unknown upfront:"/>
          <p:cNvSpPr txBox="1"/>
          <p:nvPr/>
        </p:nvSpPr>
        <p:spPr>
          <a:xfrm>
            <a:off x="400050" y="6000750"/>
            <a:ext cx="4577953"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The steps are unknown upfront: each finding changes the plan.</a:t>
            </a:r>
            <a:endParaRPr lang="en-US" sz="1238" dirty="0"/>
          </a:p>
        </p:txBody>
      </p:sp>
      <p:sp>
        <p:nvSpPr>
          <p:cNvPr id="79" name="Text Each specialist connects to th"/>
          <p:cNvSpPr txBox="1"/>
          <p:nvPr/>
        </p:nvSpPr>
        <p:spPr>
          <a:xfrm>
            <a:off x="6286500" y="6000750"/>
            <a:ext cx="4573488"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Each specialist connects to the MCP server for its own domain.</a:t>
            </a:r>
            <a:endParaRPr lang="en-US" sz="1238" dirty="0"/>
          </a:p>
        </p:txBody>
      </p:sp>
      <p:sp>
        <p:nvSpPr>
          <p:cNvPr id="80" name="Text Latency Regression Investigati"/>
          <p:cNvSpPr txBox="1"/>
          <p:nvPr/>
        </p:nvSpPr>
        <p:spPr>
          <a:xfrm>
            <a:off x="400050" y="475926"/>
            <a:ext cx="6094512"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Latency Regression Investigation</a:t>
            </a:r>
            <a:endParaRPr lang="en-US" sz="3067" dirty="0"/>
          </a:p>
        </p:txBody>
      </p:sp>
      <p:sp>
        <p:nvSpPr>
          <p:cNvPr id="81" name="Text Trigger: p99 latency doubled a"/>
          <p:cNvSpPr txBox="1"/>
          <p:nvPr/>
        </p:nvSpPr>
        <p:spPr>
          <a:xfrm>
            <a:off x="400050" y="1025625"/>
            <a:ext cx="6226076"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Trigger: p99 latency doubled after release 2.14.2 and nobody knows why.</a:t>
            </a:r>
            <a:endParaRPr lang="en-US" sz="1467" dirty="0"/>
          </a:p>
        </p:txBody>
      </p:sp>
      <p:sp>
        <p:nvSpPr>
          <p:cNvPr id="82"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83" name="Text 20"/>
          <p:cNvSpPr txBox="1"/>
          <p:nvPr/>
        </p:nvSpPr>
        <p:spPr>
          <a:xfrm>
            <a:off x="11606213" y="6306483"/>
            <a:ext cx="176213"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823"/>
        </a:solidFill>
      </p:bgPr>
    </p:bg>
    <p:spTree>
      <p:nvGrpSpPr>
        <p:cNvPr id="1" name=""/>
        <p:cNvGrpSpPr/>
        <p:nvPr/>
      </p:nvGrpSpPr>
      <p:grpSpPr>
        <a:xfrm>
          <a:off x="0" y="0"/>
          <a:ext cx="0" cy="0"/>
          <a:chOff x="0" y="0"/>
          <a:chExt cx="0" cy="0"/>
        </a:xfrm>
      </p:grpSpPr>
      <p:sp>
        <p:nvSpPr>
          <p:cNvPr id="2" name="Text Agentic Systems into 2027"/>
          <p:cNvSpPr txBox="1"/>
          <p:nvPr/>
        </p:nvSpPr>
        <p:spPr>
          <a:xfrm>
            <a:off x="400050" y="475926"/>
            <a:ext cx="4802237"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Agentic Systems into 2027</a:t>
            </a:r>
            <a:endParaRPr lang="en-US" sz="3067" dirty="0"/>
          </a:p>
        </p:txBody>
      </p:sp>
      <p:sp>
        <p:nvSpPr>
          <p:cNvPr id="3" name="Text The model brings the capabilit"/>
          <p:cNvSpPr txBox="1"/>
          <p:nvPr/>
        </p:nvSpPr>
        <p:spPr>
          <a:xfrm>
            <a:off x="400050" y="1025625"/>
            <a:ext cx="9028212"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The model brings the capability. The agentic pattern helps you manage speed, cost and data organization.</a:t>
            </a:r>
            <a:endParaRPr lang="en-US" sz="1467" dirty="0"/>
          </a:p>
        </p:txBody>
      </p:sp>
      <p:sp>
        <p:nvSpPr>
          <p:cNvPr id="4" name="dg rect"/>
          <p:cNvSpPr/>
          <p:nvPr/>
        </p:nvSpPr>
        <p:spPr>
          <a:xfrm>
            <a:off x="2667000" y="4972050"/>
            <a:ext cx="6858000" cy="838200"/>
          </a:xfrm>
          <a:prstGeom prst="roundRect">
            <a:avLst>
              <a:gd name="adj" fmla="val 20455"/>
            </a:avLst>
          </a:prstGeom>
          <a:gradFill rotWithShape="1">
            <a:gsLst>
              <a:gs pos="0">
                <a:srgbClr val="241C6E"/>
              </a:gs>
              <a:gs pos="100000">
                <a:srgbClr val="1A1452"/>
              </a:gs>
            </a:gsLst>
            <a:lin ang="5400000" scaled="1"/>
          </a:gradFill>
          <a:ln w="13335" cap="flat">
            <a:solidFill>
              <a:srgbClr val="4A3FB0"/>
            </a:solidFill>
            <a:miter lim="800000"/>
          </a:ln>
        </p:spPr>
      </p:sp>
      <p:sp>
        <p:nvSpPr>
          <p:cNvPr id="5" name="dg circle"/>
          <p:cNvSpPr/>
          <p:nvPr/>
        </p:nvSpPr>
        <p:spPr>
          <a:xfrm>
            <a:off x="2952750" y="5143500"/>
            <a:ext cx="495300" cy="495300"/>
          </a:xfrm>
          <a:prstGeom prst="ellipse">
            <a:avLst/>
          </a:prstGeom>
          <a:solidFill>
            <a:srgbClr val="6551FF"/>
          </a:solidFill>
          <a:ln>
            <a:noFill/>
          </a:ln>
        </p:spPr>
      </p:sp>
      <p:sp>
        <p:nvSpPr>
          <p:cNvPr id="6" name="dg i-brain"/>
          <p:cNvSpPr/>
          <p:nvPr/>
        </p:nvSpPr>
        <p:spPr>
          <a:xfrm>
            <a:off x="3088187" y="5278266"/>
            <a:ext cx="224426" cy="226584"/>
          </a:xfrm>
          <a:custGeom>
            <a:avLst/>
            <a:gdLst/>
            <a:ahLst/>
            <a:cxnLst/>
            <a:rect l="l" t="t" r="r" b="b"/>
            <a:pathLst>
              <a:path w="224426" h="226584">
                <a:moveTo>
                  <a:pt x="112213" y="35096"/>
                </a:moveTo>
                <a:cubicBezTo>
                  <a:pt x="112249" y="22997"/>
                  <a:pt x="105726" y="11828"/>
                  <a:pt x="95170" y="5914"/>
                </a:cubicBezTo>
                <a:cubicBezTo>
                  <a:pt x="84615" y="0"/>
                  <a:pt x="71683" y="270"/>
                  <a:pt x="61383" y="6618"/>
                </a:cubicBezTo>
                <a:cubicBezTo>
                  <a:pt x="51083" y="12967"/>
                  <a:pt x="45032" y="24398"/>
                  <a:pt x="45571" y="36485"/>
                </a:cubicBezTo>
                <a:cubicBezTo>
                  <a:pt x="32336" y="39888"/>
                  <a:pt x="21402" y="49190"/>
                  <a:pt x="15921" y="61709"/>
                </a:cubicBezTo>
                <a:cubicBezTo>
                  <a:pt x="10441" y="74227"/>
                  <a:pt x="11024" y="88571"/>
                  <a:pt x="17501" y="100604"/>
                </a:cubicBezTo>
                <a:cubicBezTo>
                  <a:pt x="6089" y="109876"/>
                  <a:pt x="0" y="124191"/>
                  <a:pt x="1237" y="138842"/>
                </a:cubicBezTo>
                <a:cubicBezTo>
                  <a:pt x="2473" y="153494"/>
                  <a:pt x="10875" y="166586"/>
                  <a:pt x="23680" y="173813"/>
                </a:cubicBezTo>
                <a:cubicBezTo>
                  <a:pt x="21557" y="190234"/>
                  <a:pt x="28738" y="206473"/>
                  <a:pt x="42312" y="215954"/>
                </a:cubicBezTo>
                <a:cubicBezTo>
                  <a:pt x="55886" y="225434"/>
                  <a:pt x="73605" y="226584"/>
                  <a:pt x="88291" y="218937"/>
                </a:cubicBezTo>
                <a:cubicBezTo>
                  <a:pt x="102977" y="211291"/>
                  <a:pt x="112195" y="196116"/>
                  <a:pt x="112213" y="179559"/>
                </a:cubicBezTo>
                <a:close/>
                <a:moveTo>
                  <a:pt x="112213" y="35096"/>
                </a:moveTo>
                <a:cubicBezTo>
                  <a:pt x="112177" y="22997"/>
                  <a:pt x="118700" y="11828"/>
                  <a:pt x="129256" y="5914"/>
                </a:cubicBezTo>
                <a:cubicBezTo>
                  <a:pt x="139811" y="0"/>
                  <a:pt x="152743" y="270"/>
                  <a:pt x="163043" y="6618"/>
                </a:cubicBezTo>
                <a:cubicBezTo>
                  <a:pt x="173343" y="12967"/>
                  <a:pt x="179394" y="24398"/>
                  <a:pt x="178855" y="36485"/>
                </a:cubicBezTo>
                <a:cubicBezTo>
                  <a:pt x="192090" y="39888"/>
                  <a:pt x="203024" y="49190"/>
                  <a:pt x="208505" y="61709"/>
                </a:cubicBezTo>
                <a:cubicBezTo>
                  <a:pt x="213985" y="74227"/>
                  <a:pt x="213402" y="88571"/>
                  <a:pt x="206925" y="100604"/>
                </a:cubicBezTo>
                <a:cubicBezTo>
                  <a:pt x="218337" y="109876"/>
                  <a:pt x="224426" y="124191"/>
                  <a:pt x="223190" y="138842"/>
                </a:cubicBezTo>
                <a:cubicBezTo>
                  <a:pt x="221953" y="153494"/>
                  <a:pt x="213551" y="166586"/>
                  <a:pt x="200746" y="173813"/>
                </a:cubicBezTo>
                <a:cubicBezTo>
                  <a:pt x="202869" y="190234"/>
                  <a:pt x="195688" y="206473"/>
                  <a:pt x="182114" y="215954"/>
                </a:cubicBezTo>
                <a:cubicBezTo>
                  <a:pt x="168540" y="225434"/>
                  <a:pt x="150821" y="226584"/>
                  <a:pt x="136135" y="218937"/>
                </a:cubicBezTo>
                <a:cubicBezTo>
                  <a:pt x="121449" y="211291"/>
                  <a:pt x="112231" y="196116"/>
                  <a:pt x="112213" y="179559"/>
                </a:cubicBezTo>
                <a:close/>
                <a:moveTo>
                  <a:pt x="145551" y="123996"/>
                </a:moveTo>
                <a:cubicBezTo>
                  <a:pt x="126472" y="117284"/>
                  <a:pt x="113314" y="99741"/>
                  <a:pt x="112213" y="79546"/>
                </a:cubicBezTo>
                <a:cubicBezTo>
                  <a:pt x="111112" y="99741"/>
                  <a:pt x="97954" y="117284"/>
                  <a:pt x="78876" y="123996"/>
                </a:cubicBezTo>
                <a:moveTo>
                  <a:pt x="174432" y="51765"/>
                </a:moveTo>
                <a:cubicBezTo>
                  <a:pt x="177121" y="47104"/>
                  <a:pt x="178643" y="41862"/>
                  <a:pt x="178866" y="36485"/>
                </a:cubicBezTo>
                <a:moveTo>
                  <a:pt x="45571" y="36485"/>
                </a:moveTo>
                <a:cubicBezTo>
                  <a:pt x="45791" y="41861"/>
                  <a:pt x="47309" y="47103"/>
                  <a:pt x="49994" y="51765"/>
                </a:cubicBezTo>
                <a:moveTo>
                  <a:pt x="17501" y="100615"/>
                </a:moveTo>
                <a:cubicBezTo>
                  <a:pt x="19534" y="98960"/>
                  <a:pt x="21710" y="97487"/>
                  <a:pt x="24002" y="96215"/>
                </a:cubicBezTo>
                <a:moveTo>
                  <a:pt x="200424" y="96215"/>
                </a:moveTo>
                <a:cubicBezTo>
                  <a:pt x="202717" y="97487"/>
                  <a:pt x="204892" y="98960"/>
                  <a:pt x="206925" y="100615"/>
                </a:cubicBezTo>
                <a:moveTo>
                  <a:pt x="45538" y="179559"/>
                </a:moveTo>
                <a:cubicBezTo>
                  <a:pt x="37880" y="179562"/>
                  <a:pt x="30350" y="177587"/>
                  <a:pt x="23680" y="173825"/>
                </a:cubicBezTo>
                <a:moveTo>
                  <a:pt x="200746" y="173825"/>
                </a:moveTo>
                <a:cubicBezTo>
                  <a:pt x="194076" y="177587"/>
                  <a:pt x="186546" y="179562"/>
                  <a:pt x="178888" y="179559"/>
                </a:cubicBezTo>
              </a:path>
            </a:pathLst>
          </a:custGeom>
          <a:noFill/>
          <a:ln w="20002" cap="rnd">
            <a:solidFill>
              <a:srgbClr val="FFFFFF"/>
            </a:solidFill>
            <a:round/>
          </a:ln>
        </p:spPr>
      </p:sp>
      <p:sp>
        <p:nvSpPr>
          <p:cNvPr id="7" name="Text Frontier model: the capability"/>
          <p:cNvSpPr txBox="1"/>
          <p:nvPr/>
        </p:nvSpPr>
        <p:spPr>
          <a:xfrm>
            <a:off x="3619500" y="5153025"/>
            <a:ext cx="2956768" cy="247650"/>
          </a:xfrm>
          <a:prstGeom prst="rect">
            <a:avLst/>
          </a:prstGeom>
          <a:noFill/>
          <a:ln/>
        </p:spPr>
        <p:txBody>
          <a:bodyPr wrap="none" lIns="0" tIns="0" rIns="0" bIns="0" rtlCol="0" anchor="ctr"/>
          <a:lstStyle/>
          <a:p>
            <a:pPr algn="l" indent="0" marL="0">
              <a:buNone/>
            </a:pPr>
            <a:r>
              <a:rPr lang="en-US" sz="1650" dirty="0">
                <a:solidFill>
                  <a:srgbClr val="FFFFFF"/>
                </a:solidFill>
                <a:latin typeface="Scotia Headline" pitchFamily="34" charset="0"/>
                <a:ea typeface="Scotia Headline" pitchFamily="34" charset="-122"/>
                <a:cs typeface="Scotia Headline" pitchFamily="34" charset="-120"/>
              </a:rPr>
              <a:t>Frontier model: the capability</a:t>
            </a:r>
            <a:endParaRPr lang="en-US" sz="1650" dirty="0"/>
          </a:p>
        </p:txBody>
      </p:sp>
      <p:sp>
        <p:nvSpPr>
          <p:cNvPr id="8" name="Text Built in as long as each call"/>
          <p:cNvSpPr txBox="1"/>
          <p:nvPr/>
        </p:nvSpPr>
        <p:spPr>
          <a:xfrm>
            <a:off x="3619500" y="5457825"/>
            <a:ext cx="3318272" cy="171450"/>
          </a:xfrm>
          <a:prstGeom prst="rect">
            <a:avLst/>
          </a:prstGeom>
          <a:noFill/>
          <a:ln/>
        </p:spPr>
        <p:txBody>
          <a:bodyPr wrap="none" lIns="0" tIns="0" rIns="0" bIns="0" rtlCol="0" anchor="ctr"/>
          <a:lstStyle/>
          <a:p>
            <a:pPr algn="l" indent="0" marL="0">
              <a:buNone/>
            </a:pPr>
            <a:r>
              <a:rPr lang="en-US" sz="1125" dirty="0">
                <a:solidFill>
                  <a:srgbClr val="BDC2EF"/>
                </a:solidFill>
                <a:latin typeface="Scotia Serif" pitchFamily="34" charset="0"/>
                <a:ea typeface="Scotia Serif" pitchFamily="34" charset="-122"/>
                <a:cs typeface="Scotia Serif" pitchFamily="34" charset="-120"/>
              </a:rPr>
              <a:t>Built in, as long as each call gets the essential data</a:t>
            </a:r>
            <a:endParaRPr lang="en-US" sz="1125" dirty="0"/>
          </a:p>
        </p:txBody>
      </p:sp>
      <p:sp>
        <p:nvSpPr>
          <p:cNvPr id="9" name="dg polygon"/>
          <p:cNvSpPr/>
          <p:nvPr/>
        </p:nvSpPr>
        <p:spPr>
          <a:xfrm>
            <a:off x="5257800" y="3848100"/>
            <a:ext cx="1676400" cy="1123950"/>
          </a:xfrm>
          <a:custGeom>
            <a:avLst/>
            <a:gdLst/>
            <a:ahLst/>
            <a:cxnLst/>
            <a:rect l="l" t="t" r="r" b="b"/>
            <a:pathLst>
              <a:path w="1676400" h="1123950">
                <a:moveTo>
                  <a:pt x="838200" y="0"/>
                </a:moveTo>
                <a:lnTo>
                  <a:pt x="0" y="1123950"/>
                </a:lnTo>
                <a:lnTo>
                  <a:pt x="1676400" y="1123950"/>
                </a:lnTo>
                <a:close/>
              </a:path>
            </a:pathLst>
          </a:custGeom>
          <a:gradFill rotWithShape="1">
            <a:gsLst>
              <a:gs pos="0">
                <a:srgbClr val="7B69FF"/>
              </a:gs>
              <a:gs pos="100000">
                <a:srgbClr val="5141D3"/>
              </a:gs>
            </a:gsLst>
            <a:lin ang="2700000" scaled="1"/>
          </a:gradFill>
          <a:ln>
            <a:noFill/>
          </a:ln>
        </p:spPr>
      </p:sp>
      <p:sp>
        <p:nvSpPr>
          <p:cNvPr id="10" name="Text Agentic"/>
          <p:cNvSpPr txBox="1"/>
          <p:nvPr/>
        </p:nvSpPr>
        <p:spPr>
          <a:xfrm>
            <a:off x="5817022" y="4438650"/>
            <a:ext cx="557957" cy="171450"/>
          </a:xfrm>
          <a:prstGeom prst="rect">
            <a:avLst/>
          </a:prstGeom>
          <a:noFill/>
          <a:ln/>
        </p:spPr>
        <p:txBody>
          <a:bodyPr wrap="none" lIns="0" tIns="0" rIns="0" bIns="0" rtlCol="0" anchor="ctr"/>
          <a:lstStyle/>
          <a:p>
            <a:pPr algn="ctr" indent="0" marL="0">
              <a:buNone/>
            </a:pPr>
            <a:r>
              <a:rPr lang="en-US" sz="1125" b="1" dirty="0">
                <a:solidFill>
                  <a:srgbClr val="FFFFFF"/>
                </a:solidFill>
                <a:latin typeface="Scotia" pitchFamily="34" charset="0"/>
                <a:ea typeface="Scotia" pitchFamily="34" charset="-122"/>
                <a:cs typeface="Scotia" pitchFamily="34" charset="-120"/>
              </a:rPr>
              <a:t>Agentic</a:t>
            </a:r>
            <a:endParaRPr lang="en-US" sz="1125" dirty="0"/>
          </a:p>
        </p:txBody>
      </p:sp>
      <p:sp>
        <p:nvSpPr>
          <p:cNvPr id="11" name="Text pattern"/>
          <p:cNvSpPr txBox="1"/>
          <p:nvPr/>
        </p:nvSpPr>
        <p:spPr>
          <a:xfrm>
            <a:off x="5819701" y="4629150"/>
            <a:ext cx="552599" cy="171450"/>
          </a:xfrm>
          <a:prstGeom prst="rect">
            <a:avLst/>
          </a:prstGeom>
          <a:noFill/>
          <a:ln/>
        </p:spPr>
        <p:txBody>
          <a:bodyPr wrap="none" lIns="0" tIns="0" rIns="0" bIns="0" rtlCol="0" anchor="ctr"/>
          <a:lstStyle/>
          <a:p>
            <a:pPr algn="ctr" indent="0" marL="0">
              <a:buNone/>
            </a:pPr>
            <a:r>
              <a:rPr lang="en-US" sz="1125" b="1" dirty="0">
                <a:solidFill>
                  <a:srgbClr val="FFFFFF"/>
                </a:solidFill>
                <a:latin typeface="Scotia" pitchFamily="34" charset="0"/>
                <a:ea typeface="Scotia" pitchFamily="34" charset="-122"/>
                <a:cs typeface="Scotia" pitchFamily="34" charset="-120"/>
              </a:rPr>
              <a:t>pattern</a:t>
            </a:r>
            <a:endParaRPr lang="en-US" sz="1125" dirty="0"/>
          </a:p>
        </p:txBody>
      </p:sp>
      <p:sp>
        <p:nvSpPr>
          <p:cNvPr id="12" name="dg rect"/>
          <p:cNvSpPr/>
          <p:nvPr/>
        </p:nvSpPr>
        <p:spPr>
          <a:xfrm>
            <a:off x="2857500" y="3695700"/>
            <a:ext cx="6477000" cy="152400"/>
          </a:xfrm>
          <a:prstGeom prst="roundRect">
            <a:avLst>
              <a:gd name="adj" fmla="val 50000"/>
            </a:avLst>
          </a:prstGeom>
          <a:gradFill rotWithShape="1">
            <a:gsLst>
              <a:gs pos="0">
                <a:srgbClr val="B0AAFF"/>
              </a:gs>
              <a:gs pos="100000">
                <a:srgbClr val="8070FF"/>
              </a:gs>
            </a:gsLst>
            <a:lin ang="0" scaled="1"/>
          </a:gradFill>
          <a:ln>
            <a:noFill/>
          </a:ln>
        </p:spPr>
      </p:sp>
      <p:sp>
        <p:nvSpPr>
          <p:cNvPr id="13" name="dg circle"/>
          <p:cNvSpPr/>
          <p:nvPr/>
        </p:nvSpPr>
        <p:spPr>
          <a:xfrm>
            <a:off x="3162300" y="2867025"/>
            <a:ext cx="914400" cy="9144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14" name="dg circle"/>
          <p:cNvSpPr/>
          <p:nvPr/>
        </p:nvSpPr>
        <p:spPr>
          <a:xfrm>
            <a:off x="3295650" y="3000375"/>
            <a:ext cx="647700" cy="647700"/>
          </a:xfrm>
          <a:prstGeom prst="ellipse">
            <a:avLst/>
          </a:prstGeom>
          <a:solidFill>
            <a:srgbClr val="6551FF"/>
          </a:solidFill>
          <a:ln>
            <a:noFill/>
          </a:ln>
        </p:spPr>
      </p:sp>
      <p:sp>
        <p:nvSpPr>
          <p:cNvPr id="15" name="dg circle"/>
          <p:cNvSpPr/>
          <p:nvPr/>
        </p:nvSpPr>
        <p:spPr>
          <a:xfrm>
            <a:off x="3248025" y="2952750"/>
            <a:ext cx="742950" cy="742950"/>
          </a:xfrm>
          <a:prstGeom prst="ellipse">
            <a:avLst/>
          </a:prstGeom>
          <a:noFill/>
          <a:ln w="13335" cap="flat">
            <a:solidFill>
              <a:srgbClr val="B0AAFF"/>
            </a:solidFill>
            <a:miter lim="800000"/>
          </a:ln>
        </p:spPr>
      </p:sp>
      <p:sp>
        <p:nvSpPr>
          <p:cNvPr id="16" name="dg i-coins"/>
          <p:cNvSpPr/>
          <p:nvPr/>
        </p:nvSpPr>
        <p:spPr>
          <a:xfrm>
            <a:off x="3492500" y="3197225"/>
            <a:ext cx="257711" cy="257276"/>
          </a:xfrm>
          <a:custGeom>
            <a:avLst/>
            <a:gdLst/>
            <a:ahLst/>
            <a:cxnLst/>
            <a:rect l="l" t="t" r="r" b="b"/>
            <a:pathLst>
              <a:path w="257711" h="257276">
                <a:moveTo>
                  <a:pt x="152400" y="76200"/>
                </a:moveTo>
                <a:cubicBezTo>
                  <a:pt x="152400" y="118284"/>
                  <a:pt x="118284" y="152400"/>
                  <a:pt x="76200" y="152400"/>
                </a:cubicBezTo>
                <a:cubicBezTo>
                  <a:pt x="34116" y="152400"/>
                  <a:pt x="0" y="118284"/>
                  <a:pt x="0" y="76200"/>
                </a:cubicBezTo>
                <a:cubicBezTo>
                  <a:pt x="0" y="34116"/>
                  <a:pt x="34116" y="0"/>
                  <a:pt x="76200" y="0"/>
                </a:cubicBezTo>
                <a:cubicBezTo>
                  <a:pt x="118284" y="0"/>
                  <a:pt x="152400" y="34116"/>
                  <a:pt x="152400" y="76200"/>
                </a:cubicBezTo>
                <a:close/>
                <a:moveTo>
                  <a:pt x="204343" y="106299"/>
                </a:moveTo>
                <a:cubicBezTo>
                  <a:pt x="237433" y="118636"/>
                  <a:pt x="257711" y="152092"/>
                  <a:pt x="253338" y="187135"/>
                </a:cubicBezTo>
                <a:cubicBezTo>
                  <a:pt x="248964" y="222178"/>
                  <a:pt x="221086" y="249624"/>
                  <a:pt x="185979" y="253450"/>
                </a:cubicBezTo>
                <a:cubicBezTo>
                  <a:pt x="150872" y="257276"/>
                  <a:pt x="117737" y="236478"/>
                  <a:pt x="105918" y="203200"/>
                </a:cubicBezTo>
                <a:moveTo>
                  <a:pt x="63500" y="50800"/>
                </a:moveTo>
                <a:lnTo>
                  <a:pt x="76200" y="50800"/>
                </a:lnTo>
                <a:lnTo>
                  <a:pt x="76200" y="101600"/>
                </a:lnTo>
                <a:moveTo>
                  <a:pt x="186817" y="150876"/>
                </a:moveTo>
                <a:lnTo>
                  <a:pt x="195707" y="159893"/>
                </a:lnTo>
                <a:lnTo>
                  <a:pt x="159893" y="195707"/>
                </a:lnTo>
              </a:path>
            </a:pathLst>
          </a:custGeom>
          <a:noFill/>
          <a:ln w="22860" cap="rnd">
            <a:solidFill>
              <a:srgbClr val="FFFFFF"/>
            </a:solidFill>
            <a:round/>
          </a:ln>
        </p:spPr>
      </p:sp>
      <p:sp>
        <p:nvSpPr>
          <p:cNvPr id="17" name="Text Cost"/>
          <p:cNvSpPr txBox="1"/>
          <p:nvPr/>
        </p:nvSpPr>
        <p:spPr>
          <a:xfrm>
            <a:off x="3346996" y="2428875"/>
            <a:ext cx="545009" cy="276225"/>
          </a:xfrm>
          <a:prstGeom prst="rect">
            <a:avLst/>
          </a:prstGeom>
          <a:noFill/>
          <a:ln/>
        </p:spPr>
        <p:txBody>
          <a:bodyPr wrap="none" lIns="0" tIns="0" rIns="0" bIns="0" rtlCol="0" anchor="ctr"/>
          <a:lstStyle/>
          <a:p>
            <a:pPr algn="ctr" indent="0" marL="0">
              <a:buNone/>
            </a:pPr>
            <a:r>
              <a:rPr lang="en-US" sz="1800" dirty="0">
                <a:solidFill>
                  <a:srgbClr val="FFFFFF"/>
                </a:solidFill>
                <a:latin typeface="Scotia Headline" pitchFamily="34" charset="0"/>
                <a:ea typeface="Scotia Headline" pitchFamily="34" charset="-122"/>
                <a:cs typeface="Scotia Headline" pitchFamily="34" charset="-120"/>
              </a:rPr>
              <a:t>Cost</a:t>
            </a:r>
            <a:endParaRPr lang="en-US" sz="1800" dirty="0"/>
          </a:p>
        </p:txBody>
      </p:sp>
      <p:sp>
        <p:nvSpPr>
          <p:cNvPr id="18" name="Text tokens and model size"/>
          <p:cNvSpPr txBox="1"/>
          <p:nvPr/>
        </p:nvSpPr>
        <p:spPr>
          <a:xfrm>
            <a:off x="2874987" y="2714625"/>
            <a:ext cx="1489025" cy="171450"/>
          </a:xfrm>
          <a:prstGeom prst="rect">
            <a:avLst/>
          </a:prstGeom>
          <a:noFill/>
          <a:ln/>
        </p:spPr>
        <p:txBody>
          <a:bodyPr wrap="none" lIns="0" tIns="0" rIns="0" bIns="0" rtlCol="0" anchor="ctr"/>
          <a:lstStyle/>
          <a:p>
            <a:pPr algn="ctr" indent="0" marL="0">
              <a:buNone/>
            </a:pPr>
            <a:r>
              <a:rPr lang="en-US" sz="1125" dirty="0">
                <a:solidFill>
                  <a:srgbClr val="A9A6CF"/>
                </a:solidFill>
                <a:latin typeface="Scotia Serif" pitchFamily="34" charset="0"/>
                <a:ea typeface="Scotia Serif" pitchFamily="34" charset="-122"/>
                <a:cs typeface="Scotia Serif" pitchFamily="34" charset="-120"/>
              </a:rPr>
              <a:t>tokens and model size</a:t>
            </a:r>
            <a:endParaRPr lang="en-US" sz="1125" dirty="0"/>
          </a:p>
        </p:txBody>
      </p:sp>
      <p:sp>
        <p:nvSpPr>
          <p:cNvPr id="19" name="dg circle"/>
          <p:cNvSpPr/>
          <p:nvPr/>
        </p:nvSpPr>
        <p:spPr>
          <a:xfrm>
            <a:off x="8115300" y="2867025"/>
            <a:ext cx="914400" cy="9144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20" name="dg circle"/>
          <p:cNvSpPr/>
          <p:nvPr/>
        </p:nvSpPr>
        <p:spPr>
          <a:xfrm>
            <a:off x="8248650" y="3000375"/>
            <a:ext cx="647700" cy="647700"/>
          </a:xfrm>
          <a:prstGeom prst="ellipse">
            <a:avLst/>
          </a:prstGeom>
          <a:solidFill>
            <a:srgbClr val="6551FF"/>
          </a:solidFill>
          <a:ln>
            <a:noFill/>
          </a:ln>
        </p:spPr>
      </p:sp>
      <p:sp>
        <p:nvSpPr>
          <p:cNvPr id="21" name="dg circle"/>
          <p:cNvSpPr/>
          <p:nvPr/>
        </p:nvSpPr>
        <p:spPr>
          <a:xfrm>
            <a:off x="8201025" y="2952750"/>
            <a:ext cx="742950" cy="742950"/>
          </a:xfrm>
          <a:prstGeom prst="ellipse">
            <a:avLst/>
          </a:prstGeom>
          <a:noFill/>
          <a:ln w="13335" cap="flat">
            <a:solidFill>
              <a:srgbClr val="B0AAFF"/>
            </a:solidFill>
            <a:miter lim="800000"/>
          </a:ln>
        </p:spPr>
      </p:sp>
      <p:sp>
        <p:nvSpPr>
          <p:cNvPr id="22" name="dg i-zap"/>
          <p:cNvSpPr/>
          <p:nvPr/>
        </p:nvSpPr>
        <p:spPr>
          <a:xfrm>
            <a:off x="8457283" y="3196543"/>
            <a:ext cx="230433" cy="255363"/>
          </a:xfrm>
          <a:custGeom>
            <a:avLst/>
            <a:gdLst/>
            <a:ahLst/>
            <a:cxnLst/>
            <a:rect l="l" t="t" r="r" b="b"/>
            <a:pathLst>
              <a:path w="230433" h="255363">
                <a:moveTo>
                  <a:pt x="13617" y="153082"/>
                </a:moveTo>
                <a:cubicBezTo>
                  <a:pt x="8711" y="153098"/>
                  <a:pt x="4235" y="150289"/>
                  <a:pt x="2117" y="145864"/>
                </a:cubicBezTo>
                <a:cubicBezTo>
                  <a:pt x="0" y="141439"/>
                  <a:pt x="620" y="136190"/>
                  <a:pt x="3711" y="132381"/>
                </a:cubicBezTo>
                <a:lnTo>
                  <a:pt x="129441" y="2841"/>
                </a:lnTo>
                <a:cubicBezTo>
                  <a:pt x="131383" y="598"/>
                  <a:pt x="134619" y="0"/>
                  <a:pt x="137235" y="1399"/>
                </a:cubicBezTo>
                <a:cubicBezTo>
                  <a:pt x="139851" y="2798"/>
                  <a:pt x="141149" y="5822"/>
                  <a:pt x="140363" y="8683"/>
                </a:cubicBezTo>
                <a:lnTo>
                  <a:pt x="115979" y="85137"/>
                </a:lnTo>
                <a:cubicBezTo>
                  <a:pt x="114519" y="89043"/>
                  <a:pt x="115070" y="93417"/>
                  <a:pt x="117453" y="96839"/>
                </a:cubicBezTo>
                <a:cubicBezTo>
                  <a:pt x="119836" y="100261"/>
                  <a:pt x="123747" y="102295"/>
                  <a:pt x="127917" y="102282"/>
                </a:cubicBezTo>
                <a:lnTo>
                  <a:pt x="216817" y="102282"/>
                </a:lnTo>
                <a:cubicBezTo>
                  <a:pt x="221722" y="102265"/>
                  <a:pt x="226198" y="105075"/>
                  <a:pt x="228316" y="109500"/>
                </a:cubicBezTo>
                <a:cubicBezTo>
                  <a:pt x="230433" y="113924"/>
                  <a:pt x="229813" y="119173"/>
                  <a:pt x="226723" y="122983"/>
                </a:cubicBezTo>
                <a:lnTo>
                  <a:pt x="100993" y="252523"/>
                </a:lnTo>
                <a:cubicBezTo>
                  <a:pt x="99050" y="254765"/>
                  <a:pt x="95814" y="255363"/>
                  <a:pt x="93198" y="253964"/>
                </a:cubicBezTo>
                <a:cubicBezTo>
                  <a:pt x="90582" y="252565"/>
                  <a:pt x="89284" y="249541"/>
                  <a:pt x="90071" y="246681"/>
                </a:cubicBezTo>
                <a:lnTo>
                  <a:pt x="114455" y="170227"/>
                </a:lnTo>
                <a:cubicBezTo>
                  <a:pt x="115914" y="166320"/>
                  <a:pt x="115363" y="161947"/>
                  <a:pt x="112980" y="158524"/>
                </a:cubicBezTo>
                <a:cubicBezTo>
                  <a:pt x="110597" y="155102"/>
                  <a:pt x="106687" y="153068"/>
                  <a:pt x="102517" y="153082"/>
                </a:cubicBezTo>
                <a:close/>
              </a:path>
            </a:pathLst>
          </a:custGeom>
          <a:noFill/>
          <a:ln w="22860" cap="rnd">
            <a:solidFill>
              <a:srgbClr val="FFFFFF"/>
            </a:solidFill>
            <a:round/>
          </a:ln>
        </p:spPr>
      </p:sp>
      <p:sp>
        <p:nvSpPr>
          <p:cNvPr id="23" name="Text Speed"/>
          <p:cNvSpPr txBox="1"/>
          <p:nvPr/>
        </p:nvSpPr>
        <p:spPr>
          <a:xfrm>
            <a:off x="8197676" y="2428875"/>
            <a:ext cx="749647" cy="276225"/>
          </a:xfrm>
          <a:prstGeom prst="rect">
            <a:avLst/>
          </a:prstGeom>
          <a:noFill/>
          <a:ln/>
        </p:spPr>
        <p:txBody>
          <a:bodyPr wrap="none" lIns="0" tIns="0" rIns="0" bIns="0" rtlCol="0" anchor="ctr"/>
          <a:lstStyle/>
          <a:p>
            <a:pPr algn="ctr" indent="0" marL="0">
              <a:buNone/>
            </a:pPr>
            <a:r>
              <a:rPr lang="en-US" sz="1800" dirty="0">
                <a:solidFill>
                  <a:srgbClr val="FFFFFF"/>
                </a:solidFill>
                <a:latin typeface="Scotia Headline" pitchFamily="34" charset="0"/>
                <a:ea typeface="Scotia Headline" pitchFamily="34" charset="-122"/>
                <a:cs typeface="Scotia Headline" pitchFamily="34" charset="-120"/>
              </a:rPr>
              <a:t>Speed</a:t>
            </a:r>
            <a:endParaRPr lang="en-US" sz="1800" dirty="0"/>
          </a:p>
        </p:txBody>
      </p:sp>
      <p:sp>
        <p:nvSpPr>
          <p:cNvPr id="24" name="Text parallel work and caching"/>
          <p:cNvSpPr txBox="1"/>
          <p:nvPr/>
        </p:nvSpPr>
        <p:spPr>
          <a:xfrm>
            <a:off x="7703790" y="2714625"/>
            <a:ext cx="1737420" cy="171450"/>
          </a:xfrm>
          <a:prstGeom prst="rect">
            <a:avLst/>
          </a:prstGeom>
          <a:noFill/>
          <a:ln/>
        </p:spPr>
        <p:txBody>
          <a:bodyPr wrap="none" lIns="0" tIns="0" rIns="0" bIns="0" rtlCol="0" anchor="ctr"/>
          <a:lstStyle/>
          <a:p>
            <a:pPr algn="ctr" indent="0" marL="0">
              <a:buNone/>
            </a:pPr>
            <a:r>
              <a:rPr lang="en-US" sz="1125" dirty="0">
                <a:solidFill>
                  <a:srgbClr val="A9A6CF"/>
                </a:solidFill>
                <a:latin typeface="Scotia Serif" pitchFamily="34" charset="0"/>
                <a:ea typeface="Scotia Serif" pitchFamily="34" charset="-122"/>
                <a:cs typeface="Scotia Serif" pitchFamily="34" charset="-120"/>
              </a:rPr>
              <a:t>parallel work and caching</a:t>
            </a:r>
            <a:endParaRPr lang="en-US" sz="1125" dirty="0"/>
          </a:p>
        </p:txBody>
      </p:sp>
      <p:sp>
        <p:nvSpPr>
          <p:cNvPr id="25" name="dg circle"/>
          <p:cNvSpPr/>
          <p:nvPr/>
        </p:nvSpPr>
        <p:spPr>
          <a:xfrm>
            <a:off x="5638800" y="2867025"/>
            <a:ext cx="914400" cy="9144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26" name="dg circle"/>
          <p:cNvSpPr/>
          <p:nvPr/>
        </p:nvSpPr>
        <p:spPr>
          <a:xfrm>
            <a:off x="5772150" y="3000375"/>
            <a:ext cx="647700" cy="647700"/>
          </a:xfrm>
          <a:prstGeom prst="ellipse">
            <a:avLst/>
          </a:prstGeom>
          <a:solidFill>
            <a:srgbClr val="6551FF"/>
          </a:solidFill>
          <a:ln>
            <a:noFill/>
          </a:ln>
        </p:spPr>
      </p:sp>
      <p:sp>
        <p:nvSpPr>
          <p:cNvPr id="27" name="dg circle"/>
          <p:cNvSpPr/>
          <p:nvPr/>
        </p:nvSpPr>
        <p:spPr>
          <a:xfrm>
            <a:off x="5724525" y="2952750"/>
            <a:ext cx="742950" cy="742950"/>
          </a:xfrm>
          <a:prstGeom prst="ellipse">
            <a:avLst/>
          </a:prstGeom>
          <a:noFill/>
          <a:ln w="13335" cap="flat">
            <a:solidFill>
              <a:srgbClr val="B0AAFF"/>
            </a:solidFill>
            <a:miter lim="800000"/>
          </a:ln>
        </p:spPr>
      </p:sp>
      <p:sp>
        <p:nvSpPr>
          <p:cNvPr id="28" name="dg i-database"/>
          <p:cNvSpPr/>
          <p:nvPr/>
        </p:nvSpPr>
        <p:spPr>
          <a:xfrm>
            <a:off x="5981700" y="3197225"/>
            <a:ext cx="228600" cy="254000"/>
          </a:xfrm>
          <a:custGeom>
            <a:avLst/>
            <a:gdLst/>
            <a:ahLst/>
            <a:cxnLst/>
            <a:rect l="l" t="t" r="r" b="b"/>
            <a:pathLst>
              <a:path w="228600" h="254000">
                <a:moveTo>
                  <a:pt x="228600" y="38100"/>
                </a:moveTo>
                <a:cubicBezTo>
                  <a:pt x="228600" y="59142"/>
                  <a:pt x="177426" y="76200"/>
                  <a:pt x="114300" y="76200"/>
                </a:cubicBezTo>
                <a:cubicBezTo>
                  <a:pt x="51174" y="76200"/>
                  <a:pt x="0" y="59142"/>
                  <a:pt x="0" y="38100"/>
                </a:cubicBezTo>
                <a:cubicBezTo>
                  <a:pt x="0" y="17058"/>
                  <a:pt x="51174" y="0"/>
                  <a:pt x="114300" y="0"/>
                </a:cubicBezTo>
                <a:cubicBezTo>
                  <a:pt x="177426" y="0"/>
                  <a:pt x="228600" y="17058"/>
                  <a:pt x="228600" y="38100"/>
                </a:cubicBezTo>
                <a:close/>
                <a:moveTo>
                  <a:pt x="0" y="38100"/>
                </a:moveTo>
                <a:lnTo>
                  <a:pt x="0" y="215900"/>
                </a:lnTo>
                <a:cubicBezTo>
                  <a:pt x="0" y="236942"/>
                  <a:pt x="51174" y="254000"/>
                  <a:pt x="114300" y="254000"/>
                </a:cubicBezTo>
                <a:cubicBezTo>
                  <a:pt x="177426" y="254000"/>
                  <a:pt x="228600" y="236942"/>
                  <a:pt x="228600" y="215900"/>
                </a:cubicBezTo>
                <a:lnTo>
                  <a:pt x="228600" y="38100"/>
                </a:lnTo>
                <a:moveTo>
                  <a:pt x="0" y="127000"/>
                </a:moveTo>
                <a:cubicBezTo>
                  <a:pt x="0" y="148042"/>
                  <a:pt x="51174" y="165100"/>
                  <a:pt x="114300" y="165100"/>
                </a:cubicBezTo>
                <a:cubicBezTo>
                  <a:pt x="177426" y="165100"/>
                  <a:pt x="228600" y="148042"/>
                  <a:pt x="228600" y="127000"/>
                </a:cubicBezTo>
              </a:path>
            </a:pathLst>
          </a:custGeom>
          <a:noFill/>
          <a:ln w="22860" cap="rnd">
            <a:solidFill>
              <a:srgbClr val="FFFFFF"/>
            </a:solidFill>
            <a:round/>
          </a:ln>
        </p:spPr>
      </p:sp>
      <p:sp>
        <p:nvSpPr>
          <p:cNvPr id="29" name="Text Data management"/>
          <p:cNvSpPr txBox="1"/>
          <p:nvPr/>
        </p:nvSpPr>
        <p:spPr>
          <a:xfrm>
            <a:off x="5042371" y="2428875"/>
            <a:ext cx="2107257" cy="276225"/>
          </a:xfrm>
          <a:prstGeom prst="rect">
            <a:avLst/>
          </a:prstGeom>
          <a:noFill/>
          <a:ln/>
        </p:spPr>
        <p:txBody>
          <a:bodyPr wrap="none" lIns="0" tIns="0" rIns="0" bIns="0" rtlCol="0" anchor="ctr"/>
          <a:lstStyle/>
          <a:p>
            <a:pPr algn="ctr" indent="0" marL="0">
              <a:buNone/>
            </a:pPr>
            <a:r>
              <a:rPr lang="en-US" sz="1800" dirty="0">
                <a:solidFill>
                  <a:srgbClr val="FFFFFF"/>
                </a:solidFill>
                <a:latin typeface="Scotia Headline" pitchFamily="34" charset="0"/>
                <a:ea typeface="Scotia Headline" pitchFamily="34" charset="-122"/>
                <a:cs typeface="Scotia Headline" pitchFamily="34" charset="-120"/>
              </a:rPr>
              <a:t>Data management</a:t>
            </a:r>
            <a:endParaRPr lang="en-US" sz="1800" dirty="0"/>
          </a:p>
        </p:txBody>
      </p:sp>
      <p:sp>
        <p:nvSpPr>
          <p:cNvPr id="30" name="Text organization governance acce"/>
          <p:cNvSpPr txBox="1"/>
          <p:nvPr/>
        </p:nvSpPr>
        <p:spPr>
          <a:xfrm>
            <a:off x="4995490" y="2714625"/>
            <a:ext cx="2201019" cy="171450"/>
          </a:xfrm>
          <a:prstGeom prst="rect">
            <a:avLst/>
          </a:prstGeom>
          <a:noFill/>
          <a:ln/>
        </p:spPr>
        <p:txBody>
          <a:bodyPr wrap="none" lIns="0" tIns="0" rIns="0" bIns="0" rtlCol="0" anchor="ctr"/>
          <a:lstStyle/>
          <a:p>
            <a:pPr algn="ctr" indent="0" marL="0">
              <a:buNone/>
            </a:pPr>
            <a:r>
              <a:rPr lang="en-US" sz="1125" dirty="0">
                <a:solidFill>
                  <a:srgbClr val="A9A6CF"/>
                </a:solidFill>
                <a:latin typeface="Scotia Serif" pitchFamily="34" charset="0"/>
                <a:ea typeface="Scotia Serif" pitchFamily="34" charset="-122"/>
                <a:cs typeface="Scotia Serif" pitchFamily="34" charset="-120"/>
              </a:rPr>
              <a:t>organization, governance, access</a:t>
            </a:r>
            <a:endParaRPr lang="en-US" sz="1125" dirty="0"/>
          </a:p>
        </p:txBody>
      </p:sp>
      <p:sp>
        <p:nvSpPr>
          <p:cNvPr id="31"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32" name="Text 21"/>
          <p:cNvSpPr txBox="1"/>
          <p:nvPr/>
        </p:nvSpPr>
        <p:spPr>
          <a:xfrm>
            <a:off x="11628686" y="6306483"/>
            <a:ext cx="153739"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823"/>
        </a:solidFill>
      </p:bgPr>
    </p:bg>
    <p:spTree>
      <p:nvGrpSpPr>
        <p:cNvPr id="1" name=""/>
        <p:cNvGrpSpPr/>
        <p:nvPr/>
      </p:nvGrpSpPr>
      <p:grpSpPr>
        <a:xfrm>
          <a:off x="0" y="0"/>
          <a:ext cx="0" cy="0"/>
          <a:chOff x="0" y="0"/>
          <a:chExt cx="0" cy="0"/>
        </a:xfrm>
      </p:grpSpPr>
      <p:sp>
        <p:nvSpPr>
          <p:cNvPr id="2" name="Text Choosing a Pattern"/>
          <p:cNvSpPr txBox="1"/>
          <p:nvPr/>
        </p:nvSpPr>
        <p:spPr>
          <a:xfrm>
            <a:off x="400050" y="475926"/>
            <a:ext cx="3584674"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Choosing a Pattern</a:t>
            </a:r>
            <a:endParaRPr lang="en-US" sz="3067" dirty="0"/>
          </a:p>
        </p:txBody>
      </p:sp>
      <p:sp>
        <p:nvSpPr>
          <p:cNvPr id="3" name="Text Two questions: does everything"/>
          <p:cNvSpPr txBox="1"/>
          <p:nvPr/>
        </p:nvSpPr>
        <p:spPr>
          <a:xfrm>
            <a:off x="400050" y="1025625"/>
            <a:ext cx="8312348"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Two questions: does everything fit in the context window, and does each step depend on the last?</a:t>
            </a:r>
            <a:endParaRPr lang="en-US" sz="1467" dirty="0"/>
          </a:p>
        </p:txBody>
      </p:sp>
      <p:sp>
        <p:nvSpPr>
          <p:cNvPr id="4" name="ax-bar-y"/>
          <p:cNvSpPr/>
          <p:nvPr/>
        </p:nvSpPr>
        <p:spPr>
          <a:xfrm>
            <a:off x="1181100" y="1543050"/>
            <a:ext cx="38100" cy="3790950"/>
          </a:xfrm>
          <a:prstGeom prst="roundRect">
            <a:avLst>
              <a:gd name="adj" fmla="val 50000"/>
            </a:avLst>
          </a:prstGeom>
          <a:gradFill rotWithShape="1">
            <a:gsLst>
              <a:gs pos="0">
                <a:srgbClr val="E0DCFF">
                  <a:alpha val="12000"/>
                </a:srgbClr>
              </a:gs>
              <a:gs pos="50000">
                <a:srgbClr val="E0DCFF">
                  <a:alpha val="85000"/>
                </a:srgbClr>
              </a:gs>
              <a:gs pos="100000">
                <a:srgbClr val="E0DCFF">
                  <a:alpha val="12000"/>
                </a:srgbClr>
              </a:gs>
            </a:gsLst>
            <a:lin ang="16200000" scaled="0"/>
          </a:gradFill>
          <a:ln>
            <a:noFill/>
          </a:ln>
        </p:spPr>
      </p:sp>
      <p:sp>
        <p:nvSpPr>
          <p:cNvPr id="5" name="ax-head polygon"/>
          <p:cNvSpPr/>
          <p:nvPr/>
        </p:nvSpPr>
        <p:spPr>
          <a:xfrm>
            <a:off x="1123950" y="1428750"/>
            <a:ext cx="152400" cy="114300"/>
          </a:xfrm>
          <a:custGeom>
            <a:avLst/>
            <a:gdLst/>
            <a:ahLst/>
            <a:cxnLst/>
            <a:rect l="l" t="t" r="r" b="b"/>
            <a:pathLst>
              <a:path w="152400" h="114300">
                <a:moveTo>
                  <a:pt x="76200" y="0"/>
                </a:moveTo>
                <a:lnTo>
                  <a:pt x="152400" y="114300"/>
                </a:lnTo>
                <a:lnTo>
                  <a:pt x="0" y="114300"/>
                </a:lnTo>
                <a:close/>
              </a:path>
            </a:pathLst>
          </a:custGeom>
          <a:solidFill>
            <a:srgbClr val="E0DCFF">
              <a:alpha val="50000"/>
            </a:srgbClr>
          </a:solidFill>
          <a:ln>
            <a:noFill/>
          </a:ln>
        </p:spPr>
      </p:sp>
      <p:sp>
        <p:nvSpPr>
          <p:cNvPr id="6" name="Text DATASCALE"/>
          <p:cNvSpPr txBox="1"/>
          <p:nvPr/>
        </p:nvSpPr>
        <p:spPr>
          <a:xfrm>
            <a:off x="400050" y="3224213"/>
            <a:ext cx="666750" cy="304800"/>
          </a:xfrm>
          <a:prstGeom prst="rect">
            <a:avLst/>
          </a:prstGeom>
          <a:noFill/>
          <a:ln/>
        </p:spPr>
        <p:txBody>
          <a:bodyPr wrap="square" lIns="0" tIns="0" rIns="0" bIns="0" rtlCol="0" anchor="t"/>
          <a:lstStyle/>
          <a:p>
            <a:pPr algn="r" indent="0" marL="0">
              <a:lnSpc>
                <a:spcPts val="1200"/>
              </a:lnSpc>
              <a:buNone/>
            </a:pPr>
            <a:r>
              <a:rPr lang="en-US" sz="825" b="1" spc="116" kern="0" dirty="0">
                <a:solidFill>
                  <a:srgbClr val="D6D4EA"/>
                </a:solidFill>
                <a:latin typeface="Scotia" pitchFamily="34" charset="0"/>
                <a:ea typeface="Scotia" pitchFamily="34" charset="-122"/>
                <a:cs typeface="Scotia" pitchFamily="34" charset="-120"/>
              </a:rPr>
              <a:t>DATA</a:t>
            </a:r>
            <a:endParaRPr lang="en-US" sz="825" dirty="0"/>
          </a:p>
          <a:p>
            <a:pPr algn="r" indent="0" marL="0">
              <a:lnSpc>
                <a:spcPts val="1200"/>
              </a:lnSpc>
              <a:buNone/>
            </a:pPr>
            <a:r>
              <a:rPr lang="en-US" sz="825" b="1" spc="116" kern="0" dirty="0">
                <a:solidFill>
                  <a:srgbClr val="D6D4EA"/>
                </a:solidFill>
                <a:latin typeface="Scotia" pitchFamily="34" charset="0"/>
                <a:ea typeface="Scotia" pitchFamily="34" charset="-122"/>
                <a:cs typeface="Scotia" pitchFamily="34" charset="-120"/>
              </a:rPr>
              <a:t>SCALE</a:t>
            </a:r>
            <a:endParaRPr lang="en-US" sz="825" dirty="0"/>
          </a:p>
        </p:txBody>
      </p:sp>
      <p:sp>
        <p:nvSpPr>
          <p:cNvPr id="7" name="ax-bar-x"/>
          <p:cNvSpPr/>
          <p:nvPr/>
        </p:nvSpPr>
        <p:spPr>
          <a:xfrm>
            <a:off x="1428750" y="5486400"/>
            <a:ext cx="10248900" cy="38100"/>
          </a:xfrm>
          <a:prstGeom prst="roundRect">
            <a:avLst>
              <a:gd name="adj" fmla="val 50000"/>
            </a:avLst>
          </a:prstGeom>
          <a:gradFill rotWithShape="1">
            <a:gsLst>
              <a:gs pos="0">
                <a:srgbClr val="E0DCFF">
                  <a:alpha val="12000"/>
                </a:srgbClr>
              </a:gs>
              <a:gs pos="50000">
                <a:srgbClr val="E0DCFF">
                  <a:alpha val="85000"/>
                </a:srgbClr>
              </a:gs>
              <a:gs pos="100000">
                <a:srgbClr val="E0DCFF">
                  <a:alpha val="12000"/>
                </a:srgbClr>
              </a:gs>
            </a:gsLst>
            <a:lin ang="0" scaled="0"/>
          </a:gradFill>
          <a:ln>
            <a:noFill/>
          </a:ln>
        </p:spPr>
      </p:sp>
      <p:sp>
        <p:nvSpPr>
          <p:cNvPr id="8" name="ax-head polygon"/>
          <p:cNvSpPr/>
          <p:nvPr/>
        </p:nvSpPr>
        <p:spPr>
          <a:xfrm>
            <a:off x="11677650" y="5429250"/>
            <a:ext cx="114300" cy="152400"/>
          </a:xfrm>
          <a:custGeom>
            <a:avLst/>
            <a:gdLst/>
            <a:ahLst/>
            <a:cxnLst/>
            <a:rect l="l" t="t" r="r" b="b"/>
            <a:pathLst>
              <a:path w="114300" h="152400">
                <a:moveTo>
                  <a:pt x="114300" y="76200"/>
                </a:moveTo>
                <a:lnTo>
                  <a:pt x="0" y="0"/>
                </a:lnTo>
                <a:lnTo>
                  <a:pt x="0" y="152400"/>
                </a:lnTo>
                <a:close/>
              </a:path>
            </a:pathLst>
          </a:custGeom>
          <a:solidFill>
            <a:srgbClr val="E0DCFF">
              <a:alpha val="50000"/>
            </a:srgbClr>
          </a:solidFill>
          <a:ln>
            <a:noFill/>
          </a:ln>
        </p:spPr>
      </p:sp>
      <p:sp>
        <p:nvSpPr>
          <p:cNvPr id="9" name="Text TASK DEPENDENCE"/>
          <p:cNvSpPr txBox="1"/>
          <p:nvPr/>
        </p:nvSpPr>
        <p:spPr>
          <a:xfrm>
            <a:off x="5999113" y="5614988"/>
            <a:ext cx="1222474" cy="152400"/>
          </a:xfrm>
          <a:prstGeom prst="rect">
            <a:avLst/>
          </a:prstGeom>
          <a:noFill/>
          <a:ln/>
        </p:spPr>
        <p:txBody>
          <a:bodyPr wrap="none" lIns="0" tIns="0" rIns="0" bIns="0" rtlCol="0" anchor="ctr"/>
          <a:lstStyle/>
          <a:p>
            <a:pPr algn="ctr" indent="0" marL="0">
              <a:buNone/>
            </a:pPr>
            <a:r>
              <a:rPr lang="en-US" sz="825" b="1" spc="116" kern="0" dirty="0">
                <a:solidFill>
                  <a:srgbClr val="D6D4EA"/>
                </a:solidFill>
                <a:latin typeface="Scotia" pitchFamily="34" charset="0"/>
                <a:ea typeface="Scotia" pitchFamily="34" charset="-122"/>
                <a:cs typeface="Scotia" pitchFamily="34" charset="-120"/>
              </a:rPr>
              <a:t>TASK DEPENDENCE</a:t>
            </a:r>
            <a:endParaRPr lang="en-US" sz="825" dirty="0"/>
          </a:p>
        </p:txBody>
      </p:sp>
      <p:sp>
        <p:nvSpPr>
          <p:cNvPr id="10" name="dk-q"/>
          <p:cNvSpPr/>
          <p:nvPr/>
        </p:nvSpPr>
        <p:spPr>
          <a:xfrm>
            <a:off x="1433513" y="1433513"/>
            <a:ext cx="5105400" cy="1971675"/>
          </a:xfrm>
          <a:prstGeom prst="roundRect">
            <a:avLst>
              <a:gd name="adj" fmla="val 7488"/>
            </a:avLst>
          </a:prstGeom>
          <a:gradFill rotWithShape="1">
            <a:gsLst>
              <a:gs pos="0">
                <a:srgbClr val="241C6E"/>
              </a:gs>
              <a:gs pos="100000">
                <a:srgbClr val="1A1452"/>
              </a:gs>
            </a:gsLst>
            <a:lin ang="5400000" scaled="0"/>
          </a:gradFill>
          <a:ln w="9525">
            <a:solidFill>
              <a:srgbClr val="4A3FB0"/>
            </a:solidFill>
          </a:ln>
        </p:spPr>
      </p:sp>
      <p:sp>
        <p:nvSpPr>
          <p:cNvPr id="11" name="Text Split the work"/>
          <p:cNvSpPr txBox="1"/>
          <p:nvPr/>
        </p:nvSpPr>
        <p:spPr>
          <a:xfrm>
            <a:off x="1628775" y="1547813"/>
            <a:ext cx="1326803" cy="247650"/>
          </a:xfrm>
          <a:prstGeom prst="rect">
            <a:avLst/>
          </a:prstGeom>
          <a:noFill/>
          <a:ln/>
        </p:spPr>
        <p:txBody>
          <a:bodyPr wrap="none" lIns="0" tIns="0" rIns="0" bIns="0" rtlCol="0" anchor="ctr"/>
          <a:lstStyle/>
          <a:p>
            <a:pPr algn="l" indent="0" marL="0">
              <a:buNone/>
            </a:pPr>
            <a:r>
              <a:rPr lang="en-US" sz="1575" dirty="0">
                <a:solidFill>
                  <a:srgbClr val="FFFFFF"/>
                </a:solidFill>
                <a:latin typeface="Scotia Headline" pitchFamily="34" charset="0"/>
                <a:ea typeface="Scotia Headline" pitchFamily="34" charset="-122"/>
                <a:cs typeface="Scotia Headline" pitchFamily="34" charset="-120"/>
              </a:rPr>
              <a:t>Split the work</a:t>
            </a:r>
            <a:endParaRPr lang="en-US" sz="1575" dirty="0"/>
          </a:p>
        </p:txBody>
      </p:sp>
      <p:sp>
        <p:nvSpPr>
          <p:cNvPr id="12" name="dk-cs-b"/>
          <p:cNvSpPr/>
          <p:nvPr/>
        </p:nvSpPr>
        <p:spPr>
          <a:xfrm>
            <a:off x="5618559" y="1566863"/>
            <a:ext cx="720328" cy="219075"/>
          </a:xfrm>
          <a:prstGeom prst="roundRect">
            <a:avLst>
              <a:gd name="adj" fmla="val 50000"/>
            </a:avLst>
          </a:prstGeom>
          <a:solidFill>
            <a:srgbClr val="FFFFFF">
              <a:alpha val="8000"/>
            </a:srgbClr>
          </a:solidFill>
          <a:ln w="9525">
            <a:solidFill>
              <a:srgbClr val="BDC2EF">
                <a:alpha val="28000"/>
              </a:srgbClr>
            </a:solidFill>
          </a:ln>
        </p:spPr>
      </p:sp>
      <p:sp>
        <p:nvSpPr>
          <p:cNvPr id="13" name="cs-icon path"/>
          <p:cNvSpPr/>
          <p:nvPr/>
        </p:nvSpPr>
        <p:spPr>
          <a:xfrm>
            <a:off x="5716952" y="1616549"/>
            <a:ext cx="108016" cy="119701"/>
          </a:xfrm>
          <a:custGeom>
            <a:avLst/>
            <a:gdLst/>
            <a:ahLst/>
            <a:cxnLst/>
            <a:rect l="l" t="t" r="r" b="b"/>
            <a:pathLst>
              <a:path w="108016" h="119701">
                <a:moveTo>
                  <a:pt x="6383" y="71757"/>
                </a:moveTo>
                <a:cubicBezTo>
                  <a:pt x="4083" y="71765"/>
                  <a:pt x="1985" y="70448"/>
                  <a:pt x="993" y="68374"/>
                </a:cubicBezTo>
                <a:cubicBezTo>
                  <a:pt x="0" y="66299"/>
                  <a:pt x="291" y="63839"/>
                  <a:pt x="1739" y="62053"/>
                </a:cubicBezTo>
                <a:lnTo>
                  <a:pt x="60675" y="1332"/>
                </a:lnTo>
                <a:cubicBezTo>
                  <a:pt x="61586" y="281"/>
                  <a:pt x="63103" y="0"/>
                  <a:pt x="64329" y="656"/>
                </a:cubicBezTo>
                <a:cubicBezTo>
                  <a:pt x="65555" y="1312"/>
                  <a:pt x="66164" y="2729"/>
                  <a:pt x="65795" y="4070"/>
                </a:cubicBezTo>
                <a:lnTo>
                  <a:pt x="54365" y="39908"/>
                </a:lnTo>
                <a:cubicBezTo>
                  <a:pt x="53681" y="41739"/>
                  <a:pt x="53939" y="43789"/>
                  <a:pt x="55056" y="45393"/>
                </a:cubicBezTo>
                <a:cubicBezTo>
                  <a:pt x="56173" y="46997"/>
                  <a:pt x="58006" y="47951"/>
                  <a:pt x="59961" y="47944"/>
                </a:cubicBezTo>
                <a:lnTo>
                  <a:pt x="101633" y="47944"/>
                </a:lnTo>
                <a:cubicBezTo>
                  <a:pt x="103932" y="47937"/>
                  <a:pt x="106031" y="49254"/>
                  <a:pt x="107023" y="51328"/>
                </a:cubicBezTo>
                <a:cubicBezTo>
                  <a:pt x="108016" y="53402"/>
                  <a:pt x="107725" y="55862"/>
                  <a:pt x="106276" y="57648"/>
                </a:cubicBezTo>
                <a:lnTo>
                  <a:pt x="47340" y="118370"/>
                </a:lnTo>
                <a:cubicBezTo>
                  <a:pt x="46430" y="119421"/>
                  <a:pt x="44913" y="119701"/>
                  <a:pt x="43687" y="119046"/>
                </a:cubicBezTo>
                <a:cubicBezTo>
                  <a:pt x="42461" y="118390"/>
                  <a:pt x="41852" y="116972"/>
                  <a:pt x="42221" y="115632"/>
                </a:cubicBezTo>
                <a:lnTo>
                  <a:pt x="53651" y="79794"/>
                </a:lnTo>
                <a:cubicBezTo>
                  <a:pt x="54335" y="77963"/>
                  <a:pt x="54076" y="75912"/>
                  <a:pt x="52960" y="74308"/>
                </a:cubicBezTo>
                <a:cubicBezTo>
                  <a:pt x="51843" y="72704"/>
                  <a:pt x="50009" y="71751"/>
                  <a:pt x="48055" y="71757"/>
                </a:cubicBezTo>
                <a:close/>
              </a:path>
            </a:pathLst>
          </a:custGeom>
          <a:noFill/>
          <a:ln w="8930" cap="rnd">
            <a:solidFill>
              <a:srgbClr val="B0AAFF"/>
            </a:solidFill>
            <a:round/>
          </a:ln>
        </p:spPr>
      </p:sp>
      <p:sp>
        <p:nvSpPr>
          <p:cNvPr id="14" name="Text Speed"/>
          <p:cNvSpPr txBox="1"/>
          <p:nvPr/>
        </p:nvSpPr>
        <p:spPr>
          <a:xfrm>
            <a:off x="5899547" y="1600200"/>
            <a:ext cx="386953" cy="142875"/>
          </a:xfrm>
          <a:prstGeom prst="rect">
            <a:avLst/>
          </a:prstGeom>
          <a:noFill/>
          <a:ln/>
        </p:spPr>
        <p:txBody>
          <a:bodyPr wrap="none" lIns="0" tIns="0" rIns="0" bIns="0" rtlCol="0" anchor="ctr"/>
          <a:lstStyle/>
          <a:p>
            <a:pPr algn="l" indent="0" marL="0">
              <a:buNone/>
            </a:pPr>
            <a:r>
              <a:rPr lang="en-US" sz="900" b="1" dirty="0">
                <a:solidFill>
                  <a:srgbClr val="FFFFFF"/>
                </a:solidFill>
                <a:latin typeface="Scotia" pitchFamily="34" charset="0"/>
                <a:ea typeface="Scotia" pitchFamily="34" charset="-122"/>
                <a:cs typeface="Scotia" pitchFamily="34" charset="-120"/>
              </a:rPr>
              <a:t>Speed</a:t>
            </a:r>
            <a:endParaRPr lang="en-US" sz="900" dirty="0"/>
          </a:p>
        </p:txBody>
      </p:sp>
      <p:sp>
        <p:nvSpPr>
          <p:cNvPr id="15" name="dk-qr border"/>
          <p:cNvSpPr/>
          <p:nvPr/>
        </p:nvSpPr>
        <p:spPr>
          <a:xfrm>
            <a:off x="1628775" y="1862138"/>
            <a:ext cx="4714875" cy="0"/>
          </a:xfrm>
          <a:prstGeom prst="line">
            <a:avLst/>
          </a:prstGeom>
          <a:noFill/>
          <a:ln w="9525">
            <a:solidFill>
              <a:srgbClr val="BDC2EF">
                <a:alpha val="14000"/>
              </a:srgbClr>
            </a:solidFill>
          </a:ln>
        </p:spPr>
      </p:sp>
      <p:sp>
        <p:nvSpPr>
          <p:cNvPr id="16" name="dk-chip"/>
          <p:cNvSpPr/>
          <p:nvPr/>
        </p:nvSpPr>
        <p:spPr>
          <a:xfrm>
            <a:off x="1633538" y="1928813"/>
            <a:ext cx="884783"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Concurrent</a:t>
            </a:r>
            <a:endParaRPr lang="en-US" sz="975" dirty="0"/>
          </a:p>
        </p:txBody>
      </p:sp>
      <p:sp>
        <p:nvSpPr>
          <p:cNvPr id="17" name="Text Parallel workers each with a"/>
          <p:cNvSpPr txBox="1"/>
          <p:nvPr/>
        </p:nvSpPr>
        <p:spPr>
          <a:xfrm>
            <a:off x="3248025" y="1952625"/>
            <a:ext cx="2862709"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Parallel workers, each with a clean window</a:t>
            </a:r>
            <a:endParaRPr lang="en-US" sz="1125" dirty="0"/>
          </a:p>
        </p:txBody>
      </p:sp>
      <p:sp>
        <p:nvSpPr>
          <p:cNvPr id="18" name="dk-qr border"/>
          <p:cNvSpPr/>
          <p:nvPr/>
        </p:nvSpPr>
        <p:spPr>
          <a:xfrm>
            <a:off x="1628775" y="2233613"/>
            <a:ext cx="4714875" cy="0"/>
          </a:xfrm>
          <a:prstGeom prst="line">
            <a:avLst/>
          </a:prstGeom>
          <a:noFill/>
          <a:ln w="9525">
            <a:solidFill>
              <a:srgbClr val="BDC2EF">
                <a:alpha val="14000"/>
              </a:srgbClr>
            </a:solidFill>
          </a:ln>
        </p:spPr>
      </p:sp>
      <p:sp>
        <p:nvSpPr>
          <p:cNvPr id="19" name="dk-chip"/>
          <p:cNvSpPr/>
          <p:nvPr/>
        </p:nvSpPr>
        <p:spPr>
          <a:xfrm>
            <a:off x="1633538" y="2366963"/>
            <a:ext cx="835075"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Subagents</a:t>
            </a:r>
            <a:endParaRPr lang="en-US" sz="975" dirty="0"/>
          </a:p>
        </p:txBody>
      </p:sp>
      <p:sp>
        <p:nvSpPr>
          <p:cNvPr id="20" name="Text A lead agent delegates each s"/>
          <p:cNvSpPr txBox="1"/>
          <p:nvPr/>
        </p:nvSpPr>
        <p:spPr>
          <a:xfrm>
            <a:off x="3248025" y="2295525"/>
            <a:ext cx="3061332" cy="381000"/>
          </a:xfrm>
          <a:prstGeom prst="rect">
            <a:avLst/>
          </a:prstGeom>
          <a:noFill/>
          <a:ln/>
        </p:spPr>
        <p:txBody>
          <a:bodyPr wrap="square" lIns="0" tIns="0" rIns="0" bIns="0" rtlCol="0" anchor="t"/>
          <a:lstStyle/>
          <a:p>
            <a:pPr algn="l" indent="0" marL="0">
              <a:lnSpc>
                <a:spcPts val="1500"/>
              </a:lnSpc>
              <a:buNone/>
            </a:pPr>
            <a:r>
              <a:rPr lang="en-US" sz="1125" dirty="0">
                <a:solidFill>
                  <a:srgbClr val="FFFFFF">
                    <a:alpha val="92000"/>
                  </a:srgbClr>
                </a:solidFill>
                <a:latin typeface="Scotia Serif" pitchFamily="34" charset="0"/>
                <a:ea typeface="Scotia Serif" pitchFamily="34" charset="-122"/>
                <a:cs typeface="Scotia Serif" pitchFamily="34" charset="-120"/>
              </a:rPr>
              <a:t>A lead agent delegates; each subagent returns a short summary</a:t>
            </a:r>
            <a:endParaRPr lang="en-US" sz="1125" dirty="0"/>
          </a:p>
        </p:txBody>
      </p:sp>
      <p:sp>
        <p:nvSpPr>
          <p:cNvPr id="21" name="dk-q"/>
          <p:cNvSpPr/>
          <p:nvPr/>
        </p:nvSpPr>
        <p:spPr>
          <a:xfrm>
            <a:off x="6681788" y="1433513"/>
            <a:ext cx="5105400" cy="1971675"/>
          </a:xfrm>
          <a:prstGeom prst="roundRect">
            <a:avLst>
              <a:gd name="adj" fmla="val 7488"/>
            </a:avLst>
          </a:prstGeom>
          <a:gradFill rotWithShape="1">
            <a:gsLst>
              <a:gs pos="0">
                <a:srgbClr val="241C6E"/>
              </a:gs>
              <a:gs pos="100000">
                <a:srgbClr val="1A1452"/>
              </a:gs>
            </a:gsLst>
            <a:lin ang="5400000" scaled="0"/>
          </a:gradFill>
          <a:ln w="9525">
            <a:solidFill>
              <a:srgbClr val="4A3FB0"/>
            </a:solidFill>
          </a:ln>
        </p:spPr>
      </p:sp>
      <p:sp>
        <p:nvSpPr>
          <p:cNvPr id="22" name="Text Keep the state compact"/>
          <p:cNvSpPr txBox="1"/>
          <p:nvPr/>
        </p:nvSpPr>
        <p:spPr>
          <a:xfrm>
            <a:off x="6877050" y="1547813"/>
            <a:ext cx="2296716" cy="247650"/>
          </a:xfrm>
          <a:prstGeom prst="rect">
            <a:avLst/>
          </a:prstGeom>
          <a:noFill/>
          <a:ln/>
        </p:spPr>
        <p:txBody>
          <a:bodyPr wrap="none" lIns="0" tIns="0" rIns="0" bIns="0" rtlCol="0" anchor="ctr"/>
          <a:lstStyle/>
          <a:p>
            <a:pPr algn="l" indent="0" marL="0">
              <a:buNone/>
            </a:pPr>
            <a:r>
              <a:rPr lang="en-US" sz="1575" dirty="0">
                <a:solidFill>
                  <a:srgbClr val="FFFFFF"/>
                </a:solidFill>
                <a:latin typeface="Scotia Headline" pitchFamily="34" charset="0"/>
                <a:ea typeface="Scotia Headline" pitchFamily="34" charset="-122"/>
                <a:cs typeface="Scotia Headline" pitchFamily="34" charset="-120"/>
              </a:rPr>
              <a:t>Keep the state compact</a:t>
            </a:r>
            <a:endParaRPr lang="en-US" sz="1575" dirty="0"/>
          </a:p>
        </p:txBody>
      </p:sp>
      <p:sp>
        <p:nvSpPr>
          <p:cNvPr id="23" name="dk-cs-b"/>
          <p:cNvSpPr/>
          <p:nvPr/>
        </p:nvSpPr>
        <p:spPr>
          <a:xfrm>
            <a:off x="10958810" y="1566863"/>
            <a:ext cx="628352" cy="219075"/>
          </a:xfrm>
          <a:prstGeom prst="roundRect">
            <a:avLst>
              <a:gd name="adj" fmla="val 50000"/>
            </a:avLst>
          </a:prstGeom>
          <a:solidFill>
            <a:srgbClr val="FFFFFF">
              <a:alpha val="8000"/>
            </a:srgbClr>
          </a:solidFill>
          <a:ln w="9525">
            <a:solidFill>
              <a:srgbClr val="BDC2EF">
                <a:alpha val="28000"/>
              </a:srgbClr>
            </a:solidFill>
          </a:ln>
        </p:spPr>
      </p:sp>
      <p:sp>
        <p:nvSpPr>
          <p:cNvPr id="24" name="cs-icon circle"/>
          <p:cNvSpPr/>
          <p:nvPr/>
        </p:nvSpPr>
        <p:spPr>
          <a:xfrm>
            <a:off x="11051679" y="1616869"/>
            <a:ext cx="71438" cy="71438"/>
          </a:xfrm>
          <a:prstGeom prst="ellipse">
            <a:avLst/>
          </a:prstGeom>
          <a:noFill/>
          <a:ln w="8930" cap="rnd">
            <a:solidFill>
              <a:srgbClr val="B0AAFF"/>
            </a:solidFill>
            <a:round/>
          </a:ln>
        </p:spPr>
      </p:sp>
      <p:sp>
        <p:nvSpPr>
          <p:cNvPr id="25" name="cs-icon path"/>
          <p:cNvSpPr/>
          <p:nvPr/>
        </p:nvSpPr>
        <p:spPr>
          <a:xfrm>
            <a:off x="11101328" y="1666696"/>
            <a:ext cx="71153" cy="70770"/>
          </a:xfrm>
          <a:custGeom>
            <a:avLst/>
            <a:gdLst/>
            <a:ahLst/>
            <a:cxnLst/>
            <a:rect l="l" t="t" r="r" b="b"/>
            <a:pathLst>
              <a:path w="71153" h="70770">
                <a:moveTo>
                  <a:pt x="46137" y="0"/>
                </a:moveTo>
                <a:cubicBezTo>
                  <a:pt x="61648" y="5783"/>
                  <a:pt x="71153" y="21465"/>
                  <a:pt x="69103" y="37892"/>
                </a:cubicBezTo>
                <a:cubicBezTo>
                  <a:pt x="67053" y="54318"/>
                  <a:pt x="53985" y="67184"/>
                  <a:pt x="37529" y="68977"/>
                </a:cubicBezTo>
                <a:cubicBezTo>
                  <a:pt x="21072" y="70770"/>
                  <a:pt x="5540" y="61022"/>
                  <a:pt x="0" y="45422"/>
                </a:cubicBezTo>
              </a:path>
            </a:pathLst>
          </a:custGeom>
          <a:noFill/>
          <a:ln w="8930" cap="rnd">
            <a:solidFill>
              <a:srgbClr val="B0AAFF"/>
            </a:solidFill>
            <a:round/>
          </a:ln>
        </p:spPr>
      </p:sp>
      <p:sp>
        <p:nvSpPr>
          <p:cNvPr id="26" name="cs-icon path"/>
          <p:cNvSpPr/>
          <p:nvPr/>
        </p:nvSpPr>
        <p:spPr>
          <a:xfrm>
            <a:off x="11081445" y="1640681"/>
            <a:ext cx="5953" cy="23813"/>
          </a:xfrm>
          <a:custGeom>
            <a:avLst/>
            <a:gdLst/>
            <a:ahLst/>
            <a:cxnLst/>
            <a:rect l="l" t="t" r="r" b="b"/>
            <a:pathLst>
              <a:path w="5953" h="23813">
                <a:moveTo>
                  <a:pt x="0" y="0"/>
                </a:moveTo>
                <a:lnTo>
                  <a:pt x="5953" y="0"/>
                </a:lnTo>
                <a:lnTo>
                  <a:pt x="5953" y="23813"/>
                </a:lnTo>
              </a:path>
            </a:pathLst>
          </a:custGeom>
          <a:noFill/>
          <a:ln w="8930" cap="rnd">
            <a:solidFill>
              <a:srgbClr val="B0AAFF"/>
            </a:solidFill>
            <a:round/>
          </a:ln>
        </p:spPr>
      </p:sp>
      <p:sp>
        <p:nvSpPr>
          <p:cNvPr id="27" name="cs-icon path"/>
          <p:cNvSpPr/>
          <p:nvPr/>
        </p:nvSpPr>
        <p:spPr>
          <a:xfrm>
            <a:off x="11126629" y="1687592"/>
            <a:ext cx="16788" cy="21015"/>
          </a:xfrm>
          <a:custGeom>
            <a:avLst/>
            <a:gdLst/>
            <a:ahLst/>
            <a:cxnLst/>
            <a:rect l="l" t="t" r="r" b="b"/>
            <a:pathLst>
              <a:path w="16788" h="21015">
                <a:moveTo>
                  <a:pt x="12621" y="0"/>
                </a:moveTo>
                <a:lnTo>
                  <a:pt x="16788" y="4227"/>
                </a:lnTo>
                <a:lnTo>
                  <a:pt x="0" y="21015"/>
                </a:lnTo>
              </a:path>
            </a:pathLst>
          </a:custGeom>
          <a:noFill/>
          <a:ln w="8930" cap="rnd">
            <a:solidFill>
              <a:srgbClr val="B0AAFF"/>
            </a:solidFill>
            <a:round/>
          </a:ln>
        </p:spPr>
      </p:sp>
      <p:sp>
        <p:nvSpPr>
          <p:cNvPr id="28" name="Text Cost"/>
          <p:cNvSpPr txBox="1"/>
          <p:nvPr/>
        </p:nvSpPr>
        <p:spPr>
          <a:xfrm>
            <a:off x="11239798" y="1600200"/>
            <a:ext cx="294977" cy="142875"/>
          </a:xfrm>
          <a:prstGeom prst="rect">
            <a:avLst/>
          </a:prstGeom>
          <a:noFill/>
          <a:ln/>
        </p:spPr>
        <p:txBody>
          <a:bodyPr wrap="none" lIns="0" tIns="0" rIns="0" bIns="0" rtlCol="0" anchor="ctr"/>
          <a:lstStyle/>
          <a:p>
            <a:pPr algn="l" indent="0" marL="0">
              <a:buNone/>
            </a:pPr>
            <a:r>
              <a:rPr lang="en-US" sz="900" b="1" dirty="0">
                <a:solidFill>
                  <a:srgbClr val="FFFFFF"/>
                </a:solidFill>
                <a:latin typeface="Scotia" pitchFamily="34" charset="0"/>
                <a:ea typeface="Scotia" pitchFamily="34" charset="-122"/>
                <a:cs typeface="Scotia" pitchFamily="34" charset="-120"/>
              </a:rPr>
              <a:t>Cost</a:t>
            </a:r>
            <a:endParaRPr lang="en-US" sz="900" dirty="0"/>
          </a:p>
        </p:txBody>
      </p:sp>
      <p:sp>
        <p:nvSpPr>
          <p:cNvPr id="29" name="dk-qr border"/>
          <p:cNvSpPr/>
          <p:nvPr/>
        </p:nvSpPr>
        <p:spPr>
          <a:xfrm>
            <a:off x="6877050" y="1862138"/>
            <a:ext cx="4714875" cy="0"/>
          </a:xfrm>
          <a:prstGeom prst="line">
            <a:avLst/>
          </a:prstGeom>
          <a:noFill/>
          <a:ln w="9525">
            <a:solidFill>
              <a:srgbClr val="BDC2EF">
                <a:alpha val="14000"/>
              </a:srgbClr>
            </a:solidFill>
          </a:ln>
        </p:spPr>
      </p:sp>
      <p:sp>
        <p:nvSpPr>
          <p:cNvPr id="30" name="dk-chip"/>
          <p:cNvSpPr/>
          <p:nvPr/>
        </p:nvSpPr>
        <p:spPr>
          <a:xfrm>
            <a:off x="6881813" y="1928813"/>
            <a:ext cx="1286917" cy="238125"/>
          </a:xfrm>
          <a:prstGeom prst="roundRect">
            <a:avLst>
              <a:gd name="adj" fmla="val 50000"/>
            </a:avLst>
          </a:prstGeom>
          <a:noFill/>
          <a:ln w="9525">
            <a:solidFill>
              <a:srgbClr val="1FAA68"/>
            </a:solidFill>
          </a:ln>
        </p:spPr>
        <p:txBody>
          <a:bodyPr wrap="none" lIns="0" tIns="0" rIns="0" bIns="0" rtlCol="0" anchor="ctr"/>
          <a:lstStyle/>
          <a:p>
            <a:pPr algn="ctr" indent="0" marL="0">
              <a:buNone/>
            </a:pPr>
            <a:r>
              <a:rPr lang="en-US" sz="975" b="1" dirty="0">
                <a:solidFill>
                  <a:srgbClr val="7FE0AA"/>
                </a:solidFill>
                <a:latin typeface="Scotia" pitchFamily="34" charset="0"/>
                <a:ea typeface="Scotia" pitchFamily="34" charset="-122"/>
                <a:cs typeface="Scotia" pitchFamily="34" charset="-120"/>
              </a:rPr>
              <a:t>Summary or notes</a:t>
            </a:r>
            <a:endParaRPr lang="en-US" sz="975" dirty="0"/>
          </a:p>
        </p:txBody>
      </p:sp>
      <p:sp>
        <p:nvSpPr>
          <p:cNvPr id="31" name="Text Compress the history one agen"/>
          <p:cNvSpPr txBox="1"/>
          <p:nvPr/>
        </p:nvSpPr>
        <p:spPr>
          <a:xfrm>
            <a:off x="8496300" y="1952625"/>
            <a:ext cx="2968823"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Compress the history; one agent keeps going</a:t>
            </a:r>
            <a:endParaRPr lang="en-US" sz="1125" dirty="0"/>
          </a:p>
        </p:txBody>
      </p:sp>
      <p:sp>
        <p:nvSpPr>
          <p:cNvPr id="32" name="dk-qr border"/>
          <p:cNvSpPr/>
          <p:nvPr/>
        </p:nvSpPr>
        <p:spPr>
          <a:xfrm>
            <a:off x="6877050" y="2233613"/>
            <a:ext cx="4714875" cy="0"/>
          </a:xfrm>
          <a:prstGeom prst="line">
            <a:avLst/>
          </a:prstGeom>
          <a:noFill/>
          <a:ln w="9525">
            <a:solidFill>
              <a:srgbClr val="BDC2EF">
                <a:alpha val="14000"/>
              </a:srgbClr>
            </a:solidFill>
          </a:ln>
        </p:spPr>
      </p:sp>
      <p:sp>
        <p:nvSpPr>
          <p:cNvPr id="33" name="dk-chip"/>
          <p:cNvSpPr/>
          <p:nvPr/>
        </p:nvSpPr>
        <p:spPr>
          <a:xfrm>
            <a:off x="6881813" y="2300288"/>
            <a:ext cx="1226195" cy="238125"/>
          </a:xfrm>
          <a:prstGeom prst="roundRect">
            <a:avLst>
              <a:gd name="adj" fmla="val 50000"/>
            </a:avLst>
          </a:prstGeom>
          <a:noFill/>
          <a:ln w="9525">
            <a:solidFill>
              <a:srgbClr val="1FAA68"/>
            </a:solidFill>
          </a:ln>
        </p:spPr>
        <p:txBody>
          <a:bodyPr wrap="none" lIns="0" tIns="0" rIns="0" bIns="0" rtlCol="0" anchor="ctr"/>
          <a:lstStyle/>
          <a:p>
            <a:pPr algn="ctr" indent="0" marL="0">
              <a:buNone/>
            </a:pPr>
            <a:r>
              <a:rPr lang="en-US" sz="975" b="1" dirty="0">
                <a:solidFill>
                  <a:srgbClr val="7FE0AA"/>
                </a:solidFill>
                <a:latin typeface="Scotia" pitchFamily="34" charset="0"/>
                <a:ea typeface="Scotia" pitchFamily="34" charset="-122"/>
                <a:cs typeface="Scotia" pitchFamily="34" charset="-120"/>
              </a:rPr>
              <a:t>Knowledge graph</a:t>
            </a:r>
            <a:endParaRPr lang="en-US" sz="975" dirty="0"/>
          </a:p>
        </p:txBody>
      </p:sp>
      <p:sp>
        <p:nvSpPr>
          <p:cNvPr id="34" name="Text Fetch only the facts each step"/>
          <p:cNvSpPr txBox="1"/>
          <p:nvPr/>
        </p:nvSpPr>
        <p:spPr>
          <a:xfrm>
            <a:off x="8496300" y="2324100"/>
            <a:ext cx="2396728"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Fetch only the facts each step needs</a:t>
            </a:r>
            <a:endParaRPr lang="en-US" sz="1125" dirty="0"/>
          </a:p>
        </p:txBody>
      </p:sp>
      <p:sp>
        <p:nvSpPr>
          <p:cNvPr id="35" name="dk-qr border"/>
          <p:cNvSpPr/>
          <p:nvPr/>
        </p:nvSpPr>
        <p:spPr>
          <a:xfrm>
            <a:off x="6877050" y="2605088"/>
            <a:ext cx="4714875" cy="0"/>
          </a:xfrm>
          <a:prstGeom prst="line">
            <a:avLst/>
          </a:prstGeom>
          <a:noFill/>
          <a:ln w="9525">
            <a:solidFill>
              <a:srgbClr val="BDC2EF">
                <a:alpha val="14000"/>
              </a:srgbClr>
            </a:solidFill>
          </a:ln>
        </p:spPr>
      </p:sp>
      <p:sp>
        <p:nvSpPr>
          <p:cNvPr id="36" name="dk-chip"/>
          <p:cNvSpPr/>
          <p:nvPr/>
        </p:nvSpPr>
        <p:spPr>
          <a:xfrm>
            <a:off x="6881813" y="2671763"/>
            <a:ext cx="756047"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Magentic</a:t>
            </a:r>
            <a:endParaRPr lang="en-US" sz="975" dirty="0"/>
          </a:p>
        </p:txBody>
      </p:sp>
      <p:sp>
        <p:nvSpPr>
          <p:cNvPr id="37" name="Text A manager keeps a compact task"/>
          <p:cNvSpPr txBox="1"/>
          <p:nvPr/>
        </p:nvSpPr>
        <p:spPr>
          <a:xfrm>
            <a:off x="8496300" y="2695575"/>
            <a:ext cx="2641550"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A manager keeps a compact task ledger</a:t>
            </a:r>
            <a:endParaRPr lang="en-US" sz="1125" dirty="0"/>
          </a:p>
        </p:txBody>
      </p:sp>
      <p:sp>
        <p:nvSpPr>
          <p:cNvPr id="38" name="dk-qr border"/>
          <p:cNvSpPr/>
          <p:nvPr/>
        </p:nvSpPr>
        <p:spPr>
          <a:xfrm>
            <a:off x="6877050" y="2976563"/>
            <a:ext cx="4714875" cy="0"/>
          </a:xfrm>
          <a:prstGeom prst="line">
            <a:avLst/>
          </a:prstGeom>
          <a:noFill/>
          <a:ln w="9525">
            <a:solidFill>
              <a:srgbClr val="BDC2EF">
                <a:alpha val="14000"/>
              </a:srgbClr>
            </a:solidFill>
          </a:ln>
        </p:spPr>
      </p:sp>
      <p:sp>
        <p:nvSpPr>
          <p:cNvPr id="39" name="dk-chip"/>
          <p:cNvSpPr/>
          <p:nvPr/>
        </p:nvSpPr>
        <p:spPr>
          <a:xfrm>
            <a:off x="6881813" y="3043238"/>
            <a:ext cx="846088"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Sequential</a:t>
            </a:r>
            <a:endParaRPr lang="en-US" sz="975" dirty="0"/>
          </a:p>
        </p:txBody>
      </p:sp>
      <p:sp>
        <p:nvSpPr>
          <p:cNvPr id="40" name="Text Fixed stages each passing on"/>
          <p:cNvSpPr txBox="1"/>
          <p:nvPr/>
        </p:nvSpPr>
        <p:spPr>
          <a:xfrm>
            <a:off x="8496300" y="3067050"/>
            <a:ext cx="3083123"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Fixed stages, each passing on a compact result</a:t>
            </a:r>
            <a:endParaRPr lang="en-US" sz="1125" dirty="0"/>
          </a:p>
        </p:txBody>
      </p:sp>
      <p:sp>
        <p:nvSpPr>
          <p:cNvPr id="41" name="dk-q"/>
          <p:cNvSpPr/>
          <p:nvPr/>
        </p:nvSpPr>
        <p:spPr>
          <a:xfrm>
            <a:off x="1433513" y="3548063"/>
            <a:ext cx="5105400" cy="1781175"/>
          </a:xfrm>
          <a:prstGeom prst="roundRect">
            <a:avLst>
              <a:gd name="adj" fmla="val 8289"/>
            </a:avLst>
          </a:prstGeom>
          <a:gradFill rotWithShape="1">
            <a:gsLst>
              <a:gs pos="0">
                <a:srgbClr val="1A1550"/>
              </a:gs>
              <a:gs pos="100000">
                <a:srgbClr val="120E36"/>
              </a:gs>
            </a:gsLst>
            <a:lin ang="5400000" scaled="0"/>
          </a:gradFill>
          <a:ln w="9525">
            <a:solidFill>
              <a:srgbClr val="3B3392"/>
            </a:solidFill>
          </a:ln>
        </p:spPr>
      </p:sp>
      <p:sp>
        <p:nvSpPr>
          <p:cNvPr id="42" name="Text One agent or parallel for spe"/>
          <p:cNvSpPr txBox="1"/>
          <p:nvPr/>
        </p:nvSpPr>
        <p:spPr>
          <a:xfrm>
            <a:off x="1628775" y="3662362"/>
            <a:ext cx="3039963" cy="247650"/>
          </a:xfrm>
          <a:prstGeom prst="rect">
            <a:avLst/>
          </a:prstGeom>
          <a:noFill/>
          <a:ln/>
        </p:spPr>
        <p:txBody>
          <a:bodyPr wrap="none" lIns="0" tIns="0" rIns="0" bIns="0" rtlCol="0" anchor="ctr"/>
          <a:lstStyle/>
          <a:p>
            <a:pPr algn="l" indent="0" marL="0">
              <a:buNone/>
            </a:pPr>
            <a:r>
              <a:rPr lang="en-US" sz="1575" dirty="0">
                <a:solidFill>
                  <a:srgbClr val="FFFFFF"/>
                </a:solidFill>
                <a:latin typeface="Scotia Headline" pitchFamily="34" charset="0"/>
                <a:ea typeface="Scotia Headline" pitchFamily="34" charset="-122"/>
                <a:cs typeface="Scotia Headline" pitchFamily="34" charset="-120"/>
              </a:rPr>
              <a:t>One agent, or parallel for speed</a:t>
            </a:r>
            <a:endParaRPr lang="en-US" sz="1575" dirty="0"/>
          </a:p>
        </p:txBody>
      </p:sp>
      <p:sp>
        <p:nvSpPr>
          <p:cNvPr id="43" name="dk-cs-b"/>
          <p:cNvSpPr/>
          <p:nvPr/>
        </p:nvSpPr>
        <p:spPr>
          <a:xfrm>
            <a:off x="4923532" y="3681413"/>
            <a:ext cx="628352" cy="219075"/>
          </a:xfrm>
          <a:prstGeom prst="roundRect">
            <a:avLst>
              <a:gd name="adj" fmla="val 50000"/>
            </a:avLst>
          </a:prstGeom>
          <a:solidFill>
            <a:srgbClr val="FFFFFF">
              <a:alpha val="8000"/>
            </a:srgbClr>
          </a:solidFill>
          <a:ln w="9525">
            <a:solidFill>
              <a:srgbClr val="BDC2EF">
                <a:alpha val="28000"/>
              </a:srgbClr>
            </a:solidFill>
          </a:ln>
        </p:spPr>
      </p:sp>
      <p:sp>
        <p:nvSpPr>
          <p:cNvPr id="44" name="cs-icon circle"/>
          <p:cNvSpPr/>
          <p:nvPr/>
        </p:nvSpPr>
        <p:spPr>
          <a:xfrm>
            <a:off x="5016401" y="3731419"/>
            <a:ext cx="71438" cy="71438"/>
          </a:xfrm>
          <a:prstGeom prst="ellipse">
            <a:avLst/>
          </a:prstGeom>
          <a:noFill/>
          <a:ln w="8930" cap="rnd">
            <a:solidFill>
              <a:srgbClr val="B0AAFF"/>
            </a:solidFill>
            <a:round/>
          </a:ln>
        </p:spPr>
      </p:sp>
      <p:sp>
        <p:nvSpPr>
          <p:cNvPr id="45" name="cs-icon path"/>
          <p:cNvSpPr/>
          <p:nvPr/>
        </p:nvSpPr>
        <p:spPr>
          <a:xfrm>
            <a:off x="5066050" y="3781246"/>
            <a:ext cx="71153" cy="70770"/>
          </a:xfrm>
          <a:custGeom>
            <a:avLst/>
            <a:gdLst/>
            <a:ahLst/>
            <a:cxnLst/>
            <a:rect l="l" t="t" r="r" b="b"/>
            <a:pathLst>
              <a:path w="71153" h="70770">
                <a:moveTo>
                  <a:pt x="46137" y="0"/>
                </a:moveTo>
                <a:cubicBezTo>
                  <a:pt x="61648" y="5783"/>
                  <a:pt x="71153" y="21465"/>
                  <a:pt x="69103" y="37892"/>
                </a:cubicBezTo>
                <a:cubicBezTo>
                  <a:pt x="67053" y="54318"/>
                  <a:pt x="53985" y="67184"/>
                  <a:pt x="37529" y="68977"/>
                </a:cubicBezTo>
                <a:cubicBezTo>
                  <a:pt x="21072" y="70770"/>
                  <a:pt x="5540" y="61022"/>
                  <a:pt x="0" y="45422"/>
                </a:cubicBezTo>
              </a:path>
            </a:pathLst>
          </a:custGeom>
          <a:noFill/>
          <a:ln w="8930" cap="rnd">
            <a:solidFill>
              <a:srgbClr val="B0AAFF"/>
            </a:solidFill>
            <a:round/>
          </a:ln>
        </p:spPr>
      </p:sp>
      <p:sp>
        <p:nvSpPr>
          <p:cNvPr id="46" name="cs-icon path"/>
          <p:cNvSpPr/>
          <p:nvPr/>
        </p:nvSpPr>
        <p:spPr>
          <a:xfrm>
            <a:off x="5046166" y="3755231"/>
            <a:ext cx="5953" cy="23813"/>
          </a:xfrm>
          <a:custGeom>
            <a:avLst/>
            <a:gdLst/>
            <a:ahLst/>
            <a:cxnLst/>
            <a:rect l="l" t="t" r="r" b="b"/>
            <a:pathLst>
              <a:path w="5953" h="23813">
                <a:moveTo>
                  <a:pt x="0" y="0"/>
                </a:moveTo>
                <a:lnTo>
                  <a:pt x="5953" y="0"/>
                </a:lnTo>
                <a:lnTo>
                  <a:pt x="5953" y="23813"/>
                </a:lnTo>
              </a:path>
            </a:pathLst>
          </a:custGeom>
          <a:noFill/>
          <a:ln w="8930" cap="rnd">
            <a:solidFill>
              <a:srgbClr val="B0AAFF"/>
            </a:solidFill>
            <a:round/>
          </a:ln>
        </p:spPr>
      </p:sp>
      <p:sp>
        <p:nvSpPr>
          <p:cNvPr id="47" name="cs-icon path"/>
          <p:cNvSpPr/>
          <p:nvPr/>
        </p:nvSpPr>
        <p:spPr>
          <a:xfrm>
            <a:off x="5091351" y="3802142"/>
            <a:ext cx="16788" cy="21015"/>
          </a:xfrm>
          <a:custGeom>
            <a:avLst/>
            <a:gdLst/>
            <a:ahLst/>
            <a:cxnLst/>
            <a:rect l="l" t="t" r="r" b="b"/>
            <a:pathLst>
              <a:path w="16788" h="21015">
                <a:moveTo>
                  <a:pt x="12621" y="0"/>
                </a:moveTo>
                <a:lnTo>
                  <a:pt x="16788" y="4227"/>
                </a:lnTo>
                <a:lnTo>
                  <a:pt x="0" y="21015"/>
                </a:lnTo>
              </a:path>
            </a:pathLst>
          </a:custGeom>
          <a:noFill/>
          <a:ln w="8930" cap="rnd">
            <a:solidFill>
              <a:srgbClr val="B0AAFF"/>
            </a:solidFill>
            <a:round/>
          </a:ln>
        </p:spPr>
      </p:sp>
      <p:sp>
        <p:nvSpPr>
          <p:cNvPr id="48" name="Text Cost"/>
          <p:cNvSpPr txBox="1"/>
          <p:nvPr/>
        </p:nvSpPr>
        <p:spPr>
          <a:xfrm>
            <a:off x="5204520" y="3714750"/>
            <a:ext cx="294977" cy="142875"/>
          </a:xfrm>
          <a:prstGeom prst="rect">
            <a:avLst/>
          </a:prstGeom>
          <a:noFill/>
          <a:ln/>
        </p:spPr>
        <p:txBody>
          <a:bodyPr wrap="none" lIns="0" tIns="0" rIns="0" bIns="0" rtlCol="0" anchor="ctr"/>
          <a:lstStyle/>
          <a:p>
            <a:pPr algn="l" indent="0" marL="0">
              <a:buNone/>
            </a:pPr>
            <a:r>
              <a:rPr lang="en-US" sz="900" b="1" dirty="0">
                <a:solidFill>
                  <a:srgbClr val="FFFFFF"/>
                </a:solidFill>
                <a:latin typeface="Scotia" pitchFamily="34" charset="0"/>
                <a:ea typeface="Scotia" pitchFamily="34" charset="-122"/>
                <a:cs typeface="Scotia" pitchFamily="34" charset="-120"/>
              </a:rPr>
              <a:t>Cost</a:t>
            </a:r>
            <a:endParaRPr lang="en-US" sz="900" dirty="0"/>
          </a:p>
        </p:txBody>
      </p:sp>
      <p:sp>
        <p:nvSpPr>
          <p:cNvPr id="49" name="dk-cs-b"/>
          <p:cNvSpPr/>
          <p:nvPr/>
        </p:nvSpPr>
        <p:spPr>
          <a:xfrm>
            <a:off x="5618559" y="3681413"/>
            <a:ext cx="720328" cy="219075"/>
          </a:xfrm>
          <a:prstGeom prst="roundRect">
            <a:avLst>
              <a:gd name="adj" fmla="val 50000"/>
            </a:avLst>
          </a:prstGeom>
          <a:solidFill>
            <a:srgbClr val="FFFFFF">
              <a:alpha val="8000"/>
            </a:srgbClr>
          </a:solidFill>
          <a:ln w="9525">
            <a:solidFill>
              <a:srgbClr val="BDC2EF">
                <a:alpha val="28000"/>
              </a:srgbClr>
            </a:solidFill>
          </a:ln>
        </p:spPr>
      </p:sp>
      <p:sp>
        <p:nvSpPr>
          <p:cNvPr id="50" name="cs-icon path"/>
          <p:cNvSpPr/>
          <p:nvPr/>
        </p:nvSpPr>
        <p:spPr>
          <a:xfrm>
            <a:off x="5716952" y="3731099"/>
            <a:ext cx="108016" cy="119701"/>
          </a:xfrm>
          <a:custGeom>
            <a:avLst/>
            <a:gdLst/>
            <a:ahLst/>
            <a:cxnLst/>
            <a:rect l="l" t="t" r="r" b="b"/>
            <a:pathLst>
              <a:path w="108016" h="119701">
                <a:moveTo>
                  <a:pt x="6383" y="71757"/>
                </a:moveTo>
                <a:cubicBezTo>
                  <a:pt x="4083" y="71765"/>
                  <a:pt x="1985" y="70448"/>
                  <a:pt x="993" y="68374"/>
                </a:cubicBezTo>
                <a:cubicBezTo>
                  <a:pt x="0" y="66299"/>
                  <a:pt x="291" y="63839"/>
                  <a:pt x="1739" y="62053"/>
                </a:cubicBezTo>
                <a:lnTo>
                  <a:pt x="60675" y="1332"/>
                </a:lnTo>
                <a:cubicBezTo>
                  <a:pt x="61586" y="281"/>
                  <a:pt x="63103" y="0"/>
                  <a:pt x="64329" y="656"/>
                </a:cubicBezTo>
                <a:cubicBezTo>
                  <a:pt x="65555" y="1312"/>
                  <a:pt x="66164" y="2729"/>
                  <a:pt x="65795" y="4070"/>
                </a:cubicBezTo>
                <a:lnTo>
                  <a:pt x="54365" y="39908"/>
                </a:lnTo>
                <a:cubicBezTo>
                  <a:pt x="53681" y="41739"/>
                  <a:pt x="53939" y="43789"/>
                  <a:pt x="55056" y="45393"/>
                </a:cubicBezTo>
                <a:cubicBezTo>
                  <a:pt x="56173" y="46997"/>
                  <a:pt x="58006" y="47951"/>
                  <a:pt x="59961" y="47944"/>
                </a:cubicBezTo>
                <a:lnTo>
                  <a:pt x="101633" y="47944"/>
                </a:lnTo>
                <a:cubicBezTo>
                  <a:pt x="103932" y="47937"/>
                  <a:pt x="106031" y="49254"/>
                  <a:pt x="107023" y="51328"/>
                </a:cubicBezTo>
                <a:cubicBezTo>
                  <a:pt x="108016" y="53402"/>
                  <a:pt x="107725" y="55862"/>
                  <a:pt x="106276" y="57648"/>
                </a:cubicBezTo>
                <a:lnTo>
                  <a:pt x="47340" y="118370"/>
                </a:lnTo>
                <a:cubicBezTo>
                  <a:pt x="46430" y="119421"/>
                  <a:pt x="44913" y="119701"/>
                  <a:pt x="43687" y="119046"/>
                </a:cubicBezTo>
                <a:cubicBezTo>
                  <a:pt x="42461" y="118390"/>
                  <a:pt x="41852" y="116972"/>
                  <a:pt x="42221" y="115632"/>
                </a:cubicBezTo>
                <a:lnTo>
                  <a:pt x="53651" y="79794"/>
                </a:lnTo>
                <a:cubicBezTo>
                  <a:pt x="54335" y="77963"/>
                  <a:pt x="54076" y="75912"/>
                  <a:pt x="52960" y="74308"/>
                </a:cubicBezTo>
                <a:cubicBezTo>
                  <a:pt x="51843" y="72704"/>
                  <a:pt x="50009" y="71751"/>
                  <a:pt x="48055" y="71757"/>
                </a:cubicBezTo>
                <a:close/>
              </a:path>
            </a:pathLst>
          </a:custGeom>
          <a:noFill/>
          <a:ln w="8930" cap="rnd">
            <a:solidFill>
              <a:srgbClr val="B0AAFF"/>
            </a:solidFill>
            <a:round/>
          </a:ln>
        </p:spPr>
      </p:sp>
      <p:sp>
        <p:nvSpPr>
          <p:cNvPr id="51" name="Text Speed"/>
          <p:cNvSpPr txBox="1"/>
          <p:nvPr/>
        </p:nvSpPr>
        <p:spPr>
          <a:xfrm>
            <a:off x="5899547" y="3714750"/>
            <a:ext cx="386953" cy="142875"/>
          </a:xfrm>
          <a:prstGeom prst="rect">
            <a:avLst/>
          </a:prstGeom>
          <a:noFill/>
          <a:ln/>
        </p:spPr>
        <p:txBody>
          <a:bodyPr wrap="none" lIns="0" tIns="0" rIns="0" bIns="0" rtlCol="0" anchor="ctr"/>
          <a:lstStyle/>
          <a:p>
            <a:pPr algn="l" indent="0" marL="0">
              <a:buNone/>
            </a:pPr>
            <a:r>
              <a:rPr lang="en-US" sz="900" b="1" dirty="0">
                <a:solidFill>
                  <a:srgbClr val="FFFFFF"/>
                </a:solidFill>
                <a:latin typeface="Scotia" pitchFamily="34" charset="0"/>
                <a:ea typeface="Scotia" pitchFamily="34" charset="-122"/>
                <a:cs typeface="Scotia" pitchFamily="34" charset="-120"/>
              </a:rPr>
              <a:t>Speed</a:t>
            </a:r>
            <a:endParaRPr lang="en-US" sz="900" dirty="0"/>
          </a:p>
        </p:txBody>
      </p:sp>
      <p:sp>
        <p:nvSpPr>
          <p:cNvPr id="52" name="dk-qr border"/>
          <p:cNvSpPr/>
          <p:nvPr/>
        </p:nvSpPr>
        <p:spPr>
          <a:xfrm>
            <a:off x="1628775" y="3976687"/>
            <a:ext cx="4714875" cy="0"/>
          </a:xfrm>
          <a:prstGeom prst="line">
            <a:avLst/>
          </a:prstGeom>
          <a:noFill/>
          <a:ln w="9525">
            <a:solidFill>
              <a:srgbClr val="BDC2EF">
                <a:alpha val="14000"/>
              </a:srgbClr>
            </a:solidFill>
          </a:ln>
        </p:spPr>
      </p:sp>
      <p:sp>
        <p:nvSpPr>
          <p:cNvPr id="53" name="dk-chip"/>
          <p:cNvSpPr/>
          <p:nvPr/>
        </p:nvSpPr>
        <p:spPr>
          <a:xfrm>
            <a:off x="1633538" y="4043363"/>
            <a:ext cx="928836"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Single agent</a:t>
            </a:r>
            <a:endParaRPr lang="en-US" sz="975" dirty="0"/>
          </a:p>
        </p:txBody>
      </p:sp>
      <p:sp>
        <p:nvSpPr>
          <p:cNvPr id="54" name="Text The default: same accuracy lo"/>
          <p:cNvSpPr txBox="1"/>
          <p:nvPr/>
        </p:nvSpPr>
        <p:spPr>
          <a:xfrm>
            <a:off x="3248025" y="4067175"/>
            <a:ext cx="2614613"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The default: same accuracy, lowest cost</a:t>
            </a:r>
            <a:endParaRPr lang="en-US" sz="1125" dirty="0"/>
          </a:p>
        </p:txBody>
      </p:sp>
      <p:sp>
        <p:nvSpPr>
          <p:cNvPr id="55" name="dk-qr border"/>
          <p:cNvSpPr/>
          <p:nvPr/>
        </p:nvSpPr>
        <p:spPr>
          <a:xfrm>
            <a:off x="1628775" y="4348163"/>
            <a:ext cx="4714875" cy="0"/>
          </a:xfrm>
          <a:prstGeom prst="line">
            <a:avLst/>
          </a:prstGeom>
          <a:noFill/>
          <a:ln w="9525">
            <a:solidFill>
              <a:srgbClr val="BDC2EF">
                <a:alpha val="14000"/>
              </a:srgbClr>
            </a:solidFill>
          </a:ln>
        </p:spPr>
      </p:sp>
      <p:sp>
        <p:nvSpPr>
          <p:cNvPr id="56" name="dk-chip"/>
          <p:cNvSpPr/>
          <p:nvPr/>
        </p:nvSpPr>
        <p:spPr>
          <a:xfrm>
            <a:off x="1633538" y="4414838"/>
            <a:ext cx="884783"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Concurrent</a:t>
            </a:r>
            <a:endParaRPr lang="en-US" sz="975" dirty="0"/>
          </a:p>
        </p:txBody>
      </p:sp>
      <p:sp>
        <p:nvSpPr>
          <p:cNvPr id="57" name="Text Only to cut wait time or to v"/>
          <p:cNvSpPr txBox="1"/>
          <p:nvPr/>
        </p:nvSpPr>
        <p:spPr>
          <a:xfrm>
            <a:off x="3248025" y="4438650"/>
            <a:ext cx="2788890"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Only to cut wait time, or to vote over runs</a:t>
            </a:r>
            <a:endParaRPr lang="en-US" sz="1125" dirty="0"/>
          </a:p>
        </p:txBody>
      </p:sp>
      <p:sp>
        <p:nvSpPr>
          <p:cNvPr id="58" name="dk-q"/>
          <p:cNvSpPr/>
          <p:nvPr/>
        </p:nvSpPr>
        <p:spPr>
          <a:xfrm>
            <a:off x="6681788" y="3548063"/>
            <a:ext cx="5105400" cy="1781175"/>
          </a:xfrm>
          <a:prstGeom prst="roundRect">
            <a:avLst>
              <a:gd name="adj" fmla="val 8289"/>
            </a:avLst>
          </a:prstGeom>
          <a:gradFill rotWithShape="1">
            <a:gsLst>
              <a:gs pos="0">
                <a:srgbClr val="1A1550"/>
              </a:gs>
              <a:gs pos="100000">
                <a:srgbClr val="120E36"/>
              </a:gs>
            </a:gsLst>
            <a:lin ang="5400000" scaled="0"/>
          </a:gradFill>
          <a:ln w="9525">
            <a:solidFill>
              <a:srgbClr val="3B3392"/>
            </a:solidFill>
          </a:ln>
        </p:spPr>
      </p:sp>
      <p:sp>
        <p:nvSpPr>
          <p:cNvPr id="59" name="Text One agent"/>
          <p:cNvSpPr txBox="1"/>
          <p:nvPr/>
        </p:nvSpPr>
        <p:spPr>
          <a:xfrm>
            <a:off x="6877050" y="3662362"/>
            <a:ext cx="1055936" cy="247650"/>
          </a:xfrm>
          <a:prstGeom prst="rect">
            <a:avLst/>
          </a:prstGeom>
          <a:noFill/>
          <a:ln/>
        </p:spPr>
        <p:txBody>
          <a:bodyPr wrap="none" lIns="0" tIns="0" rIns="0" bIns="0" rtlCol="0" anchor="ctr"/>
          <a:lstStyle/>
          <a:p>
            <a:pPr algn="l" indent="0" marL="0">
              <a:buNone/>
            </a:pPr>
            <a:r>
              <a:rPr lang="en-US" sz="1575" dirty="0">
                <a:solidFill>
                  <a:srgbClr val="FFFFFF"/>
                </a:solidFill>
                <a:latin typeface="Scotia Headline" pitchFamily="34" charset="0"/>
                <a:ea typeface="Scotia Headline" pitchFamily="34" charset="-122"/>
                <a:cs typeface="Scotia Headline" pitchFamily="34" charset="-120"/>
              </a:rPr>
              <a:t>One agent</a:t>
            </a:r>
            <a:endParaRPr lang="en-US" sz="1575" dirty="0"/>
          </a:p>
        </p:txBody>
      </p:sp>
      <p:sp>
        <p:nvSpPr>
          <p:cNvPr id="60" name="dk-cs-b"/>
          <p:cNvSpPr/>
          <p:nvPr/>
        </p:nvSpPr>
        <p:spPr>
          <a:xfrm>
            <a:off x="10958810" y="3681413"/>
            <a:ext cx="628352" cy="219075"/>
          </a:xfrm>
          <a:prstGeom prst="roundRect">
            <a:avLst>
              <a:gd name="adj" fmla="val 50000"/>
            </a:avLst>
          </a:prstGeom>
          <a:solidFill>
            <a:srgbClr val="FFFFFF">
              <a:alpha val="8000"/>
            </a:srgbClr>
          </a:solidFill>
          <a:ln w="9525">
            <a:solidFill>
              <a:srgbClr val="BDC2EF">
                <a:alpha val="28000"/>
              </a:srgbClr>
            </a:solidFill>
          </a:ln>
        </p:spPr>
      </p:sp>
      <p:sp>
        <p:nvSpPr>
          <p:cNvPr id="61" name="cs-icon circle"/>
          <p:cNvSpPr/>
          <p:nvPr/>
        </p:nvSpPr>
        <p:spPr>
          <a:xfrm>
            <a:off x="11051679" y="3731419"/>
            <a:ext cx="71438" cy="71438"/>
          </a:xfrm>
          <a:prstGeom prst="ellipse">
            <a:avLst/>
          </a:prstGeom>
          <a:noFill/>
          <a:ln w="8930" cap="rnd">
            <a:solidFill>
              <a:srgbClr val="B0AAFF"/>
            </a:solidFill>
            <a:round/>
          </a:ln>
        </p:spPr>
      </p:sp>
      <p:sp>
        <p:nvSpPr>
          <p:cNvPr id="62" name="cs-icon path"/>
          <p:cNvSpPr/>
          <p:nvPr/>
        </p:nvSpPr>
        <p:spPr>
          <a:xfrm>
            <a:off x="11101328" y="3781246"/>
            <a:ext cx="71153" cy="70770"/>
          </a:xfrm>
          <a:custGeom>
            <a:avLst/>
            <a:gdLst/>
            <a:ahLst/>
            <a:cxnLst/>
            <a:rect l="l" t="t" r="r" b="b"/>
            <a:pathLst>
              <a:path w="71153" h="70770">
                <a:moveTo>
                  <a:pt x="46137" y="0"/>
                </a:moveTo>
                <a:cubicBezTo>
                  <a:pt x="61648" y="5783"/>
                  <a:pt x="71153" y="21465"/>
                  <a:pt x="69103" y="37892"/>
                </a:cubicBezTo>
                <a:cubicBezTo>
                  <a:pt x="67053" y="54318"/>
                  <a:pt x="53985" y="67184"/>
                  <a:pt x="37529" y="68977"/>
                </a:cubicBezTo>
                <a:cubicBezTo>
                  <a:pt x="21072" y="70770"/>
                  <a:pt x="5540" y="61022"/>
                  <a:pt x="0" y="45422"/>
                </a:cubicBezTo>
              </a:path>
            </a:pathLst>
          </a:custGeom>
          <a:noFill/>
          <a:ln w="8930" cap="rnd">
            <a:solidFill>
              <a:srgbClr val="B0AAFF"/>
            </a:solidFill>
            <a:round/>
          </a:ln>
        </p:spPr>
      </p:sp>
      <p:sp>
        <p:nvSpPr>
          <p:cNvPr id="63" name="cs-icon path"/>
          <p:cNvSpPr/>
          <p:nvPr/>
        </p:nvSpPr>
        <p:spPr>
          <a:xfrm>
            <a:off x="11081445" y="3755231"/>
            <a:ext cx="5953" cy="23813"/>
          </a:xfrm>
          <a:custGeom>
            <a:avLst/>
            <a:gdLst/>
            <a:ahLst/>
            <a:cxnLst/>
            <a:rect l="l" t="t" r="r" b="b"/>
            <a:pathLst>
              <a:path w="5953" h="23813">
                <a:moveTo>
                  <a:pt x="0" y="0"/>
                </a:moveTo>
                <a:lnTo>
                  <a:pt x="5953" y="0"/>
                </a:lnTo>
                <a:lnTo>
                  <a:pt x="5953" y="23813"/>
                </a:lnTo>
              </a:path>
            </a:pathLst>
          </a:custGeom>
          <a:noFill/>
          <a:ln w="8930" cap="rnd">
            <a:solidFill>
              <a:srgbClr val="B0AAFF"/>
            </a:solidFill>
            <a:round/>
          </a:ln>
        </p:spPr>
      </p:sp>
      <p:sp>
        <p:nvSpPr>
          <p:cNvPr id="64" name="cs-icon path"/>
          <p:cNvSpPr/>
          <p:nvPr/>
        </p:nvSpPr>
        <p:spPr>
          <a:xfrm>
            <a:off x="11126629" y="3802142"/>
            <a:ext cx="16788" cy="21015"/>
          </a:xfrm>
          <a:custGeom>
            <a:avLst/>
            <a:gdLst/>
            <a:ahLst/>
            <a:cxnLst/>
            <a:rect l="l" t="t" r="r" b="b"/>
            <a:pathLst>
              <a:path w="16788" h="21015">
                <a:moveTo>
                  <a:pt x="12621" y="0"/>
                </a:moveTo>
                <a:lnTo>
                  <a:pt x="16788" y="4227"/>
                </a:lnTo>
                <a:lnTo>
                  <a:pt x="0" y="21015"/>
                </a:lnTo>
              </a:path>
            </a:pathLst>
          </a:custGeom>
          <a:noFill/>
          <a:ln w="8930" cap="rnd">
            <a:solidFill>
              <a:srgbClr val="B0AAFF"/>
            </a:solidFill>
            <a:round/>
          </a:ln>
        </p:spPr>
      </p:sp>
      <p:sp>
        <p:nvSpPr>
          <p:cNvPr id="65" name="Text Cost"/>
          <p:cNvSpPr txBox="1"/>
          <p:nvPr/>
        </p:nvSpPr>
        <p:spPr>
          <a:xfrm>
            <a:off x="11239798" y="3714750"/>
            <a:ext cx="294977" cy="142875"/>
          </a:xfrm>
          <a:prstGeom prst="rect">
            <a:avLst/>
          </a:prstGeom>
          <a:noFill/>
          <a:ln/>
        </p:spPr>
        <p:txBody>
          <a:bodyPr wrap="none" lIns="0" tIns="0" rIns="0" bIns="0" rtlCol="0" anchor="ctr"/>
          <a:lstStyle/>
          <a:p>
            <a:pPr algn="l" indent="0" marL="0">
              <a:buNone/>
            </a:pPr>
            <a:r>
              <a:rPr lang="en-US" sz="900" b="1" dirty="0">
                <a:solidFill>
                  <a:srgbClr val="FFFFFF"/>
                </a:solidFill>
                <a:latin typeface="Scotia" pitchFamily="34" charset="0"/>
                <a:ea typeface="Scotia" pitchFamily="34" charset="-122"/>
                <a:cs typeface="Scotia" pitchFamily="34" charset="-120"/>
              </a:rPr>
              <a:t>Cost</a:t>
            </a:r>
            <a:endParaRPr lang="en-US" sz="900" dirty="0"/>
          </a:p>
        </p:txBody>
      </p:sp>
      <p:sp>
        <p:nvSpPr>
          <p:cNvPr id="66" name="dk-qr border"/>
          <p:cNvSpPr/>
          <p:nvPr/>
        </p:nvSpPr>
        <p:spPr>
          <a:xfrm>
            <a:off x="6877050" y="3976687"/>
            <a:ext cx="4714875" cy="0"/>
          </a:xfrm>
          <a:prstGeom prst="line">
            <a:avLst/>
          </a:prstGeom>
          <a:noFill/>
          <a:ln w="9525">
            <a:solidFill>
              <a:srgbClr val="BDC2EF">
                <a:alpha val="14000"/>
              </a:srgbClr>
            </a:solidFill>
          </a:ln>
        </p:spPr>
      </p:sp>
      <p:sp>
        <p:nvSpPr>
          <p:cNvPr id="67" name="dk-chip"/>
          <p:cNvSpPr/>
          <p:nvPr/>
        </p:nvSpPr>
        <p:spPr>
          <a:xfrm>
            <a:off x="6881813" y="4043363"/>
            <a:ext cx="928836"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Single agent</a:t>
            </a:r>
            <a:endParaRPr lang="en-US" sz="975" dirty="0"/>
          </a:p>
        </p:txBody>
      </p:sp>
      <p:sp>
        <p:nvSpPr>
          <p:cNvPr id="68" name="Text Splitting adds handoff loss n"/>
          <p:cNvSpPr txBox="1"/>
          <p:nvPr/>
        </p:nvSpPr>
        <p:spPr>
          <a:xfrm>
            <a:off x="8496300" y="4067175"/>
            <a:ext cx="2705100"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Splitting adds handoff loss, not accuracy</a:t>
            </a:r>
            <a:endParaRPr lang="en-US" sz="1125" dirty="0"/>
          </a:p>
        </p:txBody>
      </p:sp>
      <p:sp>
        <p:nvSpPr>
          <p:cNvPr id="69" name="dk-qr border"/>
          <p:cNvSpPr/>
          <p:nvPr/>
        </p:nvSpPr>
        <p:spPr>
          <a:xfrm>
            <a:off x="6877050" y="4348163"/>
            <a:ext cx="4714875" cy="0"/>
          </a:xfrm>
          <a:prstGeom prst="line">
            <a:avLst/>
          </a:prstGeom>
          <a:noFill/>
          <a:ln w="9525">
            <a:solidFill>
              <a:srgbClr val="BDC2EF">
                <a:alpha val="14000"/>
              </a:srgbClr>
            </a:solidFill>
          </a:ln>
        </p:spPr>
      </p:sp>
      <p:sp>
        <p:nvSpPr>
          <p:cNvPr id="70" name="dk-chip"/>
          <p:cNvSpPr/>
          <p:nvPr/>
        </p:nvSpPr>
        <p:spPr>
          <a:xfrm>
            <a:off x="6881813" y="4414838"/>
            <a:ext cx="701576"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Handoff</a:t>
            </a:r>
            <a:endParaRPr lang="en-US" sz="975" dirty="0"/>
          </a:p>
        </p:txBody>
      </p:sp>
      <p:sp>
        <p:nvSpPr>
          <p:cNvPr id="71" name="Text When steps need different tool"/>
          <p:cNvSpPr txBox="1"/>
          <p:nvPr/>
        </p:nvSpPr>
        <p:spPr>
          <a:xfrm>
            <a:off x="8496300" y="4438650"/>
            <a:ext cx="3127921"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When steps need different tools or permissions</a:t>
            </a:r>
            <a:endParaRPr lang="en-US" sz="1125" dirty="0"/>
          </a:p>
        </p:txBody>
      </p:sp>
      <p:sp>
        <p:nvSpPr>
          <p:cNvPr id="72" name="dk-qr border"/>
          <p:cNvSpPr/>
          <p:nvPr/>
        </p:nvSpPr>
        <p:spPr>
          <a:xfrm>
            <a:off x="6877050" y="4719638"/>
            <a:ext cx="4714875" cy="0"/>
          </a:xfrm>
          <a:prstGeom prst="line">
            <a:avLst/>
          </a:prstGeom>
          <a:noFill/>
          <a:ln w="9525">
            <a:solidFill>
              <a:srgbClr val="BDC2EF">
                <a:alpha val="14000"/>
              </a:srgbClr>
            </a:solidFill>
          </a:ln>
        </p:spPr>
      </p:sp>
      <p:sp>
        <p:nvSpPr>
          <p:cNvPr id="73" name="dk-chip"/>
          <p:cNvSpPr/>
          <p:nvPr/>
        </p:nvSpPr>
        <p:spPr>
          <a:xfrm>
            <a:off x="6881813" y="4852988"/>
            <a:ext cx="891183"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Group Chat</a:t>
            </a:r>
            <a:endParaRPr lang="en-US" sz="975" dirty="0"/>
          </a:p>
        </p:txBody>
      </p:sp>
      <p:sp>
        <p:nvSpPr>
          <p:cNvPr id="74" name="Text When you want a debate expect"/>
          <p:cNvSpPr txBox="1"/>
          <p:nvPr/>
        </p:nvSpPr>
        <p:spPr>
          <a:xfrm>
            <a:off x="8496300" y="4781550"/>
            <a:ext cx="3095625" cy="381000"/>
          </a:xfrm>
          <a:prstGeom prst="rect">
            <a:avLst/>
          </a:prstGeom>
          <a:noFill/>
          <a:ln/>
        </p:spPr>
        <p:txBody>
          <a:bodyPr wrap="square" lIns="0" tIns="0" rIns="0" bIns="0" rtlCol="0" anchor="t"/>
          <a:lstStyle/>
          <a:p>
            <a:pPr algn="l" indent="0" marL="0">
              <a:lnSpc>
                <a:spcPts val="1500"/>
              </a:lnSpc>
              <a:buNone/>
            </a:pPr>
            <a:r>
              <a:rPr lang="en-US" sz="1125" dirty="0">
                <a:solidFill>
                  <a:srgbClr val="FFFFFF">
                    <a:alpha val="92000"/>
                  </a:srgbClr>
                </a:solidFill>
                <a:latin typeface="Scotia Serif" pitchFamily="34" charset="0"/>
                <a:ea typeface="Scotia Serif" pitchFamily="34" charset="-122"/>
                <a:cs typeface="Scotia Serif" pitchFamily="34" charset="-120"/>
              </a:rPr>
              <a:t>When you want a debate; expect no gain over voting</a:t>
            </a:r>
            <a:endParaRPr lang="en-US" sz="1125" dirty="0"/>
          </a:p>
        </p:txBody>
      </p:sp>
      <p:sp>
        <p:nvSpPr>
          <p:cNvPr id="75" name="dk-chip"/>
          <p:cNvSpPr/>
          <p:nvPr/>
        </p:nvSpPr>
        <p:spPr>
          <a:xfrm>
            <a:off x="2625030" y="5872163"/>
            <a:ext cx="986730" cy="200025"/>
          </a:xfrm>
          <a:prstGeom prst="roundRect">
            <a:avLst>
              <a:gd name="adj" fmla="val 50000"/>
            </a:avLst>
          </a:prstGeom>
          <a:solidFill>
            <a:srgbClr val="6551FF"/>
          </a:solidFill>
          <a:ln w="9525">
            <a:solidFill>
              <a:srgbClr val="6551FF"/>
            </a:solidFill>
          </a:ln>
        </p:spPr>
        <p:txBody>
          <a:bodyPr wrap="none" lIns="0" tIns="0" rIns="0" bIns="9525" rtlCol="0" anchor="ctr"/>
          <a:lstStyle/>
          <a:p>
            <a:pPr algn="ctr" indent="0" marL="0">
              <a:buNone/>
            </a:pPr>
            <a:r>
              <a:rPr lang="en-US" sz="863" b="1" dirty="0">
                <a:solidFill>
                  <a:srgbClr val="FFFFFF"/>
                </a:solidFill>
                <a:latin typeface="Scotia" pitchFamily="34" charset="0"/>
                <a:ea typeface="Scotia" pitchFamily="34" charset="-122"/>
                <a:cs typeface="Scotia" pitchFamily="34" charset="-120"/>
              </a:rPr>
              <a:t>Agentic pattern</a:t>
            </a:r>
            <a:endParaRPr lang="en-US" sz="863" dirty="0"/>
          </a:p>
        </p:txBody>
      </p:sp>
      <p:sp>
        <p:nvSpPr>
          <p:cNvPr id="76" name="dk-chip"/>
          <p:cNvSpPr/>
          <p:nvPr/>
        </p:nvSpPr>
        <p:spPr>
          <a:xfrm>
            <a:off x="3716536" y="5872163"/>
            <a:ext cx="1037034" cy="200025"/>
          </a:xfrm>
          <a:prstGeom prst="roundRect">
            <a:avLst>
              <a:gd name="adj" fmla="val 50000"/>
            </a:avLst>
          </a:prstGeom>
          <a:noFill/>
          <a:ln w="9525">
            <a:solidFill>
              <a:srgbClr val="1FAA68"/>
            </a:solidFill>
          </a:ln>
        </p:spPr>
        <p:txBody>
          <a:bodyPr wrap="none" lIns="0" tIns="0" rIns="0" bIns="9525" rtlCol="0" anchor="ctr"/>
          <a:lstStyle/>
          <a:p>
            <a:pPr algn="ctr" indent="0" marL="0">
              <a:buNone/>
            </a:pPr>
            <a:r>
              <a:rPr lang="en-US" sz="863" b="1" dirty="0">
                <a:solidFill>
                  <a:srgbClr val="7FE0AA"/>
                </a:solidFill>
                <a:latin typeface="Scotia" pitchFamily="34" charset="0"/>
                <a:ea typeface="Scotia" pitchFamily="34" charset="-122"/>
                <a:cs typeface="Scotia" pitchFamily="34" charset="-120"/>
              </a:rPr>
              <a:t>Context strategy</a:t>
            </a:r>
            <a:endParaRPr lang="en-US" sz="863" dirty="0"/>
          </a:p>
        </p:txBody>
      </p:sp>
      <p:sp>
        <p:nvSpPr>
          <p:cNvPr id="77" name="ch-sep"/>
          <p:cNvSpPr/>
          <p:nvPr/>
        </p:nvSpPr>
        <p:spPr>
          <a:xfrm>
            <a:off x="4929783" y="5886450"/>
            <a:ext cx="9525" cy="171450"/>
          </a:xfrm>
          <a:prstGeom prst="rect">
            <a:avLst/>
          </a:prstGeom>
          <a:solidFill>
            <a:srgbClr val="BDC2EF">
              <a:alpha val="30000"/>
            </a:srgbClr>
          </a:solidFill>
          <a:ln>
            <a:noFill/>
          </a:ln>
        </p:spPr>
      </p:sp>
      <p:sp>
        <p:nvSpPr>
          <p:cNvPr id="78" name="dk-chip"/>
          <p:cNvSpPr/>
          <p:nvPr/>
        </p:nvSpPr>
        <p:spPr>
          <a:xfrm>
            <a:off x="5115520" y="5872163"/>
            <a:ext cx="1043583" cy="200025"/>
          </a:xfrm>
          <a:prstGeom prst="roundRect">
            <a:avLst>
              <a:gd name="adj" fmla="val 50000"/>
            </a:avLst>
          </a:prstGeom>
          <a:solidFill>
            <a:srgbClr val="FFFFFF"/>
          </a:solidFill>
          <a:ln w="9525">
            <a:solidFill>
              <a:srgbClr val="FFFFFF"/>
            </a:solidFill>
          </a:ln>
        </p:spPr>
        <p:txBody>
          <a:bodyPr wrap="none" lIns="0" tIns="0" rIns="0" bIns="9525" rtlCol="0" anchor="ctr"/>
          <a:lstStyle/>
          <a:p>
            <a:pPr algn="ctr" indent="0" marL="0">
              <a:buNone/>
            </a:pPr>
            <a:r>
              <a:rPr lang="en-US" sz="863" b="1" dirty="0">
                <a:solidFill>
                  <a:srgbClr val="0B0823"/>
                </a:solidFill>
                <a:latin typeface="Scotia" pitchFamily="34" charset="0"/>
                <a:ea typeface="Scotia" pitchFamily="34" charset="-122"/>
                <a:cs typeface="Scotia" pitchFamily="34" charset="-120"/>
              </a:rPr>
              <a:t>Data governance</a:t>
            </a:r>
            <a:endParaRPr lang="en-US" sz="863" dirty="0"/>
          </a:p>
        </p:txBody>
      </p:sp>
      <p:sp>
        <p:nvSpPr>
          <p:cNvPr id="79" name="Text Any pattern that splits the wo"/>
          <p:cNvSpPr txBox="1"/>
          <p:nvPr/>
        </p:nvSpPr>
        <p:spPr>
          <a:xfrm>
            <a:off x="6278166" y="5886450"/>
            <a:ext cx="4379416" cy="161925"/>
          </a:xfrm>
          <a:prstGeom prst="rect">
            <a:avLst/>
          </a:prstGeom>
          <a:noFill/>
          <a:ln/>
        </p:spPr>
        <p:txBody>
          <a:bodyPr wrap="none" lIns="0" tIns="0" rIns="0" bIns="0" rtlCol="0" anchor="ctr"/>
          <a:lstStyle/>
          <a:p>
            <a:pPr algn="l" indent="0" marL="0">
              <a:buNone/>
            </a:pPr>
            <a:r>
              <a:rPr lang="en-US" sz="975" dirty="0">
                <a:solidFill>
                  <a:srgbClr val="D6D4EA"/>
                </a:solidFill>
                <a:latin typeface="Scotia Serif" pitchFamily="34" charset="0"/>
                <a:ea typeface="Scotia Serif" pitchFamily="34" charset="-122"/>
                <a:cs typeface="Scotia Serif" pitchFamily="34" charset="-120"/>
              </a:rPr>
              <a:t>Any pattern that splits the work can also scope each agent’s data and access.</a:t>
            </a:r>
            <a:endParaRPr lang="en-US" sz="975" dirty="0"/>
          </a:p>
        </p:txBody>
      </p:sp>
      <p:sp>
        <p:nvSpPr>
          <p:cNvPr id="80"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81" name="Text 22"/>
          <p:cNvSpPr txBox="1"/>
          <p:nvPr/>
        </p:nvSpPr>
        <p:spPr>
          <a:xfrm>
            <a:off x="11615291" y="6306483"/>
            <a:ext cx="167134"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823"/>
        </a:solidFill>
      </p:bgPr>
    </p:bg>
    <p:spTree>
      <p:nvGrpSpPr>
        <p:cNvPr id="1" name=""/>
        <p:cNvGrpSpPr/>
        <p:nvPr/>
      </p:nvGrpSpPr>
      <p:grpSpPr>
        <a:xfrm>
          <a:off x="0" y="0"/>
          <a:ext cx="0" cy="0"/>
          <a:chOff x="0" y="0"/>
          <a:chExt cx="0" cy="0"/>
        </a:xfrm>
      </p:grpSpPr>
      <p:sp>
        <p:nvSpPr>
          <p:cNvPr id="2" name="ty2-glow"/>
          <p:cNvSpPr/>
          <p:nvPr/>
        </p:nvSpPr>
        <p:spPr>
          <a:xfrm>
            <a:off x="-4381500" y="-4762500"/>
            <a:ext cx="10477500" cy="10477500"/>
          </a:xfrm>
          <a:prstGeom prst="ellipse">
            <a:avLst/>
          </a:prstGeom>
          <a:gradFill rotWithShape="1">
            <a:gsLst>
              <a:gs pos="0">
                <a:srgbClr val="0B0823"/>
              </a:gs>
              <a:gs pos="0">
                <a:srgbClr val="6551FF">
                  <a:alpha val="42000"/>
                </a:srgbClr>
              </a:gs>
              <a:gs pos="45000">
                <a:srgbClr val="6551FF">
                  <a:alpha val="12000"/>
                </a:srgbClr>
              </a:gs>
              <a:gs pos="70000">
                <a:srgbClr val="6551FF">
                  <a:alpha val="0"/>
                </a:srgbClr>
              </a:gs>
            </a:gsLst>
            <a:path path="circle">
              <a:fillToRect l="50000" t="50000" r="50000" b="50000"/>
            </a:path>
          </a:gradFill>
          <a:ln>
            <a:noFill/>
          </a:ln>
        </p:spPr>
      </p:sp>
      <p:sp>
        <p:nvSpPr>
          <p:cNvPr id="3" name="ty2-glow"/>
          <p:cNvSpPr/>
          <p:nvPr/>
        </p:nvSpPr>
        <p:spPr>
          <a:xfrm>
            <a:off x="7810500" y="3143250"/>
            <a:ext cx="8572500" cy="8572500"/>
          </a:xfrm>
          <a:prstGeom prst="ellipse">
            <a:avLst/>
          </a:prstGeom>
          <a:gradFill rotWithShape="1">
            <a:gsLst>
              <a:gs pos="0">
                <a:srgbClr val="0B0823"/>
              </a:gs>
              <a:gs pos="0">
                <a:srgbClr val="6551FF">
                  <a:alpha val="20000"/>
                </a:srgbClr>
              </a:gs>
              <a:gs pos="70000">
                <a:srgbClr val="6551FF">
                  <a:alpha val="0"/>
                </a:srgbClr>
              </a:gs>
            </a:gsLst>
            <a:path path="circle">
              <a:fillToRect l="50000" t="50000" r="50000" b="50000"/>
            </a:path>
          </a:gradFill>
          <a:ln>
            <a:noFill/>
          </a:ln>
        </p:spPr>
      </p:sp>
      <p:sp>
        <p:nvSpPr>
          <p:cNvPr id="4" name="Text MCP DEV SUMMIT TORONTO 2026"/>
          <p:cNvSpPr txBox="1"/>
          <p:nvPr/>
        </p:nvSpPr>
        <p:spPr>
          <a:xfrm>
            <a:off x="400050" y="547688"/>
            <a:ext cx="2372618" cy="152400"/>
          </a:xfrm>
          <a:prstGeom prst="rect">
            <a:avLst/>
          </a:prstGeom>
          <a:noFill/>
          <a:ln/>
        </p:spPr>
        <p:txBody>
          <a:bodyPr wrap="none" lIns="0" tIns="0" rIns="0" bIns="0" rtlCol="0" anchor="ctr"/>
          <a:lstStyle/>
          <a:p>
            <a:pPr algn="l" indent="0" marL="0">
              <a:buNone/>
            </a:pPr>
            <a:r>
              <a:rPr lang="en-US" sz="825" b="1" spc="165" kern="0" dirty="0">
                <a:solidFill>
                  <a:srgbClr val="A9A6CF"/>
                </a:solidFill>
                <a:latin typeface="Scotia" pitchFamily="34" charset="0"/>
                <a:ea typeface="Scotia" pitchFamily="34" charset="-122"/>
                <a:cs typeface="Scotia" pitchFamily="34" charset="-120"/>
              </a:rPr>
              <a:t>MCP DEV SUMMIT · TORONTO 2026</a:t>
            </a:r>
            <a:endParaRPr lang="en-US" sz="825" dirty="0"/>
          </a:p>
        </p:txBody>
      </p:sp>
      <p:sp>
        <p:nvSpPr>
          <p:cNvPr id="5" name="Text Thankyou."/>
          <p:cNvSpPr txBox="1"/>
          <p:nvPr/>
        </p:nvSpPr>
        <p:spPr>
          <a:xfrm>
            <a:off x="361950" y="933450"/>
            <a:ext cx="5143500" cy="1981200"/>
          </a:xfrm>
          <a:prstGeom prst="rect">
            <a:avLst/>
          </a:prstGeom>
          <a:noFill/>
          <a:ln/>
        </p:spPr>
        <p:txBody>
          <a:bodyPr wrap="square" lIns="0" tIns="0" rIns="0" bIns="0" rtlCol="0" anchor="t"/>
          <a:lstStyle/>
          <a:p>
            <a:pPr algn="l" indent="0" marL="0">
              <a:lnSpc>
                <a:spcPts val="7800"/>
              </a:lnSpc>
              <a:buNone/>
            </a:pPr>
            <a:r>
              <a:rPr lang="en-US" sz="8700" spc="-174" kern="0" dirty="0">
                <a:solidFill>
                  <a:srgbClr val="FFFFFF"/>
                </a:solidFill>
                <a:latin typeface="Scotia Headline" pitchFamily="34" charset="0"/>
                <a:ea typeface="Scotia Headline" pitchFamily="34" charset="-122"/>
                <a:cs typeface="Scotia Headline" pitchFamily="34" charset="-120"/>
              </a:rPr>
              <a:t>Thank</a:t>
            </a:r>
            <a:endParaRPr lang="en-US" sz="8700" dirty="0"/>
          </a:p>
          <a:p>
            <a:pPr algn="l" indent="0" marL="0">
              <a:lnSpc>
                <a:spcPts val="7800"/>
              </a:lnSpc>
              <a:buNone/>
            </a:pPr>
            <a:r>
              <a:rPr lang="en-US" sz="8700" spc="-174" kern="0" dirty="0">
                <a:solidFill>
                  <a:srgbClr val="B3A9FF"/>
                </a:solidFill>
                <a:latin typeface="Scotia Headline" pitchFamily="34" charset="0"/>
                <a:ea typeface="Scotia Headline" pitchFamily="34" charset="-122"/>
                <a:cs typeface="Scotia Headline" pitchFamily="34" charset="-120"/>
              </a:rPr>
              <a:t>you.</a:t>
            </a:r>
            <a:endParaRPr lang="en-US" sz="8700" dirty="0"/>
          </a:p>
        </p:txBody>
      </p:sp>
      <p:sp>
        <p:nvSpPr>
          <p:cNvPr id="6" name="Text Questions Come find us after"/>
          <p:cNvSpPr txBox="1"/>
          <p:nvPr/>
        </p:nvSpPr>
        <p:spPr>
          <a:xfrm>
            <a:off x="400050" y="3271838"/>
            <a:ext cx="4191000" cy="571500"/>
          </a:xfrm>
          <a:prstGeom prst="rect">
            <a:avLst/>
          </a:prstGeom>
          <a:noFill/>
          <a:ln/>
        </p:spPr>
        <p:txBody>
          <a:bodyPr wrap="square" lIns="0" tIns="0" rIns="0" bIns="0" rtlCol="0" anchor="t"/>
          <a:lstStyle/>
          <a:p>
            <a:pPr algn="l" indent="0" marL="0">
              <a:lnSpc>
                <a:spcPts val="2250"/>
              </a:lnSpc>
              <a:buNone/>
            </a:pPr>
            <a:r>
              <a:rPr lang="en-US" sz="1575" dirty="0">
                <a:solidFill>
                  <a:srgbClr val="D6D4EA"/>
                </a:solidFill>
                <a:latin typeface="Scotia Serif" pitchFamily="34" charset="0"/>
                <a:ea typeface="Scotia Serif" pitchFamily="34" charset="-122"/>
                <a:cs typeface="Scotia Serif" pitchFamily="34" charset="-120"/>
              </a:rPr>
              <a:t>Questions? Come find us after the session, or pick up the code.</a:t>
            </a:r>
            <a:endParaRPr lang="en-US" sz="1575" dirty="0"/>
          </a:p>
        </p:txBody>
      </p:sp>
      <p:sp>
        <p:nvSpPr>
          <p:cNvPr id="7" name="dk-card"/>
          <p:cNvSpPr/>
          <p:nvPr/>
        </p:nvSpPr>
        <p:spPr>
          <a:xfrm>
            <a:off x="404813" y="4538663"/>
            <a:ext cx="4467225" cy="1571625"/>
          </a:xfrm>
          <a:prstGeom prst="roundRect">
            <a:avLst>
              <a:gd name="adj" fmla="val 9394"/>
            </a:avLst>
          </a:prstGeom>
          <a:gradFill rotWithShape="1">
            <a:gsLst>
              <a:gs pos="0">
                <a:srgbClr val="1A1550"/>
              </a:gs>
              <a:gs pos="100000">
                <a:srgbClr val="120E36"/>
              </a:gs>
            </a:gsLst>
            <a:lin ang="5400000" scaled="0"/>
          </a:gradFill>
          <a:ln w="9525">
            <a:solidFill>
              <a:srgbClr val="3B3392"/>
            </a:solidFill>
          </a:ln>
        </p:spPr>
      </p:sp>
      <p:sp>
        <p:nvSpPr>
          <p:cNvPr id="8" name="ty2-qr"/>
          <p:cNvSpPr/>
          <p:nvPr/>
        </p:nvSpPr>
        <p:spPr>
          <a:xfrm>
            <a:off x="600075" y="4686300"/>
            <a:ext cx="1276350" cy="1276350"/>
          </a:xfrm>
          <a:prstGeom prst="roundRect">
            <a:avLst>
              <a:gd name="adj" fmla="val 8955"/>
            </a:avLst>
          </a:prstGeom>
          <a:solidFill>
            <a:srgbClr val="FFFFFF"/>
          </a:solidFill>
          <a:ln>
            <a:noFill/>
          </a:ln>
        </p:spPr>
      </p:sp>
      <p:sp>
        <p:nvSpPr>
          <p:cNvPr id="9" name="svg path"/>
          <p:cNvSpPr/>
          <p:nvPr/>
        </p:nvSpPr>
        <p:spPr>
          <a:xfrm>
            <a:off x="714375" y="4800600"/>
            <a:ext cx="1047750" cy="1047750"/>
          </a:xfrm>
          <a:custGeom>
            <a:avLst/>
            <a:gdLst/>
            <a:ahLst/>
            <a:cxnLst/>
            <a:rect l="l" t="t" r="r" b="b"/>
            <a:pathLst>
              <a:path w="1047750" h="1047750">
                <a:moveTo>
                  <a:pt x="0" y="0"/>
                </a:moveTo>
                <a:lnTo>
                  <a:pt x="222250" y="0"/>
                </a:lnTo>
                <a:lnTo>
                  <a:pt x="222250" y="31750"/>
                </a:lnTo>
                <a:lnTo>
                  <a:pt x="0" y="31750"/>
                </a:lnTo>
                <a:close/>
                <a:moveTo>
                  <a:pt x="254000" y="0"/>
                </a:moveTo>
                <a:lnTo>
                  <a:pt x="285750" y="0"/>
                </a:lnTo>
                <a:lnTo>
                  <a:pt x="285750" y="31750"/>
                </a:lnTo>
                <a:lnTo>
                  <a:pt x="254000" y="31750"/>
                </a:lnTo>
                <a:close/>
                <a:moveTo>
                  <a:pt x="349250" y="0"/>
                </a:moveTo>
                <a:lnTo>
                  <a:pt x="381000" y="0"/>
                </a:lnTo>
                <a:lnTo>
                  <a:pt x="381000" y="31750"/>
                </a:lnTo>
                <a:lnTo>
                  <a:pt x="349250" y="31750"/>
                </a:lnTo>
                <a:close/>
                <a:moveTo>
                  <a:pt x="412750" y="0"/>
                </a:moveTo>
                <a:lnTo>
                  <a:pt x="539750" y="0"/>
                </a:lnTo>
                <a:lnTo>
                  <a:pt x="539750" y="31750"/>
                </a:lnTo>
                <a:lnTo>
                  <a:pt x="412750" y="31750"/>
                </a:lnTo>
                <a:close/>
                <a:moveTo>
                  <a:pt x="571500" y="0"/>
                </a:moveTo>
                <a:lnTo>
                  <a:pt x="603250" y="0"/>
                </a:lnTo>
                <a:lnTo>
                  <a:pt x="603250" y="31750"/>
                </a:lnTo>
                <a:lnTo>
                  <a:pt x="571500" y="31750"/>
                </a:lnTo>
                <a:close/>
                <a:moveTo>
                  <a:pt x="730250" y="0"/>
                </a:moveTo>
                <a:lnTo>
                  <a:pt x="762000" y="0"/>
                </a:lnTo>
                <a:lnTo>
                  <a:pt x="762000" y="31750"/>
                </a:lnTo>
                <a:lnTo>
                  <a:pt x="730250" y="31750"/>
                </a:lnTo>
                <a:close/>
                <a:moveTo>
                  <a:pt x="825500" y="0"/>
                </a:moveTo>
                <a:lnTo>
                  <a:pt x="1047750" y="0"/>
                </a:lnTo>
                <a:lnTo>
                  <a:pt x="1047750" y="31750"/>
                </a:lnTo>
                <a:lnTo>
                  <a:pt x="825500" y="31750"/>
                </a:lnTo>
                <a:close/>
                <a:moveTo>
                  <a:pt x="0" y="31750"/>
                </a:moveTo>
                <a:lnTo>
                  <a:pt x="31750" y="31750"/>
                </a:lnTo>
                <a:lnTo>
                  <a:pt x="31750" y="63500"/>
                </a:lnTo>
                <a:lnTo>
                  <a:pt x="0" y="63500"/>
                </a:lnTo>
                <a:close/>
                <a:moveTo>
                  <a:pt x="190500" y="31750"/>
                </a:moveTo>
                <a:lnTo>
                  <a:pt x="222250" y="31750"/>
                </a:lnTo>
                <a:lnTo>
                  <a:pt x="222250" y="63500"/>
                </a:lnTo>
                <a:lnTo>
                  <a:pt x="190500" y="63500"/>
                </a:lnTo>
                <a:close/>
                <a:moveTo>
                  <a:pt x="349250" y="31750"/>
                </a:moveTo>
                <a:lnTo>
                  <a:pt x="476250" y="31750"/>
                </a:lnTo>
                <a:lnTo>
                  <a:pt x="476250" y="63500"/>
                </a:lnTo>
                <a:lnTo>
                  <a:pt x="349250" y="63500"/>
                </a:lnTo>
                <a:close/>
                <a:moveTo>
                  <a:pt x="571500" y="31750"/>
                </a:moveTo>
                <a:lnTo>
                  <a:pt x="698500" y="31750"/>
                </a:lnTo>
                <a:lnTo>
                  <a:pt x="698500" y="63500"/>
                </a:lnTo>
                <a:lnTo>
                  <a:pt x="571500" y="63500"/>
                </a:lnTo>
                <a:close/>
                <a:moveTo>
                  <a:pt x="825500" y="31750"/>
                </a:moveTo>
                <a:lnTo>
                  <a:pt x="857250" y="31750"/>
                </a:lnTo>
                <a:lnTo>
                  <a:pt x="857250" y="63500"/>
                </a:lnTo>
                <a:lnTo>
                  <a:pt x="825500" y="63500"/>
                </a:lnTo>
                <a:close/>
                <a:moveTo>
                  <a:pt x="1016000" y="31750"/>
                </a:moveTo>
                <a:lnTo>
                  <a:pt x="1047750" y="31750"/>
                </a:lnTo>
                <a:lnTo>
                  <a:pt x="1047750" y="63500"/>
                </a:lnTo>
                <a:lnTo>
                  <a:pt x="1016000" y="63500"/>
                </a:lnTo>
                <a:close/>
                <a:moveTo>
                  <a:pt x="0" y="63500"/>
                </a:moveTo>
                <a:lnTo>
                  <a:pt x="31750" y="63500"/>
                </a:lnTo>
                <a:lnTo>
                  <a:pt x="31750" y="95250"/>
                </a:lnTo>
                <a:lnTo>
                  <a:pt x="0" y="95250"/>
                </a:lnTo>
                <a:close/>
                <a:moveTo>
                  <a:pt x="63500" y="63500"/>
                </a:moveTo>
                <a:lnTo>
                  <a:pt x="158750" y="63500"/>
                </a:lnTo>
                <a:lnTo>
                  <a:pt x="158750" y="95250"/>
                </a:lnTo>
                <a:lnTo>
                  <a:pt x="63500" y="95250"/>
                </a:lnTo>
                <a:close/>
                <a:moveTo>
                  <a:pt x="190500" y="63500"/>
                </a:moveTo>
                <a:lnTo>
                  <a:pt x="222250" y="63500"/>
                </a:lnTo>
                <a:lnTo>
                  <a:pt x="222250" y="95250"/>
                </a:lnTo>
                <a:lnTo>
                  <a:pt x="190500" y="95250"/>
                </a:lnTo>
                <a:close/>
                <a:moveTo>
                  <a:pt x="349250" y="63500"/>
                </a:moveTo>
                <a:lnTo>
                  <a:pt x="412750" y="63500"/>
                </a:lnTo>
                <a:lnTo>
                  <a:pt x="412750" y="95250"/>
                </a:lnTo>
                <a:lnTo>
                  <a:pt x="349250" y="95250"/>
                </a:lnTo>
                <a:close/>
                <a:moveTo>
                  <a:pt x="444500" y="63500"/>
                </a:moveTo>
                <a:lnTo>
                  <a:pt x="476250" y="63500"/>
                </a:lnTo>
                <a:lnTo>
                  <a:pt x="476250" y="95250"/>
                </a:lnTo>
                <a:lnTo>
                  <a:pt x="444500" y="95250"/>
                </a:lnTo>
                <a:close/>
                <a:moveTo>
                  <a:pt x="539750" y="63500"/>
                </a:moveTo>
                <a:lnTo>
                  <a:pt x="571500" y="63500"/>
                </a:lnTo>
                <a:lnTo>
                  <a:pt x="571500" y="95250"/>
                </a:lnTo>
                <a:lnTo>
                  <a:pt x="539750" y="95250"/>
                </a:lnTo>
                <a:close/>
                <a:moveTo>
                  <a:pt x="603250" y="63500"/>
                </a:moveTo>
                <a:lnTo>
                  <a:pt x="635000" y="63500"/>
                </a:lnTo>
                <a:lnTo>
                  <a:pt x="635000" y="95250"/>
                </a:lnTo>
                <a:lnTo>
                  <a:pt x="603250" y="95250"/>
                </a:lnTo>
                <a:close/>
                <a:moveTo>
                  <a:pt x="666750" y="63500"/>
                </a:moveTo>
                <a:lnTo>
                  <a:pt x="793750" y="63500"/>
                </a:lnTo>
                <a:lnTo>
                  <a:pt x="793750" y="95250"/>
                </a:lnTo>
                <a:lnTo>
                  <a:pt x="666750" y="95250"/>
                </a:lnTo>
                <a:close/>
                <a:moveTo>
                  <a:pt x="825500" y="63500"/>
                </a:moveTo>
                <a:lnTo>
                  <a:pt x="857250" y="63500"/>
                </a:lnTo>
                <a:lnTo>
                  <a:pt x="857250" y="95250"/>
                </a:lnTo>
                <a:lnTo>
                  <a:pt x="825500" y="95250"/>
                </a:lnTo>
                <a:close/>
                <a:moveTo>
                  <a:pt x="889000" y="63500"/>
                </a:moveTo>
                <a:lnTo>
                  <a:pt x="984250" y="63500"/>
                </a:lnTo>
                <a:lnTo>
                  <a:pt x="984250" y="95250"/>
                </a:lnTo>
                <a:lnTo>
                  <a:pt x="889000" y="95250"/>
                </a:lnTo>
                <a:close/>
                <a:moveTo>
                  <a:pt x="1016000" y="63500"/>
                </a:moveTo>
                <a:lnTo>
                  <a:pt x="1047750" y="63500"/>
                </a:lnTo>
                <a:lnTo>
                  <a:pt x="1047750" y="95250"/>
                </a:lnTo>
                <a:lnTo>
                  <a:pt x="1016000" y="95250"/>
                </a:lnTo>
                <a:close/>
                <a:moveTo>
                  <a:pt x="0" y="95250"/>
                </a:moveTo>
                <a:lnTo>
                  <a:pt x="31750" y="95250"/>
                </a:lnTo>
                <a:lnTo>
                  <a:pt x="31750" y="127000"/>
                </a:lnTo>
                <a:lnTo>
                  <a:pt x="0" y="127000"/>
                </a:lnTo>
                <a:close/>
                <a:moveTo>
                  <a:pt x="63500" y="95250"/>
                </a:moveTo>
                <a:lnTo>
                  <a:pt x="158750" y="95250"/>
                </a:lnTo>
                <a:lnTo>
                  <a:pt x="158750" y="127000"/>
                </a:lnTo>
                <a:lnTo>
                  <a:pt x="63500" y="127000"/>
                </a:lnTo>
                <a:close/>
                <a:moveTo>
                  <a:pt x="190500" y="95250"/>
                </a:moveTo>
                <a:lnTo>
                  <a:pt x="222250" y="95250"/>
                </a:lnTo>
                <a:lnTo>
                  <a:pt x="222250" y="127000"/>
                </a:lnTo>
                <a:lnTo>
                  <a:pt x="190500" y="127000"/>
                </a:lnTo>
                <a:close/>
                <a:moveTo>
                  <a:pt x="254000" y="95250"/>
                </a:moveTo>
                <a:lnTo>
                  <a:pt x="317500" y="95250"/>
                </a:lnTo>
                <a:lnTo>
                  <a:pt x="317500" y="127000"/>
                </a:lnTo>
                <a:lnTo>
                  <a:pt x="254000" y="127000"/>
                </a:lnTo>
                <a:close/>
                <a:moveTo>
                  <a:pt x="508000" y="95250"/>
                </a:moveTo>
                <a:lnTo>
                  <a:pt x="571500" y="95250"/>
                </a:lnTo>
                <a:lnTo>
                  <a:pt x="571500" y="127000"/>
                </a:lnTo>
                <a:lnTo>
                  <a:pt x="508000" y="127000"/>
                </a:lnTo>
                <a:close/>
                <a:moveTo>
                  <a:pt x="730250" y="95250"/>
                </a:moveTo>
                <a:lnTo>
                  <a:pt x="793750" y="95250"/>
                </a:lnTo>
                <a:lnTo>
                  <a:pt x="793750" y="127000"/>
                </a:lnTo>
                <a:lnTo>
                  <a:pt x="730250" y="127000"/>
                </a:lnTo>
                <a:close/>
                <a:moveTo>
                  <a:pt x="825500" y="95250"/>
                </a:moveTo>
                <a:lnTo>
                  <a:pt x="857250" y="95250"/>
                </a:lnTo>
                <a:lnTo>
                  <a:pt x="857250" y="127000"/>
                </a:lnTo>
                <a:lnTo>
                  <a:pt x="825500" y="127000"/>
                </a:lnTo>
                <a:close/>
                <a:moveTo>
                  <a:pt x="889000" y="95250"/>
                </a:moveTo>
                <a:lnTo>
                  <a:pt x="984250" y="95250"/>
                </a:lnTo>
                <a:lnTo>
                  <a:pt x="984250" y="127000"/>
                </a:lnTo>
                <a:lnTo>
                  <a:pt x="889000" y="127000"/>
                </a:lnTo>
                <a:close/>
                <a:moveTo>
                  <a:pt x="1016000" y="95250"/>
                </a:moveTo>
                <a:lnTo>
                  <a:pt x="1047750" y="95250"/>
                </a:lnTo>
                <a:lnTo>
                  <a:pt x="1047750" y="127000"/>
                </a:lnTo>
                <a:lnTo>
                  <a:pt x="1016000" y="127000"/>
                </a:lnTo>
                <a:close/>
                <a:moveTo>
                  <a:pt x="0" y="127000"/>
                </a:moveTo>
                <a:lnTo>
                  <a:pt x="31750" y="127000"/>
                </a:lnTo>
                <a:lnTo>
                  <a:pt x="31750" y="158750"/>
                </a:lnTo>
                <a:lnTo>
                  <a:pt x="0" y="158750"/>
                </a:lnTo>
                <a:close/>
                <a:moveTo>
                  <a:pt x="63500" y="127000"/>
                </a:moveTo>
                <a:lnTo>
                  <a:pt x="158750" y="127000"/>
                </a:lnTo>
                <a:lnTo>
                  <a:pt x="158750" y="158750"/>
                </a:lnTo>
                <a:lnTo>
                  <a:pt x="63500" y="158750"/>
                </a:lnTo>
                <a:close/>
                <a:moveTo>
                  <a:pt x="190500" y="127000"/>
                </a:moveTo>
                <a:lnTo>
                  <a:pt x="222250" y="127000"/>
                </a:lnTo>
                <a:lnTo>
                  <a:pt x="222250" y="158750"/>
                </a:lnTo>
                <a:lnTo>
                  <a:pt x="190500" y="158750"/>
                </a:lnTo>
                <a:close/>
                <a:moveTo>
                  <a:pt x="254000" y="127000"/>
                </a:moveTo>
                <a:lnTo>
                  <a:pt x="317500" y="127000"/>
                </a:lnTo>
                <a:lnTo>
                  <a:pt x="317500" y="158750"/>
                </a:lnTo>
                <a:lnTo>
                  <a:pt x="254000" y="158750"/>
                </a:lnTo>
                <a:close/>
                <a:moveTo>
                  <a:pt x="349250" y="127000"/>
                </a:moveTo>
                <a:lnTo>
                  <a:pt x="381000" y="127000"/>
                </a:lnTo>
                <a:lnTo>
                  <a:pt x="381000" y="158750"/>
                </a:lnTo>
                <a:lnTo>
                  <a:pt x="349250" y="158750"/>
                </a:lnTo>
                <a:close/>
                <a:moveTo>
                  <a:pt x="412750" y="127000"/>
                </a:moveTo>
                <a:lnTo>
                  <a:pt x="444500" y="127000"/>
                </a:lnTo>
                <a:lnTo>
                  <a:pt x="444500" y="158750"/>
                </a:lnTo>
                <a:lnTo>
                  <a:pt x="412750" y="158750"/>
                </a:lnTo>
                <a:close/>
                <a:moveTo>
                  <a:pt x="508000" y="127000"/>
                </a:moveTo>
                <a:lnTo>
                  <a:pt x="666750" y="127000"/>
                </a:lnTo>
                <a:lnTo>
                  <a:pt x="666750" y="158750"/>
                </a:lnTo>
                <a:lnTo>
                  <a:pt x="508000" y="158750"/>
                </a:lnTo>
                <a:close/>
                <a:moveTo>
                  <a:pt x="730250" y="127000"/>
                </a:moveTo>
                <a:lnTo>
                  <a:pt x="762000" y="127000"/>
                </a:lnTo>
                <a:lnTo>
                  <a:pt x="762000" y="158750"/>
                </a:lnTo>
                <a:lnTo>
                  <a:pt x="730250" y="158750"/>
                </a:lnTo>
                <a:close/>
                <a:moveTo>
                  <a:pt x="825500" y="127000"/>
                </a:moveTo>
                <a:lnTo>
                  <a:pt x="857250" y="127000"/>
                </a:lnTo>
                <a:lnTo>
                  <a:pt x="857250" y="158750"/>
                </a:lnTo>
                <a:lnTo>
                  <a:pt x="825500" y="158750"/>
                </a:lnTo>
                <a:close/>
                <a:moveTo>
                  <a:pt x="889000" y="127000"/>
                </a:moveTo>
                <a:lnTo>
                  <a:pt x="984250" y="127000"/>
                </a:lnTo>
                <a:lnTo>
                  <a:pt x="984250" y="158750"/>
                </a:lnTo>
                <a:lnTo>
                  <a:pt x="889000" y="158750"/>
                </a:lnTo>
                <a:close/>
                <a:moveTo>
                  <a:pt x="1016000" y="127000"/>
                </a:moveTo>
                <a:lnTo>
                  <a:pt x="1047750" y="127000"/>
                </a:lnTo>
                <a:lnTo>
                  <a:pt x="1047750" y="158750"/>
                </a:lnTo>
                <a:lnTo>
                  <a:pt x="1016000" y="158750"/>
                </a:lnTo>
                <a:close/>
                <a:moveTo>
                  <a:pt x="0" y="158750"/>
                </a:moveTo>
                <a:lnTo>
                  <a:pt x="31750" y="158750"/>
                </a:lnTo>
                <a:lnTo>
                  <a:pt x="31750" y="190500"/>
                </a:lnTo>
                <a:lnTo>
                  <a:pt x="0" y="190500"/>
                </a:lnTo>
                <a:close/>
                <a:moveTo>
                  <a:pt x="190500" y="158750"/>
                </a:moveTo>
                <a:lnTo>
                  <a:pt x="222250" y="158750"/>
                </a:lnTo>
                <a:lnTo>
                  <a:pt x="222250" y="190500"/>
                </a:lnTo>
                <a:lnTo>
                  <a:pt x="190500" y="190500"/>
                </a:lnTo>
                <a:close/>
                <a:moveTo>
                  <a:pt x="254000" y="158750"/>
                </a:moveTo>
                <a:lnTo>
                  <a:pt x="285750" y="158750"/>
                </a:lnTo>
                <a:lnTo>
                  <a:pt x="285750" y="190500"/>
                </a:lnTo>
                <a:lnTo>
                  <a:pt x="254000" y="190500"/>
                </a:lnTo>
                <a:close/>
                <a:moveTo>
                  <a:pt x="317500" y="158750"/>
                </a:moveTo>
                <a:lnTo>
                  <a:pt x="412750" y="158750"/>
                </a:lnTo>
                <a:lnTo>
                  <a:pt x="412750" y="190500"/>
                </a:lnTo>
                <a:lnTo>
                  <a:pt x="317500" y="190500"/>
                </a:lnTo>
                <a:close/>
                <a:moveTo>
                  <a:pt x="476250" y="158750"/>
                </a:moveTo>
                <a:lnTo>
                  <a:pt x="508000" y="158750"/>
                </a:lnTo>
                <a:lnTo>
                  <a:pt x="508000" y="190500"/>
                </a:lnTo>
                <a:lnTo>
                  <a:pt x="476250" y="190500"/>
                </a:lnTo>
                <a:close/>
                <a:moveTo>
                  <a:pt x="571500" y="158750"/>
                </a:moveTo>
                <a:lnTo>
                  <a:pt x="698500" y="158750"/>
                </a:lnTo>
                <a:lnTo>
                  <a:pt x="698500" y="190500"/>
                </a:lnTo>
                <a:lnTo>
                  <a:pt x="571500" y="190500"/>
                </a:lnTo>
                <a:close/>
                <a:moveTo>
                  <a:pt x="825500" y="158750"/>
                </a:moveTo>
                <a:lnTo>
                  <a:pt x="857250" y="158750"/>
                </a:lnTo>
                <a:lnTo>
                  <a:pt x="857250" y="190500"/>
                </a:lnTo>
                <a:lnTo>
                  <a:pt x="825500" y="190500"/>
                </a:lnTo>
                <a:close/>
                <a:moveTo>
                  <a:pt x="1016000" y="158750"/>
                </a:moveTo>
                <a:lnTo>
                  <a:pt x="1047750" y="158750"/>
                </a:lnTo>
                <a:lnTo>
                  <a:pt x="1047750" y="190500"/>
                </a:lnTo>
                <a:lnTo>
                  <a:pt x="1016000" y="190500"/>
                </a:lnTo>
                <a:close/>
                <a:moveTo>
                  <a:pt x="0" y="190500"/>
                </a:moveTo>
                <a:lnTo>
                  <a:pt x="222250" y="190500"/>
                </a:lnTo>
                <a:lnTo>
                  <a:pt x="222250" y="222250"/>
                </a:lnTo>
                <a:lnTo>
                  <a:pt x="0" y="222250"/>
                </a:lnTo>
                <a:close/>
                <a:moveTo>
                  <a:pt x="254000" y="190500"/>
                </a:moveTo>
                <a:lnTo>
                  <a:pt x="285750" y="190500"/>
                </a:lnTo>
                <a:lnTo>
                  <a:pt x="285750" y="222250"/>
                </a:lnTo>
                <a:lnTo>
                  <a:pt x="254000" y="222250"/>
                </a:lnTo>
                <a:close/>
                <a:moveTo>
                  <a:pt x="317500" y="190500"/>
                </a:moveTo>
                <a:lnTo>
                  <a:pt x="349250" y="190500"/>
                </a:lnTo>
                <a:lnTo>
                  <a:pt x="349250" y="222250"/>
                </a:lnTo>
                <a:lnTo>
                  <a:pt x="317500" y="222250"/>
                </a:lnTo>
                <a:close/>
                <a:moveTo>
                  <a:pt x="381000" y="190500"/>
                </a:moveTo>
                <a:lnTo>
                  <a:pt x="412750" y="190500"/>
                </a:lnTo>
                <a:lnTo>
                  <a:pt x="412750" y="222250"/>
                </a:lnTo>
                <a:lnTo>
                  <a:pt x="381000" y="222250"/>
                </a:lnTo>
                <a:close/>
                <a:moveTo>
                  <a:pt x="444500" y="190500"/>
                </a:moveTo>
                <a:lnTo>
                  <a:pt x="476250" y="190500"/>
                </a:lnTo>
                <a:lnTo>
                  <a:pt x="476250" y="222250"/>
                </a:lnTo>
                <a:lnTo>
                  <a:pt x="444500" y="222250"/>
                </a:lnTo>
                <a:close/>
                <a:moveTo>
                  <a:pt x="508000" y="190500"/>
                </a:moveTo>
                <a:lnTo>
                  <a:pt x="539750" y="190500"/>
                </a:lnTo>
                <a:lnTo>
                  <a:pt x="539750" y="222250"/>
                </a:lnTo>
                <a:lnTo>
                  <a:pt x="508000" y="222250"/>
                </a:lnTo>
                <a:close/>
                <a:moveTo>
                  <a:pt x="571500" y="190500"/>
                </a:moveTo>
                <a:lnTo>
                  <a:pt x="603250" y="190500"/>
                </a:lnTo>
                <a:lnTo>
                  <a:pt x="603250" y="222250"/>
                </a:lnTo>
                <a:lnTo>
                  <a:pt x="571500" y="222250"/>
                </a:lnTo>
                <a:close/>
                <a:moveTo>
                  <a:pt x="635000" y="190500"/>
                </a:moveTo>
                <a:lnTo>
                  <a:pt x="666750" y="190500"/>
                </a:lnTo>
                <a:lnTo>
                  <a:pt x="666750" y="222250"/>
                </a:lnTo>
                <a:lnTo>
                  <a:pt x="635000" y="222250"/>
                </a:lnTo>
                <a:close/>
                <a:moveTo>
                  <a:pt x="698500" y="190500"/>
                </a:moveTo>
                <a:lnTo>
                  <a:pt x="730250" y="190500"/>
                </a:lnTo>
                <a:lnTo>
                  <a:pt x="730250" y="222250"/>
                </a:lnTo>
                <a:lnTo>
                  <a:pt x="698500" y="222250"/>
                </a:lnTo>
                <a:close/>
                <a:moveTo>
                  <a:pt x="762000" y="190500"/>
                </a:moveTo>
                <a:lnTo>
                  <a:pt x="793750" y="190500"/>
                </a:lnTo>
                <a:lnTo>
                  <a:pt x="793750" y="222250"/>
                </a:lnTo>
                <a:lnTo>
                  <a:pt x="762000" y="222250"/>
                </a:lnTo>
                <a:close/>
                <a:moveTo>
                  <a:pt x="825500" y="190500"/>
                </a:moveTo>
                <a:lnTo>
                  <a:pt x="1047750" y="190500"/>
                </a:lnTo>
                <a:lnTo>
                  <a:pt x="1047750" y="222250"/>
                </a:lnTo>
                <a:lnTo>
                  <a:pt x="825500" y="222250"/>
                </a:lnTo>
                <a:close/>
                <a:moveTo>
                  <a:pt x="254000" y="222250"/>
                </a:moveTo>
                <a:lnTo>
                  <a:pt x="317500" y="222250"/>
                </a:lnTo>
                <a:lnTo>
                  <a:pt x="317500" y="254000"/>
                </a:lnTo>
                <a:lnTo>
                  <a:pt x="254000" y="254000"/>
                </a:lnTo>
                <a:close/>
                <a:moveTo>
                  <a:pt x="444500" y="222250"/>
                </a:moveTo>
                <a:lnTo>
                  <a:pt x="476250" y="222250"/>
                </a:lnTo>
                <a:lnTo>
                  <a:pt x="476250" y="254000"/>
                </a:lnTo>
                <a:lnTo>
                  <a:pt x="444500" y="254000"/>
                </a:lnTo>
                <a:close/>
                <a:moveTo>
                  <a:pt x="539750" y="222250"/>
                </a:moveTo>
                <a:lnTo>
                  <a:pt x="603250" y="222250"/>
                </a:lnTo>
                <a:lnTo>
                  <a:pt x="603250" y="254000"/>
                </a:lnTo>
                <a:lnTo>
                  <a:pt x="539750" y="254000"/>
                </a:lnTo>
                <a:close/>
                <a:moveTo>
                  <a:pt x="635000" y="222250"/>
                </a:moveTo>
                <a:lnTo>
                  <a:pt x="793750" y="222250"/>
                </a:lnTo>
                <a:lnTo>
                  <a:pt x="793750" y="254000"/>
                </a:lnTo>
                <a:lnTo>
                  <a:pt x="635000" y="254000"/>
                </a:lnTo>
                <a:close/>
                <a:moveTo>
                  <a:pt x="0" y="254000"/>
                </a:moveTo>
                <a:lnTo>
                  <a:pt x="31750" y="254000"/>
                </a:lnTo>
                <a:lnTo>
                  <a:pt x="31750" y="285750"/>
                </a:lnTo>
                <a:lnTo>
                  <a:pt x="0" y="285750"/>
                </a:lnTo>
                <a:close/>
                <a:moveTo>
                  <a:pt x="127000" y="254000"/>
                </a:moveTo>
                <a:lnTo>
                  <a:pt x="158750" y="254000"/>
                </a:lnTo>
                <a:lnTo>
                  <a:pt x="158750" y="285750"/>
                </a:lnTo>
                <a:lnTo>
                  <a:pt x="127000" y="285750"/>
                </a:lnTo>
                <a:close/>
                <a:moveTo>
                  <a:pt x="190500" y="254000"/>
                </a:moveTo>
                <a:lnTo>
                  <a:pt x="412750" y="254000"/>
                </a:lnTo>
                <a:lnTo>
                  <a:pt x="412750" y="285750"/>
                </a:lnTo>
                <a:lnTo>
                  <a:pt x="190500" y="285750"/>
                </a:lnTo>
                <a:close/>
                <a:moveTo>
                  <a:pt x="444500" y="254000"/>
                </a:moveTo>
                <a:lnTo>
                  <a:pt x="508000" y="254000"/>
                </a:lnTo>
                <a:lnTo>
                  <a:pt x="508000" y="285750"/>
                </a:lnTo>
                <a:lnTo>
                  <a:pt x="444500" y="285750"/>
                </a:lnTo>
                <a:close/>
                <a:moveTo>
                  <a:pt x="539750" y="254000"/>
                </a:moveTo>
                <a:lnTo>
                  <a:pt x="571500" y="254000"/>
                </a:lnTo>
                <a:lnTo>
                  <a:pt x="571500" y="285750"/>
                </a:lnTo>
                <a:lnTo>
                  <a:pt x="539750" y="285750"/>
                </a:lnTo>
                <a:close/>
                <a:moveTo>
                  <a:pt x="666750" y="254000"/>
                </a:moveTo>
                <a:lnTo>
                  <a:pt x="698500" y="254000"/>
                </a:lnTo>
                <a:lnTo>
                  <a:pt x="698500" y="285750"/>
                </a:lnTo>
                <a:lnTo>
                  <a:pt x="666750" y="285750"/>
                </a:lnTo>
                <a:close/>
                <a:moveTo>
                  <a:pt x="793750" y="254000"/>
                </a:moveTo>
                <a:lnTo>
                  <a:pt x="952500" y="254000"/>
                </a:lnTo>
                <a:lnTo>
                  <a:pt x="952500" y="285750"/>
                </a:lnTo>
                <a:lnTo>
                  <a:pt x="793750" y="285750"/>
                </a:lnTo>
                <a:close/>
                <a:moveTo>
                  <a:pt x="1016000" y="254000"/>
                </a:moveTo>
                <a:lnTo>
                  <a:pt x="1047750" y="254000"/>
                </a:lnTo>
                <a:lnTo>
                  <a:pt x="1047750" y="285750"/>
                </a:lnTo>
                <a:lnTo>
                  <a:pt x="1016000" y="285750"/>
                </a:lnTo>
                <a:close/>
                <a:moveTo>
                  <a:pt x="31750" y="285750"/>
                </a:moveTo>
                <a:lnTo>
                  <a:pt x="63500" y="285750"/>
                </a:lnTo>
                <a:lnTo>
                  <a:pt x="63500" y="317500"/>
                </a:lnTo>
                <a:lnTo>
                  <a:pt x="31750" y="317500"/>
                </a:lnTo>
                <a:close/>
                <a:moveTo>
                  <a:pt x="95250" y="285750"/>
                </a:moveTo>
                <a:lnTo>
                  <a:pt x="127000" y="285750"/>
                </a:lnTo>
                <a:lnTo>
                  <a:pt x="127000" y="317500"/>
                </a:lnTo>
                <a:lnTo>
                  <a:pt x="95250" y="317500"/>
                </a:lnTo>
                <a:close/>
                <a:moveTo>
                  <a:pt x="349250" y="285750"/>
                </a:moveTo>
                <a:lnTo>
                  <a:pt x="381000" y="285750"/>
                </a:lnTo>
                <a:lnTo>
                  <a:pt x="381000" y="317500"/>
                </a:lnTo>
                <a:lnTo>
                  <a:pt x="349250" y="317500"/>
                </a:lnTo>
                <a:close/>
                <a:moveTo>
                  <a:pt x="444500" y="285750"/>
                </a:moveTo>
                <a:lnTo>
                  <a:pt x="603250" y="285750"/>
                </a:lnTo>
                <a:lnTo>
                  <a:pt x="603250" y="317500"/>
                </a:lnTo>
                <a:lnTo>
                  <a:pt x="444500" y="317500"/>
                </a:lnTo>
                <a:close/>
                <a:moveTo>
                  <a:pt x="666750" y="285750"/>
                </a:moveTo>
                <a:lnTo>
                  <a:pt x="698500" y="285750"/>
                </a:lnTo>
                <a:lnTo>
                  <a:pt x="698500" y="317500"/>
                </a:lnTo>
                <a:lnTo>
                  <a:pt x="666750" y="317500"/>
                </a:lnTo>
                <a:close/>
                <a:moveTo>
                  <a:pt x="730250" y="285750"/>
                </a:moveTo>
                <a:lnTo>
                  <a:pt x="762000" y="285750"/>
                </a:lnTo>
                <a:lnTo>
                  <a:pt x="762000" y="317500"/>
                </a:lnTo>
                <a:lnTo>
                  <a:pt x="730250" y="317500"/>
                </a:lnTo>
                <a:close/>
                <a:moveTo>
                  <a:pt x="793750" y="285750"/>
                </a:moveTo>
                <a:lnTo>
                  <a:pt x="825500" y="285750"/>
                </a:lnTo>
                <a:lnTo>
                  <a:pt x="825500" y="317500"/>
                </a:lnTo>
                <a:lnTo>
                  <a:pt x="793750" y="317500"/>
                </a:lnTo>
                <a:close/>
                <a:moveTo>
                  <a:pt x="920750" y="285750"/>
                </a:moveTo>
                <a:lnTo>
                  <a:pt x="1016000" y="285750"/>
                </a:lnTo>
                <a:lnTo>
                  <a:pt x="1016000" y="317500"/>
                </a:lnTo>
                <a:lnTo>
                  <a:pt x="920750" y="317500"/>
                </a:lnTo>
                <a:close/>
                <a:moveTo>
                  <a:pt x="0" y="317500"/>
                </a:moveTo>
                <a:lnTo>
                  <a:pt x="95250" y="317500"/>
                </a:lnTo>
                <a:lnTo>
                  <a:pt x="95250" y="349250"/>
                </a:lnTo>
                <a:lnTo>
                  <a:pt x="0" y="349250"/>
                </a:lnTo>
                <a:close/>
                <a:moveTo>
                  <a:pt x="127000" y="317500"/>
                </a:moveTo>
                <a:lnTo>
                  <a:pt x="158750" y="317500"/>
                </a:lnTo>
                <a:lnTo>
                  <a:pt x="158750" y="349250"/>
                </a:lnTo>
                <a:lnTo>
                  <a:pt x="127000" y="349250"/>
                </a:lnTo>
                <a:close/>
                <a:moveTo>
                  <a:pt x="190500" y="317500"/>
                </a:moveTo>
                <a:lnTo>
                  <a:pt x="285750" y="317500"/>
                </a:lnTo>
                <a:lnTo>
                  <a:pt x="285750" y="349250"/>
                </a:lnTo>
                <a:lnTo>
                  <a:pt x="190500" y="349250"/>
                </a:lnTo>
                <a:close/>
                <a:moveTo>
                  <a:pt x="317500" y="317500"/>
                </a:moveTo>
                <a:lnTo>
                  <a:pt x="349250" y="317500"/>
                </a:lnTo>
                <a:lnTo>
                  <a:pt x="349250" y="349250"/>
                </a:lnTo>
                <a:lnTo>
                  <a:pt x="317500" y="349250"/>
                </a:lnTo>
                <a:close/>
                <a:moveTo>
                  <a:pt x="381000" y="317500"/>
                </a:moveTo>
                <a:lnTo>
                  <a:pt x="508000" y="317500"/>
                </a:lnTo>
                <a:lnTo>
                  <a:pt x="508000" y="349250"/>
                </a:lnTo>
                <a:lnTo>
                  <a:pt x="381000" y="349250"/>
                </a:lnTo>
                <a:close/>
                <a:moveTo>
                  <a:pt x="571500" y="317500"/>
                </a:moveTo>
                <a:lnTo>
                  <a:pt x="603250" y="317500"/>
                </a:lnTo>
                <a:lnTo>
                  <a:pt x="603250" y="349250"/>
                </a:lnTo>
                <a:lnTo>
                  <a:pt x="571500" y="349250"/>
                </a:lnTo>
                <a:close/>
                <a:moveTo>
                  <a:pt x="635000" y="317500"/>
                </a:moveTo>
                <a:lnTo>
                  <a:pt x="666750" y="317500"/>
                </a:lnTo>
                <a:lnTo>
                  <a:pt x="666750" y="349250"/>
                </a:lnTo>
                <a:lnTo>
                  <a:pt x="635000" y="349250"/>
                </a:lnTo>
                <a:close/>
                <a:moveTo>
                  <a:pt x="730250" y="317500"/>
                </a:moveTo>
                <a:lnTo>
                  <a:pt x="762000" y="317500"/>
                </a:lnTo>
                <a:lnTo>
                  <a:pt x="762000" y="349250"/>
                </a:lnTo>
                <a:lnTo>
                  <a:pt x="730250" y="349250"/>
                </a:lnTo>
                <a:close/>
                <a:moveTo>
                  <a:pt x="793750" y="317500"/>
                </a:moveTo>
                <a:lnTo>
                  <a:pt x="857250" y="317500"/>
                </a:lnTo>
                <a:lnTo>
                  <a:pt x="857250" y="349250"/>
                </a:lnTo>
                <a:lnTo>
                  <a:pt x="793750" y="349250"/>
                </a:lnTo>
                <a:close/>
                <a:moveTo>
                  <a:pt x="920750" y="317500"/>
                </a:moveTo>
                <a:lnTo>
                  <a:pt x="952500" y="317500"/>
                </a:lnTo>
                <a:lnTo>
                  <a:pt x="952500" y="349250"/>
                </a:lnTo>
                <a:lnTo>
                  <a:pt x="920750" y="349250"/>
                </a:lnTo>
                <a:close/>
                <a:moveTo>
                  <a:pt x="984250" y="317500"/>
                </a:moveTo>
                <a:lnTo>
                  <a:pt x="1016000" y="317500"/>
                </a:lnTo>
                <a:lnTo>
                  <a:pt x="1016000" y="349250"/>
                </a:lnTo>
                <a:lnTo>
                  <a:pt x="984250" y="349250"/>
                </a:lnTo>
                <a:close/>
                <a:moveTo>
                  <a:pt x="63500" y="349250"/>
                </a:moveTo>
                <a:lnTo>
                  <a:pt x="95250" y="349250"/>
                </a:lnTo>
                <a:lnTo>
                  <a:pt x="95250" y="381000"/>
                </a:lnTo>
                <a:lnTo>
                  <a:pt x="63500" y="381000"/>
                </a:lnTo>
                <a:close/>
                <a:moveTo>
                  <a:pt x="127000" y="349250"/>
                </a:moveTo>
                <a:lnTo>
                  <a:pt x="158750" y="349250"/>
                </a:lnTo>
                <a:lnTo>
                  <a:pt x="158750" y="381000"/>
                </a:lnTo>
                <a:lnTo>
                  <a:pt x="127000" y="381000"/>
                </a:lnTo>
                <a:close/>
                <a:moveTo>
                  <a:pt x="222250" y="349250"/>
                </a:moveTo>
                <a:lnTo>
                  <a:pt x="285750" y="349250"/>
                </a:lnTo>
                <a:lnTo>
                  <a:pt x="285750" y="381000"/>
                </a:lnTo>
                <a:lnTo>
                  <a:pt x="222250" y="381000"/>
                </a:lnTo>
                <a:close/>
                <a:moveTo>
                  <a:pt x="317500" y="349250"/>
                </a:moveTo>
                <a:lnTo>
                  <a:pt x="349250" y="349250"/>
                </a:lnTo>
                <a:lnTo>
                  <a:pt x="349250" y="381000"/>
                </a:lnTo>
                <a:lnTo>
                  <a:pt x="317500" y="381000"/>
                </a:lnTo>
                <a:close/>
                <a:moveTo>
                  <a:pt x="381000" y="349250"/>
                </a:moveTo>
                <a:lnTo>
                  <a:pt x="444500" y="349250"/>
                </a:lnTo>
                <a:lnTo>
                  <a:pt x="444500" y="381000"/>
                </a:lnTo>
                <a:lnTo>
                  <a:pt x="381000" y="381000"/>
                </a:lnTo>
                <a:close/>
                <a:moveTo>
                  <a:pt x="476250" y="349250"/>
                </a:moveTo>
                <a:lnTo>
                  <a:pt x="539750" y="349250"/>
                </a:lnTo>
                <a:lnTo>
                  <a:pt x="539750" y="381000"/>
                </a:lnTo>
                <a:lnTo>
                  <a:pt x="476250" y="381000"/>
                </a:lnTo>
                <a:close/>
                <a:moveTo>
                  <a:pt x="635000" y="349250"/>
                </a:moveTo>
                <a:lnTo>
                  <a:pt x="762000" y="349250"/>
                </a:lnTo>
                <a:lnTo>
                  <a:pt x="762000" y="381000"/>
                </a:lnTo>
                <a:lnTo>
                  <a:pt x="635000" y="381000"/>
                </a:lnTo>
                <a:close/>
                <a:moveTo>
                  <a:pt x="793750" y="349250"/>
                </a:moveTo>
                <a:lnTo>
                  <a:pt x="825500" y="349250"/>
                </a:lnTo>
                <a:lnTo>
                  <a:pt x="825500" y="381000"/>
                </a:lnTo>
                <a:lnTo>
                  <a:pt x="793750" y="381000"/>
                </a:lnTo>
                <a:close/>
                <a:moveTo>
                  <a:pt x="984250" y="349250"/>
                </a:moveTo>
                <a:lnTo>
                  <a:pt x="1047750" y="349250"/>
                </a:lnTo>
                <a:lnTo>
                  <a:pt x="1047750" y="381000"/>
                </a:lnTo>
                <a:lnTo>
                  <a:pt x="984250" y="381000"/>
                </a:lnTo>
                <a:close/>
                <a:moveTo>
                  <a:pt x="31750" y="381000"/>
                </a:moveTo>
                <a:lnTo>
                  <a:pt x="63500" y="381000"/>
                </a:lnTo>
                <a:lnTo>
                  <a:pt x="63500" y="412750"/>
                </a:lnTo>
                <a:lnTo>
                  <a:pt x="31750" y="412750"/>
                </a:lnTo>
                <a:close/>
                <a:moveTo>
                  <a:pt x="158750" y="381000"/>
                </a:moveTo>
                <a:lnTo>
                  <a:pt x="222250" y="381000"/>
                </a:lnTo>
                <a:lnTo>
                  <a:pt x="222250" y="412750"/>
                </a:lnTo>
                <a:lnTo>
                  <a:pt x="158750" y="412750"/>
                </a:lnTo>
                <a:close/>
                <a:moveTo>
                  <a:pt x="285750" y="381000"/>
                </a:moveTo>
                <a:lnTo>
                  <a:pt x="317500" y="381000"/>
                </a:lnTo>
                <a:lnTo>
                  <a:pt x="317500" y="412750"/>
                </a:lnTo>
                <a:lnTo>
                  <a:pt x="285750" y="412750"/>
                </a:lnTo>
                <a:close/>
                <a:moveTo>
                  <a:pt x="381000" y="381000"/>
                </a:moveTo>
                <a:lnTo>
                  <a:pt x="444500" y="381000"/>
                </a:lnTo>
                <a:lnTo>
                  <a:pt x="444500" y="412750"/>
                </a:lnTo>
                <a:lnTo>
                  <a:pt x="381000" y="412750"/>
                </a:lnTo>
                <a:close/>
                <a:moveTo>
                  <a:pt x="476250" y="381000"/>
                </a:moveTo>
                <a:lnTo>
                  <a:pt x="539750" y="381000"/>
                </a:lnTo>
                <a:lnTo>
                  <a:pt x="539750" y="412750"/>
                </a:lnTo>
                <a:lnTo>
                  <a:pt x="476250" y="412750"/>
                </a:lnTo>
                <a:close/>
                <a:moveTo>
                  <a:pt x="603250" y="381000"/>
                </a:moveTo>
                <a:lnTo>
                  <a:pt x="793750" y="381000"/>
                </a:lnTo>
                <a:lnTo>
                  <a:pt x="793750" y="412750"/>
                </a:lnTo>
                <a:lnTo>
                  <a:pt x="603250" y="412750"/>
                </a:lnTo>
                <a:close/>
                <a:moveTo>
                  <a:pt x="825500" y="381000"/>
                </a:moveTo>
                <a:lnTo>
                  <a:pt x="857250" y="381000"/>
                </a:lnTo>
                <a:lnTo>
                  <a:pt x="857250" y="412750"/>
                </a:lnTo>
                <a:lnTo>
                  <a:pt x="825500" y="412750"/>
                </a:lnTo>
                <a:close/>
                <a:moveTo>
                  <a:pt x="889000" y="381000"/>
                </a:moveTo>
                <a:lnTo>
                  <a:pt x="952500" y="381000"/>
                </a:lnTo>
                <a:lnTo>
                  <a:pt x="952500" y="412750"/>
                </a:lnTo>
                <a:lnTo>
                  <a:pt x="889000" y="412750"/>
                </a:lnTo>
                <a:close/>
                <a:moveTo>
                  <a:pt x="1016000" y="381000"/>
                </a:moveTo>
                <a:lnTo>
                  <a:pt x="1047750" y="381000"/>
                </a:lnTo>
                <a:lnTo>
                  <a:pt x="1047750" y="412750"/>
                </a:lnTo>
                <a:lnTo>
                  <a:pt x="1016000" y="412750"/>
                </a:lnTo>
                <a:close/>
                <a:moveTo>
                  <a:pt x="0" y="412750"/>
                </a:moveTo>
                <a:lnTo>
                  <a:pt x="127000" y="412750"/>
                </a:lnTo>
                <a:lnTo>
                  <a:pt x="127000" y="444500"/>
                </a:lnTo>
                <a:lnTo>
                  <a:pt x="0" y="444500"/>
                </a:lnTo>
                <a:close/>
                <a:moveTo>
                  <a:pt x="254000" y="412750"/>
                </a:moveTo>
                <a:lnTo>
                  <a:pt x="317500" y="412750"/>
                </a:lnTo>
                <a:lnTo>
                  <a:pt x="317500" y="444500"/>
                </a:lnTo>
                <a:lnTo>
                  <a:pt x="254000" y="444500"/>
                </a:lnTo>
                <a:close/>
                <a:moveTo>
                  <a:pt x="349250" y="412750"/>
                </a:moveTo>
                <a:lnTo>
                  <a:pt x="381000" y="412750"/>
                </a:lnTo>
                <a:lnTo>
                  <a:pt x="381000" y="444500"/>
                </a:lnTo>
                <a:lnTo>
                  <a:pt x="349250" y="444500"/>
                </a:lnTo>
                <a:close/>
                <a:moveTo>
                  <a:pt x="412750" y="412750"/>
                </a:moveTo>
                <a:lnTo>
                  <a:pt x="476250" y="412750"/>
                </a:lnTo>
                <a:lnTo>
                  <a:pt x="476250" y="444500"/>
                </a:lnTo>
                <a:lnTo>
                  <a:pt x="412750" y="444500"/>
                </a:lnTo>
                <a:close/>
                <a:moveTo>
                  <a:pt x="539750" y="412750"/>
                </a:moveTo>
                <a:lnTo>
                  <a:pt x="603250" y="412750"/>
                </a:lnTo>
                <a:lnTo>
                  <a:pt x="603250" y="444500"/>
                </a:lnTo>
                <a:lnTo>
                  <a:pt x="539750" y="444500"/>
                </a:lnTo>
                <a:close/>
                <a:moveTo>
                  <a:pt x="666750" y="412750"/>
                </a:moveTo>
                <a:lnTo>
                  <a:pt x="762000" y="412750"/>
                </a:lnTo>
                <a:lnTo>
                  <a:pt x="762000" y="444500"/>
                </a:lnTo>
                <a:lnTo>
                  <a:pt x="666750" y="444500"/>
                </a:lnTo>
                <a:close/>
                <a:moveTo>
                  <a:pt x="920750" y="412750"/>
                </a:moveTo>
                <a:lnTo>
                  <a:pt x="984250" y="412750"/>
                </a:lnTo>
                <a:lnTo>
                  <a:pt x="984250" y="444500"/>
                </a:lnTo>
                <a:lnTo>
                  <a:pt x="920750" y="444500"/>
                </a:lnTo>
                <a:close/>
                <a:moveTo>
                  <a:pt x="0" y="444500"/>
                </a:moveTo>
                <a:lnTo>
                  <a:pt x="31750" y="444500"/>
                </a:lnTo>
                <a:lnTo>
                  <a:pt x="31750" y="476250"/>
                </a:lnTo>
                <a:lnTo>
                  <a:pt x="0" y="476250"/>
                </a:lnTo>
                <a:close/>
                <a:moveTo>
                  <a:pt x="158750" y="444500"/>
                </a:moveTo>
                <a:lnTo>
                  <a:pt x="254000" y="444500"/>
                </a:lnTo>
                <a:lnTo>
                  <a:pt x="254000" y="476250"/>
                </a:lnTo>
                <a:lnTo>
                  <a:pt x="158750" y="476250"/>
                </a:lnTo>
                <a:close/>
                <a:moveTo>
                  <a:pt x="285750" y="444500"/>
                </a:moveTo>
                <a:lnTo>
                  <a:pt x="349250" y="444500"/>
                </a:lnTo>
                <a:lnTo>
                  <a:pt x="349250" y="476250"/>
                </a:lnTo>
                <a:lnTo>
                  <a:pt x="285750" y="476250"/>
                </a:lnTo>
                <a:close/>
                <a:moveTo>
                  <a:pt x="381000" y="444500"/>
                </a:moveTo>
                <a:lnTo>
                  <a:pt x="508000" y="444500"/>
                </a:lnTo>
                <a:lnTo>
                  <a:pt x="508000" y="476250"/>
                </a:lnTo>
                <a:lnTo>
                  <a:pt x="381000" y="476250"/>
                </a:lnTo>
                <a:close/>
                <a:moveTo>
                  <a:pt x="635000" y="444500"/>
                </a:moveTo>
                <a:lnTo>
                  <a:pt x="666750" y="444500"/>
                </a:lnTo>
                <a:lnTo>
                  <a:pt x="666750" y="476250"/>
                </a:lnTo>
                <a:lnTo>
                  <a:pt x="635000" y="476250"/>
                </a:lnTo>
                <a:close/>
                <a:moveTo>
                  <a:pt x="730250" y="444500"/>
                </a:moveTo>
                <a:lnTo>
                  <a:pt x="762000" y="444500"/>
                </a:lnTo>
                <a:lnTo>
                  <a:pt x="762000" y="476250"/>
                </a:lnTo>
                <a:lnTo>
                  <a:pt x="730250" y="476250"/>
                </a:lnTo>
                <a:close/>
                <a:moveTo>
                  <a:pt x="793750" y="444500"/>
                </a:moveTo>
                <a:lnTo>
                  <a:pt x="857250" y="444500"/>
                </a:lnTo>
                <a:lnTo>
                  <a:pt x="857250" y="476250"/>
                </a:lnTo>
                <a:lnTo>
                  <a:pt x="793750" y="476250"/>
                </a:lnTo>
                <a:close/>
                <a:moveTo>
                  <a:pt x="984250" y="444500"/>
                </a:moveTo>
                <a:lnTo>
                  <a:pt x="1016000" y="444500"/>
                </a:lnTo>
                <a:lnTo>
                  <a:pt x="1016000" y="476250"/>
                </a:lnTo>
                <a:lnTo>
                  <a:pt x="984250" y="476250"/>
                </a:lnTo>
                <a:close/>
                <a:moveTo>
                  <a:pt x="63500" y="476250"/>
                </a:moveTo>
                <a:lnTo>
                  <a:pt x="127000" y="476250"/>
                </a:lnTo>
                <a:lnTo>
                  <a:pt x="127000" y="508000"/>
                </a:lnTo>
                <a:lnTo>
                  <a:pt x="63500" y="508000"/>
                </a:lnTo>
                <a:close/>
                <a:moveTo>
                  <a:pt x="222250" y="476250"/>
                </a:moveTo>
                <a:lnTo>
                  <a:pt x="285750" y="476250"/>
                </a:lnTo>
                <a:lnTo>
                  <a:pt x="285750" y="508000"/>
                </a:lnTo>
                <a:lnTo>
                  <a:pt x="222250" y="508000"/>
                </a:lnTo>
                <a:close/>
                <a:moveTo>
                  <a:pt x="349250" y="476250"/>
                </a:moveTo>
                <a:lnTo>
                  <a:pt x="381000" y="476250"/>
                </a:lnTo>
                <a:lnTo>
                  <a:pt x="381000" y="508000"/>
                </a:lnTo>
                <a:lnTo>
                  <a:pt x="349250" y="508000"/>
                </a:lnTo>
                <a:close/>
                <a:moveTo>
                  <a:pt x="412750" y="476250"/>
                </a:moveTo>
                <a:lnTo>
                  <a:pt x="603250" y="476250"/>
                </a:lnTo>
                <a:lnTo>
                  <a:pt x="603250" y="508000"/>
                </a:lnTo>
                <a:lnTo>
                  <a:pt x="412750" y="508000"/>
                </a:lnTo>
                <a:close/>
                <a:moveTo>
                  <a:pt x="666750" y="476250"/>
                </a:moveTo>
                <a:lnTo>
                  <a:pt x="920750" y="476250"/>
                </a:lnTo>
                <a:lnTo>
                  <a:pt x="920750" y="508000"/>
                </a:lnTo>
                <a:lnTo>
                  <a:pt x="666750" y="508000"/>
                </a:lnTo>
                <a:close/>
                <a:moveTo>
                  <a:pt x="0" y="508000"/>
                </a:moveTo>
                <a:lnTo>
                  <a:pt x="31750" y="508000"/>
                </a:lnTo>
                <a:lnTo>
                  <a:pt x="31750" y="539750"/>
                </a:lnTo>
                <a:lnTo>
                  <a:pt x="0" y="539750"/>
                </a:lnTo>
                <a:close/>
                <a:moveTo>
                  <a:pt x="63500" y="508000"/>
                </a:moveTo>
                <a:lnTo>
                  <a:pt x="95250" y="508000"/>
                </a:lnTo>
                <a:lnTo>
                  <a:pt x="95250" y="539750"/>
                </a:lnTo>
                <a:lnTo>
                  <a:pt x="63500" y="539750"/>
                </a:lnTo>
                <a:close/>
                <a:moveTo>
                  <a:pt x="127000" y="508000"/>
                </a:moveTo>
                <a:lnTo>
                  <a:pt x="254000" y="508000"/>
                </a:lnTo>
                <a:lnTo>
                  <a:pt x="254000" y="539750"/>
                </a:lnTo>
                <a:lnTo>
                  <a:pt x="127000" y="539750"/>
                </a:lnTo>
                <a:close/>
                <a:moveTo>
                  <a:pt x="285750" y="508000"/>
                </a:moveTo>
                <a:lnTo>
                  <a:pt x="349250" y="508000"/>
                </a:lnTo>
                <a:lnTo>
                  <a:pt x="349250" y="539750"/>
                </a:lnTo>
                <a:lnTo>
                  <a:pt x="285750" y="539750"/>
                </a:lnTo>
                <a:close/>
                <a:moveTo>
                  <a:pt x="381000" y="508000"/>
                </a:moveTo>
                <a:lnTo>
                  <a:pt x="412750" y="508000"/>
                </a:lnTo>
                <a:lnTo>
                  <a:pt x="412750" y="539750"/>
                </a:lnTo>
                <a:lnTo>
                  <a:pt x="381000" y="539750"/>
                </a:lnTo>
                <a:close/>
                <a:moveTo>
                  <a:pt x="444500" y="508000"/>
                </a:moveTo>
                <a:lnTo>
                  <a:pt x="476250" y="508000"/>
                </a:lnTo>
                <a:lnTo>
                  <a:pt x="476250" y="539750"/>
                </a:lnTo>
                <a:lnTo>
                  <a:pt x="444500" y="539750"/>
                </a:lnTo>
                <a:close/>
                <a:moveTo>
                  <a:pt x="539750" y="508000"/>
                </a:moveTo>
                <a:lnTo>
                  <a:pt x="730250" y="508000"/>
                </a:lnTo>
                <a:lnTo>
                  <a:pt x="730250" y="539750"/>
                </a:lnTo>
                <a:lnTo>
                  <a:pt x="539750" y="539750"/>
                </a:lnTo>
                <a:close/>
                <a:moveTo>
                  <a:pt x="762000" y="508000"/>
                </a:moveTo>
                <a:lnTo>
                  <a:pt x="793750" y="508000"/>
                </a:lnTo>
                <a:lnTo>
                  <a:pt x="793750" y="539750"/>
                </a:lnTo>
                <a:lnTo>
                  <a:pt x="762000" y="539750"/>
                </a:lnTo>
                <a:close/>
                <a:moveTo>
                  <a:pt x="825500" y="508000"/>
                </a:moveTo>
                <a:lnTo>
                  <a:pt x="857250" y="508000"/>
                </a:lnTo>
                <a:lnTo>
                  <a:pt x="857250" y="539750"/>
                </a:lnTo>
                <a:lnTo>
                  <a:pt x="825500" y="539750"/>
                </a:lnTo>
                <a:close/>
                <a:moveTo>
                  <a:pt x="889000" y="508000"/>
                </a:moveTo>
                <a:lnTo>
                  <a:pt x="920750" y="508000"/>
                </a:lnTo>
                <a:lnTo>
                  <a:pt x="920750" y="539750"/>
                </a:lnTo>
                <a:lnTo>
                  <a:pt x="889000" y="539750"/>
                </a:lnTo>
                <a:close/>
                <a:moveTo>
                  <a:pt x="984250" y="508000"/>
                </a:moveTo>
                <a:lnTo>
                  <a:pt x="1016000" y="508000"/>
                </a:lnTo>
                <a:lnTo>
                  <a:pt x="1016000" y="539750"/>
                </a:lnTo>
                <a:lnTo>
                  <a:pt x="984250" y="539750"/>
                </a:lnTo>
                <a:close/>
                <a:moveTo>
                  <a:pt x="0" y="539750"/>
                </a:moveTo>
                <a:lnTo>
                  <a:pt x="127000" y="539750"/>
                </a:lnTo>
                <a:lnTo>
                  <a:pt x="127000" y="571500"/>
                </a:lnTo>
                <a:lnTo>
                  <a:pt x="0" y="571500"/>
                </a:lnTo>
                <a:close/>
                <a:moveTo>
                  <a:pt x="285750" y="539750"/>
                </a:moveTo>
                <a:lnTo>
                  <a:pt x="349250" y="539750"/>
                </a:lnTo>
                <a:lnTo>
                  <a:pt x="349250" y="571500"/>
                </a:lnTo>
                <a:lnTo>
                  <a:pt x="285750" y="571500"/>
                </a:lnTo>
                <a:close/>
                <a:moveTo>
                  <a:pt x="381000" y="539750"/>
                </a:moveTo>
                <a:lnTo>
                  <a:pt x="539750" y="539750"/>
                </a:lnTo>
                <a:lnTo>
                  <a:pt x="539750" y="571500"/>
                </a:lnTo>
                <a:lnTo>
                  <a:pt x="381000" y="571500"/>
                </a:lnTo>
                <a:close/>
                <a:moveTo>
                  <a:pt x="571500" y="539750"/>
                </a:moveTo>
                <a:lnTo>
                  <a:pt x="635000" y="539750"/>
                </a:lnTo>
                <a:lnTo>
                  <a:pt x="635000" y="571500"/>
                </a:lnTo>
                <a:lnTo>
                  <a:pt x="571500" y="571500"/>
                </a:lnTo>
                <a:close/>
                <a:moveTo>
                  <a:pt x="730250" y="539750"/>
                </a:moveTo>
                <a:lnTo>
                  <a:pt x="762000" y="539750"/>
                </a:lnTo>
                <a:lnTo>
                  <a:pt x="762000" y="571500"/>
                </a:lnTo>
                <a:lnTo>
                  <a:pt x="730250" y="571500"/>
                </a:lnTo>
                <a:close/>
                <a:moveTo>
                  <a:pt x="793750" y="539750"/>
                </a:moveTo>
                <a:lnTo>
                  <a:pt x="825500" y="539750"/>
                </a:lnTo>
                <a:lnTo>
                  <a:pt x="825500" y="571500"/>
                </a:lnTo>
                <a:lnTo>
                  <a:pt x="793750" y="571500"/>
                </a:lnTo>
                <a:close/>
                <a:moveTo>
                  <a:pt x="920750" y="539750"/>
                </a:moveTo>
                <a:lnTo>
                  <a:pt x="1016000" y="539750"/>
                </a:lnTo>
                <a:lnTo>
                  <a:pt x="1016000" y="571500"/>
                </a:lnTo>
                <a:lnTo>
                  <a:pt x="920750" y="571500"/>
                </a:lnTo>
                <a:close/>
                <a:moveTo>
                  <a:pt x="0" y="571500"/>
                </a:moveTo>
                <a:lnTo>
                  <a:pt x="31750" y="571500"/>
                </a:lnTo>
                <a:lnTo>
                  <a:pt x="31750" y="603250"/>
                </a:lnTo>
                <a:lnTo>
                  <a:pt x="0" y="603250"/>
                </a:lnTo>
                <a:close/>
                <a:moveTo>
                  <a:pt x="95250" y="571500"/>
                </a:moveTo>
                <a:lnTo>
                  <a:pt x="222250" y="571500"/>
                </a:lnTo>
                <a:lnTo>
                  <a:pt x="222250" y="603250"/>
                </a:lnTo>
                <a:lnTo>
                  <a:pt x="95250" y="603250"/>
                </a:lnTo>
                <a:close/>
                <a:moveTo>
                  <a:pt x="317500" y="571500"/>
                </a:moveTo>
                <a:lnTo>
                  <a:pt x="444500" y="571500"/>
                </a:lnTo>
                <a:lnTo>
                  <a:pt x="444500" y="603250"/>
                </a:lnTo>
                <a:lnTo>
                  <a:pt x="317500" y="603250"/>
                </a:lnTo>
                <a:close/>
                <a:moveTo>
                  <a:pt x="476250" y="571500"/>
                </a:moveTo>
                <a:lnTo>
                  <a:pt x="571500" y="571500"/>
                </a:lnTo>
                <a:lnTo>
                  <a:pt x="571500" y="603250"/>
                </a:lnTo>
                <a:lnTo>
                  <a:pt x="476250" y="603250"/>
                </a:lnTo>
                <a:close/>
                <a:moveTo>
                  <a:pt x="635000" y="571500"/>
                </a:moveTo>
                <a:lnTo>
                  <a:pt x="666750" y="571500"/>
                </a:lnTo>
                <a:lnTo>
                  <a:pt x="666750" y="603250"/>
                </a:lnTo>
                <a:lnTo>
                  <a:pt x="635000" y="603250"/>
                </a:lnTo>
                <a:close/>
                <a:moveTo>
                  <a:pt x="698500" y="571500"/>
                </a:moveTo>
                <a:lnTo>
                  <a:pt x="762000" y="571500"/>
                </a:lnTo>
                <a:lnTo>
                  <a:pt x="762000" y="603250"/>
                </a:lnTo>
                <a:lnTo>
                  <a:pt x="698500" y="603250"/>
                </a:lnTo>
                <a:close/>
                <a:moveTo>
                  <a:pt x="857250" y="571500"/>
                </a:moveTo>
                <a:lnTo>
                  <a:pt x="889000" y="571500"/>
                </a:lnTo>
                <a:lnTo>
                  <a:pt x="889000" y="603250"/>
                </a:lnTo>
                <a:lnTo>
                  <a:pt x="857250" y="603250"/>
                </a:lnTo>
                <a:close/>
                <a:moveTo>
                  <a:pt x="920750" y="571500"/>
                </a:moveTo>
                <a:lnTo>
                  <a:pt x="952500" y="571500"/>
                </a:lnTo>
                <a:lnTo>
                  <a:pt x="952500" y="603250"/>
                </a:lnTo>
                <a:lnTo>
                  <a:pt x="920750" y="603250"/>
                </a:lnTo>
                <a:close/>
                <a:moveTo>
                  <a:pt x="984250" y="571500"/>
                </a:moveTo>
                <a:lnTo>
                  <a:pt x="1016000" y="571500"/>
                </a:lnTo>
                <a:lnTo>
                  <a:pt x="1016000" y="603250"/>
                </a:lnTo>
                <a:lnTo>
                  <a:pt x="984250" y="603250"/>
                </a:lnTo>
                <a:close/>
                <a:moveTo>
                  <a:pt x="0" y="603250"/>
                </a:moveTo>
                <a:lnTo>
                  <a:pt x="31750" y="603250"/>
                </a:lnTo>
                <a:lnTo>
                  <a:pt x="31750" y="635000"/>
                </a:lnTo>
                <a:lnTo>
                  <a:pt x="0" y="635000"/>
                </a:lnTo>
                <a:close/>
                <a:moveTo>
                  <a:pt x="63500" y="603250"/>
                </a:moveTo>
                <a:lnTo>
                  <a:pt x="95250" y="603250"/>
                </a:lnTo>
                <a:lnTo>
                  <a:pt x="95250" y="635000"/>
                </a:lnTo>
                <a:lnTo>
                  <a:pt x="63500" y="635000"/>
                </a:lnTo>
                <a:close/>
                <a:moveTo>
                  <a:pt x="254000" y="603250"/>
                </a:moveTo>
                <a:lnTo>
                  <a:pt x="317500" y="603250"/>
                </a:lnTo>
                <a:lnTo>
                  <a:pt x="317500" y="635000"/>
                </a:lnTo>
                <a:lnTo>
                  <a:pt x="254000" y="635000"/>
                </a:lnTo>
                <a:close/>
                <a:moveTo>
                  <a:pt x="412750" y="603250"/>
                </a:moveTo>
                <a:lnTo>
                  <a:pt x="444500" y="603250"/>
                </a:lnTo>
                <a:lnTo>
                  <a:pt x="444500" y="635000"/>
                </a:lnTo>
                <a:lnTo>
                  <a:pt x="412750" y="635000"/>
                </a:lnTo>
                <a:close/>
                <a:moveTo>
                  <a:pt x="539750" y="603250"/>
                </a:moveTo>
                <a:lnTo>
                  <a:pt x="698500" y="603250"/>
                </a:lnTo>
                <a:lnTo>
                  <a:pt x="698500" y="635000"/>
                </a:lnTo>
                <a:lnTo>
                  <a:pt x="539750" y="635000"/>
                </a:lnTo>
                <a:close/>
                <a:moveTo>
                  <a:pt x="730250" y="603250"/>
                </a:moveTo>
                <a:lnTo>
                  <a:pt x="793750" y="603250"/>
                </a:lnTo>
                <a:lnTo>
                  <a:pt x="793750" y="635000"/>
                </a:lnTo>
                <a:lnTo>
                  <a:pt x="730250" y="635000"/>
                </a:lnTo>
                <a:close/>
                <a:moveTo>
                  <a:pt x="857250" y="603250"/>
                </a:moveTo>
                <a:lnTo>
                  <a:pt x="889000" y="603250"/>
                </a:lnTo>
                <a:lnTo>
                  <a:pt x="889000" y="635000"/>
                </a:lnTo>
                <a:lnTo>
                  <a:pt x="857250" y="635000"/>
                </a:lnTo>
                <a:close/>
                <a:moveTo>
                  <a:pt x="984250" y="603250"/>
                </a:moveTo>
                <a:lnTo>
                  <a:pt x="1016000" y="603250"/>
                </a:lnTo>
                <a:lnTo>
                  <a:pt x="1016000" y="635000"/>
                </a:lnTo>
                <a:lnTo>
                  <a:pt x="984250" y="635000"/>
                </a:lnTo>
                <a:close/>
                <a:moveTo>
                  <a:pt x="0" y="635000"/>
                </a:moveTo>
                <a:lnTo>
                  <a:pt x="31750" y="635000"/>
                </a:lnTo>
                <a:lnTo>
                  <a:pt x="31750" y="666750"/>
                </a:lnTo>
                <a:lnTo>
                  <a:pt x="0" y="666750"/>
                </a:lnTo>
                <a:close/>
                <a:moveTo>
                  <a:pt x="95250" y="635000"/>
                </a:moveTo>
                <a:lnTo>
                  <a:pt x="127000" y="635000"/>
                </a:lnTo>
                <a:lnTo>
                  <a:pt x="127000" y="666750"/>
                </a:lnTo>
                <a:lnTo>
                  <a:pt x="95250" y="666750"/>
                </a:lnTo>
                <a:close/>
                <a:moveTo>
                  <a:pt x="158750" y="635000"/>
                </a:moveTo>
                <a:lnTo>
                  <a:pt x="254000" y="635000"/>
                </a:lnTo>
                <a:lnTo>
                  <a:pt x="254000" y="666750"/>
                </a:lnTo>
                <a:lnTo>
                  <a:pt x="158750" y="666750"/>
                </a:lnTo>
                <a:close/>
                <a:moveTo>
                  <a:pt x="285750" y="635000"/>
                </a:moveTo>
                <a:lnTo>
                  <a:pt x="317500" y="635000"/>
                </a:lnTo>
                <a:lnTo>
                  <a:pt x="317500" y="666750"/>
                </a:lnTo>
                <a:lnTo>
                  <a:pt x="285750" y="666750"/>
                </a:lnTo>
                <a:close/>
                <a:moveTo>
                  <a:pt x="349250" y="635000"/>
                </a:moveTo>
                <a:lnTo>
                  <a:pt x="381000" y="635000"/>
                </a:lnTo>
                <a:lnTo>
                  <a:pt x="381000" y="666750"/>
                </a:lnTo>
                <a:lnTo>
                  <a:pt x="349250" y="666750"/>
                </a:lnTo>
                <a:close/>
                <a:moveTo>
                  <a:pt x="444500" y="635000"/>
                </a:moveTo>
                <a:lnTo>
                  <a:pt x="508000" y="635000"/>
                </a:lnTo>
                <a:lnTo>
                  <a:pt x="508000" y="666750"/>
                </a:lnTo>
                <a:lnTo>
                  <a:pt x="444500" y="666750"/>
                </a:lnTo>
                <a:close/>
                <a:moveTo>
                  <a:pt x="571500" y="635000"/>
                </a:moveTo>
                <a:lnTo>
                  <a:pt x="603250" y="635000"/>
                </a:lnTo>
                <a:lnTo>
                  <a:pt x="603250" y="666750"/>
                </a:lnTo>
                <a:lnTo>
                  <a:pt x="571500" y="666750"/>
                </a:lnTo>
                <a:close/>
                <a:moveTo>
                  <a:pt x="635000" y="635000"/>
                </a:moveTo>
                <a:lnTo>
                  <a:pt x="698500" y="635000"/>
                </a:lnTo>
                <a:lnTo>
                  <a:pt x="698500" y="666750"/>
                </a:lnTo>
                <a:lnTo>
                  <a:pt x="635000" y="666750"/>
                </a:lnTo>
                <a:close/>
                <a:moveTo>
                  <a:pt x="825500" y="635000"/>
                </a:moveTo>
                <a:lnTo>
                  <a:pt x="857250" y="635000"/>
                </a:lnTo>
                <a:lnTo>
                  <a:pt x="857250" y="666750"/>
                </a:lnTo>
                <a:lnTo>
                  <a:pt x="825500" y="666750"/>
                </a:lnTo>
                <a:close/>
                <a:moveTo>
                  <a:pt x="889000" y="635000"/>
                </a:moveTo>
                <a:lnTo>
                  <a:pt x="952500" y="635000"/>
                </a:lnTo>
                <a:lnTo>
                  <a:pt x="952500" y="666750"/>
                </a:lnTo>
                <a:lnTo>
                  <a:pt x="889000" y="666750"/>
                </a:lnTo>
                <a:close/>
                <a:moveTo>
                  <a:pt x="984250" y="635000"/>
                </a:moveTo>
                <a:lnTo>
                  <a:pt x="1047750" y="635000"/>
                </a:lnTo>
                <a:lnTo>
                  <a:pt x="1047750" y="666750"/>
                </a:lnTo>
                <a:lnTo>
                  <a:pt x="984250" y="666750"/>
                </a:lnTo>
                <a:close/>
                <a:moveTo>
                  <a:pt x="0" y="666750"/>
                </a:moveTo>
                <a:lnTo>
                  <a:pt x="31750" y="666750"/>
                </a:lnTo>
                <a:lnTo>
                  <a:pt x="31750" y="698500"/>
                </a:lnTo>
                <a:lnTo>
                  <a:pt x="0" y="698500"/>
                </a:lnTo>
                <a:close/>
                <a:moveTo>
                  <a:pt x="95250" y="666750"/>
                </a:moveTo>
                <a:lnTo>
                  <a:pt x="158750" y="666750"/>
                </a:lnTo>
                <a:lnTo>
                  <a:pt x="158750" y="698500"/>
                </a:lnTo>
                <a:lnTo>
                  <a:pt x="95250" y="698500"/>
                </a:lnTo>
                <a:close/>
                <a:moveTo>
                  <a:pt x="285750" y="666750"/>
                </a:moveTo>
                <a:lnTo>
                  <a:pt x="381000" y="666750"/>
                </a:lnTo>
                <a:lnTo>
                  <a:pt x="381000" y="698500"/>
                </a:lnTo>
                <a:lnTo>
                  <a:pt x="285750" y="698500"/>
                </a:lnTo>
                <a:close/>
                <a:moveTo>
                  <a:pt x="508000" y="666750"/>
                </a:moveTo>
                <a:lnTo>
                  <a:pt x="571500" y="666750"/>
                </a:lnTo>
                <a:lnTo>
                  <a:pt x="571500" y="698500"/>
                </a:lnTo>
                <a:lnTo>
                  <a:pt x="508000" y="698500"/>
                </a:lnTo>
                <a:close/>
                <a:moveTo>
                  <a:pt x="730250" y="666750"/>
                </a:moveTo>
                <a:lnTo>
                  <a:pt x="762000" y="666750"/>
                </a:lnTo>
                <a:lnTo>
                  <a:pt x="762000" y="698500"/>
                </a:lnTo>
                <a:lnTo>
                  <a:pt x="730250" y="698500"/>
                </a:lnTo>
                <a:close/>
                <a:moveTo>
                  <a:pt x="793750" y="666750"/>
                </a:moveTo>
                <a:lnTo>
                  <a:pt x="825500" y="666750"/>
                </a:lnTo>
                <a:lnTo>
                  <a:pt x="825500" y="698500"/>
                </a:lnTo>
                <a:lnTo>
                  <a:pt x="793750" y="698500"/>
                </a:lnTo>
                <a:close/>
                <a:moveTo>
                  <a:pt x="857250" y="666750"/>
                </a:moveTo>
                <a:lnTo>
                  <a:pt x="889000" y="666750"/>
                </a:lnTo>
                <a:lnTo>
                  <a:pt x="889000" y="698500"/>
                </a:lnTo>
                <a:lnTo>
                  <a:pt x="857250" y="698500"/>
                </a:lnTo>
                <a:close/>
                <a:moveTo>
                  <a:pt x="920750" y="666750"/>
                </a:moveTo>
                <a:lnTo>
                  <a:pt x="952500" y="666750"/>
                </a:lnTo>
                <a:lnTo>
                  <a:pt x="952500" y="698500"/>
                </a:lnTo>
                <a:lnTo>
                  <a:pt x="920750" y="698500"/>
                </a:lnTo>
                <a:close/>
                <a:moveTo>
                  <a:pt x="984250" y="666750"/>
                </a:moveTo>
                <a:lnTo>
                  <a:pt x="1016000" y="666750"/>
                </a:lnTo>
                <a:lnTo>
                  <a:pt x="1016000" y="698500"/>
                </a:lnTo>
                <a:lnTo>
                  <a:pt x="984250" y="698500"/>
                </a:lnTo>
                <a:close/>
                <a:moveTo>
                  <a:pt x="63500" y="698500"/>
                </a:moveTo>
                <a:lnTo>
                  <a:pt x="254000" y="698500"/>
                </a:lnTo>
                <a:lnTo>
                  <a:pt x="254000" y="730250"/>
                </a:lnTo>
                <a:lnTo>
                  <a:pt x="63500" y="730250"/>
                </a:lnTo>
                <a:close/>
                <a:moveTo>
                  <a:pt x="381000" y="698500"/>
                </a:moveTo>
                <a:lnTo>
                  <a:pt x="476250" y="698500"/>
                </a:lnTo>
                <a:lnTo>
                  <a:pt x="476250" y="730250"/>
                </a:lnTo>
                <a:lnTo>
                  <a:pt x="381000" y="730250"/>
                </a:lnTo>
                <a:close/>
                <a:moveTo>
                  <a:pt x="508000" y="698500"/>
                </a:moveTo>
                <a:lnTo>
                  <a:pt x="603250" y="698500"/>
                </a:lnTo>
                <a:lnTo>
                  <a:pt x="603250" y="730250"/>
                </a:lnTo>
                <a:lnTo>
                  <a:pt x="508000" y="730250"/>
                </a:lnTo>
                <a:close/>
                <a:moveTo>
                  <a:pt x="698500" y="698500"/>
                </a:moveTo>
                <a:lnTo>
                  <a:pt x="762000" y="698500"/>
                </a:lnTo>
                <a:lnTo>
                  <a:pt x="762000" y="730250"/>
                </a:lnTo>
                <a:lnTo>
                  <a:pt x="698500" y="730250"/>
                </a:lnTo>
                <a:close/>
                <a:moveTo>
                  <a:pt x="793750" y="698500"/>
                </a:moveTo>
                <a:lnTo>
                  <a:pt x="825500" y="698500"/>
                </a:lnTo>
                <a:lnTo>
                  <a:pt x="825500" y="730250"/>
                </a:lnTo>
                <a:lnTo>
                  <a:pt x="793750" y="730250"/>
                </a:lnTo>
                <a:close/>
                <a:moveTo>
                  <a:pt x="889000" y="698500"/>
                </a:moveTo>
                <a:lnTo>
                  <a:pt x="1016000" y="698500"/>
                </a:lnTo>
                <a:lnTo>
                  <a:pt x="1016000" y="730250"/>
                </a:lnTo>
                <a:lnTo>
                  <a:pt x="889000" y="730250"/>
                </a:lnTo>
                <a:close/>
                <a:moveTo>
                  <a:pt x="63500" y="730250"/>
                </a:moveTo>
                <a:lnTo>
                  <a:pt x="158750" y="730250"/>
                </a:lnTo>
                <a:lnTo>
                  <a:pt x="158750" y="762000"/>
                </a:lnTo>
                <a:lnTo>
                  <a:pt x="63500" y="762000"/>
                </a:lnTo>
                <a:close/>
                <a:moveTo>
                  <a:pt x="222250" y="730250"/>
                </a:moveTo>
                <a:lnTo>
                  <a:pt x="285750" y="730250"/>
                </a:lnTo>
                <a:lnTo>
                  <a:pt x="285750" y="762000"/>
                </a:lnTo>
                <a:lnTo>
                  <a:pt x="222250" y="762000"/>
                </a:lnTo>
                <a:close/>
                <a:moveTo>
                  <a:pt x="317500" y="730250"/>
                </a:moveTo>
                <a:lnTo>
                  <a:pt x="381000" y="730250"/>
                </a:lnTo>
                <a:lnTo>
                  <a:pt x="381000" y="762000"/>
                </a:lnTo>
                <a:lnTo>
                  <a:pt x="317500" y="762000"/>
                </a:lnTo>
                <a:close/>
                <a:moveTo>
                  <a:pt x="539750" y="730250"/>
                </a:moveTo>
                <a:lnTo>
                  <a:pt x="698500" y="730250"/>
                </a:lnTo>
                <a:lnTo>
                  <a:pt x="698500" y="762000"/>
                </a:lnTo>
                <a:lnTo>
                  <a:pt x="539750" y="762000"/>
                </a:lnTo>
                <a:close/>
                <a:moveTo>
                  <a:pt x="730250" y="730250"/>
                </a:moveTo>
                <a:lnTo>
                  <a:pt x="889000" y="730250"/>
                </a:lnTo>
                <a:lnTo>
                  <a:pt x="889000" y="762000"/>
                </a:lnTo>
                <a:lnTo>
                  <a:pt x="730250" y="762000"/>
                </a:lnTo>
                <a:close/>
                <a:moveTo>
                  <a:pt x="0" y="762000"/>
                </a:moveTo>
                <a:lnTo>
                  <a:pt x="127000" y="762000"/>
                </a:lnTo>
                <a:lnTo>
                  <a:pt x="127000" y="793750"/>
                </a:lnTo>
                <a:lnTo>
                  <a:pt x="0" y="793750"/>
                </a:lnTo>
                <a:close/>
                <a:moveTo>
                  <a:pt x="190500" y="762000"/>
                </a:moveTo>
                <a:lnTo>
                  <a:pt x="222250" y="762000"/>
                </a:lnTo>
                <a:lnTo>
                  <a:pt x="222250" y="793750"/>
                </a:lnTo>
                <a:lnTo>
                  <a:pt x="190500" y="793750"/>
                </a:lnTo>
                <a:close/>
                <a:moveTo>
                  <a:pt x="254000" y="762000"/>
                </a:moveTo>
                <a:lnTo>
                  <a:pt x="285750" y="762000"/>
                </a:lnTo>
                <a:lnTo>
                  <a:pt x="285750" y="793750"/>
                </a:lnTo>
                <a:lnTo>
                  <a:pt x="254000" y="793750"/>
                </a:lnTo>
                <a:close/>
                <a:moveTo>
                  <a:pt x="349250" y="762000"/>
                </a:moveTo>
                <a:lnTo>
                  <a:pt x="381000" y="762000"/>
                </a:lnTo>
                <a:lnTo>
                  <a:pt x="381000" y="793750"/>
                </a:lnTo>
                <a:lnTo>
                  <a:pt x="349250" y="793750"/>
                </a:lnTo>
                <a:close/>
                <a:moveTo>
                  <a:pt x="412750" y="762000"/>
                </a:moveTo>
                <a:lnTo>
                  <a:pt x="444500" y="762000"/>
                </a:lnTo>
                <a:lnTo>
                  <a:pt x="444500" y="793750"/>
                </a:lnTo>
                <a:lnTo>
                  <a:pt x="412750" y="793750"/>
                </a:lnTo>
                <a:close/>
                <a:moveTo>
                  <a:pt x="476250" y="762000"/>
                </a:moveTo>
                <a:lnTo>
                  <a:pt x="508000" y="762000"/>
                </a:lnTo>
                <a:lnTo>
                  <a:pt x="508000" y="793750"/>
                </a:lnTo>
                <a:lnTo>
                  <a:pt x="476250" y="793750"/>
                </a:lnTo>
                <a:close/>
                <a:moveTo>
                  <a:pt x="603250" y="762000"/>
                </a:moveTo>
                <a:lnTo>
                  <a:pt x="730250" y="762000"/>
                </a:lnTo>
                <a:lnTo>
                  <a:pt x="730250" y="793750"/>
                </a:lnTo>
                <a:lnTo>
                  <a:pt x="603250" y="793750"/>
                </a:lnTo>
                <a:close/>
                <a:moveTo>
                  <a:pt x="762000" y="762000"/>
                </a:moveTo>
                <a:lnTo>
                  <a:pt x="952500" y="762000"/>
                </a:lnTo>
                <a:lnTo>
                  <a:pt x="952500" y="793750"/>
                </a:lnTo>
                <a:lnTo>
                  <a:pt x="762000" y="793750"/>
                </a:lnTo>
                <a:close/>
                <a:moveTo>
                  <a:pt x="1016000" y="762000"/>
                </a:moveTo>
                <a:lnTo>
                  <a:pt x="1047750" y="762000"/>
                </a:lnTo>
                <a:lnTo>
                  <a:pt x="1047750" y="793750"/>
                </a:lnTo>
                <a:lnTo>
                  <a:pt x="1016000" y="793750"/>
                </a:lnTo>
                <a:close/>
                <a:moveTo>
                  <a:pt x="254000" y="793750"/>
                </a:moveTo>
                <a:lnTo>
                  <a:pt x="317500" y="793750"/>
                </a:lnTo>
                <a:lnTo>
                  <a:pt x="317500" y="825500"/>
                </a:lnTo>
                <a:lnTo>
                  <a:pt x="254000" y="825500"/>
                </a:lnTo>
                <a:close/>
                <a:moveTo>
                  <a:pt x="349250" y="793750"/>
                </a:moveTo>
                <a:lnTo>
                  <a:pt x="381000" y="793750"/>
                </a:lnTo>
                <a:lnTo>
                  <a:pt x="381000" y="825500"/>
                </a:lnTo>
                <a:lnTo>
                  <a:pt x="349250" y="825500"/>
                </a:lnTo>
                <a:close/>
                <a:moveTo>
                  <a:pt x="412750" y="793750"/>
                </a:moveTo>
                <a:lnTo>
                  <a:pt x="603250" y="793750"/>
                </a:lnTo>
                <a:lnTo>
                  <a:pt x="603250" y="825500"/>
                </a:lnTo>
                <a:lnTo>
                  <a:pt x="412750" y="825500"/>
                </a:lnTo>
                <a:close/>
                <a:moveTo>
                  <a:pt x="635000" y="793750"/>
                </a:moveTo>
                <a:lnTo>
                  <a:pt x="698500" y="793750"/>
                </a:lnTo>
                <a:lnTo>
                  <a:pt x="698500" y="825500"/>
                </a:lnTo>
                <a:lnTo>
                  <a:pt x="635000" y="825500"/>
                </a:lnTo>
                <a:close/>
                <a:moveTo>
                  <a:pt x="730250" y="793750"/>
                </a:moveTo>
                <a:lnTo>
                  <a:pt x="793750" y="793750"/>
                </a:lnTo>
                <a:lnTo>
                  <a:pt x="793750" y="825500"/>
                </a:lnTo>
                <a:lnTo>
                  <a:pt x="730250" y="825500"/>
                </a:lnTo>
                <a:close/>
                <a:moveTo>
                  <a:pt x="889000" y="793750"/>
                </a:moveTo>
                <a:lnTo>
                  <a:pt x="920750" y="793750"/>
                </a:lnTo>
                <a:lnTo>
                  <a:pt x="920750" y="825500"/>
                </a:lnTo>
                <a:lnTo>
                  <a:pt x="889000" y="825500"/>
                </a:lnTo>
                <a:close/>
                <a:moveTo>
                  <a:pt x="952500" y="793750"/>
                </a:moveTo>
                <a:lnTo>
                  <a:pt x="1016000" y="793750"/>
                </a:lnTo>
                <a:lnTo>
                  <a:pt x="1016000" y="825500"/>
                </a:lnTo>
                <a:lnTo>
                  <a:pt x="952500" y="825500"/>
                </a:lnTo>
                <a:close/>
                <a:moveTo>
                  <a:pt x="0" y="825500"/>
                </a:moveTo>
                <a:lnTo>
                  <a:pt x="222250" y="825500"/>
                </a:lnTo>
                <a:lnTo>
                  <a:pt x="222250" y="857250"/>
                </a:lnTo>
                <a:lnTo>
                  <a:pt x="0" y="857250"/>
                </a:lnTo>
                <a:close/>
                <a:moveTo>
                  <a:pt x="254000" y="825500"/>
                </a:moveTo>
                <a:lnTo>
                  <a:pt x="285750" y="825500"/>
                </a:lnTo>
                <a:lnTo>
                  <a:pt x="285750" y="857250"/>
                </a:lnTo>
                <a:lnTo>
                  <a:pt x="254000" y="857250"/>
                </a:lnTo>
                <a:close/>
                <a:moveTo>
                  <a:pt x="349250" y="825500"/>
                </a:moveTo>
                <a:lnTo>
                  <a:pt x="381000" y="825500"/>
                </a:lnTo>
                <a:lnTo>
                  <a:pt x="381000" y="857250"/>
                </a:lnTo>
                <a:lnTo>
                  <a:pt x="349250" y="857250"/>
                </a:lnTo>
                <a:close/>
                <a:moveTo>
                  <a:pt x="412750" y="825500"/>
                </a:moveTo>
                <a:lnTo>
                  <a:pt x="444500" y="825500"/>
                </a:lnTo>
                <a:lnTo>
                  <a:pt x="444500" y="857250"/>
                </a:lnTo>
                <a:lnTo>
                  <a:pt x="412750" y="857250"/>
                </a:lnTo>
                <a:close/>
                <a:moveTo>
                  <a:pt x="476250" y="825500"/>
                </a:moveTo>
                <a:lnTo>
                  <a:pt x="508000" y="825500"/>
                </a:lnTo>
                <a:lnTo>
                  <a:pt x="508000" y="857250"/>
                </a:lnTo>
                <a:lnTo>
                  <a:pt x="476250" y="857250"/>
                </a:lnTo>
                <a:close/>
                <a:moveTo>
                  <a:pt x="571500" y="825500"/>
                </a:moveTo>
                <a:lnTo>
                  <a:pt x="603250" y="825500"/>
                </a:lnTo>
                <a:lnTo>
                  <a:pt x="603250" y="857250"/>
                </a:lnTo>
                <a:lnTo>
                  <a:pt x="571500" y="857250"/>
                </a:lnTo>
                <a:close/>
                <a:moveTo>
                  <a:pt x="635000" y="825500"/>
                </a:moveTo>
                <a:lnTo>
                  <a:pt x="698500" y="825500"/>
                </a:lnTo>
                <a:lnTo>
                  <a:pt x="698500" y="857250"/>
                </a:lnTo>
                <a:lnTo>
                  <a:pt x="635000" y="857250"/>
                </a:lnTo>
                <a:close/>
                <a:moveTo>
                  <a:pt x="762000" y="825500"/>
                </a:moveTo>
                <a:lnTo>
                  <a:pt x="793750" y="825500"/>
                </a:lnTo>
                <a:lnTo>
                  <a:pt x="793750" y="857250"/>
                </a:lnTo>
                <a:lnTo>
                  <a:pt x="762000" y="857250"/>
                </a:lnTo>
                <a:close/>
                <a:moveTo>
                  <a:pt x="825500" y="825500"/>
                </a:moveTo>
                <a:lnTo>
                  <a:pt x="857250" y="825500"/>
                </a:lnTo>
                <a:lnTo>
                  <a:pt x="857250" y="857250"/>
                </a:lnTo>
                <a:lnTo>
                  <a:pt x="825500" y="857250"/>
                </a:lnTo>
                <a:close/>
                <a:moveTo>
                  <a:pt x="889000" y="825500"/>
                </a:moveTo>
                <a:lnTo>
                  <a:pt x="952500" y="825500"/>
                </a:lnTo>
                <a:lnTo>
                  <a:pt x="952500" y="857250"/>
                </a:lnTo>
                <a:lnTo>
                  <a:pt x="889000" y="857250"/>
                </a:lnTo>
                <a:close/>
                <a:moveTo>
                  <a:pt x="984250" y="825500"/>
                </a:moveTo>
                <a:lnTo>
                  <a:pt x="1016000" y="825500"/>
                </a:lnTo>
                <a:lnTo>
                  <a:pt x="1016000" y="857250"/>
                </a:lnTo>
                <a:lnTo>
                  <a:pt x="984250" y="857250"/>
                </a:lnTo>
                <a:close/>
                <a:moveTo>
                  <a:pt x="0" y="857250"/>
                </a:moveTo>
                <a:lnTo>
                  <a:pt x="31750" y="857250"/>
                </a:lnTo>
                <a:lnTo>
                  <a:pt x="31750" y="889000"/>
                </a:lnTo>
                <a:lnTo>
                  <a:pt x="0" y="889000"/>
                </a:lnTo>
                <a:close/>
                <a:moveTo>
                  <a:pt x="190500" y="857250"/>
                </a:moveTo>
                <a:lnTo>
                  <a:pt x="222250" y="857250"/>
                </a:lnTo>
                <a:lnTo>
                  <a:pt x="222250" y="889000"/>
                </a:lnTo>
                <a:lnTo>
                  <a:pt x="190500" y="889000"/>
                </a:lnTo>
                <a:close/>
                <a:moveTo>
                  <a:pt x="285750" y="857250"/>
                </a:moveTo>
                <a:lnTo>
                  <a:pt x="317500" y="857250"/>
                </a:lnTo>
                <a:lnTo>
                  <a:pt x="317500" y="889000"/>
                </a:lnTo>
                <a:lnTo>
                  <a:pt x="285750" y="889000"/>
                </a:lnTo>
                <a:close/>
                <a:moveTo>
                  <a:pt x="381000" y="857250"/>
                </a:moveTo>
                <a:lnTo>
                  <a:pt x="412750" y="857250"/>
                </a:lnTo>
                <a:lnTo>
                  <a:pt x="412750" y="889000"/>
                </a:lnTo>
                <a:lnTo>
                  <a:pt x="381000" y="889000"/>
                </a:lnTo>
                <a:close/>
                <a:moveTo>
                  <a:pt x="444500" y="857250"/>
                </a:moveTo>
                <a:lnTo>
                  <a:pt x="476250" y="857250"/>
                </a:lnTo>
                <a:lnTo>
                  <a:pt x="476250" y="889000"/>
                </a:lnTo>
                <a:lnTo>
                  <a:pt x="444500" y="889000"/>
                </a:lnTo>
                <a:close/>
                <a:moveTo>
                  <a:pt x="635000" y="857250"/>
                </a:moveTo>
                <a:lnTo>
                  <a:pt x="698500" y="857250"/>
                </a:lnTo>
                <a:lnTo>
                  <a:pt x="698500" y="889000"/>
                </a:lnTo>
                <a:lnTo>
                  <a:pt x="635000" y="889000"/>
                </a:lnTo>
                <a:close/>
                <a:moveTo>
                  <a:pt x="762000" y="857250"/>
                </a:moveTo>
                <a:lnTo>
                  <a:pt x="793750" y="857250"/>
                </a:lnTo>
                <a:lnTo>
                  <a:pt x="793750" y="889000"/>
                </a:lnTo>
                <a:lnTo>
                  <a:pt x="762000" y="889000"/>
                </a:lnTo>
                <a:close/>
                <a:moveTo>
                  <a:pt x="889000" y="857250"/>
                </a:moveTo>
                <a:lnTo>
                  <a:pt x="920750" y="857250"/>
                </a:lnTo>
                <a:lnTo>
                  <a:pt x="920750" y="889000"/>
                </a:lnTo>
                <a:lnTo>
                  <a:pt x="889000" y="889000"/>
                </a:lnTo>
                <a:close/>
                <a:moveTo>
                  <a:pt x="984250" y="857250"/>
                </a:moveTo>
                <a:lnTo>
                  <a:pt x="1047750" y="857250"/>
                </a:lnTo>
                <a:lnTo>
                  <a:pt x="1047750" y="889000"/>
                </a:lnTo>
                <a:lnTo>
                  <a:pt x="984250" y="889000"/>
                </a:lnTo>
                <a:close/>
                <a:moveTo>
                  <a:pt x="0" y="889000"/>
                </a:moveTo>
                <a:lnTo>
                  <a:pt x="31750" y="889000"/>
                </a:lnTo>
                <a:lnTo>
                  <a:pt x="31750" y="920750"/>
                </a:lnTo>
                <a:lnTo>
                  <a:pt x="0" y="920750"/>
                </a:lnTo>
                <a:close/>
                <a:moveTo>
                  <a:pt x="63500" y="889000"/>
                </a:moveTo>
                <a:lnTo>
                  <a:pt x="158750" y="889000"/>
                </a:lnTo>
                <a:lnTo>
                  <a:pt x="158750" y="920750"/>
                </a:lnTo>
                <a:lnTo>
                  <a:pt x="63500" y="920750"/>
                </a:lnTo>
                <a:close/>
                <a:moveTo>
                  <a:pt x="190500" y="889000"/>
                </a:moveTo>
                <a:lnTo>
                  <a:pt x="222250" y="889000"/>
                </a:lnTo>
                <a:lnTo>
                  <a:pt x="222250" y="920750"/>
                </a:lnTo>
                <a:lnTo>
                  <a:pt x="190500" y="920750"/>
                </a:lnTo>
                <a:close/>
                <a:moveTo>
                  <a:pt x="254000" y="889000"/>
                </a:moveTo>
                <a:lnTo>
                  <a:pt x="444500" y="889000"/>
                </a:lnTo>
                <a:lnTo>
                  <a:pt x="444500" y="920750"/>
                </a:lnTo>
                <a:lnTo>
                  <a:pt x="254000" y="920750"/>
                </a:lnTo>
                <a:close/>
                <a:moveTo>
                  <a:pt x="476250" y="889000"/>
                </a:moveTo>
                <a:lnTo>
                  <a:pt x="539750" y="889000"/>
                </a:lnTo>
                <a:lnTo>
                  <a:pt x="539750" y="920750"/>
                </a:lnTo>
                <a:lnTo>
                  <a:pt x="476250" y="920750"/>
                </a:lnTo>
                <a:close/>
                <a:moveTo>
                  <a:pt x="666750" y="889000"/>
                </a:moveTo>
                <a:lnTo>
                  <a:pt x="730250" y="889000"/>
                </a:lnTo>
                <a:lnTo>
                  <a:pt x="730250" y="920750"/>
                </a:lnTo>
                <a:lnTo>
                  <a:pt x="666750" y="920750"/>
                </a:lnTo>
                <a:close/>
                <a:moveTo>
                  <a:pt x="762000" y="889000"/>
                </a:moveTo>
                <a:lnTo>
                  <a:pt x="952500" y="889000"/>
                </a:lnTo>
                <a:lnTo>
                  <a:pt x="952500" y="920750"/>
                </a:lnTo>
                <a:lnTo>
                  <a:pt x="762000" y="920750"/>
                </a:lnTo>
                <a:close/>
                <a:moveTo>
                  <a:pt x="0" y="920750"/>
                </a:moveTo>
                <a:lnTo>
                  <a:pt x="31750" y="920750"/>
                </a:lnTo>
                <a:lnTo>
                  <a:pt x="31750" y="952500"/>
                </a:lnTo>
                <a:lnTo>
                  <a:pt x="0" y="952500"/>
                </a:lnTo>
                <a:close/>
                <a:moveTo>
                  <a:pt x="63500" y="920750"/>
                </a:moveTo>
                <a:lnTo>
                  <a:pt x="158750" y="920750"/>
                </a:lnTo>
                <a:lnTo>
                  <a:pt x="158750" y="952500"/>
                </a:lnTo>
                <a:lnTo>
                  <a:pt x="63500" y="952500"/>
                </a:lnTo>
                <a:close/>
                <a:moveTo>
                  <a:pt x="190500" y="920750"/>
                </a:moveTo>
                <a:lnTo>
                  <a:pt x="222250" y="920750"/>
                </a:lnTo>
                <a:lnTo>
                  <a:pt x="222250" y="952500"/>
                </a:lnTo>
                <a:lnTo>
                  <a:pt x="190500" y="952500"/>
                </a:lnTo>
                <a:close/>
                <a:moveTo>
                  <a:pt x="381000" y="920750"/>
                </a:moveTo>
                <a:lnTo>
                  <a:pt x="412750" y="920750"/>
                </a:lnTo>
                <a:lnTo>
                  <a:pt x="412750" y="952500"/>
                </a:lnTo>
                <a:lnTo>
                  <a:pt x="381000" y="952500"/>
                </a:lnTo>
                <a:close/>
                <a:moveTo>
                  <a:pt x="444500" y="920750"/>
                </a:moveTo>
                <a:lnTo>
                  <a:pt x="476250" y="920750"/>
                </a:lnTo>
                <a:lnTo>
                  <a:pt x="476250" y="952500"/>
                </a:lnTo>
                <a:lnTo>
                  <a:pt x="444500" y="952500"/>
                </a:lnTo>
                <a:close/>
                <a:moveTo>
                  <a:pt x="539750" y="920750"/>
                </a:moveTo>
                <a:lnTo>
                  <a:pt x="603250" y="920750"/>
                </a:lnTo>
                <a:lnTo>
                  <a:pt x="603250" y="952500"/>
                </a:lnTo>
                <a:lnTo>
                  <a:pt x="539750" y="952500"/>
                </a:lnTo>
                <a:close/>
                <a:moveTo>
                  <a:pt x="666750" y="920750"/>
                </a:moveTo>
                <a:lnTo>
                  <a:pt x="698500" y="920750"/>
                </a:lnTo>
                <a:lnTo>
                  <a:pt x="698500" y="952500"/>
                </a:lnTo>
                <a:lnTo>
                  <a:pt x="666750" y="952500"/>
                </a:lnTo>
                <a:close/>
                <a:moveTo>
                  <a:pt x="730250" y="920750"/>
                </a:moveTo>
                <a:lnTo>
                  <a:pt x="793750" y="920750"/>
                </a:lnTo>
                <a:lnTo>
                  <a:pt x="793750" y="952500"/>
                </a:lnTo>
                <a:lnTo>
                  <a:pt x="730250" y="952500"/>
                </a:lnTo>
                <a:close/>
                <a:moveTo>
                  <a:pt x="825500" y="920750"/>
                </a:moveTo>
                <a:lnTo>
                  <a:pt x="984250" y="920750"/>
                </a:lnTo>
                <a:lnTo>
                  <a:pt x="984250" y="952500"/>
                </a:lnTo>
                <a:lnTo>
                  <a:pt x="825500" y="952500"/>
                </a:lnTo>
                <a:close/>
                <a:moveTo>
                  <a:pt x="0" y="952500"/>
                </a:moveTo>
                <a:lnTo>
                  <a:pt x="31750" y="952500"/>
                </a:lnTo>
                <a:lnTo>
                  <a:pt x="31750" y="984250"/>
                </a:lnTo>
                <a:lnTo>
                  <a:pt x="0" y="984250"/>
                </a:lnTo>
                <a:close/>
                <a:moveTo>
                  <a:pt x="63500" y="952500"/>
                </a:moveTo>
                <a:lnTo>
                  <a:pt x="158750" y="952500"/>
                </a:lnTo>
                <a:lnTo>
                  <a:pt x="158750" y="984250"/>
                </a:lnTo>
                <a:lnTo>
                  <a:pt x="63500" y="984250"/>
                </a:lnTo>
                <a:close/>
                <a:moveTo>
                  <a:pt x="190500" y="952500"/>
                </a:moveTo>
                <a:lnTo>
                  <a:pt x="222250" y="952500"/>
                </a:lnTo>
                <a:lnTo>
                  <a:pt x="222250" y="984250"/>
                </a:lnTo>
                <a:lnTo>
                  <a:pt x="190500" y="984250"/>
                </a:lnTo>
                <a:close/>
                <a:moveTo>
                  <a:pt x="285750" y="952500"/>
                </a:moveTo>
                <a:lnTo>
                  <a:pt x="381000" y="952500"/>
                </a:lnTo>
                <a:lnTo>
                  <a:pt x="381000" y="984250"/>
                </a:lnTo>
                <a:lnTo>
                  <a:pt x="285750" y="984250"/>
                </a:lnTo>
                <a:close/>
                <a:moveTo>
                  <a:pt x="476250" y="952500"/>
                </a:moveTo>
                <a:lnTo>
                  <a:pt x="508000" y="952500"/>
                </a:lnTo>
                <a:lnTo>
                  <a:pt x="508000" y="984250"/>
                </a:lnTo>
                <a:lnTo>
                  <a:pt x="476250" y="984250"/>
                </a:lnTo>
                <a:close/>
                <a:moveTo>
                  <a:pt x="635000" y="952500"/>
                </a:moveTo>
                <a:lnTo>
                  <a:pt x="666750" y="952500"/>
                </a:lnTo>
                <a:lnTo>
                  <a:pt x="666750" y="984250"/>
                </a:lnTo>
                <a:lnTo>
                  <a:pt x="635000" y="984250"/>
                </a:lnTo>
                <a:close/>
                <a:moveTo>
                  <a:pt x="730250" y="952500"/>
                </a:moveTo>
                <a:lnTo>
                  <a:pt x="793750" y="952500"/>
                </a:lnTo>
                <a:lnTo>
                  <a:pt x="793750" y="984250"/>
                </a:lnTo>
                <a:lnTo>
                  <a:pt x="730250" y="984250"/>
                </a:lnTo>
                <a:close/>
                <a:moveTo>
                  <a:pt x="825500" y="952500"/>
                </a:moveTo>
                <a:lnTo>
                  <a:pt x="952500" y="952500"/>
                </a:lnTo>
                <a:lnTo>
                  <a:pt x="952500" y="984250"/>
                </a:lnTo>
                <a:lnTo>
                  <a:pt x="825500" y="984250"/>
                </a:lnTo>
                <a:close/>
                <a:moveTo>
                  <a:pt x="0" y="984250"/>
                </a:moveTo>
                <a:lnTo>
                  <a:pt x="31750" y="984250"/>
                </a:lnTo>
                <a:lnTo>
                  <a:pt x="31750" y="1016000"/>
                </a:lnTo>
                <a:lnTo>
                  <a:pt x="0" y="1016000"/>
                </a:lnTo>
                <a:close/>
                <a:moveTo>
                  <a:pt x="190500" y="984250"/>
                </a:moveTo>
                <a:lnTo>
                  <a:pt x="222250" y="984250"/>
                </a:lnTo>
                <a:lnTo>
                  <a:pt x="222250" y="1016000"/>
                </a:lnTo>
                <a:lnTo>
                  <a:pt x="190500" y="1016000"/>
                </a:lnTo>
                <a:close/>
                <a:moveTo>
                  <a:pt x="412750" y="984250"/>
                </a:moveTo>
                <a:lnTo>
                  <a:pt x="444500" y="984250"/>
                </a:lnTo>
                <a:lnTo>
                  <a:pt x="444500" y="1016000"/>
                </a:lnTo>
                <a:lnTo>
                  <a:pt x="412750" y="1016000"/>
                </a:lnTo>
                <a:close/>
                <a:moveTo>
                  <a:pt x="476250" y="984250"/>
                </a:moveTo>
                <a:lnTo>
                  <a:pt x="603250" y="984250"/>
                </a:lnTo>
                <a:lnTo>
                  <a:pt x="603250" y="1016000"/>
                </a:lnTo>
                <a:lnTo>
                  <a:pt x="476250" y="1016000"/>
                </a:lnTo>
                <a:close/>
                <a:moveTo>
                  <a:pt x="635000" y="984250"/>
                </a:moveTo>
                <a:lnTo>
                  <a:pt x="698500" y="984250"/>
                </a:lnTo>
                <a:lnTo>
                  <a:pt x="698500" y="1016000"/>
                </a:lnTo>
                <a:lnTo>
                  <a:pt x="635000" y="1016000"/>
                </a:lnTo>
                <a:close/>
                <a:moveTo>
                  <a:pt x="762000" y="984250"/>
                </a:moveTo>
                <a:lnTo>
                  <a:pt x="793750" y="984250"/>
                </a:lnTo>
                <a:lnTo>
                  <a:pt x="793750" y="1016000"/>
                </a:lnTo>
                <a:lnTo>
                  <a:pt x="762000" y="1016000"/>
                </a:lnTo>
                <a:close/>
                <a:moveTo>
                  <a:pt x="0" y="1016000"/>
                </a:moveTo>
                <a:lnTo>
                  <a:pt x="222250" y="1016000"/>
                </a:lnTo>
                <a:lnTo>
                  <a:pt x="222250" y="1047750"/>
                </a:lnTo>
                <a:lnTo>
                  <a:pt x="0" y="1047750"/>
                </a:lnTo>
                <a:close/>
                <a:moveTo>
                  <a:pt x="254000" y="1016000"/>
                </a:moveTo>
                <a:lnTo>
                  <a:pt x="317500" y="1016000"/>
                </a:lnTo>
                <a:lnTo>
                  <a:pt x="317500" y="1047750"/>
                </a:lnTo>
                <a:lnTo>
                  <a:pt x="254000" y="1047750"/>
                </a:lnTo>
                <a:close/>
                <a:moveTo>
                  <a:pt x="444500" y="1016000"/>
                </a:moveTo>
                <a:lnTo>
                  <a:pt x="476250" y="1016000"/>
                </a:lnTo>
                <a:lnTo>
                  <a:pt x="476250" y="1047750"/>
                </a:lnTo>
                <a:lnTo>
                  <a:pt x="444500" y="1047750"/>
                </a:lnTo>
                <a:close/>
                <a:moveTo>
                  <a:pt x="539750" y="1016000"/>
                </a:moveTo>
                <a:lnTo>
                  <a:pt x="571500" y="1016000"/>
                </a:lnTo>
                <a:lnTo>
                  <a:pt x="571500" y="1047750"/>
                </a:lnTo>
                <a:lnTo>
                  <a:pt x="539750" y="1047750"/>
                </a:lnTo>
                <a:close/>
                <a:moveTo>
                  <a:pt x="603250" y="1016000"/>
                </a:moveTo>
                <a:lnTo>
                  <a:pt x="793750" y="1016000"/>
                </a:lnTo>
                <a:lnTo>
                  <a:pt x="793750" y="1047750"/>
                </a:lnTo>
                <a:lnTo>
                  <a:pt x="603250" y="1047750"/>
                </a:lnTo>
                <a:close/>
                <a:moveTo>
                  <a:pt x="825500" y="1016000"/>
                </a:moveTo>
                <a:lnTo>
                  <a:pt x="857250" y="1016000"/>
                </a:lnTo>
                <a:lnTo>
                  <a:pt x="857250" y="1047750"/>
                </a:lnTo>
                <a:lnTo>
                  <a:pt x="825500" y="1047750"/>
                </a:lnTo>
                <a:close/>
                <a:moveTo>
                  <a:pt x="1016000" y="1016000"/>
                </a:moveTo>
                <a:lnTo>
                  <a:pt x="1047750" y="1016000"/>
                </a:lnTo>
                <a:lnTo>
                  <a:pt x="1047750" y="1047750"/>
                </a:lnTo>
                <a:lnTo>
                  <a:pt x="1016000" y="1047750"/>
                </a:lnTo>
                <a:close/>
              </a:path>
            </a:pathLst>
          </a:custGeom>
          <a:solidFill>
            <a:srgbClr val="0B0823"/>
          </a:solidFill>
          <a:ln>
            <a:noFill/>
          </a:ln>
        </p:spPr>
      </p:sp>
      <p:sp>
        <p:nvSpPr>
          <p:cNvPr id="10" name="Text Get the code"/>
          <p:cNvSpPr txBox="1"/>
          <p:nvPr/>
        </p:nvSpPr>
        <p:spPr>
          <a:xfrm>
            <a:off x="2066925" y="4772025"/>
            <a:ext cx="1316236" cy="247650"/>
          </a:xfrm>
          <a:prstGeom prst="rect">
            <a:avLst/>
          </a:prstGeom>
          <a:noFill/>
          <a:ln/>
        </p:spPr>
        <p:txBody>
          <a:bodyPr wrap="none" lIns="0" tIns="0" rIns="0" bIns="0" rtlCol="0" anchor="ctr"/>
          <a:lstStyle/>
          <a:p>
            <a:pPr algn="l" indent="0" marL="0">
              <a:buNone/>
            </a:pPr>
            <a:r>
              <a:rPr lang="en-US" sz="1650" dirty="0">
                <a:solidFill>
                  <a:srgbClr val="FFFFFF"/>
                </a:solidFill>
                <a:latin typeface="Scotia Headline" pitchFamily="34" charset="0"/>
                <a:ea typeface="Scotia Headline" pitchFamily="34" charset="-122"/>
                <a:cs typeface="Scotia Headline" pitchFamily="34" charset="-120"/>
              </a:rPr>
              <a:t>Get the code</a:t>
            </a:r>
            <a:endParaRPr lang="en-US" sz="1650" dirty="0"/>
          </a:p>
        </p:txBody>
      </p:sp>
      <p:sp>
        <p:nvSpPr>
          <p:cNvPr id="11" name="Text github.com Erik-Koning agentic"/>
          <p:cNvSpPr txBox="1"/>
          <p:nvPr/>
        </p:nvSpPr>
        <p:spPr>
          <a:xfrm>
            <a:off x="2066925" y="5076825"/>
            <a:ext cx="2609850" cy="381000"/>
          </a:xfrm>
          <a:prstGeom prst="rect">
            <a:avLst/>
          </a:prstGeom>
          <a:noFill/>
          <a:ln/>
        </p:spPr>
        <p:txBody>
          <a:bodyPr wrap="square" lIns="0" tIns="0" rIns="0" bIns="0" rtlCol="0" anchor="t"/>
          <a:lstStyle/>
          <a:p>
            <a:pPr algn="l" indent="0" marL="0">
              <a:lnSpc>
                <a:spcPts val="1500"/>
              </a:lnSpc>
              <a:buNone/>
            </a:pPr>
            <a:r>
              <a:rPr lang="en-US" sz="1050" dirty="0">
                <a:solidFill>
                  <a:srgbClr val="CFCBFF"/>
                </a:solidFill>
                <a:latin typeface="Menlo" pitchFamily="34" charset="0"/>
                <a:ea typeface="Menlo" pitchFamily="34" charset="-122"/>
                <a:cs typeface="Menlo" pitchFamily="34" charset="-120"/>
              </a:rPr>
              <a:t>github.com/Erik-Koning/</a:t>
            </a:r>
            <a:endParaRPr lang="en-US" sz="1050" dirty="0"/>
          </a:p>
          <a:p>
            <a:pPr algn="l" indent="0" marL="0">
              <a:lnSpc>
                <a:spcPts val="1500"/>
              </a:lnSpc>
              <a:buNone/>
            </a:pPr>
            <a:r>
              <a:rPr lang="en-US" sz="1050" dirty="0">
                <a:solidFill>
                  <a:srgbClr val="CFCBFF"/>
                </a:solidFill>
                <a:latin typeface="Menlo" pitchFamily="34" charset="0"/>
                <a:ea typeface="Menlo" pitchFamily="34" charset="-122"/>
                <a:cs typeface="Menlo" pitchFamily="34" charset="-120"/>
              </a:rPr>
              <a:t>agentic-patterns-eval</a:t>
            </a:r>
            <a:endParaRPr lang="en-US" sz="1050" dirty="0"/>
          </a:p>
        </p:txBody>
      </p:sp>
      <p:sp>
        <p:nvSpPr>
          <p:cNvPr id="12" name="Text The five patterns the context"/>
          <p:cNvSpPr txBox="1"/>
          <p:nvPr/>
        </p:nvSpPr>
        <p:spPr>
          <a:xfrm>
            <a:off x="2066925" y="5510213"/>
            <a:ext cx="2609850" cy="361950"/>
          </a:xfrm>
          <a:prstGeom prst="rect">
            <a:avLst/>
          </a:prstGeom>
          <a:noFill/>
          <a:ln/>
        </p:spPr>
        <p:txBody>
          <a:bodyPr wrap="square" lIns="0" tIns="0" rIns="0" bIns="0" rtlCol="0" anchor="t"/>
          <a:lstStyle/>
          <a:p>
            <a:pPr algn="l" indent="0" marL="0">
              <a:lnSpc>
                <a:spcPts val="1425"/>
              </a:lnSpc>
              <a:buNone/>
            </a:pPr>
            <a:r>
              <a:rPr lang="en-US" sz="1050" dirty="0">
                <a:solidFill>
                  <a:srgbClr val="A9A6CF"/>
                </a:solidFill>
                <a:latin typeface="Scotia Serif" pitchFamily="34" charset="0"/>
                <a:ea typeface="Scotia Serif" pitchFamily="34" charset="-122"/>
                <a:cs typeface="Scotia Serif" pitchFamily="34" charset="-120"/>
              </a:rPr>
              <a:t>The five patterns, the context strategies and the full eval set.</a:t>
            </a:r>
            <a:endParaRPr lang="en-US" sz="1050" dirty="0"/>
          </a:p>
        </p:txBody>
      </p:sp>
      <p:sp>
        <p:nvSpPr>
          <p:cNvPr id="13" name="Text TEAM"/>
          <p:cNvSpPr txBox="1"/>
          <p:nvPr/>
        </p:nvSpPr>
        <p:spPr>
          <a:xfrm>
            <a:off x="5715000" y="547688"/>
            <a:ext cx="423565" cy="152400"/>
          </a:xfrm>
          <a:prstGeom prst="rect">
            <a:avLst/>
          </a:prstGeom>
          <a:noFill/>
          <a:ln/>
        </p:spPr>
        <p:txBody>
          <a:bodyPr wrap="none" lIns="0" tIns="0" rIns="0" bIns="0" rtlCol="0" anchor="ctr"/>
          <a:lstStyle/>
          <a:p>
            <a:pPr algn="l" indent="0" marL="0">
              <a:buNone/>
            </a:pPr>
            <a:r>
              <a:rPr lang="en-US" sz="825" b="1" spc="165" kern="0" dirty="0">
                <a:solidFill>
                  <a:srgbClr val="A9A6CF"/>
                </a:solidFill>
                <a:latin typeface="Scotia" pitchFamily="34" charset="0"/>
                <a:ea typeface="Scotia" pitchFamily="34" charset="-122"/>
                <a:cs typeface="Scotia" pitchFamily="34" charset="-120"/>
              </a:rPr>
              <a:t>TEAM</a:t>
            </a:r>
            <a:endParaRPr lang="en-US" sz="825" dirty="0"/>
          </a:p>
        </p:txBody>
      </p:sp>
      <p:sp>
        <p:nvSpPr>
          <p:cNvPr id="14" name="ty2-rule"/>
          <p:cNvSpPr/>
          <p:nvPr/>
        </p:nvSpPr>
        <p:spPr>
          <a:xfrm>
            <a:off x="5715000" y="819150"/>
            <a:ext cx="6076950" cy="9525"/>
          </a:xfrm>
          <a:prstGeom prst="rect">
            <a:avLst/>
          </a:prstGeom>
          <a:solidFill>
            <a:srgbClr val="BDC2EF">
              <a:alpha val="16000"/>
            </a:srgbClr>
          </a:solidFill>
          <a:ln>
            <a:noFill/>
          </a:ln>
        </p:spPr>
      </p:sp>
      <p:sp>
        <p:nvSpPr>
          <p:cNvPr id="15" name="div"/>
          <p:cNvSpPr/>
          <p:nvPr/>
        </p:nvSpPr>
        <p:spPr>
          <a:xfrm>
            <a:off x="5715000" y="952500"/>
            <a:ext cx="857250" cy="857250"/>
          </a:xfrm>
          <a:prstGeom prst="ellipse">
            <a:avLst/>
          </a:prstGeom>
          <a:noFill/>
          <a:ln w="19050">
            <a:solidFill>
              <a:srgbClr val="8070FF"/>
            </a:solidFill>
          </a:ln>
        </p:spPr>
      </p:sp>
      <p:sp>
        <p:nvSpPr>
          <p:cNvPr id="16" name="cs-image"/>
          <p:cNvSpPr/>
          <p:nvPr/>
        </p:nvSpPr>
        <p:spPr>
          <a:xfrm>
            <a:off x="5762625" y="1000125"/>
            <a:ext cx="762000" cy="762000"/>
          </a:xfrm>
          <a:prstGeom prst="ellipse">
            <a:avLst/>
          </a:prstGeom>
          <a:solidFill>
            <a:srgbClr val="E3E3E7"/>
          </a:solidFill>
          <a:ln>
            <a:noFill/>
          </a:ln>
        </p:spPr>
      </p:sp>
      <p:pic>
        <p:nvPicPr>
          <p:cNvPr id="17" name="Picture Erik Koning" descr="Erik Koning">    </p:cNvPr>
          <p:cNvPicPr>
            <a:picLocks noChangeAspect="1"/>
          </p:cNvPicPr>
          <p:nvPr/>
        </p:nvPicPr>
        <p:blipFill>
          <a:blip r:embed="rId1"/>
          <a:stretch>
            <a:fillRect/>
          </a:stretch>
        </p:blipFill>
        <p:spPr>
          <a:xfrm>
            <a:off x="5762625" y="1000125"/>
            <a:ext cx="762000" cy="762000"/>
          </a:xfrm>
          <a:prstGeom prst="ellipse">
            <a:avLst/>
          </a:prstGeom>
        </p:spPr>
      </p:pic>
      <p:sp>
        <p:nvSpPr>
          <p:cNvPr id="18" name="Text Erik Koning"/>
          <p:cNvSpPr txBox="1"/>
          <p:nvPr/>
        </p:nvSpPr>
        <p:spPr>
          <a:xfrm>
            <a:off x="6762750" y="1123950"/>
            <a:ext cx="1215182" cy="266700"/>
          </a:xfrm>
          <a:prstGeom prst="rect">
            <a:avLst/>
          </a:prstGeom>
          <a:noFill/>
          <a:ln/>
        </p:spPr>
        <p:txBody>
          <a:bodyPr wrap="none" lIns="0" tIns="0" rIns="0" bIns="0" rtlCol="0" anchor="ctr"/>
          <a:lstStyle/>
          <a:p>
            <a:pPr algn="l" indent="0" marL="0">
              <a:buNone/>
            </a:pPr>
            <a:r>
              <a:rPr lang="en-US" sz="1725" dirty="0">
                <a:solidFill>
                  <a:srgbClr val="FFFFFF"/>
                </a:solidFill>
                <a:latin typeface="Scotia Headline" pitchFamily="34" charset="0"/>
                <a:ea typeface="Scotia Headline" pitchFamily="34" charset="-122"/>
                <a:cs typeface="Scotia Headline" pitchFamily="34" charset="-120"/>
              </a:rPr>
              <a:t>Erik Koning</a:t>
            </a:r>
            <a:endParaRPr lang="en-US" sz="1725" dirty="0"/>
          </a:p>
        </p:txBody>
      </p:sp>
      <p:sp>
        <p:nvSpPr>
          <p:cNvPr id="19" name="Text Senior AI ML Engineer Scotia"/>
          <p:cNvSpPr txBox="1"/>
          <p:nvPr/>
        </p:nvSpPr>
        <p:spPr>
          <a:xfrm>
            <a:off x="6762750" y="1423988"/>
            <a:ext cx="2205335" cy="180975"/>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Senior AI/ML Engineer · Scotiabank</a:t>
            </a:r>
            <a:endParaRPr lang="en-US" sz="1088" dirty="0"/>
          </a:p>
        </p:txBody>
      </p:sp>
      <p:sp>
        <p:nvSpPr>
          <p:cNvPr id="20" name="svg rect"/>
          <p:cNvSpPr/>
          <p:nvPr/>
        </p:nvSpPr>
        <p:spPr>
          <a:xfrm>
            <a:off x="10527953" y="1285875"/>
            <a:ext cx="152400" cy="152400"/>
          </a:xfrm>
          <a:prstGeom prst="roundRect">
            <a:avLst>
              <a:gd name="adj" fmla="val 19444"/>
            </a:avLst>
          </a:prstGeom>
          <a:solidFill>
            <a:srgbClr val="6551FF"/>
          </a:solidFill>
          <a:ln>
            <a:noFill/>
          </a:ln>
        </p:spPr>
      </p:sp>
      <p:sp>
        <p:nvSpPr>
          <p:cNvPr id="21" name="Text in"/>
          <p:cNvSpPr txBox="1"/>
          <p:nvPr/>
        </p:nvSpPr>
        <p:spPr>
          <a:xfrm>
            <a:off x="10528548" y="1307892"/>
            <a:ext cx="151209" cy="118532"/>
          </a:xfrm>
          <a:prstGeom prst="rect">
            <a:avLst/>
          </a:prstGeom>
          <a:noFill/>
          <a:ln/>
        </p:spPr>
        <p:txBody>
          <a:bodyPr wrap="none" lIns="0" tIns="0" rIns="0" bIns="0" rtlCol="0" anchor="ctr"/>
          <a:lstStyle/>
          <a:p>
            <a:pPr algn="ctr" indent="0" marL="0">
              <a:buNone/>
            </a:pPr>
            <a:r>
              <a:rPr lang="en-US" sz="833" b="1" dirty="0">
                <a:solidFill>
                  <a:srgbClr val="FFFFFF"/>
                </a:solidFill>
                <a:latin typeface="Arial" pitchFamily="34" charset="0"/>
                <a:ea typeface="Arial" pitchFamily="34" charset="-122"/>
                <a:cs typeface="Arial" pitchFamily="34" charset="-120"/>
              </a:rPr>
              <a:t>in</a:t>
            </a:r>
            <a:endParaRPr lang="en-US" sz="833" dirty="0"/>
          </a:p>
        </p:txBody>
      </p:sp>
      <p:sp>
        <p:nvSpPr>
          <p:cNvPr id="22" name="Text erikkoningcanada"/>
          <p:cNvSpPr txBox="1"/>
          <p:nvPr/>
        </p:nvSpPr>
        <p:spPr>
          <a:xfrm>
            <a:off x="10747028" y="1304925"/>
            <a:ext cx="1102072"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pitchFamily="34" charset="0"/>
                <a:ea typeface="Scotia" pitchFamily="34" charset="-122"/>
                <a:cs typeface="Scotia" pitchFamily="34" charset="-120"/>
              </a:rPr>
              <a:t>erikkoningcanada</a:t>
            </a:r>
            <a:endParaRPr lang="en-US" sz="1050" dirty="0"/>
          </a:p>
        </p:txBody>
      </p:sp>
      <p:sp>
        <p:nvSpPr>
          <p:cNvPr id="23" name="ty2-rule"/>
          <p:cNvSpPr/>
          <p:nvPr/>
        </p:nvSpPr>
        <p:spPr>
          <a:xfrm>
            <a:off x="5715000" y="1943100"/>
            <a:ext cx="6076950" cy="9525"/>
          </a:xfrm>
          <a:prstGeom prst="rect">
            <a:avLst/>
          </a:prstGeom>
          <a:solidFill>
            <a:srgbClr val="BDC2EF">
              <a:alpha val="16000"/>
            </a:srgbClr>
          </a:solidFill>
          <a:ln>
            <a:noFill/>
          </a:ln>
        </p:spPr>
      </p:sp>
      <p:sp>
        <p:nvSpPr>
          <p:cNvPr id="24" name="div"/>
          <p:cNvSpPr/>
          <p:nvPr/>
        </p:nvSpPr>
        <p:spPr>
          <a:xfrm>
            <a:off x="5715000" y="2076450"/>
            <a:ext cx="857250" cy="857250"/>
          </a:xfrm>
          <a:prstGeom prst="ellipse">
            <a:avLst/>
          </a:prstGeom>
          <a:noFill/>
          <a:ln w="19050">
            <a:solidFill>
              <a:srgbClr val="8070FF"/>
            </a:solidFill>
          </a:ln>
        </p:spPr>
      </p:sp>
      <p:sp>
        <p:nvSpPr>
          <p:cNvPr id="25" name="cs-image"/>
          <p:cNvSpPr/>
          <p:nvPr/>
        </p:nvSpPr>
        <p:spPr>
          <a:xfrm>
            <a:off x="5762625" y="2124075"/>
            <a:ext cx="762000" cy="762000"/>
          </a:xfrm>
          <a:prstGeom prst="ellipse">
            <a:avLst/>
          </a:prstGeom>
          <a:solidFill>
            <a:srgbClr val="E3E3E7"/>
          </a:solidFill>
          <a:ln>
            <a:noFill/>
          </a:ln>
        </p:spPr>
      </p:sp>
      <p:pic>
        <p:nvPicPr>
          <p:cNvPr id="26" name="Picture Alex Bajenaru" descr="Alex Bajenaru">    </p:cNvPr>
          <p:cNvPicPr>
            <a:picLocks noChangeAspect="1"/>
          </p:cNvPicPr>
          <p:nvPr/>
        </p:nvPicPr>
        <p:blipFill>
          <a:blip r:embed="rId2"/>
          <a:stretch>
            <a:fillRect/>
          </a:stretch>
        </p:blipFill>
        <p:spPr>
          <a:xfrm>
            <a:off x="5762625" y="2124075"/>
            <a:ext cx="762000" cy="762000"/>
          </a:xfrm>
          <a:prstGeom prst="ellipse">
            <a:avLst/>
          </a:prstGeom>
        </p:spPr>
      </p:pic>
      <p:sp>
        <p:nvSpPr>
          <p:cNvPr id="27" name="Text Alex Bajenaru"/>
          <p:cNvSpPr txBox="1"/>
          <p:nvPr/>
        </p:nvSpPr>
        <p:spPr>
          <a:xfrm>
            <a:off x="6762750" y="2247900"/>
            <a:ext cx="1517154" cy="266700"/>
          </a:xfrm>
          <a:prstGeom prst="rect">
            <a:avLst/>
          </a:prstGeom>
          <a:noFill/>
          <a:ln/>
        </p:spPr>
        <p:txBody>
          <a:bodyPr wrap="none" lIns="0" tIns="0" rIns="0" bIns="0" rtlCol="0" anchor="ctr"/>
          <a:lstStyle/>
          <a:p>
            <a:pPr algn="l" indent="0" marL="0">
              <a:buNone/>
            </a:pPr>
            <a:r>
              <a:rPr lang="en-US" sz="1725" dirty="0">
                <a:solidFill>
                  <a:srgbClr val="FFFFFF"/>
                </a:solidFill>
                <a:latin typeface="Scotia Headline" pitchFamily="34" charset="0"/>
                <a:ea typeface="Scotia Headline" pitchFamily="34" charset="-122"/>
                <a:cs typeface="Scotia Headline" pitchFamily="34" charset="-120"/>
              </a:rPr>
              <a:t>Alex Bajenaru</a:t>
            </a:r>
            <a:endParaRPr lang="en-US" sz="1725" dirty="0"/>
          </a:p>
        </p:txBody>
      </p:sp>
      <p:sp>
        <p:nvSpPr>
          <p:cNvPr id="28" name="Text Full Stack Engineer Scotiaba"/>
          <p:cNvSpPr txBox="1"/>
          <p:nvPr/>
        </p:nvSpPr>
        <p:spPr>
          <a:xfrm>
            <a:off x="6762750" y="2547938"/>
            <a:ext cx="1989683" cy="180975"/>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Full Stack Engineer · Scotiabank</a:t>
            </a:r>
            <a:endParaRPr lang="en-US" sz="1088" dirty="0"/>
          </a:p>
        </p:txBody>
      </p:sp>
      <p:sp>
        <p:nvSpPr>
          <p:cNvPr id="29" name="svg rect"/>
          <p:cNvSpPr/>
          <p:nvPr/>
        </p:nvSpPr>
        <p:spPr>
          <a:xfrm>
            <a:off x="10761166" y="2409825"/>
            <a:ext cx="152400" cy="152400"/>
          </a:xfrm>
          <a:prstGeom prst="roundRect">
            <a:avLst>
              <a:gd name="adj" fmla="val 19444"/>
            </a:avLst>
          </a:prstGeom>
          <a:solidFill>
            <a:srgbClr val="6551FF"/>
          </a:solidFill>
          <a:ln>
            <a:noFill/>
          </a:ln>
        </p:spPr>
      </p:sp>
      <p:sp>
        <p:nvSpPr>
          <p:cNvPr id="30" name="Text in"/>
          <p:cNvSpPr txBox="1"/>
          <p:nvPr/>
        </p:nvSpPr>
        <p:spPr>
          <a:xfrm>
            <a:off x="10761762" y="2431842"/>
            <a:ext cx="151209" cy="118532"/>
          </a:xfrm>
          <a:prstGeom prst="rect">
            <a:avLst/>
          </a:prstGeom>
          <a:noFill/>
          <a:ln/>
        </p:spPr>
        <p:txBody>
          <a:bodyPr wrap="none" lIns="0" tIns="0" rIns="0" bIns="0" rtlCol="0" anchor="ctr"/>
          <a:lstStyle/>
          <a:p>
            <a:pPr algn="ctr" indent="0" marL="0">
              <a:buNone/>
            </a:pPr>
            <a:r>
              <a:rPr lang="en-US" sz="833" b="1" dirty="0">
                <a:solidFill>
                  <a:srgbClr val="FFFFFF"/>
                </a:solidFill>
                <a:latin typeface="Arial" pitchFamily="34" charset="0"/>
                <a:ea typeface="Arial" pitchFamily="34" charset="-122"/>
                <a:cs typeface="Arial" pitchFamily="34" charset="-120"/>
              </a:rPr>
              <a:t>in</a:t>
            </a:r>
            <a:endParaRPr lang="en-US" sz="833" dirty="0"/>
          </a:p>
        </p:txBody>
      </p:sp>
      <p:sp>
        <p:nvSpPr>
          <p:cNvPr id="31" name="Text alex-bajenaru"/>
          <p:cNvSpPr txBox="1"/>
          <p:nvPr/>
        </p:nvSpPr>
        <p:spPr>
          <a:xfrm>
            <a:off x="10980241" y="2428875"/>
            <a:ext cx="868859"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pitchFamily="34" charset="0"/>
                <a:ea typeface="Scotia" pitchFamily="34" charset="-122"/>
                <a:cs typeface="Scotia" pitchFamily="34" charset="-120"/>
              </a:rPr>
              <a:t>alex-bajenaru</a:t>
            </a:r>
            <a:endParaRPr lang="en-US" sz="1050" dirty="0"/>
          </a:p>
        </p:txBody>
      </p:sp>
      <p:sp>
        <p:nvSpPr>
          <p:cNvPr id="32" name="ty2-rule"/>
          <p:cNvSpPr/>
          <p:nvPr/>
        </p:nvSpPr>
        <p:spPr>
          <a:xfrm>
            <a:off x="5715000" y="3067050"/>
            <a:ext cx="6076950" cy="9525"/>
          </a:xfrm>
          <a:prstGeom prst="rect">
            <a:avLst/>
          </a:prstGeom>
          <a:solidFill>
            <a:srgbClr val="BDC2EF">
              <a:alpha val="16000"/>
            </a:srgbClr>
          </a:solidFill>
          <a:ln>
            <a:noFill/>
          </a:ln>
        </p:spPr>
      </p:sp>
      <p:sp>
        <p:nvSpPr>
          <p:cNvPr id="33" name="div"/>
          <p:cNvSpPr/>
          <p:nvPr/>
        </p:nvSpPr>
        <p:spPr>
          <a:xfrm>
            <a:off x="5715000" y="3200400"/>
            <a:ext cx="857250" cy="857250"/>
          </a:xfrm>
          <a:prstGeom prst="ellipse">
            <a:avLst/>
          </a:prstGeom>
          <a:noFill/>
          <a:ln w="19050">
            <a:solidFill>
              <a:srgbClr val="8070FF"/>
            </a:solidFill>
          </a:ln>
        </p:spPr>
      </p:sp>
      <p:sp>
        <p:nvSpPr>
          <p:cNvPr id="34" name="cs-image"/>
          <p:cNvSpPr/>
          <p:nvPr/>
        </p:nvSpPr>
        <p:spPr>
          <a:xfrm>
            <a:off x="5762625" y="3248025"/>
            <a:ext cx="762000" cy="762000"/>
          </a:xfrm>
          <a:prstGeom prst="ellipse">
            <a:avLst/>
          </a:prstGeom>
          <a:solidFill>
            <a:srgbClr val="E3E3E7"/>
          </a:solidFill>
          <a:ln>
            <a:noFill/>
          </a:ln>
        </p:spPr>
      </p:sp>
      <p:pic>
        <p:nvPicPr>
          <p:cNvPr id="35" name="Picture Gautham Pallapa" descr="Gautham Pallapa">    </p:cNvPr>
          <p:cNvPicPr>
            <a:picLocks noChangeAspect="1"/>
          </p:cNvPicPr>
          <p:nvPr/>
        </p:nvPicPr>
        <p:blipFill>
          <a:blip r:embed="rId3"/>
          <a:stretch>
            <a:fillRect/>
          </a:stretch>
        </p:blipFill>
        <p:spPr>
          <a:xfrm>
            <a:off x="5762625" y="3248025"/>
            <a:ext cx="762000" cy="762000"/>
          </a:xfrm>
          <a:prstGeom prst="ellipse">
            <a:avLst/>
          </a:prstGeom>
        </p:spPr>
      </p:pic>
      <p:sp>
        <p:nvSpPr>
          <p:cNvPr id="36" name="Text Gautham Pallapa"/>
          <p:cNvSpPr txBox="1"/>
          <p:nvPr/>
        </p:nvSpPr>
        <p:spPr>
          <a:xfrm>
            <a:off x="6762750" y="3371850"/>
            <a:ext cx="1888629" cy="266700"/>
          </a:xfrm>
          <a:prstGeom prst="rect">
            <a:avLst/>
          </a:prstGeom>
          <a:noFill/>
          <a:ln/>
        </p:spPr>
        <p:txBody>
          <a:bodyPr wrap="none" lIns="0" tIns="0" rIns="0" bIns="0" rtlCol="0" anchor="ctr"/>
          <a:lstStyle/>
          <a:p>
            <a:pPr algn="l" indent="0" marL="0">
              <a:buNone/>
            </a:pPr>
            <a:r>
              <a:rPr lang="en-US" sz="1725" dirty="0">
                <a:solidFill>
                  <a:srgbClr val="FFFFFF"/>
                </a:solidFill>
                <a:latin typeface="Scotia Headline" pitchFamily="34" charset="0"/>
                <a:ea typeface="Scotia Headline" pitchFamily="34" charset="-122"/>
                <a:cs typeface="Scotia Headline" pitchFamily="34" charset="-120"/>
              </a:rPr>
              <a:t>Gautham Pallapa</a:t>
            </a:r>
            <a:endParaRPr lang="en-US" sz="1725" dirty="0"/>
          </a:p>
        </p:txBody>
      </p:sp>
      <p:sp>
        <p:nvSpPr>
          <p:cNvPr id="37" name="Text Principal Director AI Innov"/>
          <p:cNvSpPr txBox="1"/>
          <p:nvPr/>
        </p:nvSpPr>
        <p:spPr>
          <a:xfrm>
            <a:off x="6762750" y="3671888"/>
            <a:ext cx="2887117" cy="180975"/>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Principal Director, AI &amp; Innovation · Scotiabank</a:t>
            </a:r>
            <a:endParaRPr lang="en-US" sz="1088" dirty="0"/>
          </a:p>
        </p:txBody>
      </p:sp>
      <p:sp>
        <p:nvSpPr>
          <p:cNvPr id="38" name="svg rect"/>
          <p:cNvSpPr/>
          <p:nvPr/>
        </p:nvSpPr>
        <p:spPr>
          <a:xfrm>
            <a:off x="11065966" y="3533775"/>
            <a:ext cx="152400" cy="152400"/>
          </a:xfrm>
          <a:prstGeom prst="roundRect">
            <a:avLst>
              <a:gd name="adj" fmla="val 19444"/>
            </a:avLst>
          </a:prstGeom>
          <a:solidFill>
            <a:srgbClr val="6551FF"/>
          </a:solidFill>
          <a:ln>
            <a:noFill/>
          </a:ln>
        </p:spPr>
      </p:sp>
      <p:sp>
        <p:nvSpPr>
          <p:cNvPr id="39" name="Text in"/>
          <p:cNvSpPr txBox="1"/>
          <p:nvPr/>
        </p:nvSpPr>
        <p:spPr>
          <a:xfrm>
            <a:off x="11066562" y="3555792"/>
            <a:ext cx="151209" cy="118532"/>
          </a:xfrm>
          <a:prstGeom prst="rect">
            <a:avLst/>
          </a:prstGeom>
          <a:noFill/>
          <a:ln/>
        </p:spPr>
        <p:txBody>
          <a:bodyPr wrap="none" lIns="0" tIns="0" rIns="0" bIns="0" rtlCol="0" anchor="ctr"/>
          <a:lstStyle/>
          <a:p>
            <a:pPr algn="ctr" indent="0" marL="0">
              <a:buNone/>
            </a:pPr>
            <a:r>
              <a:rPr lang="en-US" sz="833" b="1" dirty="0">
                <a:solidFill>
                  <a:srgbClr val="FFFFFF"/>
                </a:solidFill>
                <a:latin typeface="Arial" pitchFamily="34" charset="0"/>
                <a:ea typeface="Arial" pitchFamily="34" charset="-122"/>
                <a:cs typeface="Arial" pitchFamily="34" charset="-120"/>
              </a:rPr>
              <a:t>in</a:t>
            </a:r>
            <a:endParaRPr lang="en-US" sz="833" dirty="0"/>
          </a:p>
        </p:txBody>
      </p:sp>
      <p:sp>
        <p:nvSpPr>
          <p:cNvPr id="40" name="Text gpallapa"/>
          <p:cNvSpPr txBox="1"/>
          <p:nvPr/>
        </p:nvSpPr>
        <p:spPr>
          <a:xfrm>
            <a:off x="11285041" y="3552825"/>
            <a:ext cx="564059"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pitchFamily="34" charset="0"/>
                <a:ea typeface="Scotia" pitchFamily="34" charset="-122"/>
                <a:cs typeface="Scotia" pitchFamily="34" charset="-120"/>
              </a:rPr>
              <a:t>gpallapa</a:t>
            </a:r>
            <a:endParaRPr lang="en-US" sz="1050" dirty="0"/>
          </a:p>
        </p:txBody>
      </p:sp>
      <p:sp>
        <p:nvSpPr>
          <p:cNvPr id="41" name="ty2-rule"/>
          <p:cNvSpPr/>
          <p:nvPr/>
        </p:nvSpPr>
        <p:spPr>
          <a:xfrm>
            <a:off x="5715000" y="4191000"/>
            <a:ext cx="6076950" cy="9525"/>
          </a:xfrm>
          <a:prstGeom prst="rect">
            <a:avLst/>
          </a:prstGeom>
          <a:solidFill>
            <a:srgbClr val="BDC2EF">
              <a:alpha val="16000"/>
            </a:srgbClr>
          </a:solidFill>
          <a:ln>
            <a:noFill/>
          </a:ln>
        </p:spPr>
      </p:sp>
      <p:sp>
        <p:nvSpPr>
          <p:cNvPr id="42" name="ty-book"/>
          <p:cNvSpPr/>
          <p:nvPr/>
        </p:nvSpPr>
        <p:spPr>
          <a:xfrm>
            <a:off x="5715000" y="5048250"/>
            <a:ext cx="752475" cy="1066800"/>
          </a:xfrm>
          <a:prstGeom prst="roundRect">
            <a:avLst>
              <a:gd name="adj" fmla="val 5063"/>
            </a:avLst>
          </a:prstGeom>
          <a:noFill/>
          <a:ln>
            <a:noFill/>
          </a:ln>
          <a:effectLst>
            <a:outerShdw blurRad="285750" dist="152400" dir="5400000" sx="64557" sy="75000" algn="ctr" rotWithShape="0">
              <a:srgbClr val="000000">
                <a:alpha val="80000"/>
              </a:srgbClr>
            </a:outerShdw>
          </a:effectLst>
        </p:spPr>
      </p:sp>
      <p:pic>
        <p:nvPicPr>
          <p:cNvPr id="43" name="Picture INVALUABLE: Define Value Align Execution Deliver Out" descr="INVALUABLE: Define Value, Align Execution, Deliver Outcomes, by Asanka Abeysinghe and Gautham Pallapa">    </p:cNvPr>
          <p:cNvPicPr>
            <a:picLocks noChangeAspect="1"/>
          </p:cNvPicPr>
          <p:nvPr/>
        </p:nvPicPr>
        <p:blipFill>
          <a:blip r:embed="rId4"/>
          <a:stretch>
            <a:fillRect/>
          </a:stretch>
        </p:blipFill>
        <p:spPr>
          <a:xfrm>
            <a:off x="5715000" y="5048250"/>
            <a:ext cx="752475" cy="1066800"/>
          </a:xfrm>
          <a:prstGeom prst="rect">
            <a:avLst/>
          </a:prstGeom>
        </p:spPr>
      </p:pic>
      <p:sp>
        <p:nvSpPr>
          <p:cNvPr id="44" name="ty-book"/>
          <p:cNvSpPr/>
          <p:nvPr/>
        </p:nvSpPr>
        <p:spPr>
          <a:xfrm>
            <a:off x="6638925" y="5048250"/>
            <a:ext cx="866775" cy="1066800"/>
          </a:xfrm>
          <a:prstGeom prst="roundRect">
            <a:avLst>
              <a:gd name="adj" fmla="val 4396"/>
            </a:avLst>
          </a:prstGeom>
          <a:noFill/>
          <a:ln>
            <a:noFill/>
          </a:ln>
          <a:effectLst>
            <a:outerShdw blurRad="285750" dist="152400" dir="5400000" sx="69231" sy="75000" algn="ctr" rotWithShape="0">
              <a:srgbClr val="000000">
                <a:alpha val="80000"/>
              </a:srgbClr>
            </a:outerShdw>
          </a:effectLst>
        </p:spPr>
      </p:sp>
      <p:pic>
        <p:nvPicPr>
          <p:cNvPr id="45" name="Picture Mastering Enterprise Platform Engineering by Mark Pe" descr="Mastering Enterprise Platform Engineering, by Mark Peters and Gautham Pallapa (Packt)">    </p:cNvPr>
          <p:cNvPicPr>
            <a:picLocks noChangeAspect="1"/>
          </p:cNvPicPr>
          <p:nvPr/>
        </p:nvPicPr>
        <p:blipFill>
          <a:blip r:embed="rId5"/>
          <a:stretch>
            <a:fillRect/>
          </a:stretch>
        </p:blipFill>
        <p:spPr>
          <a:xfrm>
            <a:off x="6638925" y="5048250"/>
            <a:ext cx="866775" cy="1066800"/>
          </a:xfrm>
          <a:prstGeom prst="rect">
            <a:avLst/>
          </a:prstGeom>
        </p:spPr>
      </p:pic>
      <p:sp>
        <p:nvSpPr>
          <p:cNvPr id="46" name="Text Invaluable and Mastering Enter"/>
          <p:cNvSpPr txBox="1"/>
          <p:nvPr/>
        </p:nvSpPr>
        <p:spPr>
          <a:xfrm>
            <a:off x="7810500" y="5557838"/>
            <a:ext cx="3981450" cy="400050"/>
          </a:xfrm>
          <a:prstGeom prst="rect">
            <a:avLst/>
          </a:prstGeom>
          <a:noFill/>
          <a:ln/>
        </p:spPr>
        <p:txBody>
          <a:bodyPr wrap="square" lIns="0" tIns="0" rIns="0" bIns="0" rtlCol="0" anchor="t"/>
          <a:lstStyle/>
          <a:p>
            <a:pPr algn="l" indent="0" marL="0">
              <a:lnSpc>
                <a:spcPts val="1575"/>
              </a:lnSpc>
              <a:buNone/>
            </a:pPr>
            <a:r>
              <a:rPr lang="en-US" sz="1125" b="1" dirty="0">
                <a:solidFill>
                  <a:srgbClr val="FFFFFF"/>
                </a:solidFill>
                <a:latin typeface="Scotia" pitchFamily="34" charset="0"/>
                <a:ea typeface="Scotia" pitchFamily="34" charset="-122"/>
                <a:cs typeface="Scotia" pitchFamily="34" charset="-120"/>
              </a:rPr>
              <a:t>Invaluable</a:t>
            </a:r>
            <a:pPr algn="l" indent="0" marL="0">
              <a:lnSpc>
                <a:spcPts val="1575"/>
              </a:lnSpc>
              <a:buNone/>
            </a:pPr>
            <a:r>
              <a:rPr lang="en-US" sz="1125" dirty="0">
                <a:solidFill>
                  <a:srgbClr val="A9A6CF"/>
                </a:solidFill>
                <a:latin typeface="Scotia Serif" pitchFamily="34" charset="0"/>
                <a:ea typeface="Scotia Serif" pitchFamily="34" charset="-122"/>
                <a:cs typeface="Scotia Serif" pitchFamily="34" charset="-120"/>
              </a:rPr>
              <a:t> and </a:t>
            </a:r>
            <a:pPr algn="l" indent="0" marL="0">
              <a:lnSpc>
                <a:spcPts val="1575"/>
              </a:lnSpc>
              <a:buNone/>
            </a:pPr>
            <a:r>
              <a:rPr lang="en-US" sz="1125" b="1" dirty="0">
                <a:solidFill>
                  <a:srgbClr val="FFFFFF"/>
                </a:solidFill>
                <a:latin typeface="Scotia" pitchFamily="34" charset="0"/>
                <a:ea typeface="Scotia" pitchFamily="34" charset="-122"/>
                <a:cs typeface="Scotia" pitchFamily="34" charset="-120"/>
              </a:rPr>
              <a:t>Mastering Enterprise Platform Engineering</a:t>
            </a:r>
            <a:pPr algn="l" indent="0" marL="0">
              <a:lnSpc>
                <a:spcPts val="1575"/>
              </a:lnSpc>
              <a:buNone/>
            </a:pPr>
            <a:r>
              <a:rPr lang="en-US" sz="1125" dirty="0">
                <a:solidFill>
                  <a:srgbClr val="A9A6CF"/>
                </a:solidFill>
                <a:latin typeface="Scotia Serif" pitchFamily="34" charset="0"/>
                <a:ea typeface="Scotia Serif" pitchFamily="34" charset="-122"/>
                <a:cs typeface="Scotia Serif" pitchFamily="34" charset="-120"/>
              </a:rPr>
              <a:t>, co-authored by Gautham Pallapa</a:t>
            </a:r>
            <a:endParaRPr lang="en-US" sz="1125" dirty="0"/>
          </a:p>
        </p:txBody>
      </p:sp>
      <p:sp>
        <p:nvSpPr>
          <p:cNvPr id="47"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48" name="Text 23"/>
          <p:cNvSpPr txBox="1"/>
          <p:nvPr/>
        </p:nvSpPr>
        <p:spPr>
          <a:xfrm>
            <a:off x="11615440" y="6306483"/>
            <a:ext cx="166985"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823"/>
        </a:solidFill>
      </p:bgPr>
    </p:bg>
    <p:spTree>
      <p:nvGrpSpPr>
        <p:cNvPr id="1" name=""/>
        <p:cNvGrpSpPr/>
        <p:nvPr/>
      </p:nvGrpSpPr>
      <p:grpSpPr>
        <a:xfrm>
          <a:off x="0" y="0"/>
          <a:ext cx="0" cy="0"/>
          <a:chOff x="0" y="0"/>
          <a:chExt cx="0" cy="0"/>
        </a:xfrm>
      </p:grpSpPr>
      <p:sp>
        <p:nvSpPr>
          <p:cNvPr id="2" name="Text Appendix: When to Use Each Pat"/>
          <p:cNvSpPr txBox="1"/>
          <p:nvPr/>
        </p:nvSpPr>
        <p:spPr>
          <a:xfrm>
            <a:off x="400050" y="475926"/>
            <a:ext cx="6807250"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Appendix: When to Use Each Pattern</a:t>
            </a:r>
            <a:endParaRPr lang="en-US" sz="3067" dirty="0"/>
          </a:p>
        </p:txBody>
      </p:sp>
      <p:sp>
        <p:nvSpPr>
          <p:cNvPr id="3" name="dk-col"/>
          <p:cNvSpPr/>
          <p:nvPr/>
        </p:nvSpPr>
        <p:spPr>
          <a:xfrm>
            <a:off x="404813" y="1262063"/>
            <a:ext cx="2177355" cy="4057650"/>
          </a:xfrm>
          <a:prstGeom prst="roundRect">
            <a:avLst>
              <a:gd name="adj" fmla="val 6781"/>
            </a:avLst>
          </a:prstGeom>
          <a:gradFill rotWithShape="1">
            <a:gsLst>
              <a:gs pos="0">
                <a:srgbClr val="1A1550"/>
              </a:gs>
              <a:gs pos="100000">
                <a:srgbClr val="120E36"/>
              </a:gs>
            </a:gsLst>
            <a:lin ang="5400000" scaled="0"/>
          </a:gradFill>
          <a:ln w="9525">
            <a:solidFill>
              <a:srgbClr val="3B3392"/>
            </a:solidFill>
          </a:ln>
        </p:spPr>
      </p:sp>
      <p:sp>
        <p:nvSpPr>
          <p:cNvPr id="4" name="dk-col-h"/>
          <p:cNvSpPr/>
          <p:nvPr/>
        </p:nvSpPr>
        <p:spPr>
          <a:xfrm>
            <a:off x="409575" y="1266825"/>
            <a:ext cx="2167830" cy="561975"/>
          </a:xfrm>
          <a:prstGeom prst="round2SameRect">
            <a:avLst>
              <a:gd name="adj1" fmla="val 25424"/>
              <a:gd name="adj2" fmla="val 0"/>
            </a:avLst>
          </a:prstGeom>
          <a:solidFill>
            <a:srgbClr val="1D1757"/>
          </a:solidFill>
          <a:ln>
            <a:noFill/>
          </a:ln>
        </p:spPr>
      </p:sp>
      <p:sp>
        <p:nvSpPr>
          <p:cNvPr id="5" name="dk-col-h border"/>
          <p:cNvSpPr/>
          <p:nvPr/>
        </p:nvSpPr>
        <p:spPr>
          <a:xfrm>
            <a:off x="409575" y="1824038"/>
            <a:ext cx="2167830" cy="0"/>
          </a:xfrm>
          <a:prstGeom prst="line">
            <a:avLst/>
          </a:prstGeom>
          <a:noFill/>
          <a:ln w="9525">
            <a:solidFill>
              <a:srgbClr val="3B3392"/>
            </a:solidFill>
          </a:ln>
        </p:spPr>
      </p:sp>
      <p:sp>
        <p:nvSpPr>
          <p:cNvPr id="6" name="Text Sequential"/>
          <p:cNvSpPr txBox="1"/>
          <p:nvPr/>
        </p:nvSpPr>
        <p:spPr>
          <a:xfrm>
            <a:off x="581025" y="1395413"/>
            <a:ext cx="1209080" cy="285750"/>
          </a:xfrm>
          <a:prstGeom prst="rect">
            <a:avLst/>
          </a:prstGeom>
          <a:noFill/>
          <a:ln/>
        </p:spPr>
        <p:txBody>
          <a:bodyPr wrap="none" lIns="0" tIns="0" rIns="0" bIns="0" rtlCol="0" anchor="ctr"/>
          <a:lstStyle/>
          <a:p>
            <a:pPr algn="l" indent="0" marL="0">
              <a:buNone/>
            </a:pPr>
            <a:r>
              <a:rPr lang="en-US" sz="1800" dirty="0">
                <a:solidFill>
                  <a:srgbClr val="FFFFFF"/>
                </a:solidFill>
                <a:latin typeface="Scotia Headline" pitchFamily="34" charset="0"/>
                <a:ea typeface="Scotia Headline" pitchFamily="34" charset="-122"/>
                <a:cs typeface="Scotia Headline" pitchFamily="34" charset="-120"/>
              </a:rPr>
              <a:t>Sequential</a:t>
            </a:r>
            <a:endParaRPr lang="en-US" sz="1800" dirty="0"/>
          </a:p>
        </p:txBody>
      </p:sp>
      <p:sp>
        <p:nvSpPr>
          <p:cNvPr id="7" name="Text USE WHEN"/>
          <p:cNvSpPr txBox="1"/>
          <p:nvPr/>
        </p:nvSpPr>
        <p:spPr>
          <a:xfrm>
            <a:off x="581025" y="1938337"/>
            <a:ext cx="703659"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USE WHEN</a:t>
            </a:r>
            <a:endParaRPr lang="en-US" sz="825" dirty="0"/>
          </a:p>
        </p:txBody>
      </p:sp>
      <p:sp>
        <p:nvSpPr>
          <p:cNvPr id="8" name="Text Fixed stages each building on"/>
          <p:cNvSpPr txBox="1"/>
          <p:nvPr/>
        </p:nvSpPr>
        <p:spPr>
          <a:xfrm>
            <a:off x="581025" y="2109788"/>
            <a:ext cx="1856505"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Fixed stages, each building on the last.</a:t>
            </a:r>
            <a:endParaRPr lang="en-US" sz="1050" dirty="0"/>
          </a:p>
        </p:txBody>
      </p:sp>
      <p:sp>
        <p:nvSpPr>
          <p:cNvPr id="9" name="Text CONTEXT"/>
          <p:cNvSpPr txBox="1"/>
          <p:nvPr/>
        </p:nvSpPr>
        <p:spPr>
          <a:xfrm>
            <a:off x="581025" y="2566988"/>
            <a:ext cx="635496"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a:t>
            </a:r>
            <a:endParaRPr lang="en-US" sz="825" dirty="0"/>
          </a:p>
        </p:txBody>
      </p:sp>
      <p:sp>
        <p:nvSpPr>
          <p:cNvPr id="10" name="Text Each agent sees only the previ"/>
          <p:cNvSpPr txBox="1"/>
          <p:nvPr/>
        </p:nvSpPr>
        <p:spPr>
          <a:xfrm>
            <a:off x="581025" y="2738438"/>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Each agent sees only the previous output.</a:t>
            </a:r>
            <a:endParaRPr lang="en-US" sz="1050" dirty="0"/>
          </a:p>
        </p:txBody>
      </p:sp>
      <p:sp>
        <p:nvSpPr>
          <p:cNvPr id="11" name="Text WATCH OUT FOR"/>
          <p:cNvSpPr txBox="1"/>
          <p:nvPr/>
        </p:nvSpPr>
        <p:spPr>
          <a:xfrm>
            <a:off x="581025" y="3195638"/>
            <a:ext cx="1073795" cy="152400"/>
          </a:xfrm>
          <a:prstGeom prst="rect">
            <a:avLst/>
          </a:prstGeom>
          <a:noFill/>
          <a:ln/>
        </p:spPr>
        <p:txBody>
          <a:bodyPr wrap="none" lIns="0" tIns="0" rIns="0" bIns="0" rtlCol="0" anchor="ctr"/>
          <a:lstStyle/>
          <a:p>
            <a:pPr algn="l" indent="0" marL="0">
              <a:buNone/>
            </a:pPr>
            <a:r>
              <a:rPr lang="en-US" sz="825" b="1" spc="116" kern="0" dirty="0">
                <a:solidFill>
                  <a:srgbClr val="E5485D"/>
                </a:solidFill>
                <a:latin typeface="Scotia" pitchFamily="34" charset="0"/>
                <a:ea typeface="Scotia" pitchFamily="34" charset="-122"/>
                <a:cs typeface="Scotia" pitchFamily="34" charset="-120"/>
              </a:rPr>
              <a:t>WATCH OUT FOR</a:t>
            </a:r>
            <a:endParaRPr lang="en-US" sz="825" dirty="0"/>
          </a:p>
        </p:txBody>
      </p:sp>
      <p:sp>
        <p:nvSpPr>
          <p:cNvPr id="12" name="Text Details lost between stages t"/>
          <p:cNvSpPr txBox="1"/>
          <p:nvPr/>
        </p:nvSpPr>
        <p:spPr>
          <a:xfrm>
            <a:off x="581025" y="3367088"/>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Details lost between stages; the slowest option.</a:t>
            </a:r>
            <a:endParaRPr lang="en-US" sz="1050" dirty="0"/>
          </a:p>
        </p:txBody>
      </p:sp>
      <p:sp>
        <p:nvSpPr>
          <p:cNvPr id="13" name="div border"/>
          <p:cNvSpPr/>
          <p:nvPr/>
        </p:nvSpPr>
        <p:spPr>
          <a:xfrm>
            <a:off x="581025" y="4155877"/>
            <a:ext cx="1824930" cy="0"/>
          </a:xfrm>
          <a:prstGeom prst="line">
            <a:avLst/>
          </a:prstGeom>
          <a:noFill/>
          <a:ln w="9525">
            <a:solidFill>
              <a:srgbClr val="BDC2EF">
                <a:alpha val="16000"/>
              </a:srgbClr>
            </a:solidFill>
          </a:ln>
        </p:spPr>
      </p:sp>
      <p:sp>
        <p:nvSpPr>
          <p:cNvPr id="14" name="Text OUR EVIDENCE"/>
          <p:cNvSpPr txBox="1"/>
          <p:nvPr/>
        </p:nvSpPr>
        <p:spPr>
          <a:xfrm>
            <a:off x="581025" y="4251127"/>
            <a:ext cx="9751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OUR EVIDENCE</a:t>
            </a:r>
            <a:endParaRPr lang="en-US" sz="825" dirty="0"/>
          </a:p>
        </p:txBody>
      </p:sp>
      <p:sp>
        <p:nvSpPr>
          <p:cNvPr id="15" name="dk-tag"/>
          <p:cNvSpPr/>
          <p:nvPr/>
        </p:nvSpPr>
        <p:spPr>
          <a:xfrm>
            <a:off x="585788" y="4489252"/>
            <a:ext cx="816471" cy="152400"/>
          </a:xfrm>
          <a:prstGeom prst="roundRect">
            <a:avLst>
              <a:gd name="adj" fmla="val 50000"/>
            </a:avLst>
          </a:prstGeom>
          <a:noFill/>
          <a:ln w="9525">
            <a:solidFill>
              <a:srgbClr val="6551FF"/>
            </a:solidFill>
          </a:ln>
        </p:spPr>
        <p:txBody>
          <a:bodyPr wrap="none" lIns="0" tIns="0" rIns="0" bIns="0" rtlCol="0" anchor="ctr"/>
          <a:lstStyle/>
          <a:p>
            <a:pPr algn="ctr" indent="0" marL="0">
              <a:buNone/>
            </a:pPr>
            <a:r>
              <a:rPr lang="en-US" sz="825" b="1" dirty="0">
                <a:solidFill>
                  <a:srgbClr val="B0AAFF"/>
                </a:solidFill>
                <a:latin typeface="Scotia" pitchFamily="34" charset="0"/>
                <a:ea typeface="Scotia" pitchFamily="34" charset="-122"/>
                <a:cs typeface="Scotia" pitchFamily="34" charset="-120"/>
              </a:rPr>
              <a:t>Partly tested</a:t>
            </a:r>
            <a:endParaRPr lang="en-US" sz="825" dirty="0"/>
          </a:p>
        </p:txBody>
      </p:sp>
      <p:sp>
        <p:nvSpPr>
          <p:cNvPr id="16" name="Text Workers in series match parall"/>
          <p:cNvSpPr txBox="1"/>
          <p:nvPr/>
        </p:nvSpPr>
        <p:spPr>
          <a:xfrm>
            <a:off x="581025" y="4695825"/>
            <a:ext cx="1824930" cy="485775"/>
          </a:xfrm>
          <a:prstGeom prst="rect">
            <a:avLst/>
          </a:prstGeom>
          <a:noFill/>
          <a:ln/>
        </p:spPr>
        <p:txBody>
          <a:bodyPr wrap="square" lIns="0" tIns="0" rIns="0" bIns="0" rtlCol="0" anchor="t"/>
          <a:lstStyle/>
          <a:p>
            <a:pPr algn="l" indent="0" marL="0">
              <a:lnSpc>
                <a:spcPts val="1275"/>
              </a:lnSpc>
              <a:buNone/>
            </a:pPr>
            <a:r>
              <a:rPr lang="en-US" sz="938" dirty="0">
                <a:solidFill>
                  <a:srgbClr val="A9A6CF"/>
                </a:solidFill>
                <a:latin typeface="Scotia Serif" pitchFamily="34" charset="0"/>
                <a:ea typeface="Scotia Serif" pitchFamily="34" charset="-122"/>
                <a:cs typeface="Scotia Serif" pitchFamily="34" charset="-120"/>
              </a:rPr>
              <a:t>Workers in series match parallel accuracy but take about twice as long.</a:t>
            </a:r>
            <a:endParaRPr lang="en-US" sz="938" dirty="0"/>
          </a:p>
        </p:txBody>
      </p:sp>
      <p:sp>
        <p:nvSpPr>
          <p:cNvPr id="17" name="dk-col"/>
          <p:cNvSpPr/>
          <p:nvPr/>
        </p:nvSpPr>
        <p:spPr>
          <a:xfrm>
            <a:off x="2705993" y="1262063"/>
            <a:ext cx="2177355" cy="4057650"/>
          </a:xfrm>
          <a:prstGeom prst="roundRect">
            <a:avLst>
              <a:gd name="adj" fmla="val 6781"/>
            </a:avLst>
          </a:prstGeom>
          <a:gradFill rotWithShape="1">
            <a:gsLst>
              <a:gs pos="0">
                <a:srgbClr val="1A1550"/>
              </a:gs>
              <a:gs pos="100000">
                <a:srgbClr val="120E36"/>
              </a:gs>
            </a:gsLst>
            <a:lin ang="5400000" scaled="0"/>
          </a:gradFill>
          <a:ln w="9525">
            <a:solidFill>
              <a:srgbClr val="3B3392"/>
            </a:solidFill>
          </a:ln>
        </p:spPr>
      </p:sp>
      <p:sp>
        <p:nvSpPr>
          <p:cNvPr id="18" name="dk-col-h"/>
          <p:cNvSpPr/>
          <p:nvPr/>
        </p:nvSpPr>
        <p:spPr>
          <a:xfrm>
            <a:off x="2710755" y="1266825"/>
            <a:ext cx="2167830" cy="561975"/>
          </a:xfrm>
          <a:prstGeom prst="round2SameRect">
            <a:avLst>
              <a:gd name="adj1" fmla="val 25424"/>
              <a:gd name="adj2" fmla="val 0"/>
            </a:avLst>
          </a:prstGeom>
          <a:solidFill>
            <a:srgbClr val="1D1757"/>
          </a:solidFill>
          <a:ln>
            <a:noFill/>
          </a:ln>
        </p:spPr>
      </p:sp>
      <p:sp>
        <p:nvSpPr>
          <p:cNvPr id="19" name="dk-col-h border"/>
          <p:cNvSpPr/>
          <p:nvPr/>
        </p:nvSpPr>
        <p:spPr>
          <a:xfrm>
            <a:off x="2710755" y="1824038"/>
            <a:ext cx="2167830" cy="0"/>
          </a:xfrm>
          <a:prstGeom prst="line">
            <a:avLst/>
          </a:prstGeom>
          <a:noFill/>
          <a:ln w="9525">
            <a:solidFill>
              <a:srgbClr val="3B3392"/>
            </a:solidFill>
          </a:ln>
        </p:spPr>
      </p:sp>
      <p:sp>
        <p:nvSpPr>
          <p:cNvPr id="20" name="Text Concurrent"/>
          <p:cNvSpPr txBox="1"/>
          <p:nvPr/>
        </p:nvSpPr>
        <p:spPr>
          <a:xfrm>
            <a:off x="2882205" y="1395413"/>
            <a:ext cx="1255068" cy="285750"/>
          </a:xfrm>
          <a:prstGeom prst="rect">
            <a:avLst/>
          </a:prstGeom>
          <a:noFill/>
          <a:ln/>
        </p:spPr>
        <p:txBody>
          <a:bodyPr wrap="none" lIns="0" tIns="0" rIns="0" bIns="0" rtlCol="0" anchor="ctr"/>
          <a:lstStyle/>
          <a:p>
            <a:pPr algn="l" indent="0" marL="0">
              <a:buNone/>
            </a:pPr>
            <a:r>
              <a:rPr lang="en-US" sz="1800" dirty="0">
                <a:solidFill>
                  <a:srgbClr val="FFFFFF"/>
                </a:solidFill>
                <a:latin typeface="Scotia Headline" pitchFamily="34" charset="0"/>
                <a:ea typeface="Scotia Headline" pitchFamily="34" charset="-122"/>
                <a:cs typeface="Scotia Headline" pitchFamily="34" charset="-120"/>
              </a:rPr>
              <a:t>Concurrent</a:t>
            </a:r>
            <a:endParaRPr lang="en-US" sz="1800" dirty="0"/>
          </a:p>
        </p:txBody>
      </p:sp>
      <p:sp>
        <p:nvSpPr>
          <p:cNvPr id="21" name="Text USE WHEN"/>
          <p:cNvSpPr txBox="1"/>
          <p:nvPr/>
        </p:nvSpPr>
        <p:spPr>
          <a:xfrm>
            <a:off x="2882205" y="1938337"/>
            <a:ext cx="703659"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USE WHEN</a:t>
            </a:r>
            <a:endParaRPr lang="en-US" sz="825" dirty="0"/>
          </a:p>
        </p:txBody>
      </p:sp>
      <p:sp>
        <p:nvSpPr>
          <p:cNvPr id="22" name="Text Independent subtasks or sever"/>
          <p:cNvSpPr txBox="1"/>
          <p:nvPr/>
        </p:nvSpPr>
        <p:spPr>
          <a:xfrm>
            <a:off x="2882205" y="2109788"/>
            <a:ext cx="1824930" cy="542925"/>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Independent subtasks, or several takes on one input, when speed matters.</a:t>
            </a:r>
            <a:endParaRPr lang="en-US" sz="1050" dirty="0"/>
          </a:p>
        </p:txBody>
      </p:sp>
      <p:sp>
        <p:nvSpPr>
          <p:cNvPr id="23" name="Text CONTEXT"/>
          <p:cNvSpPr txBox="1"/>
          <p:nvPr/>
        </p:nvSpPr>
        <p:spPr>
          <a:xfrm>
            <a:off x="2882205" y="2747963"/>
            <a:ext cx="635496"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a:t>
            </a:r>
            <a:endParaRPr lang="en-US" sz="825" dirty="0"/>
          </a:p>
        </p:txBody>
      </p:sp>
      <p:sp>
        <p:nvSpPr>
          <p:cNvPr id="24" name="Text Each worker starts with a clea"/>
          <p:cNvSpPr txBox="1"/>
          <p:nvPr/>
        </p:nvSpPr>
        <p:spPr>
          <a:xfrm>
            <a:off x="2882205" y="2919413"/>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Each worker starts with a clean window.</a:t>
            </a:r>
            <a:endParaRPr lang="en-US" sz="1050" dirty="0"/>
          </a:p>
        </p:txBody>
      </p:sp>
      <p:sp>
        <p:nvSpPr>
          <p:cNvPr id="25" name="Text WATCH OUT FOR"/>
          <p:cNvSpPr txBox="1"/>
          <p:nvPr/>
        </p:nvSpPr>
        <p:spPr>
          <a:xfrm>
            <a:off x="2882205" y="3376613"/>
            <a:ext cx="1073795" cy="152400"/>
          </a:xfrm>
          <a:prstGeom prst="rect">
            <a:avLst/>
          </a:prstGeom>
          <a:noFill/>
          <a:ln/>
        </p:spPr>
        <p:txBody>
          <a:bodyPr wrap="none" lIns="0" tIns="0" rIns="0" bIns="0" rtlCol="0" anchor="ctr"/>
          <a:lstStyle/>
          <a:p>
            <a:pPr algn="l" indent="0" marL="0">
              <a:buNone/>
            </a:pPr>
            <a:r>
              <a:rPr lang="en-US" sz="825" b="1" spc="116" kern="0" dirty="0">
                <a:solidFill>
                  <a:srgbClr val="E5485D"/>
                </a:solidFill>
                <a:latin typeface="Scotia" pitchFamily="34" charset="0"/>
                <a:ea typeface="Scotia" pitchFamily="34" charset="-122"/>
                <a:cs typeface="Scotia" pitchFamily="34" charset="-120"/>
              </a:rPr>
              <a:t>WATCH OUT FOR</a:t>
            </a:r>
            <a:endParaRPr lang="en-US" sz="825" dirty="0"/>
          </a:p>
        </p:txBody>
      </p:sp>
      <p:sp>
        <p:nvSpPr>
          <p:cNvPr id="26" name="Text 2 3 the tokens results to me"/>
          <p:cNvSpPr txBox="1"/>
          <p:nvPr/>
        </p:nvSpPr>
        <p:spPr>
          <a:xfrm>
            <a:off x="2882205" y="3548063"/>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2–3× the tokens; results to merge.</a:t>
            </a:r>
            <a:endParaRPr lang="en-US" sz="1050" dirty="0"/>
          </a:p>
        </p:txBody>
      </p:sp>
      <p:sp>
        <p:nvSpPr>
          <p:cNvPr id="27" name="div border"/>
          <p:cNvSpPr/>
          <p:nvPr/>
        </p:nvSpPr>
        <p:spPr>
          <a:xfrm>
            <a:off x="2882205" y="4155877"/>
            <a:ext cx="1824930" cy="0"/>
          </a:xfrm>
          <a:prstGeom prst="line">
            <a:avLst/>
          </a:prstGeom>
          <a:noFill/>
          <a:ln w="9525">
            <a:solidFill>
              <a:srgbClr val="BDC2EF">
                <a:alpha val="16000"/>
              </a:srgbClr>
            </a:solidFill>
          </a:ln>
        </p:spPr>
      </p:sp>
      <p:sp>
        <p:nvSpPr>
          <p:cNvPr id="28" name="Text OUR EVIDENCE"/>
          <p:cNvSpPr txBox="1"/>
          <p:nvPr/>
        </p:nvSpPr>
        <p:spPr>
          <a:xfrm>
            <a:off x="2882205" y="4251127"/>
            <a:ext cx="9751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OUR EVIDENCE</a:t>
            </a:r>
            <a:endParaRPr lang="en-US" sz="825" dirty="0"/>
          </a:p>
        </p:txBody>
      </p:sp>
      <p:sp>
        <p:nvSpPr>
          <p:cNvPr id="29" name="dk-tag"/>
          <p:cNvSpPr/>
          <p:nvPr/>
        </p:nvSpPr>
        <p:spPr>
          <a:xfrm>
            <a:off x="2886968" y="4489252"/>
            <a:ext cx="520303" cy="152400"/>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825" b="1" dirty="0">
                <a:solidFill>
                  <a:srgbClr val="FFFFFF"/>
                </a:solidFill>
                <a:latin typeface="Scotia" pitchFamily="34" charset="0"/>
                <a:ea typeface="Scotia" pitchFamily="34" charset="-122"/>
                <a:cs typeface="Scotia" pitchFamily="34" charset="-120"/>
              </a:rPr>
              <a:t>Tested</a:t>
            </a:r>
            <a:endParaRPr lang="en-US" sz="825" dirty="0"/>
          </a:p>
        </p:txBody>
      </p:sp>
      <p:sp>
        <p:nvSpPr>
          <p:cNvPr id="30" name="Text About 20 points over one agent"/>
          <p:cNvSpPr txBox="1"/>
          <p:nvPr/>
        </p:nvSpPr>
        <p:spPr>
          <a:xfrm>
            <a:off x="2882205" y="4695825"/>
            <a:ext cx="1824930" cy="485775"/>
          </a:xfrm>
          <a:prstGeom prst="rect">
            <a:avLst/>
          </a:prstGeom>
          <a:noFill/>
          <a:ln/>
        </p:spPr>
        <p:txBody>
          <a:bodyPr wrap="square" lIns="0" tIns="0" rIns="0" bIns="0" rtlCol="0" anchor="t"/>
          <a:lstStyle/>
          <a:p>
            <a:pPr algn="l" indent="0" marL="0">
              <a:lnSpc>
                <a:spcPts val="1275"/>
              </a:lnSpc>
              <a:buNone/>
            </a:pPr>
            <a:r>
              <a:rPr lang="en-US" sz="938" dirty="0">
                <a:solidFill>
                  <a:srgbClr val="A9A6CF"/>
                </a:solidFill>
                <a:latin typeface="Scotia Serif" pitchFamily="34" charset="0"/>
                <a:ea typeface="Scotia Serif" pitchFamily="34" charset="-122"/>
                <a:cs typeface="Scotia Serif" pitchFamily="34" charset="-120"/>
              </a:rPr>
              <a:t>About 20 points over one agent on 32 suppliers. Voting matches debate at equal cost.</a:t>
            </a:r>
            <a:endParaRPr lang="en-US" sz="938" dirty="0"/>
          </a:p>
        </p:txBody>
      </p:sp>
      <p:sp>
        <p:nvSpPr>
          <p:cNvPr id="31" name="dk-col"/>
          <p:cNvSpPr/>
          <p:nvPr/>
        </p:nvSpPr>
        <p:spPr>
          <a:xfrm>
            <a:off x="5007173" y="1262063"/>
            <a:ext cx="2177504" cy="4057650"/>
          </a:xfrm>
          <a:prstGeom prst="roundRect">
            <a:avLst>
              <a:gd name="adj" fmla="val 6780"/>
            </a:avLst>
          </a:prstGeom>
          <a:gradFill rotWithShape="1">
            <a:gsLst>
              <a:gs pos="0">
                <a:srgbClr val="1A1550"/>
              </a:gs>
              <a:gs pos="100000">
                <a:srgbClr val="120E36"/>
              </a:gs>
            </a:gsLst>
            <a:lin ang="5400000" scaled="0"/>
          </a:gradFill>
          <a:ln w="9525">
            <a:solidFill>
              <a:srgbClr val="3B3392"/>
            </a:solidFill>
          </a:ln>
        </p:spPr>
      </p:sp>
      <p:sp>
        <p:nvSpPr>
          <p:cNvPr id="32" name="dk-col-h"/>
          <p:cNvSpPr/>
          <p:nvPr/>
        </p:nvSpPr>
        <p:spPr>
          <a:xfrm>
            <a:off x="5011936" y="1266825"/>
            <a:ext cx="2167979" cy="561975"/>
          </a:xfrm>
          <a:prstGeom prst="round2SameRect">
            <a:avLst>
              <a:gd name="adj1" fmla="val 25424"/>
              <a:gd name="adj2" fmla="val 0"/>
            </a:avLst>
          </a:prstGeom>
          <a:solidFill>
            <a:srgbClr val="1D1757"/>
          </a:solidFill>
          <a:ln>
            <a:noFill/>
          </a:ln>
        </p:spPr>
      </p:sp>
      <p:sp>
        <p:nvSpPr>
          <p:cNvPr id="33" name="dk-col-h border"/>
          <p:cNvSpPr/>
          <p:nvPr/>
        </p:nvSpPr>
        <p:spPr>
          <a:xfrm>
            <a:off x="5011936" y="1824038"/>
            <a:ext cx="2167979" cy="0"/>
          </a:xfrm>
          <a:prstGeom prst="line">
            <a:avLst/>
          </a:prstGeom>
          <a:noFill/>
          <a:ln w="9525">
            <a:solidFill>
              <a:srgbClr val="3B3392"/>
            </a:solidFill>
          </a:ln>
        </p:spPr>
      </p:sp>
      <p:sp>
        <p:nvSpPr>
          <p:cNvPr id="34" name="Text Group Chat"/>
          <p:cNvSpPr txBox="1"/>
          <p:nvPr/>
        </p:nvSpPr>
        <p:spPr>
          <a:xfrm>
            <a:off x="5183386" y="1395413"/>
            <a:ext cx="1300758" cy="285750"/>
          </a:xfrm>
          <a:prstGeom prst="rect">
            <a:avLst/>
          </a:prstGeom>
          <a:noFill/>
          <a:ln/>
        </p:spPr>
        <p:txBody>
          <a:bodyPr wrap="none" lIns="0" tIns="0" rIns="0" bIns="0" rtlCol="0" anchor="ctr"/>
          <a:lstStyle/>
          <a:p>
            <a:pPr algn="l" indent="0" marL="0">
              <a:buNone/>
            </a:pPr>
            <a:r>
              <a:rPr lang="en-US" sz="1800" dirty="0">
                <a:solidFill>
                  <a:srgbClr val="FFFFFF"/>
                </a:solidFill>
                <a:latin typeface="Scotia Headline" pitchFamily="34" charset="0"/>
                <a:ea typeface="Scotia Headline" pitchFamily="34" charset="-122"/>
                <a:cs typeface="Scotia Headline" pitchFamily="34" charset="-120"/>
              </a:rPr>
              <a:t>Group Chat</a:t>
            </a:r>
            <a:endParaRPr lang="en-US" sz="1800" dirty="0"/>
          </a:p>
        </p:txBody>
      </p:sp>
      <p:sp>
        <p:nvSpPr>
          <p:cNvPr id="35" name="Text USE WHEN"/>
          <p:cNvSpPr txBox="1"/>
          <p:nvPr/>
        </p:nvSpPr>
        <p:spPr>
          <a:xfrm>
            <a:off x="5183386" y="1938337"/>
            <a:ext cx="703659"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USE WHEN</a:t>
            </a:r>
            <a:endParaRPr lang="en-US" sz="825" dirty="0"/>
          </a:p>
        </p:txBody>
      </p:sp>
      <p:sp>
        <p:nvSpPr>
          <p:cNvPr id="36" name="Text You want a debate or review be"/>
          <p:cNvSpPr txBox="1"/>
          <p:nvPr/>
        </p:nvSpPr>
        <p:spPr>
          <a:xfrm>
            <a:off x="5183386" y="2109788"/>
            <a:ext cx="1825079"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You want a debate or review between perspectives.</a:t>
            </a:r>
            <a:endParaRPr lang="en-US" sz="1050" dirty="0"/>
          </a:p>
        </p:txBody>
      </p:sp>
      <p:sp>
        <p:nvSpPr>
          <p:cNvPr id="37" name="Text CONTEXT"/>
          <p:cNvSpPr txBox="1"/>
          <p:nvPr/>
        </p:nvSpPr>
        <p:spPr>
          <a:xfrm>
            <a:off x="5183386" y="2566988"/>
            <a:ext cx="635496"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a:t>
            </a:r>
            <a:endParaRPr lang="en-US" sz="825" dirty="0"/>
          </a:p>
        </p:txBody>
      </p:sp>
      <p:sp>
        <p:nvSpPr>
          <p:cNvPr id="38" name="Text One shared thread that grows e"/>
          <p:cNvSpPr txBox="1"/>
          <p:nvPr/>
        </p:nvSpPr>
        <p:spPr>
          <a:xfrm>
            <a:off x="5183386" y="2738438"/>
            <a:ext cx="1840088"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One shared thread that grows every turn.</a:t>
            </a:r>
            <a:endParaRPr lang="en-US" sz="1050" dirty="0"/>
          </a:p>
        </p:txBody>
      </p:sp>
      <p:sp>
        <p:nvSpPr>
          <p:cNvPr id="39" name="Text WATCH OUT FOR"/>
          <p:cNvSpPr txBox="1"/>
          <p:nvPr/>
        </p:nvSpPr>
        <p:spPr>
          <a:xfrm>
            <a:off x="5183386" y="3195638"/>
            <a:ext cx="1073795" cy="152400"/>
          </a:xfrm>
          <a:prstGeom prst="rect">
            <a:avLst/>
          </a:prstGeom>
          <a:noFill/>
          <a:ln/>
        </p:spPr>
        <p:txBody>
          <a:bodyPr wrap="none" lIns="0" tIns="0" rIns="0" bIns="0" rtlCol="0" anchor="ctr"/>
          <a:lstStyle/>
          <a:p>
            <a:pPr algn="l" indent="0" marL="0">
              <a:buNone/>
            </a:pPr>
            <a:r>
              <a:rPr lang="en-US" sz="825" b="1" spc="116" kern="0" dirty="0">
                <a:solidFill>
                  <a:srgbClr val="E5485D"/>
                </a:solidFill>
                <a:latin typeface="Scotia" pitchFamily="34" charset="0"/>
                <a:ea typeface="Scotia" pitchFamily="34" charset="-122"/>
                <a:cs typeface="Scotia" pitchFamily="34" charset="-120"/>
              </a:rPr>
              <a:t>WATCH OUT FOR</a:t>
            </a:r>
            <a:endParaRPr lang="en-US" sz="825" dirty="0"/>
          </a:p>
        </p:txBody>
      </p:sp>
      <p:sp>
        <p:nvSpPr>
          <p:cNvPr id="40" name="Text About 5 the cost slow to con"/>
          <p:cNvSpPr txBox="1"/>
          <p:nvPr/>
        </p:nvSpPr>
        <p:spPr>
          <a:xfrm>
            <a:off x="5183386" y="3367088"/>
            <a:ext cx="1825079"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About 5× the cost; slow to converge.</a:t>
            </a:r>
            <a:endParaRPr lang="en-US" sz="1050" dirty="0"/>
          </a:p>
        </p:txBody>
      </p:sp>
      <p:sp>
        <p:nvSpPr>
          <p:cNvPr id="41" name="div border"/>
          <p:cNvSpPr/>
          <p:nvPr/>
        </p:nvSpPr>
        <p:spPr>
          <a:xfrm>
            <a:off x="5183386" y="4155877"/>
            <a:ext cx="1825079" cy="0"/>
          </a:xfrm>
          <a:prstGeom prst="line">
            <a:avLst/>
          </a:prstGeom>
          <a:noFill/>
          <a:ln w="9525">
            <a:solidFill>
              <a:srgbClr val="BDC2EF">
                <a:alpha val="16000"/>
              </a:srgbClr>
            </a:solidFill>
          </a:ln>
        </p:spPr>
      </p:sp>
      <p:sp>
        <p:nvSpPr>
          <p:cNvPr id="42" name="Text OUR EVIDENCE"/>
          <p:cNvSpPr txBox="1"/>
          <p:nvPr/>
        </p:nvSpPr>
        <p:spPr>
          <a:xfrm>
            <a:off x="5183386" y="4251127"/>
            <a:ext cx="9751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OUR EVIDENCE</a:t>
            </a:r>
            <a:endParaRPr lang="en-US" sz="825" dirty="0"/>
          </a:p>
        </p:txBody>
      </p:sp>
      <p:sp>
        <p:nvSpPr>
          <p:cNvPr id="43" name="dk-tag"/>
          <p:cNvSpPr/>
          <p:nvPr/>
        </p:nvSpPr>
        <p:spPr>
          <a:xfrm>
            <a:off x="5188148" y="4489252"/>
            <a:ext cx="520303" cy="152400"/>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825" b="1" dirty="0">
                <a:solidFill>
                  <a:srgbClr val="FFFFFF"/>
                </a:solidFill>
                <a:latin typeface="Scotia" pitchFamily="34" charset="0"/>
                <a:ea typeface="Scotia" pitchFamily="34" charset="-122"/>
                <a:cs typeface="Scotia" pitchFamily="34" charset="-120"/>
              </a:rPr>
              <a:t>Tested</a:t>
            </a:r>
            <a:endParaRPr lang="en-US" sz="825" dirty="0"/>
          </a:p>
        </p:txBody>
      </p:sp>
      <p:sp>
        <p:nvSpPr>
          <p:cNvPr id="44" name="Text A debating council is expected"/>
          <p:cNvSpPr txBox="1"/>
          <p:nvPr/>
        </p:nvSpPr>
        <p:spPr>
          <a:xfrm>
            <a:off x="5183386" y="4695825"/>
            <a:ext cx="1827587" cy="485775"/>
          </a:xfrm>
          <a:prstGeom prst="rect">
            <a:avLst/>
          </a:prstGeom>
          <a:noFill/>
          <a:ln/>
        </p:spPr>
        <p:txBody>
          <a:bodyPr wrap="square" lIns="0" tIns="0" rIns="0" bIns="0" rtlCol="0" anchor="t"/>
          <a:lstStyle/>
          <a:p>
            <a:pPr algn="l" indent="0" marL="0">
              <a:lnSpc>
                <a:spcPts val="1275"/>
              </a:lnSpc>
              <a:buNone/>
            </a:pPr>
            <a:r>
              <a:rPr lang="en-US" sz="938" dirty="0">
                <a:solidFill>
                  <a:srgbClr val="A9A6CF"/>
                </a:solidFill>
                <a:latin typeface="Scotia Serif" pitchFamily="34" charset="0"/>
                <a:ea typeface="Scotia Serif" pitchFamily="34" charset="-122"/>
                <a:cs typeface="Scotia Serif" pitchFamily="34" charset="-120"/>
              </a:rPr>
              <a:t>A debating council is expected to do no better than voting at the same cost.</a:t>
            </a:r>
            <a:endParaRPr lang="en-US" sz="938" dirty="0"/>
          </a:p>
        </p:txBody>
      </p:sp>
      <p:sp>
        <p:nvSpPr>
          <p:cNvPr id="45" name="dk-col"/>
          <p:cNvSpPr/>
          <p:nvPr/>
        </p:nvSpPr>
        <p:spPr>
          <a:xfrm>
            <a:off x="7308503" y="1262063"/>
            <a:ext cx="2177355" cy="4057650"/>
          </a:xfrm>
          <a:prstGeom prst="roundRect">
            <a:avLst>
              <a:gd name="adj" fmla="val 6781"/>
            </a:avLst>
          </a:prstGeom>
          <a:gradFill rotWithShape="1">
            <a:gsLst>
              <a:gs pos="0">
                <a:srgbClr val="1A1550"/>
              </a:gs>
              <a:gs pos="100000">
                <a:srgbClr val="120E36"/>
              </a:gs>
            </a:gsLst>
            <a:lin ang="5400000" scaled="0"/>
          </a:gradFill>
          <a:ln w="9525">
            <a:solidFill>
              <a:srgbClr val="3B3392"/>
            </a:solidFill>
          </a:ln>
        </p:spPr>
      </p:sp>
      <p:sp>
        <p:nvSpPr>
          <p:cNvPr id="46" name="dk-col-h"/>
          <p:cNvSpPr/>
          <p:nvPr/>
        </p:nvSpPr>
        <p:spPr>
          <a:xfrm>
            <a:off x="7313265" y="1266825"/>
            <a:ext cx="2167830" cy="561975"/>
          </a:xfrm>
          <a:prstGeom prst="round2SameRect">
            <a:avLst>
              <a:gd name="adj1" fmla="val 25424"/>
              <a:gd name="adj2" fmla="val 0"/>
            </a:avLst>
          </a:prstGeom>
          <a:solidFill>
            <a:srgbClr val="1D1757"/>
          </a:solidFill>
          <a:ln>
            <a:noFill/>
          </a:ln>
        </p:spPr>
      </p:sp>
      <p:sp>
        <p:nvSpPr>
          <p:cNvPr id="47" name="dk-col-h border"/>
          <p:cNvSpPr/>
          <p:nvPr/>
        </p:nvSpPr>
        <p:spPr>
          <a:xfrm>
            <a:off x="7313265" y="1824038"/>
            <a:ext cx="2167830" cy="0"/>
          </a:xfrm>
          <a:prstGeom prst="line">
            <a:avLst/>
          </a:prstGeom>
          <a:noFill/>
          <a:ln w="9525">
            <a:solidFill>
              <a:srgbClr val="3B3392"/>
            </a:solidFill>
          </a:ln>
        </p:spPr>
      </p:sp>
      <p:sp>
        <p:nvSpPr>
          <p:cNvPr id="48" name="Text Handoff"/>
          <p:cNvSpPr txBox="1"/>
          <p:nvPr/>
        </p:nvSpPr>
        <p:spPr>
          <a:xfrm>
            <a:off x="7484715" y="1395413"/>
            <a:ext cx="956816" cy="285750"/>
          </a:xfrm>
          <a:prstGeom prst="rect">
            <a:avLst/>
          </a:prstGeom>
          <a:noFill/>
          <a:ln/>
        </p:spPr>
        <p:txBody>
          <a:bodyPr wrap="none" lIns="0" tIns="0" rIns="0" bIns="0" rtlCol="0" anchor="ctr"/>
          <a:lstStyle/>
          <a:p>
            <a:pPr algn="l" indent="0" marL="0">
              <a:buNone/>
            </a:pPr>
            <a:r>
              <a:rPr lang="en-US" sz="1800" dirty="0">
                <a:solidFill>
                  <a:srgbClr val="FFFFFF"/>
                </a:solidFill>
                <a:latin typeface="Scotia Headline" pitchFamily="34" charset="0"/>
                <a:ea typeface="Scotia Headline" pitchFamily="34" charset="-122"/>
                <a:cs typeface="Scotia Headline" pitchFamily="34" charset="-120"/>
              </a:rPr>
              <a:t>Handoff</a:t>
            </a:r>
            <a:endParaRPr lang="en-US" sz="1800" dirty="0"/>
          </a:p>
        </p:txBody>
      </p:sp>
      <p:sp>
        <p:nvSpPr>
          <p:cNvPr id="49" name="Text USE WHEN"/>
          <p:cNvSpPr txBox="1"/>
          <p:nvPr/>
        </p:nvSpPr>
        <p:spPr>
          <a:xfrm>
            <a:off x="7484715" y="1938337"/>
            <a:ext cx="703659"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USE WHEN</a:t>
            </a:r>
            <a:endParaRPr lang="en-US" sz="825" dirty="0"/>
          </a:p>
        </p:txBody>
      </p:sp>
      <p:sp>
        <p:nvSpPr>
          <p:cNvPr id="50" name="Text Steps need different skills t"/>
          <p:cNvSpPr txBox="1"/>
          <p:nvPr/>
        </p:nvSpPr>
        <p:spPr>
          <a:xfrm>
            <a:off x="7484715" y="2109788"/>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Steps need different skills, tools or permissions.</a:t>
            </a:r>
            <a:endParaRPr lang="en-US" sz="1050" dirty="0"/>
          </a:p>
        </p:txBody>
      </p:sp>
      <p:sp>
        <p:nvSpPr>
          <p:cNvPr id="51" name="Text CONTEXT"/>
          <p:cNvSpPr txBox="1"/>
          <p:nvPr/>
        </p:nvSpPr>
        <p:spPr>
          <a:xfrm>
            <a:off x="7484715" y="2566988"/>
            <a:ext cx="635496"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a:t>
            </a:r>
            <a:endParaRPr lang="en-US" sz="825" dirty="0"/>
          </a:p>
        </p:txBody>
      </p:sp>
      <p:sp>
        <p:nvSpPr>
          <p:cNvPr id="52" name="Text The next agent gets only what"/>
          <p:cNvSpPr txBox="1"/>
          <p:nvPr/>
        </p:nvSpPr>
        <p:spPr>
          <a:xfrm>
            <a:off x="7484715" y="2738438"/>
            <a:ext cx="1815132"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The next agent gets only what is handed over.</a:t>
            </a:r>
            <a:endParaRPr lang="en-US" sz="1050" dirty="0"/>
          </a:p>
        </p:txBody>
      </p:sp>
      <p:sp>
        <p:nvSpPr>
          <p:cNvPr id="53" name="Text WATCH OUT FOR"/>
          <p:cNvSpPr txBox="1"/>
          <p:nvPr/>
        </p:nvSpPr>
        <p:spPr>
          <a:xfrm>
            <a:off x="7484715" y="3195638"/>
            <a:ext cx="1073795" cy="152400"/>
          </a:xfrm>
          <a:prstGeom prst="rect">
            <a:avLst/>
          </a:prstGeom>
          <a:noFill/>
          <a:ln/>
        </p:spPr>
        <p:txBody>
          <a:bodyPr wrap="none" lIns="0" tIns="0" rIns="0" bIns="0" rtlCol="0" anchor="ctr"/>
          <a:lstStyle/>
          <a:p>
            <a:pPr algn="l" indent="0" marL="0">
              <a:buNone/>
            </a:pPr>
            <a:r>
              <a:rPr lang="en-US" sz="825" b="1" spc="116" kern="0" dirty="0">
                <a:solidFill>
                  <a:srgbClr val="E5485D"/>
                </a:solidFill>
                <a:latin typeface="Scotia" pitchFamily="34" charset="0"/>
                <a:ea typeface="Scotia" pitchFamily="34" charset="-122"/>
                <a:cs typeface="Scotia" pitchFamily="34" charset="-120"/>
              </a:rPr>
              <a:t>WATCH OUT FOR</a:t>
            </a:r>
            <a:endParaRPr lang="en-US" sz="825" dirty="0"/>
          </a:p>
        </p:txBody>
      </p:sp>
      <p:sp>
        <p:nvSpPr>
          <p:cNvPr id="54" name="Text Handoffs drop context routing"/>
          <p:cNvSpPr txBox="1"/>
          <p:nvPr/>
        </p:nvSpPr>
        <p:spPr>
          <a:xfrm>
            <a:off x="7484715" y="3367088"/>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Handoffs drop context; routing loops.</a:t>
            </a:r>
            <a:endParaRPr lang="en-US" sz="1050" dirty="0"/>
          </a:p>
        </p:txBody>
      </p:sp>
      <p:sp>
        <p:nvSpPr>
          <p:cNvPr id="55" name="div border"/>
          <p:cNvSpPr/>
          <p:nvPr/>
        </p:nvSpPr>
        <p:spPr>
          <a:xfrm>
            <a:off x="7484715" y="4155877"/>
            <a:ext cx="1824930" cy="0"/>
          </a:xfrm>
          <a:prstGeom prst="line">
            <a:avLst/>
          </a:prstGeom>
          <a:noFill/>
          <a:ln w="9525">
            <a:solidFill>
              <a:srgbClr val="BDC2EF">
                <a:alpha val="16000"/>
              </a:srgbClr>
            </a:solidFill>
          </a:ln>
        </p:spPr>
      </p:sp>
      <p:sp>
        <p:nvSpPr>
          <p:cNvPr id="56" name="Text OUR EVIDENCE"/>
          <p:cNvSpPr txBox="1"/>
          <p:nvPr/>
        </p:nvSpPr>
        <p:spPr>
          <a:xfrm>
            <a:off x="7484715" y="4251127"/>
            <a:ext cx="9751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OUR EVIDENCE</a:t>
            </a:r>
            <a:endParaRPr lang="en-US" sz="825" dirty="0"/>
          </a:p>
        </p:txBody>
      </p:sp>
      <p:sp>
        <p:nvSpPr>
          <p:cNvPr id="57" name="dk-tag"/>
          <p:cNvSpPr/>
          <p:nvPr/>
        </p:nvSpPr>
        <p:spPr>
          <a:xfrm>
            <a:off x="7489478" y="4489252"/>
            <a:ext cx="816471" cy="152400"/>
          </a:xfrm>
          <a:prstGeom prst="roundRect">
            <a:avLst>
              <a:gd name="adj" fmla="val 50000"/>
            </a:avLst>
          </a:prstGeom>
          <a:noFill/>
          <a:ln w="9525">
            <a:solidFill>
              <a:srgbClr val="6551FF"/>
            </a:solidFill>
          </a:ln>
        </p:spPr>
        <p:txBody>
          <a:bodyPr wrap="none" lIns="0" tIns="0" rIns="0" bIns="0" rtlCol="0" anchor="ctr"/>
          <a:lstStyle/>
          <a:p>
            <a:pPr algn="ctr" indent="0" marL="0">
              <a:buNone/>
            </a:pPr>
            <a:r>
              <a:rPr lang="en-US" sz="825" b="1" dirty="0">
                <a:solidFill>
                  <a:srgbClr val="B0AAFF"/>
                </a:solidFill>
                <a:latin typeface="Scotia" pitchFamily="34" charset="0"/>
                <a:ea typeface="Scotia" pitchFamily="34" charset="-122"/>
                <a:cs typeface="Scotia" pitchFamily="34" charset="-120"/>
              </a:rPr>
              <a:t>Partly tested</a:t>
            </a:r>
            <a:endParaRPr lang="en-US" sz="825" dirty="0"/>
          </a:p>
        </p:txBody>
      </p:sp>
      <p:sp>
        <p:nvSpPr>
          <p:cNvPr id="58" name="Text Specialist roles expected to a"/>
          <p:cNvSpPr txBox="1"/>
          <p:nvPr/>
        </p:nvSpPr>
        <p:spPr>
          <a:xfrm>
            <a:off x="7484715" y="4695825"/>
            <a:ext cx="1824930" cy="485775"/>
          </a:xfrm>
          <a:prstGeom prst="rect">
            <a:avLst/>
          </a:prstGeom>
          <a:noFill/>
          <a:ln/>
        </p:spPr>
        <p:txBody>
          <a:bodyPr wrap="square" lIns="0" tIns="0" rIns="0" bIns="0" rtlCol="0" anchor="t"/>
          <a:lstStyle/>
          <a:p>
            <a:pPr algn="l" indent="0" marL="0">
              <a:lnSpc>
                <a:spcPts val="1275"/>
              </a:lnSpc>
              <a:buNone/>
            </a:pPr>
            <a:r>
              <a:rPr lang="en-US" sz="938" dirty="0">
                <a:solidFill>
                  <a:srgbClr val="A9A6CF"/>
                </a:solidFill>
                <a:latin typeface="Scotia Serif" pitchFamily="34" charset="0"/>
                <a:ea typeface="Scotia Serif" pitchFamily="34" charset="-122"/>
                <a:cs typeface="Scotia Serif" pitchFamily="34" charset="-120"/>
              </a:rPr>
              <a:t>Specialist roles expected to add nothing beyond isolation. Permissions are judgement.</a:t>
            </a:r>
            <a:endParaRPr lang="en-US" sz="938" dirty="0"/>
          </a:p>
        </p:txBody>
      </p:sp>
      <p:sp>
        <p:nvSpPr>
          <p:cNvPr id="59" name="dk-col"/>
          <p:cNvSpPr/>
          <p:nvPr/>
        </p:nvSpPr>
        <p:spPr>
          <a:xfrm>
            <a:off x="9609683" y="1262063"/>
            <a:ext cx="2177504" cy="4057650"/>
          </a:xfrm>
          <a:prstGeom prst="roundRect">
            <a:avLst>
              <a:gd name="adj" fmla="val 6780"/>
            </a:avLst>
          </a:prstGeom>
          <a:gradFill rotWithShape="1">
            <a:gsLst>
              <a:gs pos="0">
                <a:srgbClr val="1A1550"/>
              </a:gs>
              <a:gs pos="100000">
                <a:srgbClr val="120E36"/>
              </a:gs>
            </a:gsLst>
            <a:lin ang="5400000" scaled="0"/>
          </a:gradFill>
          <a:ln w="9525">
            <a:solidFill>
              <a:srgbClr val="3B3392"/>
            </a:solidFill>
          </a:ln>
        </p:spPr>
      </p:sp>
      <p:sp>
        <p:nvSpPr>
          <p:cNvPr id="60" name="dk-col-h"/>
          <p:cNvSpPr/>
          <p:nvPr/>
        </p:nvSpPr>
        <p:spPr>
          <a:xfrm>
            <a:off x="9614446" y="1266825"/>
            <a:ext cx="2167979" cy="561975"/>
          </a:xfrm>
          <a:prstGeom prst="round2SameRect">
            <a:avLst>
              <a:gd name="adj1" fmla="val 25424"/>
              <a:gd name="adj2" fmla="val 0"/>
            </a:avLst>
          </a:prstGeom>
          <a:solidFill>
            <a:srgbClr val="1D1757"/>
          </a:solidFill>
          <a:ln>
            <a:noFill/>
          </a:ln>
        </p:spPr>
      </p:sp>
      <p:sp>
        <p:nvSpPr>
          <p:cNvPr id="61" name="dk-col-h border"/>
          <p:cNvSpPr/>
          <p:nvPr/>
        </p:nvSpPr>
        <p:spPr>
          <a:xfrm>
            <a:off x="9614446" y="1824038"/>
            <a:ext cx="2167979" cy="0"/>
          </a:xfrm>
          <a:prstGeom prst="line">
            <a:avLst/>
          </a:prstGeom>
          <a:noFill/>
          <a:ln w="9525">
            <a:solidFill>
              <a:srgbClr val="3B3392"/>
            </a:solidFill>
          </a:ln>
        </p:spPr>
      </p:sp>
      <p:sp>
        <p:nvSpPr>
          <p:cNvPr id="62" name="Text Magentic"/>
          <p:cNvSpPr txBox="1"/>
          <p:nvPr/>
        </p:nvSpPr>
        <p:spPr>
          <a:xfrm>
            <a:off x="9785896" y="1395413"/>
            <a:ext cx="1069628" cy="285750"/>
          </a:xfrm>
          <a:prstGeom prst="rect">
            <a:avLst/>
          </a:prstGeom>
          <a:noFill/>
          <a:ln/>
        </p:spPr>
        <p:txBody>
          <a:bodyPr wrap="none" lIns="0" tIns="0" rIns="0" bIns="0" rtlCol="0" anchor="ctr"/>
          <a:lstStyle/>
          <a:p>
            <a:pPr algn="l" indent="0" marL="0">
              <a:buNone/>
            </a:pPr>
            <a:r>
              <a:rPr lang="en-US" sz="1800" dirty="0">
                <a:solidFill>
                  <a:srgbClr val="FFFFFF"/>
                </a:solidFill>
                <a:latin typeface="Scotia Headline" pitchFamily="34" charset="0"/>
                <a:ea typeface="Scotia Headline" pitchFamily="34" charset="-122"/>
                <a:cs typeface="Scotia Headline" pitchFamily="34" charset="-120"/>
              </a:rPr>
              <a:t>Magentic</a:t>
            </a:r>
            <a:endParaRPr lang="en-US" sz="1800" dirty="0"/>
          </a:p>
        </p:txBody>
      </p:sp>
      <p:sp>
        <p:nvSpPr>
          <p:cNvPr id="63" name="Text USE WHEN"/>
          <p:cNvSpPr txBox="1"/>
          <p:nvPr/>
        </p:nvSpPr>
        <p:spPr>
          <a:xfrm>
            <a:off x="9785896" y="1938337"/>
            <a:ext cx="703659"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USE WHEN</a:t>
            </a:r>
            <a:endParaRPr lang="en-US" sz="825" dirty="0"/>
          </a:p>
        </p:txBody>
      </p:sp>
      <p:sp>
        <p:nvSpPr>
          <p:cNvPr id="64" name="Text Open-ended work where the plan"/>
          <p:cNvSpPr txBox="1"/>
          <p:nvPr/>
        </p:nvSpPr>
        <p:spPr>
          <a:xfrm>
            <a:off x="9785896" y="2109788"/>
            <a:ext cx="1825079" cy="542925"/>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Open-ended work where the plan emerges, or approvals need a record.</a:t>
            </a:r>
            <a:endParaRPr lang="en-US" sz="1050" dirty="0"/>
          </a:p>
        </p:txBody>
      </p:sp>
      <p:sp>
        <p:nvSpPr>
          <p:cNvPr id="65" name="Text CONTEXT"/>
          <p:cNvSpPr txBox="1"/>
          <p:nvPr/>
        </p:nvSpPr>
        <p:spPr>
          <a:xfrm>
            <a:off x="9785896" y="2747963"/>
            <a:ext cx="635496"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a:t>
            </a:r>
            <a:endParaRPr lang="en-US" sz="825" dirty="0"/>
          </a:p>
        </p:txBody>
      </p:sp>
      <p:sp>
        <p:nvSpPr>
          <p:cNvPr id="66" name="Text A manager s task ledger holds"/>
          <p:cNvSpPr txBox="1"/>
          <p:nvPr/>
        </p:nvSpPr>
        <p:spPr>
          <a:xfrm>
            <a:off x="9785896" y="2919413"/>
            <a:ext cx="1852891" cy="542925"/>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A manager’s task ledger holds the plan; specialists get focused tasks.</a:t>
            </a:r>
            <a:endParaRPr lang="en-US" sz="1050" dirty="0"/>
          </a:p>
        </p:txBody>
      </p:sp>
      <p:sp>
        <p:nvSpPr>
          <p:cNvPr id="67" name="Text WATCH OUT FOR"/>
          <p:cNvSpPr txBox="1"/>
          <p:nvPr/>
        </p:nvSpPr>
        <p:spPr>
          <a:xfrm>
            <a:off x="9785896" y="3557588"/>
            <a:ext cx="1073795" cy="152400"/>
          </a:xfrm>
          <a:prstGeom prst="rect">
            <a:avLst/>
          </a:prstGeom>
          <a:noFill/>
          <a:ln/>
        </p:spPr>
        <p:txBody>
          <a:bodyPr wrap="none" lIns="0" tIns="0" rIns="0" bIns="0" rtlCol="0" anchor="ctr"/>
          <a:lstStyle/>
          <a:p>
            <a:pPr algn="l" indent="0" marL="0">
              <a:buNone/>
            </a:pPr>
            <a:r>
              <a:rPr lang="en-US" sz="825" b="1" spc="116" kern="0" dirty="0">
                <a:solidFill>
                  <a:srgbClr val="E5485D"/>
                </a:solidFill>
                <a:latin typeface="Scotia" pitchFamily="34" charset="0"/>
                <a:ea typeface="Scotia" pitchFamily="34" charset="-122"/>
                <a:cs typeface="Scotia" pitchFamily="34" charset="-120"/>
              </a:rPr>
              <a:t>WATCH OUT FOR</a:t>
            </a:r>
            <a:endParaRPr lang="en-US" sz="825" dirty="0"/>
          </a:p>
        </p:txBody>
      </p:sp>
      <p:sp>
        <p:nvSpPr>
          <p:cNvPr id="68" name="Text Loops and unpredictable cost"/>
          <p:cNvSpPr txBox="1"/>
          <p:nvPr/>
        </p:nvSpPr>
        <p:spPr>
          <a:xfrm>
            <a:off x="9785896" y="3729038"/>
            <a:ext cx="1852589"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Loops and unpredictable cost; the manager’s context grows.</a:t>
            </a:r>
            <a:endParaRPr lang="en-US" sz="1050" dirty="0"/>
          </a:p>
        </p:txBody>
      </p:sp>
      <p:sp>
        <p:nvSpPr>
          <p:cNvPr id="69" name="div border"/>
          <p:cNvSpPr/>
          <p:nvPr/>
        </p:nvSpPr>
        <p:spPr>
          <a:xfrm>
            <a:off x="9785896" y="4195763"/>
            <a:ext cx="1825079" cy="0"/>
          </a:xfrm>
          <a:prstGeom prst="line">
            <a:avLst/>
          </a:prstGeom>
          <a:noFill/>
          <a:ln w="9525">
            <a:solidFill>
              <a:srgbClr val="BDC2EF">
                <a:alpha val="16000"/>
              </a:srgbClr>
            </a:solidFill>
          </a:ln>
        </p:spPr>
      </p:sp>
      <p:sp>
        <p:nvSpPr>
          <p:cNvPr id="70" name="Text OUR EVIDENCE"/>
          <p:cNvSpPr txBox="1"/>
          <p:nvPr/>
        </p:nvSpPr>
        <p:spPr>
          <a:xfrm>
            <a:off x="9785896" y="4291013"/>
            <a:ext cx="9751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OUR EVIDENCE</a:t>
            </a:r>
            <a:endParaRPr lang="en-US" sz="825" dirty="0"/>
          </a:p>
        </p:txBody>
      </p:sp>
      <p:sp>
        <p:nvSpPr>
          <p:cNvPr id="71" name="dk-tag"/>
          <p:cNvSpPr/>
          <p:nvPr/>
        </p:nvSpPr>
        <p:spPr>
          <a:xfrm>
            <a:off x="9785896" y="4524375"/>
            <a:ext cx="716012" cy="161925"/>
          </a:xfrm>
          <a:prstGeom prst="roundRect">
            <a:avLst>
              <a:gd name="adj" fmla="val 50000"/>
            </a:avLst>
          </a:prstGeom>
          <a:solidFill>
            <a:srgbClr val="FFFFFF">
              <a:alpha val="12000"/>
            </a:srgbClr>
          </a:solidFill>
          <a:ln>
            <a:noFill/>
          </a:ln>
        </p:spPr>
        <p:txBody>
          <a:bodyPr wrap="none" lIns="0" tIns="0" rIns="0" bIns="0" rtlCol="0" anchor="ctr"/>
          <a:lstStyle/>
          <a:p>
            <a:pPr algn="ctr" indent="0" marL="0">
              <a:buNone/>
            </a:pPr>
            <a:r>
              <a:rPr lang="en-US" sz="825" b="1" dirty="0">
                <a:solidFill>
                  <a:srgbClr val="D6D4EA"/>
                </a:solidFill>
                <a:latin typeface="Scotia" pitchFamily="34" charset="0"/>
                <a:ea typeface="Scotia" pitchFamily="34" charset="-122"/>
                <a:cs typeface="Scotia" pitchFamily="34" charset="-120"/>
              </a:rPr>
              <a:t>Not tested</a:t>
            </a:r>
            <a:endParaRPr lang="en-US" sz="825" dirty="0"/>
          </a:p>
        </p:txBody>
      </p:sp>
      <p:sp>
        <p:nvSpPr>
          <p:cNvPr id="72" name="Text From practice."/>
          <p:cNvSpPr txBox="1"/>
          <p:nvPr/>
        </p:nvSpPr>
        <p:spPr>
          <a:xfrm>
            <a:off x="9785896" y="4735711"/>
            <a:ext cx="850106" cy="161925"/>
          </a:xfrm>
          <a:prstGeom prst="rect">
            <a:avLst/>
          </a:prstGeom>
          <a:noFill/>
          <a:ln/>
        </p:spPr>
        <p:txBody>
          <a:bodyPr wrap="none" lIns="0" tIns="0" rIns="0" bIns="0" rtlCol="0" anchor="ctr"/>
          <a:lstStyle/>
          <a:p>
            <a:pPr algn="l" indent="0" marL="0">
              <a:buNone/>
            </a:pPr>
            <a:r>
              <a:rPr lang="en-US" sz="938" dirty="0">
                <a:solidFill>
                  <a:srgbClr val="A9A6CF"/>
                </a:solidFill>
                <a:latin typeface="Scotia Serif" pitchFamily="34" charset="0"/>
                <a:ea typeface="Scotia Serif" pitchFamily="34" charset="-122"/>
                <a:cs typeface="Scotia Serif" pitchFamily="34" charset="-120"/>
              </a:rPr>
              <a:t>From practice.</a:t>
            </a:r>
            <a:endParaRPr lang="en-US" sz="938" dirty="0"/>
          </a:p>
        </p:txBody>
      </p:sp>
      <p:sp>
        <p:nvSpPr>
          <p:cNvPr id="73" name="dk-hero"/>
          <p:cNvSpPr/>
          <p:nvPr/>
        </p:nvSpPr>
        <p:spPr>
          <a:xfrm>
            <a:off x="400050" y="5638800"/>
            <a:ext cx="11391900" cy="447675"/>
          </a:xfrm>
          <a:prstGeom prst="roundRect">
            <a:avLst>
              <a:gd name="adj" fmla="val 29787"/>
            </a:avLst>
          </a:prstGeom>
          <a:gradFill rotWithShape="1">
            <a:gsLst>
              <a:gs pos="0">
                <a:srgbClr val="7B69FF"/>
              </a:gs>
              <a:gs pos="100000">
                <a:srgbClr val="5141D3"/>
              </a:gs>
            </a:gsLst>
            <a:lin ang="2700000" scaled="0"/>
          </a:gradFill>
          <a:ln>
            <a:noFill/>
          </a:ln>
          <a:effectLst>
            <a:outerShdw blurRad="342900" dist="152400" dir="5400000" sx="96990" sy="23404" algn="ctr" rotWithShape="0">
              <a:srgbClr val="6551FF">
                <a:alpha val="90000"/>
              </a:srgbClr>
            </a:outerShdw>
          </a:effectLst>
        </p:spPr>
      </p:sp>
      <p:sp>
        <p:nvSpPr>
          <p:cNvPr id="74" name="Text EXPECTED"/>
          <p:cNvSpPr txBox="1"/>
          <p:nvPr/>
        </p:nvSpPr>
        <p:spPr>
          <a:xfrm>
            <a:off x="628650" y="5781675"/>
            <a:ext cx="691009" cy="152400"/>
          </a:xfrm>
          <a:prstGeom prst="rect">
            <a:avLst/>
          </a:prstGeom>
          <a:noFill/>
          <a:ln/>
        </p:spPr>
        <p:txBody>
          <a:bodyPr wrap="none" lIns="0" tIns="0" rIns="0" bIns="0" rtlCol="0" anchor="ctr"/>
          <a:lstStyle/>
          <a:p>
            <a:pPr algn="l" indent="0" marL="0">
              <a:buNone/>
            </a:pPr>
            <a:r>
              <a:rPr lang="en-US" sz="825" b="1" spc="116" kern="0" dirty="0">
                <a:solidFill>
                  <a:srgbClr val="E0DCFF"/>
                </a:solidFill>
                <a:latin typeface="Scotia" pitchFamily="34" charset="0"/>
                <a:ea typeface="Scotia" pitchFamily="34" charset="-122"/>
                <a:cs typeface="Scotia" pitchFamily="34" charset="-120"/>
              </a:rPr>
              <a:t>EXPECTED</a:t>
            </a:r>
            <a:endParaRPr lang="en-US" sz="825" dirty="0"/>
          </a:p>
        </p:txBody>
      </p:sp>
      <p:sp>
        <p:nvSpPr>
          <p:cNvPr id="75" name="Text Specialise for permissions ow"/>
          <p:cNvSpPr txBox="1"/>
          <p:nvPr/>
        </p:nvSpPr>
        <p:spPr>
          <a:xfrm>
            <a:off x="1433959" y="5753100"/>
            <a:ext cx="5804446" cy="219075"/>
          </a:xfrm>
          <a:prstGeom prst="rect">
            <a:avLst/>
          </a:prstGeom>
          <a:noFill/>
          <a:ln/>
        </p:spPr>
        <p:txBody>
          <a:bodyPr wrap="none" lIns="0" tIns="0" rIns="0" bIns="0" rtlCol="0" anchor="ctr"/>
          <a:lstStyle/>
          <a:p>
            <a:pPr algn="l" indent="0" marL="0">
              <a:buNone/>
            </a:pPr>
            <a:r>
              <a:rPr lang="en-US" sz="1275" dirty="0">
                <a:solidFill>
                  <a:srgbClr val="FFFFFF"/>
                </a:solidFill>
                <a:latin typeface="Scotia Headline" pitchFamily="34" charset="0"/>
                <a:ea typeface="Scotia Headline" pitchFamily="34" charset="-122"/>
                <a:cs typeface="Scotia Headline" pitchFamily="34" charset="-120"/>
              </a:rPr>
              <a:t>Specialise for permissions, ownership and maintainability, not for accuracy.</a:t>
            </a:r>
            <a:endParaRPr lang="en-US" sz="1275" dirty="0"/>
          </a:p>
        </p:txBody>
      </p:sp>
      <p:sp>
        <p:nvSpPr>
          <p:cNvPr id="76"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77" name="Text 24"/>
          <p:cNvSpPr txBox="1"/>
          <p:nvPr/>
        </p:nvSpPr>
        <p:spPr>
          <a:xfrm>
            <a:off x="11612017" y="6306483"/>
            <a:ext cx="170408"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cotia Headl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cotia Serif"/>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in Practice</dc:title>
  <dc:subject>PptxGenJS Presentation</dc:subject>
  <dc:creator>PptxGenJS</dc:creator>
  <cp:lastModifiedBy>PptxGenJS</cp:lastModifiedBy>
  <cp:revision>1</cp:revision>
  <dcterms:created xsi:type="dcterms:W3CDTF">2026-10-06T14:17:03Z</dcterms:created>
  <dcterms:modified xsi:type="dcterms:W3CDTF">2026-10-06T14:17:03Z</dcterms:modified>
</cp:coreProperties>
</file>